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8693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TUNDJI opens (15 s): "Good morning. We are Group 15 and this is AquaZeroFit, an AI-assisted wellness app that runs as a normal website and as a Telegram Mini App, from one codebase. I'm Tundji, the lead architect; Victor built the nutrition system and Eric built the training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TUNDJI (20 s): walk the clock once. Point out that each slide carries the presenter's name so the assessor can direct Q&amp;A. Then move straight into the opening frame.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TUNDJI (45 s): One sentence on what it is, then the day-in-the-life. Keep it human, no jargon yet. This slide is the "what"; the next slide is the "how we kept it safe". Time check: ~1:00 total when leaving slide 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TUNDJI (30 s): Land the one message: "Models identify, code calculates. Every other decision in this system follows from that." Then signpost: "Victor will show that rule in nutrition, Eric in training, and I'll show the platform that enforces it." HANDOVER: "We'll start where the user starts, with food. Victor."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TUNDJI (35 s, if time allows in opening, otherwise fold into slide 6): This is the differentiator. Most teams ship a website; we shipped a distribution channel. A Mini App removes every step between "curious" and "using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TUNDJI (30 s): One line per card, plain English. The theme of every choice: small, boring, checkable technology so the interesting risk (the AI) is the only risk.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TUNDJI (30 s): Trace one request top to bottom, then the three "why" bullets. Close the opening here (~1:00–1:30 elapsed). HANDOVER: "We'll start where the user starts, with food. Victor."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VICTOR (50 s): "I'm Victor, and I built the nutrition system." Open with the rule applied: every calorie figure in this product is arithmetic we did ourselves. Explain BMR-&gt;TDEE-&gt;goal in one breath; spend the saved time on the floor and the visible reason, that's the judgement the marker rewards.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VICTOR (50 s): The confirmation gate is the star: "an automatic commit means a wrong estimate silently becomes your history." Mention the EXIF strip as a privacy measure, not a feature. If short on time, drop the idempotency row from speech, it stays on the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VICTOR (40 s): One message to land: "a model never gets a vote on allergen safety." Close nutrition on data portability. HANDOVER: "That's the nutrition module. I'll hand over to Eric for training."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VICTOR (only if asked, or 20 s flash): "This is the actual shipped code." Point at the clamp ternary and the keyword net. Full listings appear in section 9 of our report.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ERIC (45 s): "Thanks Victor, I'm Eric, I built the training system." The licensing discipline is the differentiator here: most student projects scrape data; we govern it. Point at the attribution visible in the screenshot.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ERIC (50 s): The message: "prescribing training load has real consequences, so the guaranteed path is deterministic." Progression-as-data gives three wins: users can see it, the AI can speak it, and a pure function can test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ERIC (55 s): Readiness is the most sophisticated thing in training, give it the time. Note the smallest weight (intake, 10%) is deliberate: it's the noisiest signal and the easiest to turn into food-moralising. HANDOVER: "That's the training system. Over to Tundji for the platform underneath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ERIC (flash or Q&amp;A): the intake-weight comment is the strongest 10 seconds here, engineering judgement written where it executes. Section 10 of the report has the full listings.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TUNDJI (50 s): "Thanks Eric." The lane abstraction is the architecture story; the offline engine is the reliability story. Say it plainly: unplug every AI key and the demo still runs. That is also our answer if the venue Wi-Fi fails.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TUNDJI (55 s): Walk the seven boxes once, fast. Then the crisis priority, this is the most important safety judgement in the product. If we demo, this is the moment to promise "you'll see this live: I'll ask it something medical."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TUNDJI (50 s): Two headlines: token-family revocation (a stolen session dies the moment it's replayed) and the load-bearing consent (privacy off means the model literally receives nothing, and the app still works). Point to the consent toggles in the screenshot.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TUNDJI (45 s): The line that lands: "nothing in this product awards points for losing weight, in a wellness app, that's a safety property." Then the ledger: balances are folds over transactions, so they can't drift and a crashed job refunds itself.</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TUNDJI (flash or Q&amp;A): two files, two guarantees, the app survives the AI dying, and a person in crisis never reaches the AI at all. Full listings in section 11 of the report.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TUNDJI (35 s): 806 is the headline (650 API + 156 web, re-run on 17 Aug 2026; the AQF-24 report says 770 because more tests were added after it was written). Say exactly "806 automated tests, all passing", never a coverage percentage. Note: a few web tests can time out if the machine is busy with another dev server; run the suite on an idle machine before the demo. The refuse-to-boot guards are the ops story. Close: "That's the system." Move to the demo.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is the most persuasive fifteen seconds of the whole demo, never cut it. Rehearse the demo once end-to-end on the machine that will be used. Do not quote the on-screen diagnostics strip.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TUNDJI (15 s): "Before questions: if you would like to try it, this QR opens the Mini App on your phone in about ten seconds." Leave the slide up while moving to the Q&amp;A slide if the room is scanning.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TUNDJI closes: "That's the system. We're happy to take questions." Each member fields questions on their own modules, the cards say who owns what. Shared questions (the invariant, the admission sequence, headline figures) can go to anyone.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open these if a question calls for them. Each maps to a question in Appendix C of the report.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VICTOR owns this. The one-liner does three jobs: EXIF strip, orientation fix, and real type validation. Report §9.3.</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TUNDJI owns this. Report §11.6; there is a test that fails if family revocation on reuse ever stops working.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TUNDJI owns both. Ledger: report §11.10. Telegram detection: §6.5 / §11.1. Good answers for "why not just a counter?" and "why a Mini App?"</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5.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0.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5.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5.pn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5.png"/><Relationship Id="rId7"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5.png"/><Relationship Id="rId7"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5.png"/><Relationship Id="rId7" Type="http://schemas.openxmlformats.org/officeDocument/2006/relationships/image" Target="../media/image5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8.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41.png"/><Relationship Id="rId4" Type="http://schemas.openxmlformats.org/officeDocument/2006/relationships/image" Target="../media/image56.png"/></Relationships>
</file>

<file path=ppt/slides/_rels/slide1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65.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2.png"/><Relationship Id="rId4" Type="http://schemas.openxmlformats.org/officeDocument/2006/relationships/image" Target="../media/image64.jp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1</a:t>
            </a:r>
            <a:endParaRPr lang="en-US" sz="850" dirty="0"/>
          </a:p>
        </p:txBody>
      </p:sp>
      <p:pic>
        <p:nvPicPr>
          <p:cNvPr id="4" name="Image 0" descr="C:/Users/lumin/Desktop/aquazerofit/design/brand/AquaZeroFit(single_Logo).png"/>
          <p:cNvPicPr>
            <a:picLocks noChangeAspect="1"/>
          </p:cNvPicPr>
          <p:nvPr/>
        </p:nvPicPr>
        <p:blipFill>
          <a:blip r:embed="rId4"/>
          <a:stretch>
            <a:fillRect/>
          </a:stretch>
        </p:blipFill>
        <p:spPr>
          <a:xfrm>
            <a:off x="658368" y="566928"/>
            <a:ext cx="932688" cy="969264"/>
          </a:xfrm>
          <a:prstGeom prst="rect">
            <a:avLst/>
          </a:prstGeom>
        </p:spPr>
      </p:pic>
      <p:sp>
        <p:nvSpPr>
          <p:cNvPr id="5" name="Text 2"/>
          <p:cNvSpPr/>
          <p:nvPr/>
        </p:nvSpPr>
        <p:spPr>
          <a:xfrm>
            <a:off x="566928" y="1627632"/>
            <a:ext cx="6949440" cy="914400"/>
          </a:xfrm>
          <a:prstGeom prst="rect">
            <a:avLst/>
          </a:prstGeom>
          <a:noFill/>
          <a:ln/>
        </p:spPr>
        <p:txBody>
          <a:bodyPr wrap="square" lIns="0" tIns="0" rIns="0" bIns="0" rtlCol="0" anchor="ctr"/>
          <a:lstStyle/>
          <a:p>
            <a:pPr marL="0" indent="0">
              <a:buNone/>
            </a:pPr>
            <a:r>
              <a:rPr lang="en-US" sz="5400" b="1" dirty="0">
                <a:solidFill>
                  <a:srgbClr val="EAF6F9"/>
                </a:solidFill>
                <a:latin typeface="Calibri" pitchFamily="34" charset="0"/>
                <a:ea typeface="Calibri" pitchFamily="34" charset="-122"/>
                <a:cs typeface="Calibri" pitchFamily="34" charset="-120"/>
              </a:rPr>
              <a:t>AquaZeroFit</a:t>
            </a:r>
            <a:endParaRPr lang="en-US" sz="5400" dirty="0"/>
          </a:p>
        </p:txBody>
      </p:sp>
      <p:sp>
        <p:nvSpPr>
          <p:cNvPr id="6" name="Text 3"/>
          <p:cNvSpPr/>
          <p:nvPr/>
        </p:nvSpPr>
        <p:spPr>
          <a:xfrm>
            <a:off x="603504" y="2578608"/>
            <a:ext cx="6675120" cy="566928"/>
          </a:xfrm>
          <a:prstGeom prst="rect">
            <a:avLst/>
          </a:prstGeom>
          <a:noFill/>
          <a:ln/>
        </p:spPr>
        <p:txBody>
          <a:bodyPr wrap="square" lIns="0" tIns="0" rIns="0" bIns="0" rtlCol="0" anchor="ctr"/>
          <a:lstStyle/>
          <a:p>
            <a:pPr marL="0" indent="0">
              <a:buNone/>
            </a:pPr>
            <a:r>
              <a:rPr lang="en-US" sz="1650" dirty="0">
                <a:solidFill>
                  <a:srgbClr val="4FD8F0"/>
                </a:solidFill>
                <a:latin typeface="Calibri" pitchFamily="34" charset="0"/>
                <a:ea typeface="Calibri" pitchFamily="34" charset="-122"/>
                <a:cs typeface="Calibri" pitchFamily="34" charset="-120"/>
              </a:rPr>
              <a:t>AI-powered wellness, on the open web and inside Telegram, from one codebase.</a:t>
            </a:r>
            <a:endParaRPr lang="en-US" sz="1650" dirty="0"/>
          </a:p>
        </p:txBody>
      </p:sp>
      <p:sp>
        <p:nvSpPr>
          <p:cNvPr id="7" name="Shape 4"/>
          <p:cNvSpPr/>
          <p:nvPr/>
        </p:nvSpPr>
        <p:spPr>
          <a:xfrm>
            <a:off x="621792" y="3557016"/>
            <a:ext cx="146304" cy="146304"/>
          </a:xfrm>
          <a:prstGeom prst="ellipse">
            <a:avLst/>
          </a:prstGeom>
          <a:solidFill>
            <a:srgbClr val="4FD8F0"/>
          </a:solidFill>
          <a:ln/>
        </p:spPr>
        <p:txBody>
          <a:bodyPr/>
          <a:lstStyle/>
          <a:p>
            <a:endParaRPr lang="en-AU"/>
          </a:p>
        </p:txBody>
      </p:sp>
      <p:sp>
        <p:nvSpPr>
          <p:cNvPr id="8" name="Text 5"/>
          <p:cNvSpPr/>
          <p:nvPr/>
        </p:nvSpPr>
        <p:spPr>
          <a:xfrm>
            <a:off x="914400" y="3474720"/>
            <a:ext cx="6766560" cy="457200"/>
          </a:xfrm>
          <a:prstGeom prst="rect">
            <a:avLst/>
          </a:prstGeom>
          <a:noFill/>
          <a:ln/>
        </p:spPr>
        <p:txBody>
          <a:bodyPr wrap="square" lIns="0" tIns="0" rIns="0" bIns="0" rtlCol="0" anchor="ctr"/>
          <a:lstStyle/>
          <a:p>
            <a:pPr marL="0" indent="0">
              <a:buNone/>
            </a:pPr>
            <a:r>
              <a:rPr lang="en-US" sz="1450" b="1" dirty="0">
                <a:solidFill>
                  <a:srgbClr val="EAF6F9"/>
                </a:solidFill>
                <a:latin typeface="Calibri" pitchFamily="34" charset="0"/>
                <a:ea typeface="Calibri" pitchFamily="34" charset="-122"/>
                <a:cs typeface="Calibri" pitchFamily="34" charset="-120"/>
              </a:rPr>
              <a:t>Babatundji "Tundji" Williams-Fulwood   </a:t>
            </a:r>
            <a:r>
              <a:rPr lang="en-US" sz="1150" b="1" dirty="0">
                <a:solidFill>
                  <a:srgbClr val="4FD8F0"/>
                </a:solidFill>
                <a:latin typeface="Calibri" pitchFamily="34" charset="0"/>
                <a:ea typeface="Calibri" pitchFamily="34" charset="-122"/>
                <a:cs typeface="Calibri" pitchFamily="34" charset="-120"/>
              </a:rPr>
              <a:t>s8138393</a:t>
            </a:r>
            <a:r>
              <a:rPr lang="en-US" sz="1150" dirty="0">
                <a:solidFill>
                  <a:srgbClr val="9DBAC3"/>
                </a:solidFill>
                <a:latin typeface="Calibri" pitchFamily="34" charset="0"/>
                <a:ea typeface="Calibri" pitchFamily="34" charset="-122"/>
                <a:cs typeface="Calibri" pitchFamily="34" charset="-120"/>
              </a:rPr>
              <a:t>   Platform, AI, Safety &amp; Operations (Lead Architect)</a:t>
            </a:r>
            <a:endParaRPr lang="en-US" sz="1450" dirty="0"/>
          </a:p>
        </p:txBody>
      </p:sp>
      <p:sp>
        <p:nvSpPr>
          <p:cNvPr id="9" name="Shape 6"/>
          <p:cNvSpPr/>
          <p:nvPr/>
        </p:nvSpPr>
        <p:spPr>
          <a:xfrm>
            <a:off x="621792" y="4160520"/>
            <a:ext cx="146304" cy="146304"/>
          </a:xfrm>
          <a:prstGeom prst="ellipse">
            <a:avLst/>
          </a:prstGeom>
          <a:solidFill>
            <a:srgbClr val="FF8A70"/>
          </a:solidFill>
          <a:ln/>
        </p:spPr>
        <p:txBody>
          <a:bodyPr/>
          <a:lstStyle/>
          <a:p>
            <a:endParaRPr lang="en-AU"/>
          </a:p>
        </p:txBody>
      </p:sp>
      <p:sp>
        <p:nvSpPr>
          <p:cNvPr id="10" name="Text 7"/>
          <p:cNvSpPr/>
          <p:nvPr/>
        </p:nvSpPr>
        <p:spPr>
          <a:xfrm>
            <a:off x="914400" y="4078224"/>
            <a:ext cx="6766560" cy="457200"/>
          </a:xfrm>
          <a:prstGeom prst="rect">
            <a:avLst/>
          </a:prstGeom>
          <a:noFill/>
          <a:ln/>
        </p:spPr>
        <p:txBody>
          <a:bodyPr wrap="square" lIns="0" tIns="0" rIns="0" bIns="0" rtlCol="0" anchor="ctr"/>
          <a:lstStyle/>
          <a:p>
            <a:pPr marL="0" indent="0">
              <a:buNone/>
            </a:pPr>
            <a:r>
              <a:rPr lang="en-US" sz="1450" b="1" dirty="0">
                <a:solidFill>
                  <a:srgbClr val="EAF6F9"/>
                </a:solidFill>
                <a:latin typeface="Calibri" pitchFamily="34" charset="0"/>
                <a:ea typeface="Calibri" pitchFamily="34" charset="-122"/>
                <a:cs typeface="Calibri" pitchFamily="34" charset="-120"/>
              </a:rPr>
              <a:t>Eric La   </a:t>
            </a:r>
            <a:r>
              <a:rPr lang="en-US" sz="1150" b="1" dirty="0">
                <a:solidFill>
                  <a:srgbClr val="FF8A70"/>
                </a:solidFill>
                <a:latin typeface="Calibri" pitchFamily="34" charset="0"/>
                <a:ea typeface="Calibri" pitchFamily="34" charset="-122"/>
                <a:cs typeface="Calibri" pitchFamily="34" charset="-120"/>
              </a:rPr>
              <a:t>s8147350</a:t>
            </a:r>
            <a:r>
              <a:rPr lang="en-US" sz="1150" dirty="0">
                <a:solidFill>
                  <a:srgbClr val="9DBAC3"/>
                </a:solidFill>
                <a:latin typeface="Calibri" pitchFamily="34" charset="0"/>
                <a:ea typeface="Calibri" pitchFamily="34" charset="-122"/>
                <a:cs typeface="Calibri" pitchFamily="34" charset="-120"/>
              </a:rPr>
              <a:t>   Training &amp; Workout System</a:t>
            </a:r>
            <a:endParaRPr lang="en-US" sz="1450" dirty="0"/>
          </a:p>
        </p:txBody>
      </p:sp>
      <p:sp>
        <p:nvSpPr>
          <p:cNvPr id="11" name="Shape 8"/>
          <p:cNvSpPr/>
          <p:nvPr/>
        </p:nvSpPr>
        <p:spPr>
          <a:xfrm>
            <a:off x="621792" y="4764024"/>
            <a:ext cx="146304" cy="146304"/>
          </a:xfrm>
          <a:prstGeom prst="ellipse">
            <a:avLst/>
          </a:prstGeom>
          <a:solidFill>
            <a:srgbClr val="3DE8B0"/>
          </a:solidFill>
          <a:ln/>
        </p:spPr>
        <p:txBody>
          <a:bodyPr/>
          <a:lstStyle/>
          <a:p>
            <a:endParaRPr lang="en-AU"/>
          </a:p>
        </p:txBody>
      </p:sp>
      <p:sp>
        <p:nvSpPr>
          <p:cNvPr id="12" name="Text 9"/>
          <p:cNvSpPr/>
          <p:nvPr/>
        </p:nvSpPr>
        <p:spPr>
          <a:xfrm>
            <a:off x="914400" y="4681728"/>
            <a:ext cx="6766560" cy="457200"/>
          </a:xfrm>
          <a:prstGeom prst="rect">
            <a:avLst/>
          </a:prstGeom>
          <a:noFill/>
          <a:ln/>
        </p:spPr>
        <p:txBody>
          <a:bodyPr wrap="square" lIns="0" tIns="0" rIns="0" bIns="0" rtlCol="0" anchor="ctr"/>
          <a:lstStyle/>
          <a:p>
            <a:pPr marL="0" indent="0">
              <a:buNone/>
            </a:pPr>
            <a:r>
              <a:rPr lang="en-US" sz="1450" b="1" dirty="0">
                <a:solidFill>
                  <a:srgbClr val="EAF6F9"/>
                </a:solidFill>
                <a:latin typeface="Calibri" pitchFamily="34" charset="0"/>
                <a:ea typeface="Calibri" pitchFamily="34" charset="-122"/>
                <a:cs typeface="Calibri" pitchFamily="34" charset="-120"/>
              </a:rPr>
              <a:t>Victor Hong   </a:t>
            </a:r>
            <a:r>
              <a:rPr lang="en-US" sz="1150" b="1" dirty="0">
                <a:solidFill>
                  <a:srgbClr val="3DE8B0"/>
                </a:solidFill>
                <a:latin typeface="Calibri" pitchFamily="34" charset="0"/>
                <a:ea typeface="Calibri" pitchFamily="34" charset="-122"/>
                <a:cs typeface="Calibri" pitchFamily="34" charset="-120"/>
              </a:rPr>
              <a:t>s4685483</a:t>
            </a:r>
            <a:r>
              <a:rPr lang="en-US" sz="1150" dirty="0">
                <a:solidFill>
                  <a:srgbClr val="9DBAC3"/>
                </a:solidFill>
                <a:latin typeface="Calibri" pitchFamily="34" charset="0"/>
                <a:ea typeface="Calibri" pitchFamily="34" charset="-122"/>
                <a:cs typeface="Calibri" pitchFamily="34" charset="-120"/>
              </a:rPr>
              <a:t>   Nutrition &amp; Dietary System</a:t>
            </a:r>
            <a:endParaRPr lang="en-US" sz="1450" dirty="0"/>
          </a:p>
        </p:txBody>
      </p:sp>
      <p:sp>
        <p:nvSpPr>
          <p:cNvPr id="13" name="Text 10"/>
          <p:cNvSpPr/>
          <p:nvPr/>
        </p:nvSpPr>
        <p:spPr>
          <a:xfrm>
            <a:off x="603504" y="5623560"/>
            <a:ext cx="6766560" cy="310896"/>
          </a:xfrm>
          <a:prstGeom prst="rect">
            <a:avLst/>
          </a:prstGeom>
          <a:noFill/>
          <a:ln/>
        </p:spPr>
        <p:txBody>
          <a:bodyPr wrap="square" lIns="0" tIns="0" rIns="0" bIns="0" rtlCol="0" anchor="ctr"/>
          <a:lstStyle/>
          <a:p>
            <a:pPr marL="0" indent="0">
              <a:buNone/>
            </a:pPr>
            <a:r>
              <a:rPr lang="en-US" sz="1200" dirty="0">
                <a:solidFill>
                  <a:srgbClr val="6E939D"/>
                </a:solidFill>
                <a:latin typeface="Calibri" pitchFamily="34" charset="0"/>
                <a:ea typeface="Calibri" pitchFamily="34" charset="-122"/>
                <a:cs typeface="Calibri" pitchFamily="34" charset="-120"/>
              </a:rPr>
              <a:t>NIT3004 IT Capstone Project 2   ·   Group 15   ·   Victoria University, Melbourne</a:t>
            </a:r>
            <a:endParaRPr lang="en-US" sz="1200" dirty="0"/>
          </a:p>
        </p:txBody>
      </p:sp>
      <p:sp>
        <p:nvSpPr>
          <p:cNvPr id="14" name="Shape 11"/>
          <p:cNvSpPr/>
          <p:nvPr/>
        </p:nvSpPr>
        <p:spPr>
          <a:xfrm>
            <a:off x="7754112" y="649224"/>
            <a:ext cx="2642074" cy="5568696"/>
          </a:xfrm>
          <a:prstGeom prst="roundRect">
            <a:avLst>
              <a:gd name="adj" fmla="val 4153"/>
            </a:avLst>
          </a:prstGeom>
          <a:solidFill>
            <a:srgbClr val="062028"/>
          </a:solidFill>
          <a:ln w="12700">
            <a:solidFill>
              <a:srgbClr val="1E4A57"/>
            </a:solidFill>
            <a:prstDash val="solid"/>
          </a:ln>
        </p:spPr>
        <p:txBody>
          <a:bodyPr/>
          <a:lstStyle/>
          <a:p>
            <a:endParaRPr lang="en-AU"/>
          </a:p>
        </p:txBody>
      </p:sp>
      <p:pic>
        <p:nvPicPr>
          <p:cNvPr id="15" name="Image 1" descr="C:\Users\lumin\Desktop\aquazerofit\docs\screenshots\03-dashboard.png"/>
          <p:cNvPicPr>
            <a:picLocks noChangeAspect="1"/>
          </p:cNvPicPr>
          <p:nvPr/>
        </p:nvPicPr>
        <p:blipFill>
          <a:blip r:embed="rId5"/>
          <a:stretch>
            <a:fillRect/>
          </a:stretch>
        </p:blipFill>
        <p:spPr>
          <a:xfrm>
            <a:off x="7818120" y="713232"/>
            <a:ext cx="2514058" cy="5440680"/>
          </a:xfrm>
          <a:prstGeom prst="rect">
            <a:avLst/>
          </a:prstGeom>
        </p:spPr>
      </p:pic>
      <p:sp>
        <p:nvSpPr>
          <p:cNvPr id="16" name="Shape 12"/>
          <p:cNvSpPr/>
          <p:nvPr/>
        </p:nvSpPr>
        <p:spPr>
          <a:xfrm>
            <a:off x="9829800" y="1673352"/>
            <a:ext cx="2122361" cy="4443984"/>
          </a:xfrm>
          <a:prstGeom prst="roundRect">
            <a:avLst>
              <a:gd name="adj" fmla="val 5170"/>
            </a:avLst>
          </a:prstGeom>
          <a:solidFill>
            <a:srgbClr val="062028"/>
          </a:solidFill>
          <a:ln w="12700">
            <a:solidFill>
              <a:srgbClr val="1E4A57"/>
            </a:solidFill>
            <a:prstDash val="solid"/>
          </a:ln>
        </p:spPr>
        <p:txBody>
          <a:bodyPr/>
          <a:lstStyle/>
          <a:p>
            <a:endParaRPr lang="en-AU"/>
          </a:p>
        </p:txBody>
      </p:sp>
      <p:pic>
        <p:nvPicPr>
          <p:cNvPr id="17" name="Image 2" descr="C:\Users\lumin\Desktop\aquazerofit\docs\screenshots\07-coach.png"/>
          <p:cNvPicPr>
            <a:picLocks noChangeAspect="1"/>
          </p:cNvPicPr>
          <p:nvPr/>
        </p:nvPicPr>
        <p:blipFill>
          <a:blip r:embed="rId6"/>
          <a:stretch>
            <a:fillRect/>
          </a:stretch>
        </p:blipFill>
        <p:spPr>
          <a:xfrm>
            <a:off x="9893808" y="1737360"/>
            <a:ext cx="1994345" cy="43159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2</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FFC94D"/>
                </a:solidFill>
                <a:latin typeface="Calibri" pitchFamily="34" charset="0"/>
                <a:ea typeface="Calibri" pitchFamily="34" charset="-122"/>
                <a:cs typeface="Calibri" pitchFamily="34" charset="-120"/>
              </a:rPr>
              <a:t>RUNNING ORDER   </a:t>
            </a:r>
            <a:r>
              <a:rPr lang="en-US" sz="1100" b="1" kern="0" spc="200" dirty="0">
                <a:solidFill>
                  <a:srgbClr val="9DBAC3"/>
                </a:solidFill>
                <a:latin typeface="Calibri" pitchFamily="34" charset="0"/>
                <a:ea typeface="Calibri" pitchFamily="34" charset="-122"/>
                <a:cs typeface="Calibri" pitchFamily="34" charset="-120"/>
              </a:rPr>
              <a:t>|   PRESENTER: WHOLE TEAM</a:t>
            </a:r>
            <a:endParaRPr lang="en-US" sz="1100" dirty="0"/>
          </a:p>
        </p:txBody>
      </p:sp>
      <p:sp>
        <p:nvSpPr>
          <p:cNvPr id="5" name="Text 3"/>
          <p:cNvSpPr/>
          <p:nvPr/>
        </p:nvSpPr>
        <p:spPr>
          <a:xfrm>
            <a:off x="548640" y="566928"/>
            <a:ext cx="1106424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Ten minutes, three engineers, one system</a:t>
            </a:r>
            <a:endParaRPr lang="en-US" sz="2600" dirty="0"/>
          </a:p>
        </p:txBody>
      </p:sp>
      <p:sp>
        <p:nvSpPr>
          <p:cNvPr id="6" name="Shape 4"/>
          <p:cNvSpPr/>
          <p:nvPr/>
        </p:nvSpPr>
        <p:spPr>
          <a:xfrm>
            <a:off x="548640" y="1481328"/>
            <a:ext cx="3639312" cy="2880360"/>
          </a:xfrm>
          <a:prstGeom prst="roundRect">
            <a:avLst>
              <a:gd name="adj" fmla="val 3175"/>
            </a:avLst>
          </a:prstGeom>
          <a:solidFill>
            <a:srgbClr val="0E2A34"/>
          </a:solidFill>
          <a:ln w="12700">
            <a:solidFill>
              <a:srgbClr val="1E4A57"/>
            </a:solidFill>
            <a:prstDash val="solid"/>
          </a:ln>
        </p:spPr>
        <p:txBody>
          <a:bodyPr/>
          <a:lstStyle/>
          <a:p>
            <a:endParaRPr lang="en-AU"/>
          </a:p>
        </p:txBody>
      </p:sp>
      <p:sp>
        <p:nvSpPr>
          <p:cNvPr id="7" name="Shape 5"/>
          <p:cNvSpPr/>
          <p:nvPr/>
        </p:nvSpPr>
        <p:spPr>
          <a:xfrm>
            <a:off x="777240" y="1709928"/>
            <a:ext cx="566928" cy="566928"/>
          </a:xfrm>
          <a:prstGeom prst="ellipse">
            <a:avLst/>
          </a:prstGeom>
          <a:solidFill>
            <a:srgbClr val="123441"/>
          </a:solidFill>
          <a:ln w="15875">
            <a:solidFill>
              <a:srgbClr val="3DE8B0"/>
            </a:solidFill>
            <a:prstDash val="solid"/>
          </a:ln>
        </p:spPr>
        <p:txBody>
          <a:bodyPr/>
          <a:lstStyle/>
          <a:p>
            <a:endParaRPr lang="en-AU"/>
          </a:p>
        </p:txBody>
      </p:sp>
      <p:sp>
        <p:nvSpPr>
          <p:cNvPr id="8" name="Text 6"/>
          <p:cNvSpPr/>
          <p:nvPr/>
        </p:nvSpPr>
        <p:spPr>
          <a:xfrm>
            <a:off x="777240" y="1709928"/>
            <a:ext cx="566928" cy="566928"/>
          </a:xfrm>
          <a:prstGeom prst="rect">
            <a:avLst/>
          </a:prstGeom>
          <a:noFill/>
          <a:ln/>
        </p:spPr>
        <p:txBody>
          <a:bodyPr wrap="square" lIns="0" tIns="0" rIns="0" bIns="0" rtlCol="0" anchor="ctr"/>
          <a:lstStyle/>
          <a:p>
            <a:pPr marL="0" indent="0" algn="ctr">
              <a:buNone/>
            </a:pPr>
            <a:r>
              <a:rPr lang="en-US" sz="1600" b="1" dirty="0">
                <a:solidFill>
                  <a:srgbClr val="3DE8B0"/>
                </a:solidFill>
                <a:latin typeface="Calibri" pitchFamily="34" charset="0"/>
                <a:ea typeface="Calibri" pitchFamily="34" charset="-122"/>
                <a:cs typeface="Calibri" pitchFamily="34" charset="-120"/>
              </a:rPr>
              <a:t>VH</a:t>
            </a:r>
            <a:endParaRPr lang="en-US" sz="1600" dirty="0"/>
          </a:p>
        </p:txBody>
      </p:sp>
      <p:sp>
        <p:nvSpPr>
          <p:cNvPr id="9" name="Text 7"/>
          <p:cNvSpPr/>
          <p:nvPr/>
        </p:nvSpPr>
        <p:spPr>
          <a:xfrm>
            <a:off x="1481328" y="1700784"/>
            <a:ext cx="2542032" cy="274320"/>
          </a:xfrm>
          <a:prstGeom prst="rect">
            <a:avLst/>
          </a:prstGeom>
          <a:noFill/>
          <a:ln/>
        </p:spPr>
        <p:txBody>
          <a:bodyPr wrap="square" lIns="0" tIns="0" rIns="0" bIns="0" rtlCol="0" anchor="ctr"/>
          <a:lstStyle/>
          <a:p>
            <a:pPr marL="0" indent="0">
              <a:buNone/>
            </a:pPr>
            <a:r>
              <a:rPr lang="en-US" sz="1150" b="1" dirty="0">
                <a:solidFill>
                  <a:srgbClr val="EAF6F9"/>
                </a:solidFill>
                <a:latin typeface="Calibri" pitchFamily="34" charset="0"/>
                <a:ea typeface="Calibri" pitchFamily="34" charset="-122"/>
                <a:cs typeface="Calibri" pitchFamily="34" charset="-120"/>
              </a:rPr>
              <a:t>VICTOR HONG  </a:t>
            </a:r>
            <a:r>
              <a:rPr lang="en-US" sz="950" b="1" dirty="0">
                <a:solidFill>
                  <a:srgbClr val="3DE8B0"/>
                </a:solidFill>
                <a:latin typeface="Calibri" pitchFamily="34" charset="0"/>
                <a:ea typeface="Calibri" pitchFamily="34" charset="-122"/>
                <a:cs typeface="Calibri" pitchFamily="34" charset="-120"/>
              </a:rPr>
              <a:t>s4685483</a:t>
            </a:r>
            <a:endParaRPr lang="en-US" sz="1150" dirty="0"/>
          </a:p>
        </p:txBody>
      </p:sp>
      <p:sp>
        <p:nvSpPr>
          <p:cNvPr id="10" name="Text 8"/>
          <p:cNvSpPr/>
          <p:nvPr/>
        </p:nvSpPr>
        <p:spPr>
          <a:xfrm>
            <a:off x="1481328" y="1965960"/>
            <a:ext cx="2542032" cy="384048"/>
          </a:xfrm>
          <a:prstGeom prst="rect">
            <a:avLst/>
          </a:prstGeom>
          <a:noFill/>
          <a:ln/>
        </p:spPr>
        <p:txBody>
          <a:bodyPr wrap="square" lIns="0" tIns="0" rIns="0" bIns="0" rtlCol="0" anchor="ctr"/>
          <a:lstStyle/>
          <a:p>
            <a:pPr marL="0" indent="0">
              <a:buNone/>
            </a:pPr>
            <a:r>
              <a:rPr lang="en-US" sz="1000" b="1" dirty="0">
                <a:solidFill>
                  <a:srgbClr val="3DE8B0"/>
                </a:solidFill>
                <a:latin typeface="Calibri" pitchFamily="34" charset="0"/>
                <a:ea typeface="Calibri" pitchFamily="34" charset="-122"/>
                <a:cs typeface="Calibri" pitchFamily="34" charset="-120"/>
              </a:rPr>
              <a:t>Nutrition &amp; Dietary System</a:t>
            </a:r>
            <a:endParaRPr lang="en-US" sz="1000" dirty="0"/>
          </a:p>
        </p:txBody>
      </p:sp>
      <p:sp>
        <p:nvSpPr>
          <p:cNvPr id="11" name="Text 9"/>
          <p:cNvSpPr/>
          <p:nvPr/>
        </p:nvSpPr>
        <p:spPr>
          <a:xfrm>
            <a:off x="822960" y="2505456"/>
            <a:ext cx="3136392" cy="132588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9DBAC3"/>
                </a:solidFill>
                <a:latin typeface="Calibri" pitchFamily="34" charset="0"/>
                <a:ea typeface="Calibri" pitchFamily="34" charset="-122"/>
                <a:cs typeface="Calibri" pitchFamily="34" charset="-120"/>
              </a:rPr>
              <a:t>Calorie &amp; macro engine with a safety floor</a:t>
            </a:r>
            <a:endParaRPr lang="en-US" sz="1050" dirty="0"/>
          </a:p>
          <a:p>
            <a:pPr marL="127000" indent="-127000">
              <a:spcAft>
                <a:spcPts val="500"/>
              </a:spcAft>
              <a:buSzPct val="100000"/>
              <a:buChar char="•"/>
            </a:pPr>
            <a:r>
              <a:rPr lang="en-US" sz="1050" dirty="0">
                <a:solidFill>
                  <a:srgbClr val="9DBAC3"/>
                </a:solidFill>
                <a:latin typeface="Calibri" pitchFamily="34" charset="0"/>
                <a:ea typeface="Calibri" pitchFamily="34" charset="-122"/>
                <a:cs typeface="Calibri" pitchFamily="34" charset="-120"/>
              </a:rPr>
              <a:t>Photo, barcode and one-tap logging</a:t>
            </a:r>
            <a:endParaRPr lang="en-US" sz="1050" dirty="0"/>
          </a:p>
          <a:p>
            <a:pPr marL="127000" indent="-127000">
              <a:spcAft>
                <a:spcPts val="500"/>
              </a:spcAft>
              <a:buSzPct val="100000"/>
              <a:buChar char="•"/>
            </a:pPr>
            <a:r>
              <a:rPr lang="en-US" sz="1050" dirty="0">
                <a:solidFill>
                  <a:srgbClr val="9DBAC3"/>
                </a:solidFill>
                <a:latin typeface="Calibri" pitchFamily="34" charset="0"/>
                <a:ea typeface="Calibri" pitchFamily="34" charset="-122"/>
                <a:cs typeface="Calibri" pitchFamily="34" charset="-120"/>
              </a:rPr>
              <a:t>Allergen filtering the AI cannot override</a:t>
            </a:r>
            <a:endParaRPr lang="en-US" sz="1050" dirty="0"/>
          </a:p>
        </p:txBody>
      </p:sp>
      <p:sp>
        <p:nvSpPr>
          <p:cNvPr id="12" name="Text 10"/>
          <p:cNvSpPr/>
          <p:nvPr/>
        </p:nvSpPr>
        <p:spPr>
          <a:xfrm>
            <a:off x="822960" y="3886200"/>
            <a:ext cx="3090672" cy="292608"/>
          </a:xfrm>
          <a:prstGeom prst="rect">
            <a:avLst/>
          </a:prstGeom>
          <a:noFill/>
          <a:ln/>
        </p:spPr>
        <p:txBody>
          <a:bodyPr wrap="square" lIns="0" tIns="0" rIns="0" bIns="0" rtlCol="0" anchor="ctr"/>
          <a:lstStyle/>
          <a:p>
            <a:pPr marL="0" indent="0">
              <a:buNone/>
            </a:pPr>
            <a:r>
              <a:rPr lang="en-US" sz="1100" b="1" dirty="0">
                <a:solidFill>
                  <a:srgbClr val="3DE8B0"/>
                </a:solidFill>
                <a:latin typeface="Calibri" pitchFamily="34" charset="0"/>
                <a:ea typeface="Calibri" pitchFamily="34" charset="-122"/>
                <a:cs typeface="Calibri" pitchFamily="34" charset="-120"/>
              </a:rPr>
              <a:t>~2:30</a:t>
            </a:r>
            <a:endParaRPr lang="en-US" sz="1100" dirty="0"/>
          </a:p>
        </p:txBody>
      </p:sp>
      <p:sp>
        <p:nvSpPr>
          <p:cNvPr id="13" name="Shape 11"/>
          <p:cNvSpPr/>
          <p:nvPr/>
        </p:nvSpPr>
        <p:spPr>
          <a:xfrm>
            <a:off x="4370832" y="1481328"/>
            <a:ext cx="3639312" cy="2880360"/>
          </a:xfrm>
          <a:prstGeom prst="roundRect">
            <a:avLst>
              <a:gd name="adj" fmla="val 3175"/>
            </a:avLst>
          </a:prstGeom>
          <a:solidFill>
            <a:srgbClr val="0E2A34"/>
          </a:solidFill>
          <a:ln w="12700">
            <a:solidFill>
              <a:srgbClr val="1E4A57"/>
            </a:solidFill>
            <a:prstDash val="solid"/>
          </a:ln>
        </p:spPr>
        <p:txBody>
          <a:bodyPr/>
          <a:lstStyle/>
          <a:p>
            <a:endParaRPr lang="en-AU"/>
          </a:p>
        </p:txBody>
      </p:sp>
      <p:sp>
        <p:nvSpPr>
          <p:cNvPr id="14" name="Shape 12"/>
          <p:cNvSpPr/>
          <p:nvPr/>
        </p:nvSpPr>
        <p:spPr>
          <a:xfrm>
            <a:off x="4599432" y="1709928"/>
            <a:ext cx="566928" cy="566928"/>
          </a:xfrm>
          <a:prstGeom prst="ellipse">
            <a:avLst/>
          </a:prstGeom>
          <a:solidFill>
            <a:srgbClr val="123441"/>
          </a:solidFill>
          <a:ln w="15875">
            <a:solidFill>
              <a:srgbClr val="FF8A70"/>
            </a:solidFill>
            <a:prstDash val="solid"/>
          </a:ln>
        </p:spPr>
        <p:txBody>
          <a:bodyPr/>
          <a:lstStyle/>
          <a:p>
            <a:endParaRPr lang="en-AU"/>
          </a:p>
        </p:txBody>
      </p:sp>
      <p:sp>
        <p:nvSpPr>
          <p:cNvPr id="15" name="Text 13"/>
          <p:cNvSpPr/>
          <p:nvPr/>
        </p:nvSpPr>
        <p:spPr>
          <a:xfrm>
            <a:off x="4599432" y="1709928"/>
            <a:ext cx="566928" cy="566928"/>
          </a:xfrm>
          <a:prstGeom prst="rect">
            <a:avLst/>
          </a:prstGeom>
          <a:noFill/>
          <a:ln/>
        </p:spPr>
        <p:txBody>
          <a:bodyPr wrap="square" lIns="0" tIns="0" rIns="0" bIns="0" rtlCol="0" anchor="ctr"/>
          <a:lstStyle/>
          <a:p>
            <a:pPr marL="0" indent="0" algn="ctr">
              <a:buNone/>
            </a:pPr>
            <a:r>
              <a:rPr lang="en-US" sz="1600" b="1" dirty="0">
                <a:solidFill>
                  <a:srgbClr val="FF8A70"/>
                </a:solidFill>
                <a:latin typeface="Calibri" pitchFamily="34" charset="0"/>
                <a:ea typeface="Calibri" pitchFamily="34" charset="-122"/>
                <a:cs typeface="Calibri" pitchFamily="34" charset="-120"/>
              </a:rPr>
              <a:t>EL</a:t>
            </a:r>
            <a:endParaRPr lang="en-US" sz="1600" dirty="0"/>
          </a:p>
        </p:txBody>
      </p:sp>
      <p:sp>
        <p:nvSpPr>
          <p:cNvPr id="16" name="Text 14"/>
          <p:cNvSpPr/>
          <p:nvPr/>
        </p:nvSpPr>
        <p:spPr>
          <a:xfrm>
            <a:off x="5303520" y="1700784"/>
            <a:ext cx="2542032" cy="274320"/>
          </a:xfrm>
          <a:prstGeom prst="rect">
            <a:avLst/>
          </a:prstGeom>
          <a:noFill/>
          <a:ln/>
        </p:spPr>
        <p:txBody>
          <a:bodyPr wrap="square" lIns="0" tIns="0" rIns="0" bIns="0" rtlCol="0" anchor="ctr"/>
          <a:lstStyle/>
          <a:p>
            <a:pPr marL="0" indent="0">
              <a:buNone/>
            </a:pPr>
            <a:r>
              <a:rPr lang="en-US" sz="1150" b="1" dirty="0">
                <a:solidFill>
                  <a:srgbClr val="EAF6F9"/>
                </a:solidFill>
                <a:latin typeface="Calibri" pitchFamily="34" charset="0"/>
                <a:ea typeface="Calibri" pitchFamily="34" charset="-122"/>
                <a:cs typeface="Calibri" pitchFamily="34" charset="-120"/>
              </a:rPr>
              <a:t>ERIC LA  </a:t>
            </a:r>
            <a:r>
              <a:rPr lang="en-US" sz="950" b="1" dirty="0">
                <a:solidFill>
                  <a:srgbClr val="FF8A70"/>
                </a:solidFill>
                <a:latin typeface="Calibri" pitchFamily="34" charset="0"/>
                <a:ea typeface="Calibri" pitchFamily="34" charset="-122"/>
                <a:cs typeface="Calibri" pitchFamily="34" charset="-120"/>
              </a:rPr>
              <a:t>s8147350</a:t>
            </a:r>
            <a:endParaRPr lang="en-US" sz="1150" dirty="0"/>
          </a:p>
        </p:txBody>
      </p:sp>
      <p:sp>
        <p:nvSpPr>
          <p:cNvPr id="17" name="Text 15"/>
          <p:cNvSpPr/>
          <p:nvPr/>
        </p:nvSpPr>
        <p:spPr>
          <a:xfrm>
            <a:off x="5303520" y="1965960"/>
            <a:ext cx="2542032" cy="384048"/>
          </a:xfrm>
          <a:prstGeom prst="rect">
            <a:avLst/>
          </a:prstGeom>
          <a:noFill/>
          <a:ln/>
        </p:spPr>
        <p:txBody>
          <a:bodyPr wrap="square" lIns="0" tIns="0" rIns="0" bIns="0" rtlCol="0" anchor="ctr"/>
          <a:lstStyle/>
          <a:p>
            <a:pPr marL="0" indent="0">
              <a:buNone/>
            </a:pPr>
            <a:r>
              <a:rPr lang="en-US" sz="1000" b="1" dirty="0">
                <a:solidFill>
                  <a:srgbClr val="FF8A70"/>
                </a:solidFill>
                <a:latin typeface="Calibri" pitchFamily="34" charset="0"/>
                <a:ea typeface="Calibri" pitchFamily="34" charset="-122"/>
                <a:cs typeface="Calibri" pitchFamily="34" charset="-120"/>
              </a:rPr>
              <a:t>Training &amp; Workout System</a:t>
            </a:r>
            <a:endParaRPr lang="en-US" sz="1000" dirty="0"/>
          </a:p>
        </p:txBody>
      </p:sp>
      <p:sp>
        <p:nvSpPr>
          <p:cNvPr id="18" name="Text 16"/>
          <p:cNvSpPr/>
          <p:nvPr/>
        </p:nvSpPr>
        <p:spPr>
          <a:xfrm>
            <a:off x="4645152" y="2505456"/>
            <a:ext cx="3136392" cy="132588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9DBAC3"/>
                </a:solidFill>
                <a:latin typeface="Calibri" pitchFamily="34" charset="0"/>
                <a:ea typeface="Calibri" pitchFamily="34" charset="-122"/>
                <a:cs typeface="Calibri" pitchFamily="34" charset="-120"/>
              </a:rPr>
              <a:t>Licensed exercise corpus</a:t>
            </a:r>
            <a:endParaRPr lang="en-US" sz="1050" dirty="0"/>
          </a:p>
          <a:p>
            <a:pPr marL="127000" indent="-127000">
              <a:spcAft>
                <a:spcPts val="500"/>
              </a:spcAft>
              <a:buSzPct val="100000"/>
              <a:buChar char="•"/>
            </a:pPr>
            <a:r>
              <a:rPr lang="en-US" sz="1050" dirty="0">
                <a:solidFill>
                  <a:srgbClr val="9DBAC3"/>
                </a:solidFill>
                <a:latin typeface="Calibri" pitchFamily="34" charset="0"/>
                <a:ea typeface="Calibri" pitchFamily="34" charset="-122"/>
                <a:cs typeface="Calibri" pitchFamily="34" charset="-120"/>
              </a:rPr>
              <a:t>Deterministic plan generator &amp; progression</a:t>
            </a:r>
            <a:endParaRPr lang="en-US" sz="1050" dirty="0"/>
          </a:p>
          <a:p>
            <a:pPr marL="127000" indent="-127000">
              <a:spcAft>
                <a:spcPts val="500"/>
              </a:spcAft>
              <a:buSzPct val="100000"/>
              <a:buChar char="•"/>
            </a:pPr>
            <a:r>
              <a:rPr lang="en-US" sz="1050" dirty="0">
                <a:solidFill>
                  <a:srgbClr val="9DBAC3"/>
                </a:solidFill>
                <a:latin typeface="Calibri" pitchFamily="34" charset="0"/>
                <a:ea typeface="Calibri" pitchFamily="34" charset="-122"/>
                <a:cs typeface="Calibri" pitchFamily="34" charset="-120"/>
              </a:rPr>
              <a:t>Adaptive readiness and the session logger</a:t>
            </a:r>
            <a:endParaRPr lang="en-US" sz="1050" dirty="0"/>
          </a:p>
        </p:txBody>
      </p:sp>
      <p:sp>
        <p:nvSpPr>
          <p:cNvPr id="19" name="Text 17"/>
          <p:cNvSpPr/>
          <p:nvPr/>
        </p:nvSpPr>
        <p:spPr>
          <a:xfrm>
            <a:off x="4645152" y="3886200"/>
            <a:ext cx="3090672" cy="292608"/>
          </a:xfrm>
          <a:prstGeom prst="rect">
            <a:avLst/>
          </a:prstGeom>
          <a:noFill/>
          <a:ln/>
        </p:spPr>
        <p:txBody>
          <a:bodyPr wrap="square" lIns="0" tIns="0" rIns="0" bIns="0" rtlCol="0" anchor="ctr"/>
          <a:lstStyle/>
          <a:p>
            <a:pPr marL="0" indent="0">
              <a:buNone/>
            </a:pPr>
            <a:r>
              <a:rPr lang="en-US" sz="1100" b="1" dirty="0">
                <a:solidFill>
                  <a:srgbClr val="FF8A70"/>
                </a:solidFill>
                <a:latin typeface="Calibri" pitchFamily="34" charset="0"/>
                <a:ea typeface="Calibri" pitchFamily="34" charset="-122"/>
                <a:cs typeface="Calibri" pitchFamily="34" charset="-120"/>
              </a:rPr>
              <a:t>~2:30</a:t>
            </a:r>
            <a:endParaRPr lang="en-US" sz="1100" dirty="0"/>
          </a:p>
        </p:txBody>
      </p:sp>
      <p:sp>
        <p:nvSpPr>
          <p:cNvPr id="20" name="Shape 18"/>
          <p:cNvSpPr/>
          <p:nvPr/>
        </p:nvSpPr>
        <p:spPr>
          <a:xfrm>
            <a:off x="8193024" y="1481328"/>
            <a:ext cx="3639312" cy="2880360"/>
          </a:xfrm>
          <a:prstGeom prst="roundRect">
            <a:avLst>
              <a:gd name="adj" fmla="val 3175"/>
            </a:avLst>
          </a:prstGeom>
          <a:solidFill>
            <a:srgbClr val="0E2A34"/>
          </a:solidFill>
          <a:ln w="12700">
            <a:solidFill>
              <a:srgbClr val="1E4A57"/>
            </a:solidFill>
            <a:prstDash val="solid"/>
          </a:ln>
        </p:spPr>
        <p:txBody>
          <a:bodyPr/>
          <a:lstStyle/>
          <a:p>
            <a:endParaRPr lang="en-AU"/>
          </a:p>
        </p:txBody>
      </p:sp>
      <p:sp>
        <p:nvSpPr>
          <p:cNvPr id="21" name="Shape 19"/>
          <p:cNvSpPr/>
          <p:nvPr/>
        </p:nvSpPr>
        <p:spPr>
          <a:xfrm>
            <a:off x="8421624" y="1709928"/>
            <a:ext cx="566928" cy="566928"/>
          </a:xfrm>
          <a:prstGeom prst="ellipse">
            <a:avLst/>
          </a:prstGeom>
          <a:solidFill>
            <a:srgbClr val="123441"/>
          </a:solidFill>
          <a:ln w="15875">
            <a:solidFill>
              <a:srgbClr val="4FD8F0"/>
            </a:solidFill>
            <a:prstDash val="solid"/>
          </a:ln>
        </p:spPr>
        <p:txBody>
          <a:bodyPr/>
          <a:lstStyle/>
          <a:p>
            <a:endParaRPr lang="en-AU"/>
          </a:p>
        </p:txBody>
      </p:sp>
      <p:sp>
        <p:nvSpPr>
          <p:cNvPr id="22" name="Text 20"/>
          <p:cNvSpPr/>
          <p:nvPr/>
        </p:nvSpPr>
        <p:spPr>
          <a:xfrm>
            <a:off x="8421624" y="1709928"/>
            <a:ext cx="566928" cy="566928"/>
          </a:xfrm>
          <a:prstGeom prst="rect">
            <a:avLst/>
          </a:prstGeom>
          <a:noFill/>
          <a:ln/>
        </p:spPr>
        <p:txBody>
          <a:bodyPr wrap="square" lIns="0" tIns="0" rIns="0" bIns="0" rtlCol="0" anchor="ctr"/>
          <a:lstStyle/>
          <a:p>
            <a:pPr marL="0" indent="0" algn="ctr">
              <a:buNone/>
            </a:pPr>
            <a:r>
              <a:rPr lang="en-US" sz="1600" b="1" dirty="0">
                <a:solidFill>
                  <a:srgbClr val="4FD8F0"/>
                </a:solidFill>
                <a:latin typeface="Calibri" pitchFamily="34" charset="0"/>
                <a:ea typeface="Calibri" pitchFamily="34" charset="-122"/>
                <a:cs typeface="Calibri" pitchFamily="34" charset="-120"/>
              </a:rPr>
              <a:t>TW</a:t>
            </a:r>
            <a:endParaRPr lang="en-US" sz="1600" dirty="0"/>
          </a:p>
        </p:txBody>
      </p:sp>
      <p:sp>
        <p:nvSpPr>
          <p:cNvPr id="23" name="Text 21"/>
          <p:cNvSpPr/>
          <p:nvPr/>
        </p:nvSpPr>
        <p:spPr>
          <a:xfrm>
            <a:off x="9125712" y="1700784"/>
            <a:ext cx="2542032" cy="274320"/>
          </a:xfrm>
          <a:prstGeom prst="rect">
            <a:avLst/>
          </a:prstGeom>
          <a:noFill/>
          <a:ln/>
        </p:spPr>
        <p:txBody>
          <a:bodyPr wrap="square" lIns="0" tIns="0" rIns="0" bIns="0" rtlCol="0" anchor="ctr"/>
          <a:lstStyle/>
          <a:p>
            <a:pPr marL="0" indent="0">
              <a:buNone/>
            </a:pPr>
            <a:r>
              <a:rPr lang="en-US" sz="1150" b="1" dirty="0">
                <a:solidFill>
                  <a:srgbClr val="EAF6F9"/>
                </a:solidFill>
                <a:latin typeface="Calibri" pitchFamily="34" charset="0"/>
                <a:ea typeface="Calibri" pitchFamily="34" charset="-122"/>
                <a:cs typeface="Calibri" pitchFamily="34" charset="-120"/>
              </a:rPr>
              <a:t>TUNDJI WILLIAMS-FULWOOD  </a:t>
            </a:r>
            <a:r>
              <a:rPr lang="en-US" sz="950" b="1" dirty="0">
                <a:solidFill>
                  <a:srgbClr val="4FD8F0"/>
                </a:solidFill>
                <a:latin typeface="Calibri" pitchFamily="34" charset="0"/>
                <a:ea typeface="Calibri" pitchFamily="34" charset="-122"/>
                <a:cs typeface="Calibri" pitchFamily="34" charset="-120"/>
              </a:rPr>
              <a:t>s8138393</a:t>
            </a:r>
            <a:endParaRPr lang="en-US" sz="1150" dirty="0"/>
          </a:p>
        </p:txBody>
      </p:sp>
      <p:sp>
        <p:nvSpPr>
          <p:cNvPr id="24" name="Text 22"/>
          <p:cNvSpPr/>
          <p:nvPr/>
        </p:nvSpPr>
        <p:spPr>
          <a:xfrm>
            <a:off x="9125712" y="1965960"/>
            <a:ext cx="2542032" cy="384048"/>
          </a:xfrm>
          <a:prstGeom prst="rect">
            <a:avLst/>
          </a:prstGeom>
          <a:noFill/>
          <a:ln/>
        </p:spPr>
        <p:txBody>
          <a:bodyPr wrap="square" lIns="0" tIns="0" rIns="0" bIns="0" rtlCol="0" anchor="ctr"/>
          <a:lstStyle/>
          <a:p>
            <a:pPr marL="0" indent="0">
              <a:buNone/>
            </a:pPr>
            <a:r>
              <a:rPr lang="en-US" sz="1000" b="1" dirty="0">
                <a:solidFill>
                  <a:srgbClr val="4FD8F0"/>
                </a:solidFill>
                <a:latin typeface="Calibri" pitchFamily="34" charset="0"/>
                <a:ea typeface="Calibri" pitchFamily="34" charset="-122"/>
                <a:cs typeface="Calibri" pitchFamily="34" charset="-120"/>
              </a:rPr>
              <a:t>Platform, AI, Safety &amp; Operations</a:t>
            </a:r>
            <a:endParaRPr lang="en-US" sz="1000" dirty="0"/>
          </a:p>
        </p:txBody>
      </p:sp>
      <p:sp>
        <p:nvSpPr>
          <p:cNvPr id="25" name="Text 23"/>
          <p:cNvSpPr/>
          <p:nvPr/>
        </p:nvSpPr>
        <p:spPr>
          <a:xfrm>
            <a:off x="8467344" y="2505456"/>
            <a:ext cx="3136392" cy="132588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9DBAC3"/>
                </a:solidFill>
                <a:latin typeface="Calibri" pitchFamily="34" charset="0"/>
                <a:ea typeface="Calibri" pitchFamily="34" charset="-122"/>
                <a:cs typeface="Calibri" pitchFamily="34" charset="-120"/>
              </a:rPr>
              <a:t>The AI Gateway and offline resilience</a:t>
            </a:r>
            <a:endParaRPr lang="en-US" sz="1050" dirty="0"/>
          </a:p>
          <a:p>
            <a:pPr marL="127000" indent="-127000">
              <a:spcAft>
                <a:spcPts val="500"/>
              </a:spcAft>
              <a:buSzPct val="100000"/>
              <a:buChar char="•"/>
            </a:pPr>
            <a:r>
              <a:rPr lang="en-US" sz="1050" dirty="0">
                <a:solidFill>
                  <a:srgbClr val="9DBAC3"/>
                </a:solidFill>
                <a:latin typeface="Calibri" pitchFamily="34" charset="0"/>
                <a:ea typeface="Calibri" pitchFamily="34" charset="-122"/>
                <a:cs typeface="Calibri" pitchFamily="34" charset="-120"/>
              </a:rPr>
              <a:t>Safety, security and privacy architecture</a:t>
            </a:r>
            <a:endParaRPr lang="en-US" sz="1050" dirty="0"/>
          </a:p>
          <a:p>
            <a:pPr marL="127000" indent="-127000">
              <a:spcAft>
                <a:spcPts val="500"/>
              </a:spcAft>
              <a:buSzPct val="100000"/>
              <a:buChar char="•"/>
            </a:pPr>
            <a:r>
              <a:rPr lang="en-US" sz="1050" dirty="0">
                <a:solidFill>
                  <a:srgbClr val="9DBAC3"/>
                </a:solidFill>
                <a:latin typeface="Calibri" pitchFamily="34" charset="0"/>
                <a:ea typeface="Calibri" pitchFamily="34" charset="-122"/>
                <a:cs typeface="Calibri" pitchFamily="34" charset="-120"/>
              </a:rPr>
              <a:t>Quality: 806 automated tests</a:t>
            </a:r>
            <a:endParaRPr lang="en-US" sz="1050" dirty="0"/>
          </a:p>
        </p:txBody>
      </p:sp>
      <p:sp>
        <p:nvSpPr>
          <p:cNvPr id="26" name="Text 24"/>
          <p:cNvSpPr/>
          <p:nvPr/>
        </p:nvSpPr>
        <p:spPr>
          <a:xfrm>
            <a:off x="8467344" y="3886200"/>
            <a:ext cx="3090672" cy="292608"/>
          </a:xfrm>
          <a:prstGeom prst="rect">
            <a:avLst/>
          </a:prstGeom>
          <a:noFill/>
          <a:ln/>
        </p:spPr>
        <p:txBody>
          <a:bodyPr wrap="square" lIns="0" tIns="0" rIns="0" bIns="0" rtlCol="0" anchor="ctr"/>
          <a:lstStyle/>
          <a:p>
            <a:pPr marL="0" indent="0">
              <a:buNone/>
            </a:pPr>
            <a:r>
              <a:rPr lang="en-US" sz="1100" b="1" dirty="0">
                <a:solidFill>
                  <a:srgbClr val="4FD8F0"/>
                </a:solidFill>
                <a:latin typeface="Calibri" pitchFamily="34" charset="0"/>
                <a:ea typeface="Calibri" pitchFamily="34" charset="-122"/>
                <a:cs typeface="Calibri" pitchFamily="34" charset="-120"/>
              </a:rPr>
              <a:t>1:00 + ~3:30</a:t>
            </a:r>
            <a:endParaRPr lang="en-US" sz="1100" dirty="0"/>
          </a:p>
        </p:txBody>
      </p:sp>
      <p:sp>
        <p:nvSpPr>
          <p:cNvPr id="27" name="Text 25"/>
          <p:cNvSpPr/>
          <p:nvPr/>
        </p:nvSpPr>
        <p:spPr>
          <a:xfrm>
            <a:off x="548640" y="4645152"/>
            <a:ext cx="5486400" cy="256032"/>
          </a:xfrm>
          <a:prstGeom prst="rect">
            <a:avLst/>
          </a:prstGeom>
          <a:noFill/>
          <a:ln/>
        </p:spPr>
        <p:txBody>
          <a:bodyPr wrap="square" lIns="0" tIns="0" rIns="0" bIns="0" rtlCol="0" anchor="ctr"/>
          <a:lstStyle/>
          <a:p>
            <a:pPr marL="0" indent="0">
              <a:buNone/>
            </a:pPr>
            <a:r>
              <a:rPr lang="en-US" sz="1000" b="1" kern="0" spc="200" dirty="0">
                <a:solidFill>
                  <a:srgbClr val="6E939D"/>
                </a:solidFill>
                <a:latin typeface="Calibri" pitchFamily="34" charset="0"/>
                <a:ea typeface="Calibri" pitchFamily="34" charset="-122"/>
                <a:cs typeface="Calibri" pitchFamily="34" charset="-120"/>
              </a:rPr>
              <a:t>THE 10-MINUTE CLOCK</a:t>
            </a:r>
            <a:endParaRPr lang="en-US" sz="1000" dirty="0"/>
          </a:p>
        </p:txBody>
      </p:sp>
      <p:sp>
        <p:nvSpPr>
          <p:cNvPr id="28" name="Shape 26"/>
          <p:cNvSpPr/>
          <p:nvPr/>
        </p:nvSpPr>
        <p:spPr>
          <a:xfrm>
            <a:off x="548640" y="4956048"/>
            <a:ext cx="1054303" cy="566928"/>
          </a:xfrm>
          <a:prstGeom prst="roundRect">
            <a:avLst>
              <a:gd name="adj" fmla="val 9677"/>
            </a:avLst>
          </a:prstGeom>
          <a:solidFill>
            <a:srgbClr val="123441"/>
          </a:solidFill>
          <a:ln w="12700">
            <a:solidFill>
              <a:srgbClr val="4FD8F0"/>
            </a:solidFill>
            <a:prstDash val="solid"/>
          </a:ln>
        </p:spPr>
        <p:txBody>
          <a:bodyPr/>
          <a:lstStyle/>
          <a:p>
            <a:endParaRPr lang="en-AU"/>
          </a:p>
        </p:txBody>
      </p:sp>
      <p:sp>
        <p:nvSpPr>
          <p:cNvPr id="29" name="Text 27"/>
          <p:cNvSpPr/>
          <p:nvPr/>
        </p:nvSpPr>
        <p:spPr>
          <a:xfrm>
            <a:off x="548640" y="4956048"/>
            <a:ext cx="1054303" cy="566928"/>
          </a:xfrm>
          <a:prstGeom prst="rect">
            <a:avLst/>
          </a:prstGeom>
          <a:noFill/>
          <a:ln/>
        </p:spPr>
        <p:txBody>
          <a:bodyPr wrap="square" lIns="0" tIns="0" rIns="0" bIns="0" rtlCol="0" anchor="ctr"/>
          <a:lstStyle/>
          <a:p>
            <a:pPr marL="0" indent="0" algn="ctr">
              <a:buNone/>
            </a:pPr>
            <a:r>
              <a:rPr lang="en-US" sz="850" b="1" dirty="0">
                <a:solidFill>
                  <a:srgbClr val="4FD8F0"/>
                </a:solidFill>
                <a:latin typeface="Calibri" pitchFamily="34" charset="0"/>
                <a:ea typeface="Calibri" pitchFamily="34" charset="-122"/>
                <a:cs typeface="Calibri" pitchFamily="34" charset="-120"/>
              </a:rPr>
              <a:t>Opening 1:00</a:t>
            </a:r>
            <a:endParaRPr lang="en-US" sz="850" dirty="0"/>
          </a:p>
        </p:txBody>
      </p:sp>
      <p:sp>
        <p:nvSpPr>
          <p:cNvPr id="30" name="Shape 28"/>
          <p:cNvSpPr/>
          <p:nvPr/>
        </p:nvSpPr>
        <p:spPr>
          <a:xfrm>
            <a:off x="1657807" y="4956048"/>
            <a:ext cx="2718054" cy="566928"/>
          </a:xfrm>
          <a:prstGeom prst="roundRect">
            <a:avLst>
              <a:gd name="adj" fmla="val 9677"/>
            </a:avLst>
          </a:prstGeom>
          <a:solidFill>
            <a:srgbClr val="123441"/>
          </a:solidFill>
          <a:ln w="12700">
            <a:solidFill>
              <a:srgbClr val="3DE8B0"/>
            </a:solidFill>
            <a:prstDash val="solid"/>
          </a:ln>
        </p:spPr>
        <p:txBody>
          <a:bodyPr/>
          <a:lstStyle/>
          <a:p>
            <a:endParaRPr lang="en-AU"/>
          </a:p>
        </p:txBody>
      </p:sp>
      <p:sp>
        <p:nvSpPr>
          <p:cNvPr id="31" name="Text 29"/>
          <p:cNvSpPr/>
          <p:nvPr/>
        </p:nvSpPr>
        <p:spPr>
          <a:xfrm>
            <a:off x="1657807" y="4956048"/>
            <a:ext cx="2718054" cy="566928"/>
          </a:xfrm>
          <a:prstGeom prst="rect">
            <a:avLst/>
          </a:prstGeom>
          <a:noFill/>
          <a:ln/>
        </p:spPr>
        <p:txBody>
          <a:bodyPr wrap="square" lIns="0" tIns="0" rIns="0" bIns="0" rtlCol="0" anchor="ctr"/>
          <a:lstStyle/>
          <a:p>
            <a:pPr marL="0" indent="0" algn="ctr">
              <a:buNone/>
            </a:pPr>
            <a:r>
              <a:rPr lang="en-US" sz="1100" b="1" dirty="0">
                <a:solidFill>
                  <a:srgbClr val="3DE8B0"/>
                </a:solidFill>
                <a:latin typeface="Calibri" pitchFamily="34" charset="0"/>
                <a:ea typeface="Calibri" pitchFamily="34" charset="-122"/>
                <a:cs typeface="Calibri" pitchFamily="34" charset="-120"/>
              </a:rPr>
              <a:t>Nutrition 2:30</a:t>
            </a:r>
            <a:endParaRPr lang="en-US" sz="1100" dirty="0"/>
          </a:p>
        </p:txBody>
      </p:sp>
      <p:sp>
        <p:nvSpPr>
          <p:cNvPr id="32" name="Shape 30"/>
          <p:cNvSpPr/>
          <p:nvPr/>
        </p:nvSpPr>
        <p:spPr>
          <a:xfrm>
            <a:off x="4430725" y="4956048"/>
            <a:ext cx="2718054" cy="566928"/>
          </a:xfrm>
          <a:prstGeom prst="roundRect">
            <a:avLst>
              <a:gd name="adj" fmla="val 9677"/>
            </a:avLst>
          </a:prstGeom>
          <a:solidFill>
            <a:srgbClr val="123441"/>
          </a:solidFill>
          <a:ln w="12700">
            <a:solidFill>
              <a:srgbClr val="FF8A70"/>
            </a:solidFill>
            <a:prstDash val="solid"/>
          </a:ln>
        </p:spPr>
        <p:txBody>
          <a:bodyPr/>
          <a:lstStyle/>
          <a:p>
            <a:endParaRPr lang="en-AU"/>
          </a:p>
        </p:txBody>
      </p:sp>
      <p:sp>
        <p:nvSpPr>
          <p:cNvPr id="33" name="Text 31"/>
          <p:cNvSpPr/>
          <p:nvPr/>
        </p:nvSpPr>
        <p:spPr>
          <a:xfrm>
            <a:off x="4430725" y="4956048"/>
            <a:ext cx="2718054" cy="566928"/>
          </a:xfrm>
          <a:prstGeom prst="rect">
            <a:avLst/>
          </a:prstGeom>
          <a:noFill/>
          <a:ln/>
        </p:spPr>
        <p:txBody>
          <a:bodyPr wrap="square" lIns="0" tIns="0" rIns="0" bIns="0" rtlCol="0" anchor="ctr"/>
          <a:lstStyle/>
          <a:p>
            <a:pPr marL="0" indent="0" algn="ctr">
              <a:buNone/>
            </a:pPr>
            <a:r>
              <a:rPr lang="en-US" sz="1100" b="1" dirty="0">
                <a:solidFill>
                  <a:srgbClr val="FF8A70"/>
                </a:solidFill>
                <a:latin typeface="Calibri" pitchFamily="34" charset="0"/>
                <a:ea typeface="Calibri" pitchFamily="34" charset="-122"/>
                <a:cs typeface="Calibri" pitchFamily="34" charset="-120"/>
              </a:rPr>
              <a:t>Training 2:30</a:t>
            </a:r>
            <a:endParaRPr lang="en-US" sz="1100" dirty="0"/>
          </a:p>
        </p:txBody>
      </p:sp>
      <p:sp>
        <p:nvSpPr>
          <p:cNvPr id="34" name="Shape 32"/>
          <p:cNvSpPr/>
          <p:nvPr/>
        </p:nvSpPr>
        <p:spPr>
          <a:xfrm>
            <a:off x="7203643" y="4956048"/>
            <a:ext cx="3827221" cy="566928"/>
          </a:xfrm>
          <a:prstGeom prst="roundRect">
            <a:avLst>
              <a:gd name="adj" fmla="val 9677"/>
            </a:avLst>
          </a:prstGeom>
          <a:solidFill>
            <a:srgbClr val="123441"/>
          </a:solidFill>
          <a:ln w="12700">
            <a:solidFill>
              <a:srgbClr val="4FD8F0"/>
            </a:solidFill>
            <a:prstDash val="solid"/>
          </a:ln>
        </p:spPr>
        <p:txBody>
          <a:bodyPr/>
          <a:lstStyle/>
          <a:p>
            <a:endParaRPr lang="en-AU"/>
          </a:p>
        </p:txBody>
      </p:sp>
      <p:sp>
        <p:nvSpPr>
          <p:cNvPr id="35" name="Text 33"/>
          <p:cNvSpPr/>
          <p:nvPr/>
        </p:nvSpPr>
        <p:spPr>
          <a:xfrm>
            <a:off x="7203643" y="4956048"/>
            <a:ext cx="3827221" cy="566928"/>
          </a:xfrm>
          <a:prstGeom prst="rect">
            <a:avLst/>
          </a:prstGeom>
          <a:noFill/>
          <a:ln/>
        </p:spPr>
        <p:txBody>
          <a:bodyPr wrap="square" lIns="0" tIns="0" rIns="0" bIns="0" rtlCol="0" anchor="ctr"/>
          <a:lstStyle/>
          <a:p>
            <a:pPr marL="0" indent="0" algn="ctr">
              <a:buNone/>
            </a:pPr>
            <a:r>
              <a:rPr lang="en-US" sz="1100" b="1" dirty="0">
                <a:solidFill>
                  <a:srgbClr val="4FD8F0"/>
                </a:solidFill>
                <a:latin typeface="Calibri" pitchFamily="34" charset="0"/>
                <a:ea typeface="Calibri" pitchFamily="34" charset="-122"/>
                <a:cs typeface="Calibri" pitchFamily="34" charset="-120"/>
              </a:rPr>
              <a:t>Platform &amp; AI 3:30</a:t>
            </a:r>
            <a:endParaRPr lang="en-US" sz="1100" dirty="0"/>
          </a:p>
        </p:txBody>
      </p:sp>
      <p:sp>
        <p:nvSpPr>
          <p:cNvPr id="36" name="Shape 34"/>
          <p:cNvSpPr/>
          <p:nvPr/>
        </p:nvSpPr>
        <p:spPr>
          <a:xfrm>
            <a:off x="11085728" y="4956048"/>
            <a:ext cx="499720" cy="566928"/>
          </a:xfrm>
          <a:prstGeom prst="roundRect">
            <a:avLst>
              <a:gd name="adj" fmla="val 10979"/>
            </a:avLst>
          </a:prstGeom>
          <a:solidFill>
            <a:srgbClr val="123441"/>
          </a:solidFill>
          <a:ln w="12700">
            <a:solidFill>
              <a:srgbClr val="FFC94D"/>
            </a:solidFill>
            <a:prstDash val="solid"/>
          </a:ln>
        </p:spPr>
        <p:txBody>
          <a:bodyPr/>
          <a:lstStyle/>
          <a:p>
            <a:endParaRPr lang="en-AU"/>
          </a:p>
        </p:txBody>
      </p:sp>
      <p:sp>
        <p:nvSpPr>
          <p:cNvPr id="37" name="Text 35"/>
          <p:cNvSpPr/>
          <p:nvPr/>
        </p:nvSpPr>
        <p:spPr>
          <a:xfrm>
            <a:off x="11085728" y="4956048"/>
            <a:ext cx="499720" cy="566928"/>
          </a:xfrm>
          <a:prstGeom prst="rect">
            <a:avLst/>
          </a:prstGeom>
          <a:noFill/>
          <a:ln/>
        </p:spPr>
        <p:txBody>
          <a:bodyPr wrap="square" lIns="0" tIns="0" rIns="0" bIns="0" rtlCol="0" anchor="ctr"/>
          <a:lstStyle/>
          <a:p>
            <a:pPr marL="0" indent="0" algn="ctr">
              <a:buNone/>
            </a:pPr>
            <a:r>
              <a:rPr lang="en-US" sz="850" b="1" dirty="0">
                <a:solidFill>
                  <a:srgbClr val="FFC94D"/>
                </a:solidFill>
                <a:latin typeface="Calibri" pitchFamily="34" charset="0"/>
                <a:ea typeface="Calibri" pitchFamily="34" charset="-122"/>
                <a:cs typeface="Calibri" pitchFamily="34" charset="-120"/>
              </a:rPr>
              <a:t>Close 0:30</a:t>
            </a:r>
            <a:endParaRPr lang="en-US" sz="850" dirty="0"/>
          </a:p>
        </p:txBody>
      </p:sp>
      <p:sp>
        <p:nvSpPr>
          <p:cNvPr id="38" name="Text 36"/>
          <p:cNvSpPr/>
          <p:nvPr/>
        </p:nvSpPr>
        <p:spPr>
          <a:xfrm>
            <a:off x="548640" y="5742432"/>
            <a:ext cx="11064240" cy="310896"/>
          </a:xfrm>
          <a:prstGeom prst="rect">
            <a:avLst/>
          </a:prstGeom>
          <a:noFill/>
          <a:ln/>
        </p:spPr>
        <p:txBody>
          <a:bodyPr wrap="square" lIns="0" tIns="0" rIns="0" bIns="0" rtlCol="0" anchor="ctr"/>
          <a:lstStyle/>
          <a:p>
            <a:pPr marL="0" indent="0">
              <a:buNone/>
            </a:pPr>
            <a:r>
              <a:rPr lang="en-US" sz="1100" dirty="0">
                <a:solidFill>
                  <a:srgbClr val="9DBAC3"/>
                </a:solidFill>
                <a:latin typeface="Calibri" pitchFamily="34" charset="0"/>
                <a:ea typeface="Calibri" pitchFamily="34" charset="-122"/>
                <a:cs typeface="Calibri" pitchFamily="34" charset="-120"/>
              </a:rPr>
              <a:t>Followed by 5 minutes of Q&amp;A, every slide names its presenter, so questions can go straight to the person who built that part.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3</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4FD8F0"/>
                </a:solidFill>
                <a:latin typeface="Calibri" pitchFamily="34" charset="0"/>
                <a:ea typeface="Calibri" pitchFamily="34" charset="-122"/>
                <a:cs typeface="Calibri" pitchFamily="34" charset="-120"/>
              </a:rPr>
              <a:t>OPENING   </a:t>
            </a:r>
            <a:r>
              <a:rPr lang="en-US" sz="1100" b="1" kern="0" spc="200" dirty="0">
                <a:solidFill>
                  <a:srgbClr val="9DBAC3"/>
                </a:solidFill>
                <a:latin typeface="Calibri" pitchFamily="34" charset="0"/>
                <a:ea typeface="Calibri" pitchFamily="34" charset="-122"/>
                <a:cs typeface="Calibri" pitchFamily="34" charset="-120"/>
              </a:rPr>
              <a:t>|   PRESENTER: TUNDJI WILLIAMS-FULWOOD</a:t>
            </a:r>
            <a:endParaRPr lang="en-US" sz="1100" dirty="0"/>
          </a:p>
        </p:txBody>
      </p:sp>
      <p:sp>
        <p:nvSpPr>
          <p:cNvPr id="5" name="Text 3"/>
          <p:cNvSpPr/>
          <p:nvPr/>
        </p:nvSpPr>
        <p:spPr>
          <a:xfrm>
            <a:off x="548640" y="566928"/>
            <a:ext cx="859536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One app that knows your numbers, and never guesses them</a:t>
            </a:r>
            <a:endParaRPr lang="en-US" sz="2600" dirty="0"/>
          </a:p>
        </p:txBody>
      </p:sp>
      <p:sp>
        <p:nvSpPr>
          <p:cNvPr id="6" name="Text 4"/>
          <p:cNvSpPr/>
          <p:nvPr/>
        </p:nvSpPr>
        <p:spPr>
          <a:xfrm>
            <a:off x="566928" y="1389888"/>
            <a:ext cx="8458200" cy="868680"/>
          </a:xfrm>
          <a:prstGeom prst="rect">
            <a:avLst/>
          </a:prstGeom>
          <a:noFill/>
          <a:ln/>
        </p:spPr>
        <p:txBody>
          <a:bodyPr wrap="square" lIns="0" tIns="0" rIns="0" bIns="0" rtlCol="0" anchor="ctr"/>
          <a:lstStyle/>
          <a:p>
            <a:pPr marL="0" indent="0">
              <a:lnSpc>
                <a:spcPct val="110000"/>
              </a:lnSpc>
              <a:buNone/>
            </a:pPr>
            <a:r>
              <a:rPr lang="en-US" sz="1250" dirty="0">
                <a:solidFill>
                  <a:srgbClr val="EAF6F9"/>
                </a:solidFill>
                <a:latin typeface="Calibri" pitchFamily="34" charset="0"/>
                <a:ea typeface="Calibri" pitchFamily="34" charset="-122"/>
                <a:cs typeface="Calibri" pitchFamily="34" charset="-120"/>
              </a:rPr>
              <a:t>AquaZeroFit calculates a personal daily calorie, macro and hydration target, lets you log meals by photo, barcode, chat or a single tap, generates a training plan for the equipment you actually own, and answers questions through Aqua Coach, an AI assistant that only ever speaks from your real data.</a:t>
            </a:r>
            <a:endParaRPr lang="en-US" sz="1250" dirty="0"/>
          </a:p>
        </p:txBody>
      </p:sp>
      <p:sp>
        <p:nvSpPr>
          <p:cNvPr id="7" name="Text 5"/>
          <p:cNvSpPr/>
          <p:nvPr/>
        </p:nvSpPr>
        <p:spPr>
          <a:xfrm>
            <a:off x="566928" y="2395728"/>
            <a:ext cx="4572000" cy="256032"/>
          </a:xfrm>
          <a:prstGeom prst="rect">
            <a:avLst/>
          </a:prstGeom>
          <a:noFill/>
          <a:ln/>
        </p:spPr>
        <p:txBody>
          <a:bodyPr wrap="square" lIns="0" tIns="0" rIns="0" bIns="0" rtlCol="0" anchor="ctr"/>
          <a:lstStyle/>
          <a:p>
            <a:pPr marL="0" indent="0">
              <a:buNone/>
            </a:pPr>
            <a:r>
              <a:rPr lang="en-US" sz="1000" b="1" kern="0" spc="200" dirty="0">
                <a:solidFill>
                  <a:srgbClr val="6E939D"/>
                </a:solidFill>
                <a:latin typeface="Calibri" pitchFamily="34" charset="0"/>
                <a:ea typeface="Calibri" pitchFamily="34" charset="-122"/>
                <a:cs typeface="Calibri" pitchFamily="34" charset="-120"/>
              </a:rPr>
              <a:t>A DAY WITH THE APP</a:t>
            </a:r>
            <a:endParaRPr lang="en-US" sz="1000" dirty="0"/>
          </a:p>
        </p:txBody>
      </p:sp>
      <p:sp>
        <p:nvSpPr>
          <p:cNvPr id="8" name="Shape 6"/>
          <p:cNvSpPr/>
          <p:nvPr/>
        </p:nvSpPr>
        <p:spPr>
          <a:xfrm>
            <a:off x="566928" y="2770632"/>
            <a:ext cx="457200" cy="457200"/>
          </a:xfrm>
          <a:prstGeom prst="ellipse">
            <a:avLst/>
          </a:prstGeom>
          <a:solidFill>
            <a:srgbClr val="123441"/>
          </a:solidFill>
          <a:ln w="9525">
            <a:solidFill>
              <a:srgbClr val="1E4A57"/>
            </a:solidFill>
            <a:prstDash val="solid"/>
          </a:ln>
        </p:spPr>
        <p:txBody>
          <a:bodyPr/>
          <a:lstStyle/>
          <a:p>
            <a:endParaRPr lang="en-AU"/>
          </a:p>
        </p:txBody>
      </p:sp>
      <p:pic>
        <p:nvPicPr>
          <p:cNvPr id="9" name="Image 0" descr="C:\Users\lumin\AppData\Local\Temp\claude\C--Users-lumin-Desktop-aquazerofit\2e3b7983-e45b-4e1c-8fdf-0a5635a22264\scratchpad\assets\icon_camera_cyan.png"/>
          <p:cNvPicPr>
            <a:picLocks noChangeAspect="1"/>
          </p:cNvPicPr>
          <p:nvPr/>
        </p:nvPicPr>
        <p:blipFill>
          <a:blip r:embed="rId4"/>
          <a:stretch>
            <a:fillRect/>
          </a:stretch>
        </p:blipFill>
        <p:spPr>
          <a:xfrm>
            <a:off x="676656" y="2889504"/>
            <a:ext cx="237744" cy="237744"/>
          </a:xfrm>
          <a:prstGeom prst="rect">
            <a:avLst/>
          </a:prstGeom>
        </p:spPr>
      </p:pic>
      <p:sp>
        <p:nvSpPr>
          <p:cNvPr id="10" name="Text 7"/>
          <p:cNvSpPr/>
          <p:nvPr/>
        </p:nvSpPr>
        <p:spPr>
          <a:xfrm>
            <a:off x="1188720" y="2715768"/>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Morning</a:t>
            </a:r>
            <a:endParaRPr lang="en-US" sz="1350" dirty="0"/>
          </a:p>
        </p:txBody>
      </p:sp>
      <p:sp>
        <p:nvSpPr>
          <p:cNvPr id="11" name="Text 8"/>
          <p:cNvSpPr/>
          <p:nvPr/>
        </p:nvSpPr>
        <p:spPr>
          <a:xfrm>
            <a:off x="1188720" y="2990088"/>
            <a:ext cx="781812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Photograph breakfast. A draft comes back in seconds, you correct a portion and confirm before anything is saved.</a:t>
            </a:r>
            <a:endParaRPr lang="en-US" sz="1100" dirty="0"/>
          </a:p>
        </p:txBody>
      </p:sp>
      <p:sp>
        <p:nvSpPr>
          <p:cNvPr id="12" name="Shape 9"/>
          <p:cNvSpPr/>
          <p:nvPr/>
        </p:nvSpPr>
        <p:spPr>
          <a:xfrm>
            <a:off x="566928" y="3621024"/>
            <a:ext cx="457200" cy="457200"/>
          </a:xfrm>
          <a:prstGeom prst="ellipse">
            <a:avLst/>
          </a:prstGeom>
          <a:solidFill>
            <a:srgbClr val="123441"/>
          </a:solidFill>
          <a:ln w="9525">
            <a:solidFill>
              <a:srgbClr val="1E4A57"/>
            </a:solidFill>
            <a:prstDash val="solid"/>
          </a:ln>
        </p:spPr>
        <p:txBody>
          <a:bodyPr/>
          <a:lstStyle/>
          <a:p>
            <a:endParaRPr lang="en-AU"/>
          </a:p>
        </p:txBody>
      </p:sp>
      <p:pic>
        <p:nvPicPr>
          <p:cNvPr id="13" name="Image 1" descr="C:\Users\lumin\AppData\Local\Temp\claude\C--Users-lumin-Desktop-aquazerofit\2e3b7983-e45b-4e1c-8fdf-0a5635a22264\scratchpad\assets\icon_barcode_mint.png"/>
          <p:cNvPicPr>
            <a:picLocks noChangeAspect="1"/>
          </p:cNvPicPr>
          <p:nvPr/>
        </p:nvPicPr>
        <p:blipFill>
          <a:blip r:embed="rId5"/>
          <a:stretch>
            <a:fillRect/>
          </a:stretch>
        </p:blipFill>
        <p:spPr>
          <a:xfrm>
            <a:off x="676656" y="3739896"/>
            <a:ext cx="237744" cy="237744"/>
          </a:xfrm>
          <a:prstGeom prst="rect">
            <a:avLst/>
          </a:prstGeom>
        </p:spPr>
      </p:pic>
      <p:sp>
        <p:nvSpPr>
          <p:cNvPr id="14" name="Text 10"/>
          <p:cNvSpPr/>
          <p:nvPr/>
        </p:nvSpPr>
        <p:spPr>
          <a:xfrm>
            <a:off x="1188720" y="3566160"/>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Midday</a:t>
            </a:r>
            <a:endParaRPr lang="en-US" sz="1350" dirty="0"/>
          </a:p>
        </p:txBody>
      </p:sp>
      <p:sp>
        <p:nvSpPr>
          <p:cNvPr id="15" name="Text 11"/>
          <p:cNvSpPr/>
          <p:nvPr/>
        </p:nvSpPr>
        <p:spPr>
          <a:xfrm>
            <a:off x="1188720" y="3840480"/>
            <a:ext cx="781812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Scan a packaged lunch. The barcode is validated and the label’s calories are cross-checked, not trusted.</a:t>
            </a:r>
            <a:endParaRPr lang="en-US" sz="1100" dirty="0"/>
          </a:p>
        </p:txBody>
      </p:sp>
      <p:sp>
        <p:nvSpPr>
          <p:cNvPr id="16" name="Shape 12"/>
          <p:cNvSpPr/>
          <p:nvPr/>
        </p:nvSpPr>
        <p:spPr>
          <a:xfrm>
            <a:off x="566928" y="4471416"/>
            <a:ext cx="457200" cy="457200"/>
          </a:xfrm>
          <a:prstGeom prst="ellipse">
            <a:avLst/>
          </a:prstGeom>
          <a:solidFill>
            <a:srgbClr val="123441"/>
          </a:solidFill>
          <a:ln w="9525">
            <a:solidFill>
              <a:srgbClr val="1E4A57"/>
            </a:solidFill>
            <a:prstDash val="solid"/>
          </a:ln>
        </p:spPr>
        <p:txBody>
          <a:bodyPr/>
          <a:lstStyle/>
          <a:p>
            <a:endParaRPr lang="en-AU"/>
          </a:p>
        </p:txBody>
      </p:sp>
      <p:pic>
        <p:nvPicPr>
          <p:cNvPr id="17" name="Image 2" descr="C:\Users\lumin\AppData\Local\Temp\claude\C--Users-lumin-Desktop-aquazerofit\2e3b7983-e45b-4e1c-8fdf-0a5635a22264\scratchpad\assets\icon_dumbbell_coral.png"/>
          <p:cNvPicPr>
            <a:picLocks noChangeAspect="1"/>
          </p:cNvPicPr>
          <p:nvPr/>
        </p:nvPicPr>
        <p:blipFill>
          <a:blip r:embed="rId6"/>
          <a:stretch>
            <a:fillRect/>
          </a:stretch>
        </p:blipFill>
        <p:spPr>
          <a:xfrm>
            <a:off x="676656" y="4590288"/>
            <a:ext cx="237744" cy="237744"/>
          </a:xfrm>
          <a:prstGeom prst="rect">
            <a:avLst/>
          </a:prstGeom>
        </p:spPr>
      </p:pic>
      <p:sp>
        <p:nvSpPr>
          <p:cNvPr id="18" name="Text 13"/>
          <p:cNvSpPr/>
          <p:nvPr/>
        </p:nvSpPr>
        <p:spPr>
          <a:xfrm>
            <a:off x="1188720" y="4416552"/>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Afternoon</a:t>
            </a:r>
            <a:endParaRPr lang="en-US" sz="1350" dirty="0"/>
          </a:p>
        </p:txBody>
      </p:sp>
      <p:sp>
        <p:nvSpPr>
          <p:cNvPr id="19" name="Text 14"/>
          <p:cNvSpPr/>
          <p:nvPr/>
        </p:nvSpPr>
        <p:spPr>
          <a:xfrm>
            <a:off x="1188720" y="4690872"/>
            <a:ext cx="781812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Today’s workout is already resolved, and quietly eased because last week was a hard week.</a:t>
            </a:r>
            <a:endParaRPr lang="en-US" sz="1100" dirty="0"/>
          </a:p>
        </p:txBody>
      </p:sp>
      <p:sp>
        <p:nvSpPr>
          <p:cNvPr id="20" name="Shape 15"/>
          <p:cNvSpPr/>
          <p:nvPr/>
        </p:nvSpPr>
        <p:spPr>
          <a:xfrm>
            <a:off x="566928" y="5321808"/>
            <a:ext cx="457200" cy="457200"/>
          </a:xfrm>
          <a:prstGeom prst="ellipse">
            <a:avLst/>
          </a:prstGeom>
          <a:solidFill>
            <a:srgbClr val="123441"/>
          </a:solidFill>
          <a:ln w="9525">
            <a:solidFill>
              <a:srgbClr val="1E4A57"/>
            </a:solidFill>
            <a:prstDash val="solid"/>
          </a:ln>
        </p:spPr>
        <p:txBody>
          <a:bodyPr/>
          <a:lstStyle/>
          <a:p>
            <a:endParaRPr lang="en-AU"/>
          </a:p>
        </p:txBody>
      </p:sp>
      <p:pic>
        <p:nvPicPr>
          <p:cNvPr id="21" name="Image 3" descr="C:\Users\lumin\AppData\Local\Temp\claude\C--Users-lumin-Desktop-aquazerofit\2e3b7983-e45b-4e1c-8fdf-0a5635a22264\scratchpad\assets\icon_comments_gold.png"/>
          <p:cNvPicPr>
            <a:picLocks noChangeAspect="1"/>
          </p:cNvPicPr>
          <p:nvPr/>
        </p:nvPicPr>
        <p:blipFill>
          <a:blip r:embed="rId7"/>
          <a:stretch>
            <a:fillRect/>
          </a:stretch>
        </p:blipFill>
        <p:spPr>
          <a:xfrm>
            <a:off x="676656" y="5440680"/>
            <a:ext cx="237744" cy="237744"/>
          </a:xfrm>
          <a:prstGeom prst="rect">
            <a:avLst/>
          </a:prstGeom>
        </p:spPr>
      </p:pic>
      <p:sp>
        <p:nvSpPr>
          <p:cNvPr id="22" name="Text 16"/>
          <p:cNvSpPr/>
          <p:nvPr/>
        </p:nvSpPr>
        <p:spPr>
          <a:xfrm>
            <a:off x="1188720" y="5266944"/>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Evening</a:t>
            </a:r>
            <a:endParaRPr lang="en-US" sz="1350" dirty="0"/>
          </a:p>
        </p:txBody>
      </p:sp>
      <p:sp>
        <p:nvSpPr>
          <p:cNvPr id="23" name="Text 17"/>
          <p:cNvSpPr/>
          <p:nvPr/>
        </p:nvSpPr>
        <p:spPr>
          <a:xfrm>
            <a:off x="1188720" y="5541264"/>
            <a:ext cx="781812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Ask the coach how the week is going. It answers with your numbers, because you consented to that.</a:t>
            </a:r>
            <a:endParaRPr lang="en-US" sz="1100" dirty="0"/>
          </a:p>
        </p:txBody>
      </p:sp>
      <p:sp>
        <p:nvSpPr>
          <p:cNvPr id="24" name="Shape 18"/>
          <p:cNvSpPr/>
          <p:nvPr/>
        </p:nvSpPr>
        <p:spPr>
          <a:xfrm>
            <a:off x="9354312" y="1307592"/>
            <a:ext cx="2388556" cy="5020056"/>
          </a:xfrm>
          <a:prstGeom prst="roundRect">
            <a:avLst>
              <a:gd name="adj" fmla="val 4594"/>
            </a:avLst>
          </a:prstGeom>
          <a:solidFill>
            <a:srgbClr val="062028"/>
          </a:solidFill>
          <a:ln w="12700">
            <a:solidFill>
              <a:srgbClr val="1E4A57"/>
            </a:solidFill>
            <a:prstDash val="solid"/>
          </a:ln>
        </p:spPr>
        <p:txBody>
          <a:bodyPr/>
          <a:lstStyle/>
          <a:p>
            <a:endParaRPr lang="en-AU"/>
          </a:p>
        </p:txBody>
      </p:sp>
      <p:pic>
        <p:nvPicPr>
          <p:cNvPr id="25" name="Image 4" descr="C:\Users\lumin\Desktop\aquazerofit\docs\screenshots\03-dashboard.png"/>
          <p:cNvPicPr>
            <a:picLocks noChangeAspect="1"/>
          </p:cNvPicPr>
          <p:nvPr/>
        </p:nvPicPr>
        <p:blipFill>
          <a:blip r:embed="rId8"/>
          <a:stretch>
            <a:fillRect/>
          </a:stretch>
        </p:blipFill>
        <p:spPr>
          <a:xfrm>
            <a:off x="9418320" y="1371600"/>
            <a:ext cx="2260540" cy="48920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4</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4FD8F0"/>
                </a:solidFill>
                <a:latin typeface="Calibri" pitchFamily="34" charset="0"/>
                <a:ea typeface="Calibri" pitchFamily="34" charset="-122"/>
                <a:cs typeface="Calibri" pitchFamily="34" charset="-120"/>
              </a:rPr>
              <a:t>OPENING · THE CORE IDEA   </a:t>
            </a:r>
            <a:r>
              <a:rPr lang="en-US" sz="1100" b="1" kern="0" spc="200" dirty="0">
                <a:solidFill>
                  <a:srgbClr val="9DBAC3"/>
                </a:solidFill>
                <a:latin typeface="Calibri" pitchFamily="34" charset="0"/>
                <a:ea typeface="Calibri" pitchFamily="34" charset="-122"/>
                <a:cs typeface="Calibri" pitchFamily="34" charset="-120"/>
              </a:rPr>
              <a:t>|   PRESENTER: TUNDJI WILLIAMS-FULWOOD</a:t>
            </a:r>
            <a:endParaRPr lang="en-US" sz="1100" dirty="0"/>
          </a:p>
        </p:txBody>
      </p:sp>
      <p:sp>
        <p:nvSpPr>
          <p:cNvPr id="5" name="Text 3"/>
          <p:cNvSpPr/>
          <p:nvPr/>
        </p:nvSpPr>
        <p:spPr>
          <a:xfrm>
            <a:off x="548640" y="566928"/>
            <a:ext cx="1106424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The one rule every other decision follows</a:t>
            </a:r>
            <a:endParaRPr lang="en-US" sz="2600" dirty="0"/>
          </a:p>
        </p:txBody>
      </p:sp>
      <p:sp>
        <p:nvSpPr>
          <p:cNvPr id="6" name="Text 4"/>
          <p:cNvSpPr/>
          <p:nvPr/>
        </p:nvSpPr>
        <p:spPr>
          <a:xfrm>
            <a:off x="548640" y="1417320"/>
            <a:ext cx="11064240" cy="685800"/>
          </a:xfrm>
          <a:prstGeom prst="rect">
            <a:avLst/>
          </a:prstGeom>
          <a:noFill/>
          <a:ln/>
        </p:spPr>
        <p:txBody>
          <a:bodyPr wrap="square" lIns="0" tIns="0" rIns="0" bIns="0" rtlCol="0" anchor="ctr"/>
          <a:lstStyle/>
          <a:p>
            <a:pPr marL="0" indent="0">
              <a:buNone/>
            </a:pPr>
            <a:r>
              <a:rPr lang="en-US" sz="3300" b="1" dirty="0">
                <a:solidFill>
                  <a:srgbClr val="4FD8F0"/>
                </a:solidFill>
                <a:latin typeface="Calibri" pitchFamily="34" charset="0"/>
                <a:ea typeface="Calibri" pitchFamily="34" charset="-122"/>
                <a:cs typeface="Calibri" pitchFamily="34" charset="-120"/>
              </a:rPr>
              <a:t>“Models identify. Code calculates.”</a:t>
            </a:r>
            <a:endParaRPr lang="en-US" sz="3300" dirty="0"/>
          </a:p>
        </p:txBody>
      </p:sp>
      <p:sp>
        <p:nvSpPr>
          <p:cNvPr id="7" name="Text 5"/>
          <p:cNvSpPr/>
          <p:nvPr/>
        </p:nvSpPr>
        <p:spPr>
          <a:xfrm>
            <a:off x="566928" y="2212848"/>
            <a:ext cx="10972800" cy="685800"/>
          </a:xfrm>
          <a:prstGeom prst="rect">
            <a:avLst/>
          </a:prstGeom>
          <a:noFill/>
          <a:ln/>
        </p:spPr>
        <p:txBody>
          <a:bodyPr wrap="square" lIns="0" tIns="0" rIns="0" bIns="0" rtlCol="0" anchor="ctr"/>
          <a:lstStyle/>
          <a:p>
            <a:pPr marL="0" indent="0">
              <a:lnSpc>
                <a:spcPct val="110000"/>
              </a:lnSpc>
              <a:buNone/>
            </a:pPr>
            <a:r>
              <a:rPr lang="en-US" sz="1300" dirty="0">
                <a:solidFill>
                  <a:srgbClr val="9DBAC3"/>
                </a:solidFill>
                <a:latin typeface="Calibri" pitchFamily="34" charset="0"/>
                <a:ea typeface="Calibri" pitchFamily="34" charset="-122"/>
                <a:cs typeface="Calibri" pitchFamily="34" charset="-120"/>
              </a:rPr>
              <a:t>An AI can look at a plate and say “that’s rice and grilled chicken”. It cannot be trusted to say “412 calories”, it will produce a fluent, confident, wrong number. Applied to someone’s food every day for months, that is not a software bug. It is a health outcome.</a:t>
            </a:r>
            <a:endParaRPr lang="en-US" sz="1300" dirty="0"/>
          </a:p>
        </p:txBody>
      </p:sp>
      <p:sp>
        <p:nvSpPr>
          <p:cNvPr id="8" name="Shape 6"/>
          <p:cNvSpPr/>
          <p:nvPr/>
        </p:nvSpPr>
        <p:spPr>
          <a:xfrm>
            <a:off x="548640" y="3127248"/>
            <a:ext cx="5394960" cy="3017520"/>
          </a:xfrm>
          <a:prstGeom prst="roundRect">
            <a:avLst>
              <a:gd name="adj" fmla="val 3030"/>
            </a:avLst>
          </a:prstGeom>
          <a:solidFill>
            <a:srgbClr val="0E2A34"/>
          </a:solidFill>
          <a:ln w="12700">
            <a:solidFill>
              <a:srgbClr val="1E4A57"/>
            </a:solidFill>
            <a:prstDash val="solid"/>
          </a:ln>
        </p:spPr>
        <p:txBody>
          <a:bodyPr/>
          <a:lstStyle/>
          <a:p>
            <a:endParaRPr lang="en-AU"/>
          </a:p>
        </p:txBody>
      </p:sp>
      <p:pic>
        <p:nvPicPr>
          <p:cNvPr id="9" name="Image 0" descr="C:\Users\lumin\AppData\Local\Temp\claude\C--Users-lumin-Desktop-aquazerofit\2e3b7983-e45b-4e1c-8fdf-0a5635a22264\scratchpad\assets\icon_check_mint.png"/>
          <p:cNvPicPr>
            <a:picLocks noChangeAspect="1"/>
          </p:cNvPicPr>
          <p:nvPr/>
        </p:nvPicPr>
        <p:blipFill>
          <a:blip r:embed="rId4"/>
          <a:stretch>
            <a:fillRect/>
          </a:stretch>
        </p:blipFill>
        <p:spPr>
          <a:xfrm>
            <a:off x="822960" y="3383280"/>
            <a:ext cx="274320" cy="274320"/>
          </a:xfrm>
          <a:prstGeom prst="rect">
            <a:avLst/>
          </a:prstGeom>
        </p:spPr>
      </p:pic>
      <p:sp>
        <p:nvSpPr>
          <p:cNvPr id="10" name="Text 7"/>
          <p:cNvSpPr/>
          <p:nvPr/>
        </p:nvSpPr>
        <p:spPr>
          <a:xfrm>
            <a:off x="1207008" y="3364992"/>
            <a:ext cx="4572000" cy="310896"/>
          </a:xfrm>
          <a:prstGeom prst="rect">
            <a:avLst/>
          </a:prstGeom>
          <a:noFill/>
          <a:ln/>
        </p:spPr>
        <p:txBody>
          <a:bodyPr wrap="square" lIns="0" tIns="0" rIns="0" bIns="0" rtlCol="0" anchor="ctr"/>
          <a:lstStyle/>
          <a:p>
            <a:pPr marL="0" indent="0">
              <a:buNone/>
            </a:pPr>
            <a:r>
              <a:rPr lang="en-US" sz="1400" b="1" kern="0" spc="150" dirty="0">
                <a:solidFill>
                  <a:srgbClr val="3DE8B0"/>
                </a:solidFill>
                <a:latin typeface="Calibri" pitchFamily="34" charset="0"/>
                <a:ea typeface="Calibri" pitchFamily="34" charset="-122"/>
                <a:cs typeface="Calibri" pitchFamily="34" charset="-120"/>
              </a:rPr>
              <a:t>THE MODEL MAY</a:t>
            </a:r>
            <a:endParaRPr lang="en-US" sz="1400" dirty="0"/>
          </a:p>
        </p:txBody>
      </p:sp>
      <p:sp>
        <p:nvSpPr>
          <p:cNvPr id="11" name="Text 8"/>
          <p:cNvSpPr/>
          <p:nvPr/>
        </p:nvSpPr>
        <p:spPr>
          <a:xfrm>
            <a:off x="868680" y="3904488"/>
            <a:ext cx="4754880" cy="2011680"/>
          </a:xfrm>
          <a:prstGeom prst="rect">
            <a:avLst/>
          </a:prstGeom>
          <a:noFill/>
          <a:ln/>
        </p:spPr>
        <p:txBody>
          <a:bodyPr wrap="square" lIns="0" tIns="0" rIns="0" bIns="0" rtlCol="0" anchor="t"/>
          <a:lstStyle/>
          <a:p>
            <a:pPr marL="152400" indent="-152400">
              <a:spcAft>
                <a:spcPts val="900"/>
              </a:spcAft>
              <a:buSzPct val="100000"/>
              <a:buChar char="•"/>
            </a:pPr>
            <a:r>
              <a:rPr lang="en-US" sz="1200" dirty="0">
                <a:solidFill>
                  <a:srgbClr val="EAF6F9"/>
                </a:solidFill>
                <a:latin typeface="Calibri" pitchFamily="34" charset="0"/>
                <a:ea typeface="Calibri" pitchFamily="34" charset="-122"/>
                <a:cs typeface="Calibri" pitchFamily="34" charset="-120"/>
              </a:rPr>
              <a:t>Name a food it sees in a photo or reads in a sentence</a:t>
            </a:r>
            <a:endParaRPr lang="en-US" sz="1200" dirty="0"/>
          </a:p>
          <a:p>
            <a:pPr marL="152400" indent="-152400">
              <a:spcAft>
                <a:spcPts val="900"/>
              </a:spcAft>
              <a:buSzPct val="100000"/>
              <a:buChar char="•"/>
            </a:pPr>
            <a:r>
              <a:rPr lang="en-US" sz="1200" dirty="0">
                <a:solidFill>
                  <a:srgbClr val="EAF6F9"/>
                </a:solidFill>
                <a:latin typeface="Calibri" pitchFamily="34" charset="0"/>
                <a:ea typeface="Calibri" pitchFamily="34" charset="-122"/>
                <a:cs typeface="Calibri" pitchFamily="34" charset="-120"/>
              </a:rPr>
              <a:t>Estimate a portion, which code then clamps to a sane range</a:t>
            </a:r>
            <a:endParaRPr lang="en-US" sz="1200" dirty="0"/>
          </a:p>
          <a:p>
            <a:pPr marL="152400" indent="-152400">
              <a:spcAft>
                <a:spcPts val="900"/>
              </a:spcAft>
              <a:buSzPct val="100000"/>
              <a:buChar char="•"/>
            </a:pPr>
            <a:r>
              <a:rPr lang="en-US" sz="1200" dirty="0">
                <a:solidFill>
                  <a:srgbClr val="EAF6F9"/>
                </a:solidFill>
                <a:latin typeface="Calibri" pitchFamily="34" charset="0"/>
                <a:ea typeface="Calibri" pitchFamily="34" charset="-122"/>
                <a:cs typeface="Calibri" pitchFamily="34" charset="-120"/>
              </a:rPr>
              <a:t>Rank options that code has already declared safe</a:t>
            </a:r>
            <a:endParaRPr lang="en-US" sz="1200" dirty="0"/>
          </a:p>
          <a:p>
            <a:pPr marL="152400" indent="-152400">
              <a:spcAft>
                <a:spcPts val="900"/>
              </a:spcAft>
              <a:buSzPct val="100000"/>
              <a:buChar char="•"/>
            </a:pPr>
            <a:r>
              <a:rPr lang="en-US" sz="1200" dirty="0">
                <a:solidFill>
                  <a:srgbClr val="EAF6F9"/>
                </a:solidFill>
                <a:latin typeface="Calibri" pitchFamily="34" charset="0"/>
                <a:ea typeface="Calibri" pitchFamily="34" charset="-122"/>
                <a:cs typeface="Calibri" pitchFamily="34" charset="-120"/>
              </a:rPr>
              <a:t>Phrase a summary of statistics code has already computed</a:t>
            </a:r>
            <a:endParaRPr lang="en-US" sz="1200" dirty="0"/>
          </a:p>
        </p:txBody>
      </p:sp>
      <p:sp>
        <p:nvSpPr>
          <p:cNvPr id="12" name="Shape 9"/>
          <p:cNvSpPr/>
          <p:nvPr/>
        </p:nvSpPr>
        <p:spPr>
          <a:xfrm>
            <a:off x="6236208" y="3127248"/>
            <a:ext cx="5394960" cy="3017520"/>
          </a:xfrm>
          <a:prstGeom prst="roundRect">
            <a:avLst>
              <a:gd name="adj" fmla="val 3030"/>
            </a:avLst>
          </a:prstGeom>
          <a:solidFill>
            <a:srgbClr val="0E2A34"/>
          </a:solidFill>
          <a:ln w="12700">
            <a:solidFill>
              <a:srgbClr val="1E4A57"/>
            </a:solidFill>
            <a:prstDash val="solid"/>
          </a:ln>
        </p:spPr>
        <p:txBody>
          <a:bodyPr/>
          <a:lstStyle/>
          <a:p>
            <a:endParaRPr lang="en-AU"/>
          </a:p>
        </p:txBody>
      </p:sp>
      <p:pic>
        <p:nvPicPr>
          <p:cNvPr id="13" name="Image 1" descr="C:\Users\lumin\AppData\Local\Temp\claude\C--Users-lumin-Desktop-aquazerofit\2e3b7983-e45b-4e1c-8fdf-0a5635a22264\scratchpad\assets\icon_ban_red.png"/>
          <p:cNvPicPr>
            <a:picLocks noChangeAspect="1"/>
          </p:cNvPicPr>
          <p:nvPr/>
        </p:nvPicPr>
        <p:blipFill>
          <a:blip r:embed="rId5"/>
          <a:stretch>
            <a:fillRect/>
          </a:stretch>
        </p:blipFill>
        <p:spPr>
          <a:xfrm>
            <a:off x="6510528" y="3383280"/>
            <a:ext cx="274320" cy="274320"/>
          </a:xfrm>
          <a:prstGeom prst="rect">
            <a:avLst/>
          </a:prstGeom>
        </p:spPr>
      </p:pic>
      <p:sp>
        <p:nvSpPr>
          <p:cNvPr id="14" name="Text 10"/>
          <p:cNvSpPr/>
          <p:nvPr/>
        </p:nvSpPr>
        <p:spPr>
          <a:xfrm>
            <a:off x="6894576" y="3364992"/>
            <a:ext cx="4572000" cy="310896"/>
          </a:xfrm>
          <a:prstGeom prst="rect">
            <a:avLst/>
          </a:prstGeom>
          <a:noFill/>
          <a:ln/>
        </p:spPr>
        <p:txBody>
          <a:bodyPr wrap="square" lIns="0" tIns="0" rIns="0" bIns="0" rtlCol="0" anchor="ctr"/>
          <a:lstStyle/>
          <a:p>
            <a:pPr marL="0" indent="0">
              <a:buNone/>
            </a:pPr>
            <a:r>
              <a:rPr lang="en-US" sz="1400" b="1" kern="0" spc="150" dirty="0">
                <a:solidFill>
                  <a:srgbClr val="FF7B7B"/>
                </a:solidFill>
                <a:latin typeface="Calibri" pitchFamily="34" charset="0"/>
                <a:ea typeface="Calibri" pitchFamily="34" charset="-122"/>
                <a:cs typeface="Calibri" pitchFamily="34" charset="-120"/>
              </a:rPr>
              <a:t>THE MODEL MAY NEVER</a:t>
            </a:r>
            <a:endParaRPr lang="en-US" sz="1400" dirty="0"/>
          </a:p>
        </p:txBody>
      </p:sp>
      <p:sp>
        <p:nvSpPr>
          <p:cNvPr id="15" name="Text 11"/>
          <p:cNvSpPr/>
          <p:nvPr/>
        </p:nvSpPr>
        <p:spPr>
          <a:xfrm>
            <a:off x="6556248" y="3904488"/>
            <a:ext cx="4754880" cy="2011680"/>
          </a:xfrm>
          <a:prstGeom prst="rect">
            <a:avLst/>
          </a:prstGeom>
          <a:noFill/>
          <a:ln/>
        </p:spPr>
        <p:txBody>
          <a:bodyPr wrap="square" lIns="0" tIns="0" rIns="0" bIns="0" rtlCol="0" anchor="t"/>
          <a:lstStyle/>
          <a:p>
            <a:pPr marL="152400" indent="-152400">
              <a:spcAft>
                <a:spcPts val="900"/>
              </a:spcAft>
              <a:buSzPct val="100000"/>
              <a:buChar char="•"/>
            </a:pPr>
            <a:r>
              <a:rPr lang="en-US" sz="1200" dirty="0">
                <a:solidFill>
                  <a:srgbClr val="EAF6F9"/>
                </a:solidFill>
                <a:latin typeface="Calibri" pitchFamily="34" charset="0"/>
                <a:ea typeface="Calibri" pitchFamily="34" charset="-122"/>
                <a:cs typeface="Calibri" pitchFamily="34" charset="-120"/>
              </a:rPr>
              <a:t>Write a calorie or macro figure into your diary</a:t>
            </a:r>
            <a:endParaRPr lang="en-US" sz="1200" dirty="0"/>
          </a:p>
          <a:p>
            <a:pPr marL="152400" indent="-152400">
              <a:spcAft>
                <a:spcPts val="900"/>
              </a:spcAft>
              <a:buSzPct val="100000"/>
              <a:buChar char="•"/>
            </a:pPr>
            <a:r>
              <a:rPr lang="en-US" sz="1200" dirty="0">
                <a:solidFill>
                  <a:srgbClr val="EAF6F9"/>
                </a:solidFill>
                <a:latin typeface="Calibri" pitchFamily="34" charset="0"/>
                <a:ea typeface="Calibri" pitchFamily="34" charset="-122"/>
                <a:cs typeface="Calibri" pitchFamily="34" charset="-120"/>
              </a:rPr>
              <a:t>Decide whether a food is safe for your allergy</a:t>
            </a:r>
            <a:endParaRPr lang="en-US" sz="1200" dirty="0"/>
          </a:p>
          <a:p>
            <a:pPr marL="152400" indent="-152400">
              <a:spcAft>
                <a:spcPts val="900"/>
              </a:spcAft>
              <a:buSzPct val="100000"/>
              <a:buChar char="•"/>
            </a:pPr>
            <a:r>
              <a:rPr lang="en-US" sz="1200" dirty="0">
                <a:solidFill>
                  <a:srgbClr val="EAF6F9"/>
                </a:solidFill>
                <a:latin typeface="Calibri" pitchFamily="34" charset="0"/>
                <a:ea typeface="Calibri" pitchFamily="34" charset="-122"/>
                <a:cs typeface="Calibri" pitchFamily="34" charset="-120"/>
              </a:rPr>
              <a:t>Decide how much training you are prescribed</a:t>
            </a:r>
            <a:endParaRPr lang="en-US" sz="1200" dirty="0"/>
          </a:p>
          <a:p>
            <a:pPr marL="152400" indent="-152400">
              <a:spcAft>
                <a:spcPts val="900"/>
              </a:spcAft>
              <a:buSzPct val="100000"/>
              <a:buChar char="•"/>
            </a:pPr>
            <a:r>
              <a:rPr lang="en-US" sz="1200" dirty="0">
                <a:solidFill>
                  <a:srgbClr val="EAF6F9"/>
                </a:solidFill>
                <a:latin typeface="Calibri" pitchFamily="34" charset="0"/>
                <a:ea typeface="Calibri" pitchFamily="34" charset="-122"/>
                <a:cs typeface="Calibri" pitchFamily="34" charset="-120"/>
              </a:rPr>
              <a:t>Move a credit, grant an entitlement, or unlock a coach</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5</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4FD8F0"/>
                </a:solidFill>
                <a:latin typeface="Calibri" pitchFamily="34" charset="0"/>
                <a:ea typeface="Calibri" pitchFamily="34" charset="-122"/>
                <a:cs typeface="Calibri" pitchFamily="34" charset="-120"/>
              </a:rPr>
              <a:t>OPENING · DIFFERENTIATION   </a:t>
            </a:r>
            <a:r>
              <a:rPr lang="en-US" sz="1100" b="1" kern="0" spc="200" dirty="0">
                <a:solidFill>
                  <a:srgbClr val="9DBAC3"/>
                </a:solidFill>
                <a:latin typeface="Calibri" pitchFamily="34" charset="0"/>
                <a:ea typeface="Calibri" pitchFamily="34" charset="-122"/>
                <a:cs typeface="Calibri" pitchFamily="34" charset="-120"/>
              </a:rPr>
              <a:t>|   PRESENTER: TUNDJI WILLIAMS-FULWOOD</a:t>
            </a:r>
            <a:endParaRPr lang="en-US" sz="1100" dirty="0"/>
          </a:p>
        </p:txBody>
      </p:sp>
      <p:sp>
        <p:nvSpPr>
          <p:cNvPr id="5" name="Text 3"/>
          <p:cNvSpPr/>
          <p:nvPr/>
        </p:nvSpPr>
        <p:spPr>
          <a:xfrm>
            <a:off x="548640" y="566928"/>
            <a:ext cx="859536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Why we built a Telegram Mini App</a:t>
            </a:r>
            <a:endParaRPr lang="en-US" sz="2600" dirty="0"/>
          </a:p>
        </p:txBody>
      </p:sp>
      <p:sp>
        <p:nvSpPr>
          <p:cNvPr id="6" name="Shape 4"/>
          <p:cNvSpPr/>
          <p:nvPr/>
        </p:nvSpPr>
        <p:spPr>
          <a:xfrm>
            <a:off x="566928" y="1545336"/>
            <a:ext cx="457200" cy="457200"/>
          </a:xfrm>
          <a:prstGeom prst="ellipse">
            <a:avLst/>
          </a:prstGeom>
          <a:solidFill>
            <a:srgbClr val="123441"/>
          </a:solidFill>
          <a:ln w="9525">
            <a:solidFill>
              <a:srgbClr val="1E4A57"/>
            </a:solidFill>
            <a:prstDash val="solid"/>
          </a:ln>
        </p:spPr>
        <p:txBody>
          <a:bodyPr/>
          <a:lstStyle/>
          <a:p>
            <a:endParaRPr lang="en-AU"/>
          </a:p>
        </p:txBody>
      </p:sp>
      <p:pic>
        <p:nvPicPr>
          <p:cNvPr id="7" name="Image 0" descr="C:\Users\lumin\AppData\Local\Temp\claude\C--Users-lumin-Desktop-aquazerofit\2e3b7983-e45b-4e1c-8fdf-0a5635a22264\scratchpad\assets\icon_telegram_cyan.png"/>
          <p:cNvPicPr>
            <a:picLocks noChangeAspect="1"/>
          </p:cNvPicPr>
          <p:nvPr/>
        </p:nvPicPr>
        <p:blipFill>
          <a:blip r:embed="rId4"/>
          <a:stretch>
            <a:fillRect/>
          </a:stretch>
        </p:blipFill>
        <p:spPr>
          <a:xfrm>
            <a:off x="676656" y="1664208"/>
            <a:ext cx="237744" cy="237744"/>
          </a:xfrm>
          <a:prstGeom prst="rect">
            <a:avLst/>
          </a:prstGeom>
        </p:spPr>
      </p:pic>
      <p:sp>
        <p:nvSpPr>
          <p:cNvPr id="8" name="Text 5"/>
          <p:cNvSpPr/>
          <p:nvPr/>
        </p:nvSpPr>
        <p:spPr>
          <a:xfrm>
            <a:off x="1188720" y="1490472"/>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Zero-install distribution</a:t>
            </a:r>
            <a:endParaRPr lang="en-US" sz="1350" dirty="0"/>
          </a:p>
        </p:txBody>
      </p:sp>
      <p:sp>
        <p:nvSpPr>
          <p:cNvPr id="9" name="Text 6"/>
          <p:cNvSpPr/>
          <p:nvPr/>
        </p:nvSpPr>
        <p:spPr>
          <a:xfrm>
            <a:off x="1188720" y="1764792"/>
            <a:ext cx="781812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The app opens inside a chat like a message: no app store, no download, no sign-up form. Telegram identity signs you in, verified cryptographically on our server.</a:t>
            </a:r>
            <a:endParaRPr lang="en-US" sz="1100" dirty="0"/>
          </a:p>
        </p:txBody>
      </p:sp>
      <p:sp>
        <p:nvSpPr>
          <p:cNvPr id="10" name="Shape 7"/>
          <p:cNvSpPr/>
          <p:nvPr/>
        </p:nvSpPr>
        <p:spPr>
          <a:xfrm>
            <a:off x="566928" y="2523744"/>
            <a:ext cx="457200" cy="457200"/>
          </a:xfrm>
          <a:prstGeom prst="ellipse">
            <a:avLst/>
          </a:prstGeom>
          <a:solidFill>
            <a:srgbClr val="123441"/>
          </a:solidFill>
          <a:ln w="9525">
            <a:solidFill>
              <a:srgbClr val="1E4A57"/>
            </a:solidFill>
            <a:prstDash val="solid"/>
          </a:ln>
        </p:spPr>
        <p:txBody>
          <a:bodyPr/>
          <a:lstStyle/>
          <a:p>
            <a:endParaRPr lang="en-AU"/>
          </a:p>
        </p:txBody>
      </p:sp>
      <p:pic>
        <p:nvPicPr>
          <p:cNvPr id="11" name="Image 1" descr="C:\Users\lumin\AppData\Local\Temp\claude\C--Users-lumin-Desktop-aquazerofit\2e3b7983-e45b-4e1c-8fdf-0a5635a22264\scratchpad\assets\icon_coins_gold.png"/>
          <p:cNvPicPr>
            <a:picLocks noChangeAspect="1"/>
          </p:cNvPicPr>
          <p:nvPr/>
        </p:nvPicPr>
        <p:blipFill>
          <a:blip r:embed="rId5"/>
          <a:stretch>
            <a:fillRect/>
          </a:stretch>
        </p:blipFill>
        <p:spPr>
          <a:xfrm>
            <a:off x="676656" y="2642616"/>
            <a:ext cx="237744" cy="237744"/>
          </a:xfrm>
          <a:prstGeom prst="rect">
            <a:avLst/>
          </a:prstGeom>
        </p:spPr>
      </p:pic>
      <p:sp>
        <p:nvSpPr>
          <p:cNvPr id="12" name="Text 8"/>
          <p:cNvSpPr/>
          <p:nvPr/>
        </p:nvSpPr>
        <p:spPr>
          <a:xfrm>
            <a:off x="1188720" y="2468880"/>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Payments built in</a:t>
            </a:r>
            <a:endParaRPr lang="en-US" sz="1350" dirty="0"/>
          </a:p>
        </p:txBody>
      </p:sp>
      <p:sp>
        <p:nvSpPr>
          <p:cNvPr id="13" name="Text 9"/>
          <p:cNvSpPr/>
          <p:nvPr/>
        </p:nvSpPr>
        <p:spPr>
          <a:xfrm>
            <a:off x="1188720" y="2743200"/>
            <a:ext cx="781812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Coach unlocks are Telegram Stars invoices. The server sets every price and verifies every payment webhook; the client is never trusted.</a:t>
            </a:r>
            <a:endParaRPr lang="en-US" sz="1100" dirty="0"/>
          </a:p>
        </p:txBody>
      </p:sp>
      <p:sp>
        <p:nvSpPr>
          <p:cNvPr id="14" name="Shape 10"/>
          <p:cNvSpPr/>
          <p:nvPr/>
        </p:nvSpPr>
        <p:spPr>
          <a:xfrm>
            <a:off x="566928" y="3502152"/>
            <a:ext cx="457200" cy="457200"/>
          </a:xfrm>
          <a:prstGeom prst="ellipse">
            <a:avLst/>
          </a:prstGeom>
          <a:solidFill>
            <a:srgbClr val="123441"/>
          </a:solidFill>
          <a:ln w="9525">
            <a:solidFill>
              <a:srgbClr val="1E4A57"/>
            </a:solidFill>
            <a:prstDash val="solid"/>
          </a:ln>
        </p:spPr>
        <p:txBody>
          <a:bodyPr/>
          <a:lstStyle/>
          <a:p>
            <a:endParaRPr lang="en-AU"/>
          </a:p>
        </p:txBody>
      </p:sp>
      <p:pic>
        <p:nvPicPr>
          <p:cNvPr id="15" name="Image 2" descr="C:\Users\lumin\AppData\Local\Temp\claude\C--Users-lumin-Desktop-aquazerofit\2e3b7983-e45b-4e1c-8fdf-0a5635a22264\scratchpad\assets\icon_mobile_mint.png"/>
          <p:cNvPicPr>
            <a:picLocks noChangeAspect="1"/>
          </p:cNvPicPr>
          <p:nvPr/>
        </p:nvPicPr>
        <p:blipFill>
          <a:blip r:embed="rId6"/>
          <a:stretch>
            <a:fillRect/>
          </a:stretch>
        </p:blipFill>
        <p:spPr>
          <a:xfrm>
            <a:off x="676656" y="3621024"/>
            <a:ext cx="237744" cy="237744"/>
          </a:xfrm>
          <a:prstGeom prst="rect">
            <a:avLst/>
          </a:prstGeom>
        </p:spPr>
      </p:pic>
      <p:sp>
        <p:nvSpPr>
          <p:cNvPr id="16" name="Text 11"/>
          <p:cNvSpPr/>
          <p:nvPr/>
        </p:nvSpPr>
        <p:spPr>
          <a:xfrm>
            <a:off x="1188720" y="3447288"/>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Feels native, stays safe</a:t>
            </a:r>
            <a:endParaRPr lang="en-US" sz="1350" dirty="0"/>
          </a:p>
        </p:txBody>
      </p:sp>
      <p:sp>
        <p:nvSpPr>
          <p:cNvPr id="17" name="Text 12"/>
          <p:cNvSpPr/>
          <p:nvPr/>
        </p:nvSpPr>
        <p:spPr>
          <a:xfrm>
            <a:off x="1188720" y="3721608"/>
            <a:ext cx="781812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The app adopts the host’s theme colours, but only after a WCAG contrast check passes. It uses haptics and deep links like a first-class Telegram citizen.</a:t>
            </a:r>
            <a:endParaRPr lang="en-US" sz="1100" dirty="0"/>
          </a:p>
        </p:txBody>
      </p:sp>
      <p:sp>
        <p:nvSpPr>
          <p:cNvPr id="18" name="Shape 13"/>
          <p:cNvSpPr/>
          <p:nvPr/>
        </p:nvSpPr>
        <p:spPr>
          <a:xfrm>
            <a:off x="566928" y="4480560"/>
            <a:ext cx="457200" cy="457200"/>
          </a:xfrm>
          <a:prstGeom prst="ellipse">
            <a:avLst/>
          </a:prstGeom>
          <a:solidFill>
            <a:srgbClr val="123441"/>
          </a:solidFill>
          <a:ln w="9525">
            <a:solidFill>
              <a:srgbClr val="1E4A57"/>
            </a:solidFill>
            <a:prstDash val="solid"/>
          </a:ln>
        </p:spPr>
        <p:txBody>
          <a:bodyPr/>
          <a:lstStyle/>
          <a:p>
            <a:endParaRPr lang="en-AU"/>
          </a:p>
        </p:txBody>
      </p:sp>
      <p:pic>
        <p:nvPicPr>
          <p:cNvPr id="19" name="Image 3" descr="C:\Users\lumin\AppData\Local\Temp\claude\C--Users-lumin-Desktop-aquazerofit\2e3b7983-e45b-4e1c-8fdf-0a5635a22264\scratchpad\assets\icon_globe_cyan.png"/>
          <p:cNvPicPr>
            <a:picLocks noChangeAspect="1"/>
          </p:cNvPicPr>
          <p:nvPr/>
        </p:nvPicPr>
        <p:blipFill>
          <a:blip r:embed="rId7"/>
          <a:stretch>
            <a:fillRect/>
          </a:stretch>
        </p:blipFill>
        <p:spPr>
          <a:xfrm>
            <a:off x="676656" y="4599432"/>
            <a:ext cx="237744" cy="237744"/>
          </a:xfrm>
          <a:prstGeom prst="rect">
            <a:avLst/>
          </a:prstGeom>
        </p:spPr>
      </p:pic>
      <p:sp>
        <p:nvSpPr>
          <p:cNvPr id="20" name="Text 14"/>
          <p:cNvSpPr/>
          <p:nvPr/>
        </p:nvSpPr>
        <p:spPr>
          <a:xfrm>
            <a:off x="1188720" y="4425696"/>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Still a real website</a:t>
            </a:r>
            <a:endParaRPr lang="en-US" sz="1350" dirty="0"/>
          </a:p>
        </p:txBody>
      </p:sp>
      <p:sp>
        <p:nvSpPr>
          <p:cNvPr id="21" name="Text 15"/>
          <p:cNvSpPr/>
          <p:nvPr/>
        </p:nvSpPr>
        <p:spPr>
          <a:xfrm>
            <a:off x="1188720" y="4700016"/>
            <a:ext cx="781812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The same codebase serves a full responsive web app. The Telegram SDK loads only on a genuine Mini App launch, so the public site stays fast for everyone else.</a:t>
            </a:r>
            <a:endParaRPr lang="en-US" sz="1100" dirty="0"/>
          </a:p>
        </p:txBody>
      </p:sp>
      <p:sp>
        <p:nvSpPr>
          <p:cNvPr id="22" name="Shape 16"/>
          <p:cNvSpPr/>
          <p:nvPr/>
        </p:nvSpPr>
        <p:spPr>
          <a:xfrm>
            <a:off x="548640"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3" name="Text 17"/>
          <p:cNvSpPr/>
          <p:nvPr/>
        </p:nvSpPr>
        <p:spPr>
          <a:xfrm>
            <a:off x="548640" y="5596128"/>
            <a:ext cx="2002536" cy="329184"/>
          </a:xfrm>
          <a:prstGeom prst="rect">
            <a:avLst/>
          </a:prstGeom>
          <a:noFill/>
          <a:ln/>
        </p:spPr>
        <p:txBody>
          <a:bodyPr wrap="square" lIns="0" tIns="0" rIns="0" bIns="0" rtlCol="0" anchor="ctr"/>
          <a:lstStyle/>
          <a:p>
            <a:pPr marL="0" indent="0" algn="ctr">
              <a:buNone/>
            </a:pPr>
            <a:r>
              <a:rPr lang="en-US" sz="1500" b="1" dirty="0">
                <a:solidFill>
                  <a:srgbClr val="4FD8F0"/>
                </a:solidFill>
                <a:latin typeface="Calibri" pitchFamily="34" charset="0"/>
                <a:ea typeface="Calibri" pitchFamily="34" charset="-122"/>
                <a:cs typeface="Calibri" pitchFamily="34" charset="-120"/>
              </a:rPr>
              <a:t>1</a:t>
            </a:r>
            <a:endParaRPr lang="en-US" sz="1500" dirty="0"/>
          </a:p>
        </p:txBody>
      </p:sp>
      <p:sp>
        <p:nvSpPr>
          <p:cNvPr id="24" name="Text 18"/>
          <p:cNvSpPr/>
          <p:nvPr/>
        </p:nvSpPr>
        <p:spPr>
          <a:xfrm>
            <a:off x="621792"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codebase</a:t>
            </a:r>
            <a:endParaRPr lang="en-US" sz="870" dirty="0"/>
          </a:p>
        </p:txBody>
      </p:sp>
      <p:sp>
        <p:nvSpPr>
          <p:cNvPr id="25" name="Shape 19"/>
          <p:cNvSpPr/>
          <p:nvPr/>
        </p:nvSpPr>
        <p:spPr>
          <a:xfrm>
            <a:off x="2715768"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6" name="Text 20"/>
          <p:cNvSpPr/>
          <p:nvPr/>
        </p:nvSpPr>
        <p:spPr>
          <a:xfrm>
            <a:off x="2715768" y="5596128"/>
            <a:ext cx="2002536" cy="329184"/>
          </a:xfrm>
          <a:prstGeom prst="rect">
            <a:avLst/>
          </a:prstGeom>
          <a:noFill/>
          <a:ln/>
        </p:spPr>
        <p:txBody>
          <a:bodyPr wrap="square" lIns="0" tIns="0" rIns="0" bIns="0" rtlCol="0" anchor="ctr"/>
          <a:lstStyle/>
          <a:p>
            <a:pPr marL="0" indent="0" algn="ctr">
              <a:buNone/>
            </a:pPr>
            <a:r>
              <a:rPr lang="en-US" sz="1500" b="1" dirty="0">
                <a:solidFill>
                  <a:srgbClr val="3DE8B0"/>
                </a:solidFill>
                <a:latin typeface="Calibri" pitchFamily="34" charset="0"/>
                <a:ea typeface="Calibri" pitchFamily="34" charset="-122"/>
                <a:cs typeface="Calibri" pitchFamily="34" charset="-120"/>
              </a:rPr>
              <a:t>2</a:t>
            </a:r>
            <a:endParaRPr lang="en-US" sz="1500" dirty="0"/>
          </a:p>
        </p:txBody>
      </p:sp>
      <p:sp>
        <p:nvSpPr>
          <p:cNvPr id="27" name="Text 21"/>
          <p:cNvSpPr/>
          <p:nvPr/>
        </p:nvSpPr>
        <p:spPr>
          <a:xfrm>
            <a:off x="2788920"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delivery surfaces</a:t>
            </a:r>
            <a:endParaRPr lang="en-US" sz="870" dirty="0"/>
          </a:p>
        </p:txBody>
      </p:sp>
      <p:sp>
        <p:nvSpPr>
          <p:cNvPr id="28" name="Shape 22"/>
          <p:cNvSpPr/>
          <p:nvPr/>
        </p:nvSpPr>
        <p:spPr>
          <a:xfrm>
            <a:off x="4882896"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9" name="Text 23"/>
          <p:cNvSpPr/>
          <p:nvPr/>
        </p:nvSpPr>
        <p:spPr>
          <a:xfrm>
            <a:off x="4882896" y="5596128"/>
            <a:ext cx="2002536" cy="329184"/>
          </a:xfrm>
          <a:prstGeom prst="rect">
            <a:avLst/>
          </a:prstGeom>
          <a:noFill/>
          <a:ln/>
        </p:spPr>
        <p:txBody>
          <a:bodyPr wrap="square" lIns="0" tIns="0" rIns="0" bIns="0" rtlCol="0" anchor="ctr"/>
          <a:lstStyle/>
          <a:p>
            <a:pPr marL="0" indent="0" algn="ctr">
              <a:buNone/>
            </a:pPr>
            <a:r>
              <a:rPr lang="en-US" sz="1500" b="1" dirty="0">
                <a:solidFill>
                  <a:srgbClr val="FFC94D"/>
                </a:solidFill>
                <a:latin typeface="Calibri" pitchFamily="34" charset="0"/>
                <a:ea typeface="Calibri" pitchFamily="34" charset="-122"/>
                <a:cs typeface="Calibri" pitchFamily="34" charset="-120"/>
              </a:rPr>
              <a:t>0</a:t>
            </a:r>
            <a:endParaRPr lang="en-US" sz="1500" dirty="0"/>
          </a:p>
        </p:txBody>
      </p:sp>
      <p:sp>
        <p:nvSpPr>
          <p:cNvPr id="30" name="Text 24"/>
          <p:cNvSpPr/>
          <p:nvPr/>
        </p:nvSpPr>
        <p:spPr>
          <a:xfrm>
            <a:off x="4956048"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installs required</a:t>
            </a:r>
            <a:endParaRPr lang="en-US" sz="870" dirty="0"/>
          </a:p>
        </p:txBody>
      </p:sp>
      <p:sp>
        <p:nvSpPr>
          <p:cNvPr id="31" name="Shape 25"/>
          <p:cNvSpPr/>
          <p:nvPr/>
        </p:nvSpPr>
        <p:spPr>
          <a:xfrm>
            <a:off x="7050024"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32" name="Text 26"/>
          <p:cNvSpPr/>
          <p:nvPr/>
        </p:nvSpPr>
        <p:spPr>
          <a:xfrm>
            <a:off x="7050024" y="5596128"/>
            <a:ext cx="2002536" cy="329184"/>
          </a:xfrm>
          <a:prstGeom prst="rect">
            <a:avLst/>
          </a:prstGeom>
          <a:noFill/>
          <a:ln/>
        </p:spPr>
        <p:txBody>
          <a:bodyPr wrap="square" lIns="0" tIns="0" rIns="0" bIns="0" rtlCol="0" anchor="ctr"/>
          <a:lstStyle/>
          <a:p>
            <a:pPr marL="0" indent="0" algn="ctr">
              <a:buNone/>
            </a:pPr>
            <a:r>
              <a:rPr lang="en-US" sz="1500" b="1" dirty="0">
                <a:solidFill>
                  <a:srgbClr val="FF8A70"/>
                </a:solidFill>
                <a:latin typeface="Calibri" pitchFamily="34" charset="0"/>
                <a:ea typeface="Calibri" pitchFamily="34" charset="-122"/>
                <a:cs typeface="Calibri" pitchFamily="34" charset="-120"/>
              </a:rPr>
              <a:t>Stars</a:t>
            </a:r>
            <a:endParaRPr lang="en-US" sz="1500" dirty="0"/>
          </a:p>
        </p:txBody>
      </p:sp>
      <p:sp>
        <p:nvSpPr>
          <p:cNvPr id="33" name="Text 27"/>
          <p:cNvSpPr/>
          <p:nvPr/>
        </p:nvSpPr>
        <p:spPr>
          <a:xfrm>
            <a:off x="7123176"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in-chat payments</a:t>
            </a:r>
            <a:endParaRPr lang="en-US" sz="870" dirty="0"/>
          </a:p>
        </p:txBody>
      </p:sp>
      <p:sp>
        <p:nvSpPr>
          <p:cNvPr id="34" name="Shape 28"/>
          <p:cNvSpPr/>
          <p:nvPr/>
        </p:nvSpPr>
        <p:spPr>
          <a:xfrm>
            <a:off x="9354312" y="1307592"/>
            <a:ext cx="2388556" cy="5020056"/>
          </a:xfrm>
          <a:prstGeom prst="roundRect">
            <a:avLst>
              <a:gd name="adj" fmla="val 4594"/>
            </a:avLst>
          </a:prstGeom>
          <a:solidFill>
            <a:srgbClr val="062028"/>
          </a:solidFill>
          <a:ln w="12700">
            <a:solidFill>
              <a:srgbClr val="1E4A57"/>
            </a:solidFill>
            <a:prstDash val="solid"/>
          </a:ln>
        </p:spPr>
        <p:txBody>
          <a:bodyPr/>
          <a:lstStyle/>
          <a:p>
            <a:endParaRPr lang="en-AU"/>
          </a:p>
        </p:txBody>
      </p:sp>
      <p:pic>
        <p:nvPicPr>
          <p:cNvPr id="35" name="Image 4" descr="C:\Users\lumin\Desktop\aquazerofit\docs\screenshots\01-welcome.png"/>
          <p:cNvPicPr>
            <a:picLocks noChangeAspect="1"/>
          </p:cNvPicPr>
          <p:nvPr/>
        </p:nvPicPr>
        <p:blipFill>
          <a:blip r:embed="rId8"/>
          <a:stretch>
            <a:fillRect/>
          </a:stretch>
        </p:blipFill>
        <p:spPr>
          <a:xfrm>
            <a:off x="9418320" y="1371600"/>
            <a:ext cx="2260540" cy="48920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6</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4FD8F0"/>
                </a:solidFill>
                <a:latin typeface="Calibri" pitchFamily="34" charset="0"/>
                <a:ea typeface="Calibri" pitchFamily="34" charset="-122"/>
                <a:cs typeface="Calibri" pitchFamily="34" charset="-120"/>
              </a:rPr>
              <a:t>OPENING · TECHNOLOGY CHOICES   </a:t>
            </a:r>
            <a:r>
              <a:rPr lang="en-US" sz="1100" b="1" kern="0" spc="200" dirty="0">
                <a:solidFill>
                  <a:srgbClr val="9DBAC3"/>
                </a:solidFill>
                <a:latin typeface="Calibri" pitchFamily="34" charset="0"/>
                <a:ea typeface="Calibri" pitchFamily="34" charset="-122"/>
                <a:cs typeface="Calibri" pitchFamily="34" charset="-120"/>
              </a:rPr>
              <a:t>|   PRESENTER: TUNDJI WILLIAMS-FULWOOD</a:t>
            </a:r>
            <a:endParaRPr lang="en-US" sz="1100" dirty="0"/>
          </a:p>
        </p:txBody>
      </p:sp>
      <p:sp>
        <p:nvSpPr>
          <p:cNvPr id="5" name="Text 3"/>
          <p:cNvSpPr/>
          <p:nvPr/>
        </p:nvSpPr>
        <p:spPr>
          <a:xfrm>
            <a:off x="548640" y="566928"/>
            <a:ext cx="1106424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The stack, and why each piece earned its place</a:t>
            </a:r>
            <a:endParaRPr lang="en-US" sz="2600" dirty="0"/>
          </a:p>
        </p:txBody>
      </p:sp>
      <p:sp>
        <p:nvSpPr>
          <p:cNvPr id="6" name="Shape 4"/>
          <p:cNvSpPr/>
          <p:nvPr/>
        </p:nvSpPr>
        <p:spPr>
          <a:xfrm>
            <a:off x="548640" y="1517904"/>
            <a:ext cx="3639312" cy="1956816"/>
          </a:xfrm>
          <a:prstGeom prst="roundRect">
            <a:avLst>
              <a:gd name="adj" fmla="val 4673"/>
            </a:avLst>
          </a:prstGeom>
          <a:solidFill>
            <a:srgbClr val="0E2A34"/>
          </a:solidFill>
          <a:ln w="12700">
            <a:solidFill>
              <a:srgbClr val="1E4A57"/>
            </a:solidFill>
            <a:prstDash val="solid"/>
          </a:ln>
        </p:spPr>
        <p:txBody>
          <a:bodyPr/>
          <a:lstStyle/>
          <a:p>
            <a:endParaRPr lang="en-AU"/>
          </a:p>
        </p:txBody>
      </p:sp>
      <p:pic>
        <p:nvPicPr>
          <p:cNvPr id="7" name="Image 0" descr="C:\Users\lumin\AppData\Local\Temp\claude\C--Users-lumin-Desktop-aquazerofit\2e3b7983-e45b-4e1c-8fdf-0a5635a22264\scratchpad\assets\icon_code_cyan.png"/>
          <p:cNvPicPr>
            <a:picLocks noChangeAspect="1"/>
          </p:cNvPicPr>
          <p:nvPr/>
        </p:nvPicPr>
        <p:blipFill>
          <a:blip r:embed="rId4"/>
          <a:stretch>
            <a:fillRect/>
          </a:stretch>
        </p:blipFill>
        <p:spPr>
          <a:xfrm>
            <a:off x="804672" y="1755648"/>
            <a:ext cx="292608" cy="292608"/>
          </a:xfrm>
          <a:prstGeom prst="rect">
            <a:avLst/>
          </a:prstGeom>
        </p:spPr>
      </p:pic>
      <p:sp>
        <p:nvSpPr>
          <p:cNvPr id="8" name="Text 5"/>
          <p:cNvSpPr/>
          <p:nvPr/>
        </p:nvSpPr>
        <p:spPr>
          <a:xfrm>
            <a:off x="1225296" y="1737360"/>
            <a:ext cx="2770632" cy="329184"/>
          </a:xfrm>
          <a:prstGeom prst="rect">
            <a:avLst/>
          </a:prstGeom>
          <a:noFill/>
          <a:ln/>
        </p:spPr>
        <p:txBody>
          <a:bodyPr wrap="square" lIns="0" tIns="0" rIns="0" bIns="0" rtlCol="0" anchor="ctr"/>
          <a:lstStyle/>
          <a:p>
            <a:pPr marL="0" indent="0">
              <a:buNone/>
            </a:pPr>
            <a:r>
              <a:rPr lang="en-US" sz="1300" b="1" dirty="0">
                <a:solidFill>
                  <a:srgbClr val="EAF6F9"/>
                </a:solidFill>
                <a:latin typeface="Calibri" pitchFamily="34" charset="0"/>
                <a:ea typeface="Calibri" pitchFamily="34" charset="-122"/>
                <a:cs typeface="Calibri" pitchFamily="34" charset="-120"/>
              </a:rPr>
              <a:t>TypeScript, end to end</a:t>
            </a:r>
            <a:endParaRPr lang="en-US" sz="1300" dirty="0"/>
          </a:p>
        </p:txBody>
      </p:sp>
      <p:sp>
        <p:nvSpPr>
          <p:cNvPr id="9" name="Text 6"/>
          <p:cNvSpPr/>
          <p:nvPr/>
        </p:nvSpPr>
        <p:spPr>
          <a:xfrm>
            <a:off x="822960" y="2194560"/>
            <a:ext cx="3090672" cy="1088136"/>
          </a:xfrm>
          <a:prstGeom prst="rect">
            <a:avLst/>
          </a:prstGeom>
          <a:noFill/>
          <a:ln/>
        </p:spPr>
        <p:txBody>
          <a:bodyPr wrap="square" lIns="0" tIns="0" rIns="0" bIns="0" rtlCol="0" anchor="t"/>
          <a:lstStyle/>
          <a:p>
            <a:pPr marL="0" indent="0">
              <a:lnSpc>
                <a:spcPct val="106000"/>
              </a:lnSpc>
              <a:buNone/>
            </a:pPr>
            <a:r>
              <a:rPr lang="en-US" sz="1050" dirty="0">
                <a:solidFill>
                  <a:srgbClr val="9DBAC3"/>
                </a:solidFill>
                <a:latin typeface="Calibri" pitchFamily="34" charset="0"/>
                <a:ea typeface="Calibri" pitchFamily="34" charset="-122"/>
                <a:cs typeface="Calibri" pitchFamily="34" charset="-120"/>
              </a:rPr>
              <a:t>One language for client, server and shared packages. A change to an API shape breaks the other side at compile time, not in front of a user.</a:t>
            </a:r>
            <a:endParaRPr lang="en-US" sz="1050" dirty="0"/>
          </a:p>
        </p:txBody>
      </p:sp>
      <p:sp>
        <p:nvSpPr>
          <p:cNvPr id="10" name="Shape 7"/>
          <p:cNvSpPr/>
          <p:nvPr/>
        </p:nvSpPr>
        <p:spPr>
          <a:xfrm>
            <a:off x="4370832" y="1517904"/>
            <a:ext cx="3639312" cy="1956816"/>
          </a:xfrm>
          <a:prstGeom prst="roundRect">
            <a:avLst>
              <a:gd name="adj" fmla="val 4673"/>
            </a:avLst>
          </a:prstGeom>
          <a:solidFill>
            <a:srgbClr val="0E2A34"/>
          </a:solidFill>
          <a:ln w="12700">
            <a:solidFill>
              <a:srgbClr val="1E4A57"/>
            </a:solidFill>
            <a:prstDash val="solid"/>
          </a:ln>
        </p:spPr>
        <p:txBody>
          <a:bodyPr/>
          <a:lstStyle/>
          <a:p>
            <a:endParaRPr lang="en-AU"/>
          </a:p>
        </p:txBody>
      </p:sp>
      <p:pic>
        <p:nvPicPr>
          <p:cNvPr id="11" name="Image 1" descr="C:\Users\lumin\AppData\Local\Temp\claude\C--Users-lumin-Desktop-aquazerofit\2e3b7983-e45b-4e1c-8fdf-0a5635a22264\scratchpad\assets\icon_bolt_gold.png"/>
          <p:cNvPicPr>
            <a:picLocks noChangeAspect="1"/>
          </p:cNvPicPr>
          <p:nvPr/>
        </p:nvPicPr>
        <p:blipFill>
          <a:blip r:embed="rId5"/>
          <a:stretch>
            <a:fillRect/>
          </a:stretch>
        </p:blipFill>
        <p:spPr>
          <a:xfrm>
            <a:off x="4626864" y="1755648"/>
            <a:ext cx="292608" cy="292608"/>
          </a:xfrm>
          <a:prstGeom prst="rect">
            <a:avLst/>
          </a:prstGeom>
        </p:spPr>
      </p:pic>
      <p:sp>
        <p:nvSpPr>
          <p:cNvPr id="12" name="Text 8"/>
          <p:cNvSpPr/>
          <p:nvPr/>
        </p:nvSpPr>
        <p:spPr>
          <a:xfrm>
            <a:off x="5047488" y="1737360"/>
            <a:ext cx="2770632" cy="329184"/>
          </a:xfrm>
          <a:prstGeom prst="rect">
            <a:avLst/>
          </a:prstGeom>
          <a:noFill/>
          <a:ln/>
        </p:spPr>
        <p:txBody>
          <a:bodyPr wrap="square" lIns="0" tIns="0" rIns="0" bIns="0" rtlCol="0" anchor="ctr"/>
          <a:lstStyle/>
          <a:p>
            <a:pPr marL="0" indent="0">
              <a:buNone/>
            </a:pPr>
            <a:r>
              <a:rPr lang="en-US" sz="1300" b="1" dirty="0">
                <a:solidFill>
                  <a:srgbClr val="EAF6F9"/>
                </a:solidFill>
                <a:latin typeface="Calibri" pitchFamily="34" charset="0"/>
                <a:ea typeface="Calibri" pitchFamily="34" charset="-122"/>
                <a:cs typeface="Calibri" pitchFamily="34" charset="-120"/>
              </a:rPr>
              <a:t>React 18 + Vite</a:t>
            </a:r>
            <a:endParaRPr lang="en-US" sz="1300" dirty="0"/>
          </a:p>
        </p:txBody>
      </p:sp>
      <p:sp>
        <p:nvSpPr>
          <p:cNvPr id="13" name="Text 9"/>
          <p:cNvSpPr/>
          <p:nvPr/>
        </p:nvSpPr>
        <p:spPr>
          <a:xfrm>
            <a:off x="4645152" y="2194560"/>
            <a:ext cx="3090672" cy="1088136"/>
          </a:xfrm>
          <a:prstGeom prst="rect">
            <a:avLst/>
          </a:prstGeom>
          <a:noFill/>
          <a:ln/>
        </p:spPr>
        <p:txBody>
          <a:bodyPr wrap="square" lIns="0" tIns="0" rIns="0" bIns="0" rtlCol="0" anchor="t"/>
          <a:lstStyle/>
          <a:p>
            <a:pPr marL="0" indent="0">
              <a:lnSpc>
                <a:spcPct val="106000"/>
              </a:lnSpc>
              <a:buNone/>
            </a:pPr>
            <a:r>
              <a:rPr lang="en-US" sz="1050" dirty="0">
                <a:solidFill>
                  <a:srgbClr val="9DBAC3"/>
                </a:solidFill>
                <a:latin typeface="Calibri" pitchFamily="34" charset="0"/>
                <a:ea typeface="Calibri" pitchFamily="34" charset="-122"/>
                <a:cs typeface="Calibri" pitchFamily="34" charset="-120"/>
              </a:rPr>
              <a:t>Fast, component-based UI with a build step we extended ourselves, our own plugin prerenders real HTML for search engines.</a:t>
            </a:r>
            <a:endParaRPr lang="en-US" sz="1050" dirty="0"/>
          </a:p>
        </p:txBody>
      </p:sp>
      <p:sp>
        <p:nvSpPr>
          <p:cNvPr id="14" name="Shape 10"/>
          <p:cNvSpPr/>
          <p:nvPr/>
        </p:nvSpPr>
        <p:spPr>
          <a:xfrm>
            <a:off x="8193024" y="1517904"/>
            <a:ext cx="3639312" cy="1956816"/>
          </a:xfrm>
          <a:prstGeom prst="roundRect">
            <a:avLst>
              <a:gd name="adj" fmla="val 4673"/>
            </a:avLst>
          </a:prstGeom>
          <a:solidFill>
            <a:srgbClr val="0E2A34"/>
          </a:solidFill>
          <a:ln w="12700">
            <a:solidFill>
              <a:srgbClr val="1E4A57"/>
            </a:solidFill>
            <a:prstDash val="solid"/>
          </a:ln>
        </p:spPr>
        <p:txBody>
          <a:bodyPr/>
          <a:lstStyle/>
          <a:p>
            <a:endParaRPr lang="en-AU"/>
          </a:p>
        </p:txBody>
      </p:sp>
      <p:pic>
        <p:nvPicPr>
          <p:cNvPr id="15" name="Image 2" descr="C:\Users\lumin\AppData\Local\Temp\claude\C--Users-lumin-Desktop-aquazerofit\2e3b7983-e45b-4e1c-8fdf-0a5635a22264\scratchpad\assets\icon_server_coral.png"/>
          <p:cNvPicPr>
            <a:picLocks noChangeAspect="1"/>
          </p:cNvPicPr>
          <p:nvPr/>
        </p:nvPicPr>
        <p:blipFill>
          <a:blip r:embed="rId6"/>
          <a:stretch>
            <a:fillRect/>
          </a:stretch>
        </p:blipFill>
        <p:spPr>
          <a:xfrm>
            <a:off x="8449056" y="1755648"/>
            <a:ext cx="292608" cy="292608"/>
          </a:xfrm>
          <a:prstGeom prst="rect">
            <a:avLst/>
          </a:prstGeom>
        </p:spPr>
      </p:pic>
      <p:sp>
        <p:nvSpPr>
          <p:cNvPr id="16" name="Text 11"/>
          <p:cNvSpPr/>
          <p:nvPr/>
        </p:nvSpPr>
        <p:spPr>
          <a:xfrm>
            <a:off x="8869680" y="1737360"/>
            <a:ext cx="2770632" cy="329184"/>
          </a:xfrm>
          <a:prstGeom prst="rect">
            <a:avLst/>
          </a:prstGeom>
          <a:noFill/>
          <a:ln/>
        </p:spPr>
        <p:txBody>
          <a:bodyPr wrap="square" lIns="0" tIns="0" rIns="0" bIns="0" rtlCol="0" anchor="ctr"/>
          <a:lstStyle/>
          <a:p>
            <a:pPr marL="0" indent="0">
              <a:buNone/>
            </a:pPr>
            <a:r>
              <a:rPr lang="en-US" sz="1300" b="1" dirty="0">
                <a:solidFill>
                  <a:srgbClr val="EAF6F9"/>
                </a:solidFill>
                <a:latin typeface="Calibri" pitchFamily="34" charset="0"/>
                <a:ea typeface="Calibri" pitchFamily="34" charset="-122"/>
                <a:cs typeface="Calibri" pitchFamily="34" charset="-120"/>
              </a:rPr>
              <a:t>Node.js + Express</a:t>
            </a:r>
            <a:endParaRPr lang="en-US" sz="1300" dirty="0"/>
          </a:p>
        </p:txBody>
      </p:sp>
      <p:sp>
        <p:nvSpPr>
          <p:cNvPr id="17" name="Text 12"/>
          <p:cNvSpPr/>
          <p:nvPr/>
        </p:nvSpPr>
        <p:spPr>
          <a:xfrm>
            <a:off x="8467344" y="2194560"/>
            <a:ext cx="3090672" cy="1088136"/>
          </a:xfrm>
          <a:prstGeom prst="rect">
            <a:avLst/>
          </a:prstGeom>
          <a:noFill/>
          <a:ln/>
        </p:spPr>
        <p:txBody>
          <a:bodyPr wrap="square" lIns="0" tIns="0" rIns="0" bIns="0" rtlCol="0" anchor="t"/>
          <a:lstStyle/>
          <a:p>
            <a:pPr marL="0" indent="0">
              <a:lnSpc>
                <a:spcPct val="106000"/>
              </a:lnSpc>
              <a:buNone/>
            </a:pPr>
            <a:r>
              <a:rPr lang="en-US" sz="1050" dirty="0">
                <a:solidFill>
                  <a:srgbClr val="9DBAC3"/>
                </a:solidFill>
                <a:latin typeface="Calibri" pitchFamily="34" charset="0"/>
                <a:ea typeface="Calibri" pitchFamily="34" charset="-122"/>
                <a:cs typeface="Calibri" pitchFamily="34" charset="-120"/>
              </a:rPr>
              <a:t>A small, well-understood API framework whose middleware chain maps one-to-one onto our seven-step AI safety sequence.</a:t>
            </a:r>
            <a:endParaRPr lang="en-US" sz="1050" dirty="0"/>
          </a:p>
        </p:txBody>
      </p:sp>
      <p:sp>
        <p:nvSpPr>
          <p:cNvPr id="18" name="Shape 13"/>
          <p:cNvSpPr/>
          <p:nvPr/>
        </p:nvSpPr>
        <p:spPr>
          <a:xfrm>
            <a:off x="548640" y="3639312"/>
            <a:ext cx="3639312" cy="1956816"/>
          </a:xfrm>
          <a:prstGeom prst="roundRect">
            <a:avLst>
              <a:gd name="adj" fmla="val 4673"/>
            </a:avLst>
          </a:prstGeom>
          <a:solidFill>
            <a:srgbClr val="0E2A34"/>
          </a:solidFill>
          <a:ln w="12700">
            <a:solidFill>
              <a:srgbClr val="1E4A57"/>
            </a:solidFill>
            <a:prstDash val="solid"/>
          </a:ln>
        </p:spPr>
        <p:txBody>
          <a:bodyPr/>
          <a:lstStyle/>
          <a:p>
            <a:endParaRPr lang="en-AU"/>
          </a:p>
        </p:txBody>
      </p:sp>
      <p:pic>
        <p:nvPicPr>
          <p:cNvPr id="19" name="Image 3" descr="C:\Users\lumin\AppData\Local\Temp\claude\C--Users-lumin-Desktop-aquazerofit\2e3b7983-e45b-4e1c-8fdf-0a5635a22264\scratchpad\assets\icon_shield_mint.png"/>
          <p:cNvPicPr>
            <a:picLocks noChangeAspect="1"/>
          </p:cNvPicPr>
          <p:nvPr/>
        </p:nvPicPr>
        <p:blipFill>
          <a:blip r:embed="rId7"/>
          <a:stretch>
            <a:fillRect/>
          </a:stretch>
        </p:blipFill>
        <p:spPr>
          <a:xfrm>
            <a:off x="804672" y="3877056"/>
            <a:ext cx="292608" cy="292608"/>
          </a:xfrm>
          <a:prstGeom prst="rect">
            <a:avLst/>
          </a:prstGeom>
        </p:spPr>
      </p:pic>
      <p:sp>
        <p:nvSpPr>
          <p:cNvPr id="20" name="Text 14"/>
          <p:cNvSpPr/>
          <p:nvPr/>
        </p:nvSpPr>
        <p:spPr>
          <a:xfrm>
            <a:off x="1225296" y="3858768"/>
            <a:ext cx="2770632" cy="329184"/>
          </a:xfrm>
          <a:prstGeom prst="rect">
            <a:avLst/>
          </a:prstGeom>
          <a:noFill/>
          <a:ln/>
        </p:spPr>
        <p:txBody>
          <a:bodyPr wrap="square" lIns="0" tIns="0" rIns="0" bIns="0" rtlCol="0" anchor="ctr"/>
          <a:lstStyle/>
          <a:p>
            <a:pPr marL="0" indent="0">
              <a:buNone/>
            </a:pPr>
            <a:r>
              <a:rPr lang="en-US" sz="1300" b="1" dirty="0">
                <a:solidFill>
                  <a:srgbClr val="EAF6F9"/>
                </a:solidFill>
                <a:latin typeface="Calibri" pitchFamily="34" charset="0"/>
                <a:ea typeface="Calibri" pitchFamily="34" charset="-122"/>
                <a:cs typeface="Calibri" pitchFamily="34" charset="-120"/>
              </a:rPr>
              <a:t>zod validation</a:t>
            </a:r>
            <a:endParaRPr lang="en-US" sz="1300" dirty="0"/>
          </a:p>
        </p:txBody>
      </p:sp>
      <p:sp>
        <p:nvSpPr>
          <p:cNvPr id="21" name="Text 15"/>
          <p:cNvSpPr/>
          <p:nvPr/>
        </p:nvSpPr>
        <p:spPr>
          <a:xfrm>
            <a:off x="822960" y="4315968"/>
            <a:ext cx="3090672" cy="1088136"/>
          </a:xfrm>
          <a:prstGeom prst="rect">
            <a:avLst/>
          </a:prstGeom>
          <a:noFill/>
          <a:ln/>
        </p:spPr>
        <p:txBody>
          <a:bodyPr wrap="square" lIns="0" tIns="0" rIns="0" bIns="0" rtlCol="0" anchor="t"/>
          <a:lstStyle/>
          <a:p>
            <a:pPr marL="0" indent="0">
              <a:lnSpc>
                <a:spcPct val="106000"/>
              </a:lnSpc>
              <a:buNone/>
            </a:pPr>
            <a:r>
              <a:rPr lang="en-US" sz="1050" dirty="0">
                <a:solidFill>
                  <a:srgbClr val="9DBAC3"/>
                </a:solidFill>
                <a:latin typeface="Calibri" pitchFamily="34" charset="0"/>
                <a:ea typeface="Calibri" pitchFamily="34" charset="-122"/>
                <a:cs typeface="Calibri" pitchFamily="34" charset="-120"/>
              </a:rPr>
              <a:t>One schema in a shared package validates every request on the server and types the client. The contract cannot silently drift.</a:t>
            </a:r>
            <a:endParaRPr lang="en-US" sz="1050" dirty="0"/>
          </a:p>
        </p:txBody>
      </p:sp>
      <p:sp>
        <p:nvSpPr>
          <p:cNvPr id="22" name="Shape 16"/>
          <p:cNvSpPr/>
          <p:nvPr/>
        </p:nvSpPr>
        <p:spPr>
          <a:xfrm>
            <a:off x="4370832" y="3639312"/>
            <a:ext cx="3639312" cy="1956816"/>
          </a:xfrm>
          <a:prstGeom prst="roundRect">
            <a:avLst>
              <a:gd name="adj" fmla="val 4673"/>
            </a:avLst>
          </a:prstGeom>
          <a:solidFill>
            <a:srgbClr val="0E2A34"/>
          </a:solidFill>
          <a:ln w="12700">
            <a:solidFill>
              <a:srgbClr val="1E4A57"/>
            </a:solidFill>
            <a:prstDash val="solid"/>
          </a:ln>
        </p:spPr>
        <p:txBody>
          <a:bodyPr/>
          <a:lstStyle/>
          <a:p>
            <a:endParaRPr lang="en-AU"/>
          </a:p>
        </p:txBody>
      </p:sp>
      <p:pic>
        <p:nvPicPr>
          <p:cNvPr id="23" name="Image 4" descr="C:\Users\lumin\AppData\Local\Temp\claude\C--Users-lumin-Desktop-aquazerofit\2e3b7983-e45b-4e1c-8fdf-0a5635a22264\scratchpad\assets\icon_magic_cyan.png"/>
          <p:cNvPicPr>
            <a:picLocks noChangeAspect="1"/>
          </p:cNvPicPr>
          <p:nvPr/>
        </p:nvPicPr>
        <p:blipFill>
          <a:blip r:embed="rId8"/>
          <a:stretch>
            <a:fillRect/>
          </a:stretch>
        </p:blipFill>
        <p:spPr>
          <a:xfrm>
            <a:off x="4626864" y="3877056"/>
            <a:ext cx="292608" cy="292608"/>
          </a:xfrm>
          <a:prstGeom prst="rect">
            <a:avLst/>
          </a:prstGeom>
        </p:spPr>
      </p:pic>
      <p:sp>
        <p:nvSpPr>
          <p:cNvPr id="24" name="Text 17"/>
          <p:cNvSpPr/>
          <p:nvPr/>
        </p:nvSpPr>
        <p:spPr>
          <a:xfrm>
            <a:off x="5047488" y="3858768"/>
            <a:ext cx="2770632" cy="329184"/>
          </a:xfrm>
          <a:prstGeom prst="rect">
            <a:avLst/>
          </a:prstGeom>
          <a:noFill/>
          <a:ln/>
        </p:spPr>
        <p:txBody>
          <a:bodyPr wrap="square" lIns="0" tIns="0" rIns="0" bIns="0" rtlCol="0" anchor="ctr"/>
          <a:lstStyle/>
          <a:p>
            <a:pPr marL="0" indent="0">
              <a:buNone/>
            </a:pPr>
            <a:r>
              <a:rPr lang="en-US" sz="1300" b="1" dirty="0">
                <a:solidFill>
                  <a:srgbClr val="EAF6F9"/>
                </a:solidFill>
                <a:latin typeface="Calibri" pitchFamily="34" charset="0"/>
                <a:ea typeface="Calibri" pitchFamily="34" charset="-122"/>
                <a:cs typeface="Calibri" pitchFamily="34" charset="-120"/>
              </a:rPr>
              <a:t>Tailwind + design tokens</a:t>
            </a:r>
            <a:endParaRPr lang="en-US" sz="1300" dirty="0"/>
          </a:p>
        </p:txBody>
      </p:sp>
      <p:sp>
        <p:nvSpPr>
          <p:cNvPr id="25" name="Text 18"/>
          <p:cNvSpPr/>
          <p:nvPr/>
        </p:nvSpPr>
        <p:spPr>
          <a:xfrm>
            <a:off x="4645152" y="4315968"/>
            <a:ext cx="3090672" cy="1088136"/>
          </a:xfrm>
          <a:prstGeom prst="rect">
            <a:avLst/>
          </a:prstGeom>
          <a:noFill/>
          <a:ln/>
        </p:spPr>
        <p:txBody>
          <a:bodyPr wrap="square" lIns="0" tIns="0" rIns="0" bIns="0" rtlCol="0" anchor="t"/>
          <a:lstStyle/>
          <a:p>
            <a:pPr marL="0" indent="0">
              <a:lnSpc>
                <a:spcPct val="106000"/>
              </a:lnSpc>
              <a:buNone/>
            </a:pPr>
            <a:r>
              <a:rPr lang="en-US" sz="1050" dirty="0">
                <a:solidFill>
                  <a:srgbClr val="9DBAC3"/>
                </a:solidFill>
                <a:latin typeface="Calibri" pitchFamily="34" charset="0"/>
                <a:ea typeface="Calibri" pitchFamily="34" charset="-122"/>
                <a:cs typeface="Calibri" pitchFamily="34" charset="-120"/>
              </a:rPr>
              <a:t>Every colour lives in one token layer, which is exactly what makes Telegram theme binding possible without touching components.</a:t>
            </a:r>
            <a:endParaRPr lang="en-US" sz="1050" dirty="0"/>
          </a:p>
        </p:txBody>
      </p:sp>
      <p:sp>
        <p:nvSpPr>
          <p:cNvPr id="26" name="Shape 19"/>
          <p:cNvSpPr/>
          <p:nvPr/>
        </p:nvSpPr>
        <p:spPr>
          <a:xfrm>
            <a:off x="8193024" y="3639312"/>
            <a:ext cx="3639312" cy="1956816"/>
          </a:xfrm>
          <a:prstGeom prst="roundRect">
            <a:avLst>
              <a:gd name="adj" fmla="val 4673"/>
            </a:avLst>
          </a:prstGeom>
          <a:solidFill>
            <a:srgbClr val="0E2A34"/>
          </a:solidFill>
          <a:ln w="12700">
            <a:solidFill>
              <a:srgbClr val="1E4A57"/>
            </a:solidFill>
            <a:prstDash val="solid"/>
          </a:ln>
        </p:spPr>
        <p:txBody>
          <a:bodyPr/>
          <a:lstStyle/>
          <a:p>
            <a:endParaRPr lang="en-AU"/>
          </a:p>
        </p:txBody>
      </p:sp>
      <p:pic>
        <p:nvPicPr>
          <p:cNvPr id="27" name="Image 5" descr="C:\Users\lumin\AppData\Local\Temp\claude\C--Users-lumin-Desktop-aquazerofit\2e3b7983-e45b-4e1c-8fdf-0a5635a22264\scratchpad\assets\icon_flask_gold.png"/>
          <p:cNvPicPr>
            <a:picLocks noChangeAspect="1"/>
          </p:cNvPicPr>
          <p:nvPr/>
        </p:nvPicPr>
        <p:blipFill>
          <a:blip r:embed="rId9"/>
          <a:stretch>
            <a:fillRect/>
          </a:stretch>
        </p:blipFill>
        <p:spPr>
          <a:xfrm>
            <a:off x="8449056" y="3877056"/>
            <a:ext cx="292608" cy="292608"/>
          </a:xfrm>
          <a:prstGeom prst="rect">
            <a:avLst/>
          </a:prstGeom>
        </p:spPr>
      </p:pic>
      <p:sp>
        <p:nvSpPr>
          <p:cNvPr id="28" name="Text 20"/>
          <p:cNvSpPr/>
          <p:nvPr/>
        </p:nvSpPr>
        <p:spPr>
          <a:xfrm>
            <a:off x="8869680" y="3858768"/>
            <a:ext cx="2770632" cy="329184"/>
          </a:xfrm>
          <a:prstGeom prst="rect">
            <a:avLst/>
          </a:prstGeom>
          <a:noFill/>
          <a:ln/>
        </p:spPr>
        <p:txBody>
          <a:bodyPr wrap="square" lIns="0" tIns="0" rIns="0" bIns="0" rtlCol="0" anchor="ctr"/>
          <a:lstStyle/>
          <a:p>
            <a:pPr marL="0" indent="0">
              <a:buNone/>
            </a:pPr>
            <a:r>
              <a:rPr lang="en-US" sz="1300" b="1" dirty="0">
                <a:solidFill>
                  <a:srgbClr val="EAF6F9"/>
                </a:solidFill>
                <a:latin typeface="Calibri" pitchFamily="34" charset="0"/>
                <a:ea typeface="Calibri" pitchFamily="34" charset="-122"/>
                <a:cs typeface="Calibri" pitchFamily="34" charset="-120"/>
              </a:rPr>
              <a:t>Vitest: 806 tests</a:t>
            </a:r>
            <a:endParaRPr lang="en-US" sz="1300" dirty="0"/>
          </a:p>
        </p:txBody>
      </p:sp>
      <p:sp>
        <p:nvSpPr>
          <p:cNvPr id="29" name="Text 21"/>
          <p:cNvSpPr/>
          <p:nvPr/>
        </p:nvSpPr>
        <p:spPr>
          <a:xfrm>
            <a:off x="8467344" y="4315968"/>
            <a:ext cx="3090672" cy="1088136"/>
          </a:xfrm>
          <a:prstGeom prst="rect">
            <a:avLst/>
          </a:prstGeom>
          <a:noFill/>
          <a:ln/>
        </p:spPr>
        <p:txBody>
          <a:bodyPr wrap="square" lIns="0" tIns="0" rIns="0" bIns="0" rtlCol="0" anchor="t"/>
          <a:lstStyle/>
          <a:p>
            <a:pPr marL="0" indent="0">
              <a:lnSpc>
                <a:spcPct val="106000"/>
              </a:lnSpc>
              <a:buNone/>
            </a:pPr>
            <a:r>
              <a:rPr lang="en-US" sz="1050" dirty="0">
                <a:solidFill>
                  <a:srgbClr val="9DBAC3"/>
                </a:solidFill>
                <a:latin typeface="Calibri" pitchFamily="34" charset="0"/>
                <a:ea typeface="Calibri" pitchFamily="34" charset="-122"/>
                <a:cs typeface="Calibri" pitchFamily="34" charset="-120"/>
              </a:rPr>
              <a:t>One test runner across the API and web workspaces, fast enough to run the whole suite on every change.</a:t>
            </a:r>
            <a:endParaRPr lang="en-US" sz="1050" dirty="0"/>
          </a:p>
        </p:txBody>
      </p:sp>
      <p:sp>
        <p:nvSpPr>
          <p:cNvPr id="30" name="Text 22"/>
          <p:cNvSpPr/>
          <p:nvPr/>
        </p:nvSpPr>
        <p:spPr>
          <a:xfrm>
            <a:off x="548640" y="5742432"/>
            <a:ext cx="11064240" cy="365760"/>
          </a:xfrm>
          <a:prstGeom prst="rect">
            <a:avLst/>
          </a:prstGeom>
          <a:noFill/>
          <a:ln/>
        </p:spPr>
        <p:txBody>
          <a:bodyPr wrap="square" lIns="0" tIns="0" rIns="0" bIns="0" rtlCol="0" anchor="ctr"/>
          <a:lstStyle/>
          <a:p>
            <a:pPr marL="0" indent="0">
              <a:buNone/>
            </a:pPr>
            <a:r>
              <a:rPr lang="en-US" sz="1150" dirty="0">
                <a:solidFill>
                  <a:srgbClr val="4FD8F0"/>
                </a:solidFill>
                <a:latin typeface="Calibri" pitchFamily="34" charset="0"/>
                <a:ea typeface="Calibri" pitchFamily="34" charset="-122"/>
                <a:cs typeface="Calibri" pitchFamily="34" charset="-120"/>
              </a:rPr>
              <a:t>Everything is TypeScript on purpose: three engineers reviewing each other’s work in one shared vocabulary, with one type system keeping all of it honest.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7</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4FD8F0"/>
                </a:solidFill>
                <a:latin typeface="Calibri" pitchFamily="34" charset="0"/>
                <a:ea typeface="Calibri" pitchFamily="34" charset="-122"/>
                <a:cs typeface="Calibri" pitchFamily="34" charset="-120"/>
              </a:rPr>
              <a:t>OPENING · ARCHITECTURE   </a:t>
            </a:r>
            <a:r>
              <a:rPr lang="en-US" sz="1100" b="1" kern="0" spc="200" dirty="0">
                <a:solidFill>
                  <a:srgbClr val="9DBAC3"/>
                </a:solidFill>
                <a:latin typeface="Calibri" pitchFamily="34" charset="0"/>
                <a:ea typeface="Calibri" pitchFamily="34" charset="-122"/>
                <a:cs typeface="Calibri" pitchFamily="34" charset="-120"/>
              </a:rPr>
              <a:t>|   PRESENTER: TUNDJI WILLIAMS-FULWOOD</a:t>
            </a:r>
            <a:endParaRPr lang="en-US" sz="1100" dirty="0"/>
          </a:p>
        </p:txBody>
      </p:sp>
      <p:sp>
        <p:nvSpPr>
          <p:cNvPr id="5" name="Text 3"/>
          <p:cNvSpPr/>
          <p:nvPr/>
        </p:nvSpPr>
        <p:spPr>
          <a:xfrm>
            <a:off x="548640" y="566928"/>
            <a:ext cx="1106424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The whole system on one slide</a:t>
            </a:r>
            <a:endParaRPr lang="en-US" sz="2600" dirty="0"/>
          </a:p>
        </p:txBody>
      </p:sp>
      <p:sp>
        <p:nvSpPr>
          <p:cNvPr id="6" name="Shape 4"/>
          <p:cNvSpPr/>
          <p:nvPr/>
        </p:nvSpPr>
        <p:spPr>
          <a:xfrm>
            <a:off x="960120" y="1481328"/>
            <a:ext cx="2377440" cy="566928"/>
          </a:xfrm>
          <a:prstGeom prst="roundRect">
            <a:avLst>
              <a:gd name="adj" fmla="val 12903"/>
            </a:avLst>
          </a:prstGeom>
          <a:solidFill>
            <a:srgbClr val="0E2A34"/>
          </a:solidFill>
          <a:ln w="12700">
            <a:solidFill>
              <a:srgbClr val="4FD8F0"/>
            </a:solidFill>
            <a:prstDash val="solid"/>
          </a:ln>
        </p:spPr>
        <p:txBody>
          <a:bodyPr/>
          <a:lstStyle/>
          <a:p>
            <a:endParaRPr lang="en-AU"/>
          </a:p>
        </p:txBody>
      </p:sp>
      <p:sp>
        <p:nvSpPr>
          <p:cNvPr id="7" name="Text 5"/>
          <p:cNvSpPr/>
          <p:nvPr/>
        </p:nvSpPr>
        <p:spPr>
          <a:xfrm>
            <a:off x="1088136" y="1554480"/>
            <a:ext cx="2121408" cy="274320"/>
          </a:xfrm>
          <a:prstGeom prst="rect">
            <a:avLst/>
          </a:prstGeom>
          <a:noFill/>
          <a:ln/>
        </p:spPr>
        <p:txBody>
          <a:bodyPr wrap="square" lIns="0" tIns="0" rIns="0" bIns="0" rtlCol="0" anchor="ctr"/>
          <a:lstStyle/>
          <a:p>
            <a:pPr marL="0" indent="0">
              <a:buNone/>
            </a:pPr>
            <a:r>
              <a:rPr lang="en-US" sz="1150" b="1" dirty="0">
                <a:solidFill>
                  <a:srgbClr val="EAF6F9"/>
                </a:solidFill>
                <a:latin typeface="Calibri" pitchFamily="34" charset="0"/>
                <a:ea typeface="Calibri" pitchFamily="34" charset="-122"/>
                <a:cs typeface="Calibri" pitchFamily="34" charset="-120"/>
              </a:rPr>
              <a:t>Browser</a:t>
            </a:r>
            <a:endParaRPr lang="en-US" sz="1150" dirty="0"/>
          </a:p>
        </p:txBody>
      </p:sp>
      <p:sp>
        <p:nvSpPr>
          <p:cNvPr id="8" name="Text 6"/>
          <p:cNvSpPr/>
          <p:nvPr/>
        </p:nvSpPr>
        <p:spPr>
          <a:xfrm>
            <a:off x="1088136" y="1810512"/>
            <a:ext cx="2121408" cy="164592"/>
          </a:xfrm>
          <a:prstGeom prst="rect">
            <a:avLst/>
          </a:prstGeom>
          <a:noFill/>
          <a:ln/>
        </p:spPr>
        <p:txBody>
          <a:bodyPr wrap="square" lIns="0" tIns="0" rIns="0" bIns="0" rtlCol="0" anchor="ctr"/>
          <a:lstStyle/>
          <a:p>
            <a:pPr marL="0" indent="0">
              <a:buNone/>
            </a:pPr>
            <a:r>
              <a:rPr lang="en-US" sz="950" dirty="0">
                <a:solidFill>
                  <a:srgbClr val="9DBAC3"/>
                </a:solidFill>
                <a:latin typeface="Calibri" pitchFamily="34" charset="0"/>
                <a:ea typeface="Calibri" pitchFamily="34" charset="-122"/>
                <a:cs typeface="Calibri" pitchFamily="34" charset="-120"/>
              </a:rPr>
              <a:t>any device, no install</a:t>
            </a:r>
            <a:endParaRPr lang="en-US" sz="950" dirty="0"/>
          </a:p>
        </p:txBody>
      </p:sp>
      <p:sp>
        <p:nvSpPr>
          <p:cNvPr id="9" name="Shape 7"/>
          <p:cNvSpPr/>
          <p:nvPr/>
        </p:nvSpPr>
        <p:spPr>
          <a:xfrm>
            <a:off x="3977640" y="1481328"/>
            <a:ext cx="2377440" cy="566928"/>
          </a:xfrm>
          <a:prstGeom prst="roundRect">
            <a:avLst>
              <a:gd name="adj" fmla="val 12903"/>
            </a:avLst>
          </a:prstGeom>
          <a:solidFill>
            <a:srgbClr val="0E2A34"/>
          </a:solidFill>
          <a:ln w="12700">
            <a:solidFill>
              <a:srgbClr val="4FD8F0"/>
            </a:solidFill>
            <a:prstDash val="solid"/>
          </a:ln>
        </p:spPr>
        <p:txBody>
          <a:bodyPr/>
          <a:lstStyle/>
          <a:p>
            <a:endParaRPr lang="en-AU"/>
          </a:p>
        </p:txBody>
      </p:sp>
      <p:sp>
        <p:nvSpPr>
          <p:cNvPr id="10" name="Text 8"/>
          <p:cNvSpPr/>
          <p:nvPr/>
        </p:nvSpPr>
        <p:spPr>
          <a:xfrm>
            <a:off x="4105656" y="1554480"/>
            <a:ext cx="2121408" cy="274320"/>
          </a:xfrm>
          <a:prstGeom prst="rect">
            <a:avLst/>
          </a:prstGeom>
          <a:noFill/>
          <a:ln/>
        </p:spPr>
        <p:txBody>
          <a:bodyPr wrap="square" lIns="0" tIns="0" rIns="0" bIns="0" rtlCol="0" anchor="ctr"/>
          <a:lstStyle/>
          <a:p>
            <a:pPr marL="0" indent="0">
              <a:buNone/>
            </a:pPr>
            <a:r>
              <a:rPr lang="en-US" sz="1150" b="1" dirty="0">
                <a:solidFill>
                  <a:srgbClr val="EAF6F9"/>
                </a:solidFill>
                <a:latin typeface="Calibri" pitchFamily="34" charset="0"/>
                <a:ea typeface="Calibri" pitchFamily="34" charset="-122"/>
                <a:cs typeface="Calibri" pitchFamily="34" charset="-120"/>
              </a:rPr>
              <a:t>Telegram Mini App</a:t>
            </a:r>
            <a:endParaRPr lang="en-US" sz="1150" dirty="0"/>
          </a:p>
        </p:txBody>
      </p:sp>
      <p:sp>
        <p:nvSpPr>
          <p:cNvPr id="11" name="Text 9"/>
          <p:cNvSpPr/>
          <p:nvPr/>
        </p:nvSpPr>
        <p:spPr>
          <a:xfrm>
            <a:off x="4105656" y="1810512"/>
            <a:ext cx="2121408" cy="164592"/>
          </a:xfrm>
          <a:prstGeom prst="rect">
            <a:avLst/>
          </a:prstGeom>
          <a:noFill/>
          <a:ln/>
        </p:spPr>
        <p:txBody>
          <a:bodyPr wrap="square" lIns="0" tIns="0" rIns="0" bIns="0" rtlCol="0" anchor="ctr"/>
          <a:lstStyle/>
          <a:p>
            <a:pPr marL="0" indent="0">
              <a:buNone/>
            </a:pPr>
            <a:r>
              <a:rPr lang="en-US" sz="950" dirty="0">
                <a:solidFill>
                  <a:srgbClr val="9DBAC3"/>
                </a:solidFill>
                <a:latin typeface="Calibri" pitchFamily="34" charset="0"/>
                <a:ea typeface="Calibri" pitchFamily="34" charset="-122"/>
                <a:cs typeface="Calibri" pitchFamily="34" charset="-120"/>
              </a:rPr>
              <a:t>opens from a chat</a:t>
            </a:r>
            <a:endParaRPr lang="en-US" sz="950" dirty="0"/>
          </a:p>
        </p:txBody>
      </p:sp>
      <p:sp>
        <p:nvSpPr>
          <p:cNvPr id="12" name="Shape 10"/>
          <p:cNvSpPr/>
          <p:nvPr/>
        </p:nvSpPr>
        <p:spPr>
          <a:xfrm>
            <a:off x="2148840" y="2048256"/>
            <a:ext cx="0" cy="329184"/>
          </a:xfrm>
          <a:prstGeom prst="line">
            <a:avLst/>
          </a:prstGeom>
          <a:noFill/>
          <a:ln w="19050">
            <a:solidFill>
              <a:srgbClr val="6E939D"/>
            </a:solidFill>
            <a:prstDash val="solid"/>
            <a:tailEnd type="triangle"/>
          </a:ln>
        </p:spPr>
        <p:txBody>
          <a:bodyPr/>
          <a:lstStyle/>
          <a:p>
            <a:endParaRPr lang="en-AU"/>
          </a:p>
        </p:txBody>
      </p:sp>
      <p:sp>
        <p:nvSpPr>
          <p:cNvPr id="13" name="Shape 11"/>
          <p:cNvSpPr/>
          <p:nvPr/>
        </p:nvSpPr>
        <p:spPr>
          <a:xfrm>
            <a:off x="5166360" y="2048256"/>
            <a:ext cx="0" cy="329184"/>
          </a:xfrm>
          <a:prstGeom prst="line">
            <a:avLst/>
          </a:prstGeom>
          <a:noFill/>
          <a:ln w="19050">
            <a:solidFill>
              <a:srgbClr val="6E939D"/>
            </a:solidFill>
            <a:prstDash val="solid"/>
            <a:tailEnd type="triangle"/>
          </a:ln>
        </p:spPr>
        <p:txBody>
          <a:bodyPr/>
          <a:lstStyle/>
          <a:p>
            <a:endParaRPr lang="en-AU"/>
          </a:p>
        </p:txBody>
      </p:sp>
      <p:sp>
        <p:nvSpPr>
          <p:cNvPr id="14" name="Shape 12"/>
          <p:cNvSpPr/>
          <p:nvPr/>
        </p:nvSpPr>
        <p:spPr>
          <a:xfrm>
            <a:off x="960120" y="2377440"/>
            <a:ext cx="5394960" cy="713232"/>
          </a:xfrm>
          <a:prstGeom prst="roundRect">
            <a:avLst>
              <a:gd name="adj" fmla="val 10256"/>
            </a:avLst>
          </a:prstGeom>
          <a:solidFill>
            <a:srgbClr val="0E2A34"/>
          </a:solidFill>
          <a:ln w="12700">
            <a:solidFill>
              <a:srgbClr val="1E4A57"/>
            </a:solidFill>
            <a:prstDash val="solid"/>
          </a:ln>
        </p:spPr>
        <p:txBody>
          <a:bodyPr/>
          <a:lstStyle/>
          <a:p>
            <a:endParaRPr lang="en-AU"/>
          </a:p>
        </p:txBody>
      </p:sp>
      <p:sp>
        <p:nvSpPr>
          <p:cNvPr id="15" name="Text 13"/>
          <p:cNvSpPr/>
          <p:nvPr/>
        </p:nvSpPr>
        <p:spPr>
          <a:xfrm>
            <a:off x="1088136" y="2450592"/>
            <a:ext cx="5138928" cy="274320"/>
          </a:xfrm>
          <a:prstGeom prst="rect">
            <a:avLst/>
          </a:prstGeom>
          <a:noFill/>
          <a:ln/>
        </p:spPr>
        <p:txBody>
          <a:bodyPr wrap="square" lIns="0" tIns="0" rIns="0" bIns="0" rtlCol="0" anchor="ctr"/>
          <a:lstStyle/>
          <a:p>
            <a:pPr marL="0" indent="0">
              <a:buNone/>
            </a:pPr>
            <a:r>
              <a:rPr lang="en-US" sz="1150" b="1" dirty="0">
                <a:solidFill>
                  <a:srgbClr val="EAF6F9"/>
                </a:solidFill>
                <a:latin typeface="Calibri" pitchFamily="34" charset="0"/>
                <a:ea typeface="Calibri" pitchFamily="34" charset="-122"/>
                <a:cs typeface="Calibri" pitchFamily="34" charset="-120"/>
              </a:rPr>
              <a:t>apps/web, React 18 + TypeScript + Vite</a:t>
            </a:r>
            <a:endParaRPr lang="en-US" sz="1150" dirty="0"/>
          </a:p>
        </p:txBody>
      </p:sp>
      <p:sp>
        <p:nvSpPr>
          <p:cNvPr id="16" name="Text 14"/>
          <p:cNvSpPr/>
          <p:nvPr/>
        </p:nvSpPr>
        <p:spPr>
          <a:xfrm>
            <a:off x="1088136" y="2706624"/>
            <a:ext cx="5138928" cy="310896"/>
          </a:xfrm>
          <a:prstGeom prst="rect">
            <a:avLst/>
          </a:prstGeom>
          <a:noFill/>
          <a:ln/>
        </p:spPr>
        <p:txBody>
          <a:bodyPr wrap="square" lIns="0" tIns="0" rIns="0" bIns="0" rtlCol="0" anchor="ctr"/>
          <a:lstStyle/>
          <a:p>
            <a:pPr marL="0" indent="0">
              <a:buNone/>
            </a:pPr>
            <a:r>
              <a:rPr lang="en-US" sz="950" dirty="0">
                <a:solidFill>
                  <a:srgbClr val="9DBAC3"/>
                </a:solidFill>
                <a:latin typeface="Calibri" pitchFamily="34" charset="0"/>
                <a:ea typeface="Calibri" pitchFamily="34" charset="-122"/>
                <a:cs typeface="Calibri" pitchFamily="34" charset="-120"/>
              </a:rPr>
              <a:t>one client, two delivery surfaces; detects Telegram at bootstrap</a:t>
            </a:r>
            <a:endParaRPr lang="en-US" sz="950" dirty="0"/>
          </a:p>
        </p:txBody>
      </p:sp>
      <p:sp>
        <p:nvSpPr>
          <p:cNvPr id="17" name="Shape 15"/>
          <p:cNvSpPr/>
          <p:nvPr/>
        </p:nvSpPr>
        <p:spPr>
          <a:xfrm>
            <a:off x="3657600" y="3090672"/>
            <a:ext cx="0" cy="365760"/>
          </a:xfrm>
          <a:prstGeom prst="line">
            <a:avLst/>
          </a:prstGeom>
          <a:noFill/>
          <a:ln w="19050">
            <a:solidFill>
              <a:srgbClr val="6E939D"/>
            </a:solidFill>
            <a:prstDash val="solid"/>
            <a:tailEnd type="triangle"/>
          </a:ln>
        </p:spPr>
        <p:txBody>
          <a:bodyPr/>
          <a:lstStyle/>
          <a:p>
            <a:endParaRPr lang="en-AU"/>
          </a:p>
        </p:txBody>
      </p:sp>
      <p:sp>
        <p:nvSpPr>
          <p:cNvPr id="18" name="Text 16"/>
          <p:cNvSpPr/>
          <p:nvPr/>
        </p:nvSpPr>
        <p:spPr>
          <a:xfrm>
            <a:off x="3840480" y="3108960"/>
            <a:ext cx="2011680" cy="274320"/>
          </a:xfrm>
          <a:prstGeom prst="rect">
            <a:avLst/>
          </a:prstGeom>
          <a:noFill/>
          <a:ln/>
        </p:spPr>
        <p:txBody>
          <a:bodyPr wrap="square" lIns="0" tIns="0" rIns="0" bIns="0" rtlCol="0" anchor="ctr"/>
          <a:lstStyle/>
          <a:p>
            <a:pPr marL="0" indent="0">
              <a:buNone/>
            </a:pPr>
            <a:r>
              <a:rPr lang="en-US" sz="900" dirty="0">
                <a:solidFill>
                  <a:srgbClr val="6E939D"/>
                </a:solidFill>
                <a:latin typeface="Calibri" pitchFamily="34" charset="0"/>
                <a:ea typeface="Calibri" pitchFamily="34" charset="-122"/>
                <a:cs typeface="Calibri" pitchFamily="34" charset="-120"/>
              </a:rPr>
              <a:t>HTTPS · JSON · JWT</a:t>
            </a:r>
            <a:endParaRPr lang="en-US" sz="900" dirty="0"/>
          </a:p>
        </p:txBody>
      </p:sp>
      <p:sp>
        <p:nvSpPr>
          <p:cNvPr id="19" name="Shape 17"/>
          <p:cNvSpPr/>
          <p:nvPr/>
        </p:nvSpPr>
        <p:spPr>
          <a:xfrm>
            <a:off x="960120" y="3456432"/>
            <a:ext cx="5394960" cy="786384"/>
          </a:xfrm>
          <a:prstGeom prst="roundRect">
            <a:avLst>
              <a:gd name="adj" fmla="val 9302"/>
            </a:avLst>
          </a:prstGeom>
          <a:solidFill>
            <a:srgbClr val="0E2A34"/>
          </a:solidFill>
          <a:ln w="12700">
            <a:solidFill>
              <a:srgbClr val="1E4A57"/>
            </a:solidFill>
            <a:prstDash val="solid"/>
          </a:ln>
        </p:spPr>
        <p:txBody>
          <a:bodyPr/>
          <a:lstStyle/>
          <a:p>
            <a:endParaRPr lang="en-AU"/>
          </a:p>
        </p:txBody>
      </p:sp>
      <p:sp>
        <p:nvSpPr>
          <p:cNvPr id="20" name="Text 18"/>
          <p:cNvSpPr/>
          <p:nvPr/>
        </p:nvSpPr>
        <p:spPr>
          <a:xfrm>
            <a:off x="1088136" y="3529584"/>
            <a:ext cx="5138928" cy="274320"/>
          </a:xfrm>
          <a:prstGeom prst="rect">
            <a:avLst/>
          </a:prstGeom>
          <a:noFill/>
          <a:ln/>
        </p:spPr>
        <p:txBody>
          <a:bodyPr wrap="square" lIns="0" tIns="0" rIns="0" bIns="0" rtlCol="0" anchor="ctr"/>
          <a:lstStyle/>
          <a:p>
            <a:pPr marL="0" indent="0">
              <a:buNone/>
            </a:pPr>
            <a:r>
              <a:rPr lang="en-US" sz="1150" b="1" dirty="0">
                <a:solidFill>
                  <a:srgbClr val="EAF6F9"/>
                </a:solidFill>
                <a:latin typeface="Calibri" pitchFamily="34" charset="0"/>
                <a:ea typeface="Calibri" pitchFamily="34" charset="-122"/>
                <a:cs typeface="Calibri" pitchFamily="34" charset="-120"/>
              </a:rPr>
              <a:t>apps/api, Node + TypeScript · /api/v1</a:t>
            </a:r>
            <a:endParaRPr lang="en-US" sz="1150" dirty="0"/>
          </a:p>
        </p:txBody>
      </p:sp>
      <p:sp>
        <p:nvSpPr>
          <p:cNvPr id="21" name="Text 19"/>
          <p:cNvSpPr/>
          <p:nvPr/>
        </p:nvSpPr>
        <p:spPr>
          <a:xfrm>
            <a:off x="1088136" y="3785616"/>
            <a:ext cx="5138928" cy="384048"/>
          </a:xfrm>
          <a:prstGeom prst="rect">
            <a:avLst/>
          </a:prstGeom>
          <a:noFill/>
          <a:ln/>
        </p:spPr>
        <p:txBody>
          <a:bodyPr wrap="square" lIns="0" tIns="0" rIns="0" bIns="0" rtlCol="0" anchor="ctr"/>
          <a:lstStyle/>
          <a:p>
            <a:pPr marL="0" indent="0">
              <a:buNone/>
            </a:pPr>
            <a:r>
              <a:rPr lang="en-US" sz="950" dirty="0">
                <a:solidFill>
                  <a:srgbClr val="9DBAC3"/>
                </a:solidFill>
                <a:latin typeface="Calibri" pitchFamily="34" charset="0"/>
                <a:ea typeface="Calibri" pitchFamily="34" charset="-122"/>
                <a:cs typeface="Calibri" pitchFamily="34" charset="-120"/>
              </a:rPr>
              <a:t>15 feature modules (auth, foods, logs, plans, workouts, chat, vision, progress…) over a thin platform layer</a:t>
            </a:r>
            <a:endParaRPr lang="en-US" sz="950" dirty="0"/>
          </a:p>
        </p:txBody>
      </p:sp>
      <p:sp>
        <p:nvSpPr>
          <p:cNvPr id="22" name="Shape 20"/>
          <p:cNvSpPr/>
          <p:nvPr/>
        </p:nvSpPr>
        <p:spPr>
          <a:xfrm>
            <a:off x="1828800" y="4242816"/>
            <a:ext cx="0" cy="365760"/>
          </a:xfrm>
          <a:prstGeom prst="line">
            <a:avLst/>
          </a:prstGeom>
          <a:noFill/>
          <a:ln w="19050">
            <a:solidFill>
              <a:srgbClr val="6E939D"/>
            </a:solidFill>
            <a:prstDash val="solid"/>
            <a:tailEnd type="triangle"/>
          </a:ln>
        </p:spPr>
        <p:txBody>
          <a:bodyPr/>
          <a:lstStyle/>
          <a:p>
            <a:endParaRPr lang="en-AU"/>
          </a:p>
        </p:txBody>
      </p:sp>
      <p:sp>
        <p:nvSpPr>
          <p:cNvPr id="23" name="Shape 21"/>
          <p:cNvSpPr/>
          <p:nvPr/>
        </p:nvSpPr>
        <p:spPr>
          <a:xfrm>
            <a:off x="3657600" y="4242816"/>
            <a:ext cx="0" cy="365760"/>
          </a:xfrm>
          <a:prstGeom prst="line">
            <a:avLst/>
          </a:prstGeom>
          <a:noFill/>
          <a:ln w="19050">
            <a:solidFill>
              <a:srgbClr val="6E939D"/>
            </a:solidFill>
            <a:prstDash val="solid"/>
            <a:tailEnd type="triangle"/>
          </a:ln>
        </p:spPr>
        <p:txBody>
          <a:bodyPr/>
          <a:lstStyle/>
          <a:p>
            <a:endParaRPr lang="en-AU"/>
          </a:p>
        </p:txBody>
      </p:sp>
      <p:sp>
        <p:nvSpPr>
          <p:cNvPr id="24" name="Shape 22"/>
          <p:cNvSpPr/>
          <p:nvPr/>
        </p:nvSpPr>
        <p:spPr>
          <a:xfrm>
            <a:off x="5486400" y="4242816"/>
            <a:ext cx="0" cy="365760"/>
          </a:xfrm>
          <a:prstGeom prst="line">
            <a:avLst/>
          </a:prstGeom>
          <a:noFill/>
          <a:ln w="19050">
            <a:solidFill>
              <a:srgbClr val="6E939D"/>
            </a:solidFill>
            <a:prstDash val="solid"/>
            <a:tailEnd type="triangle"/>
          </a:ln>
        </p:spPr>
        <p:txBody>
          <a:bodyPr/>
          <a:lstStyle/>
          <a:p>
            <a:endParaRPr lang="en-AU"/>
          </a:p>
        </p:txBody>
      </p:sp>
      <p:sp>
        <p:nvSpPr>
          <p:cNvPr id="25" name="Shape 23"/>
          <p:cNvSpPr/>
          <p:nvPr/>
        </p:nvSpPr>
        <p:spPr>
          <a:xfrm>
            <a:off x="640080" y="4608576"/>
            <a:ext cx="2286000" cy="1188720"/>
          </a:xfrm>
          <a:prstGeom prst="roundRect">
            <a:avLst>
              <a:gd name="adj" fmla="val 6154"/>
            </a:avLst>
          </a:prstGeom>
          <a:solidFill>
            <a:srgbClr val="0E2A34"/>
          </a:solidFill>
          <a:ln w="12700">
            <a:solidFill>
              <a:srgbClr val="3DE8B0"/>
            </a:solidFill>
            <a:prstDash val="solid"/>
          </a:ln>
        </p:spPr>
        <p:txBody>
          <a:bodyPr/>
          <a:lstStyle/>
          <a:p>
            <a:endParaRPr lang="en-AU"/>
          </a:p>
        </p:txBody>
      </p:sp>
      <p:sp>
        <p:nvSpPr>
          <p:cNvPr id="26" name="Text 24"/>
          <p:cNvSpPr/>
          <p:nvPr/>
        </p:nvSpPr>
        <p:spPr>
          <a:xfrm>
            <a:off x="768096" y="4681728"/>
            <a:ext cx="2029968" cy="274320"/>
          </a:xfrm>
          <a:prstGeom prst="rect">
            <a:avLst/>
          </a:prstGeom>
          <a:noFill/>
          <a:ln/>
        </p:spPr>
        <p:txBody>
          <a:bodyPr wrap="square" lIns="0" tIns="0" rIns="0" bIns="0" rtlCol="0" anchor="ctr"/>
          <a:lstStyle/>
          <a:p>
            <a:pPr marL="0" indent="0">
              <a:buNone/>
            </a:pPr>
            <a:r>
              <a:rPr lang="en-US" sz="1150" b="1" dirty="0">
                <a:solidFill>
                  <a:srgbClr val="EAF6F9"/>
                </a:solidFill>
                <a:latin typeface="Calibri" pitchFamily="34" charset="0"/>
                <a:ea typeface="Calibri" pitchFamily="34" charset="-122"/>
                <a:cs typeface="Calibri" pitchFamily="34" charset="-120"/>
              </a:rPr>
              <a:t>Document store</a:t>
            </a:r>
            <a:endParaRPr lang="en-US" sz="1150" dirty="0"/>
          </a:p>
        </p:txBody>
      </p:sp>
      <p:sp>
        <p:nvSpPr>
          <p:cNvPr id="27" name="Text 25"/>
          <p:cNvSpPr/>
          <p:nvPr/>
        </p:nvSpPr>
        <p:spPr>
          <a:xfrm>
            <a:off x="768096" y="4937760"/>
            <a:ext cx="2029968" cy="786384"/>
          </a:xfrm>
          <a:prstGeom prst="rect">
            <a:avLst/>
          </a:prstGeom>
          <a:noFill/>
          <a:ln/>
        </p:spPr>
        <p:txBody>
          <a:bodyPr wrap="square" lIns="0" tIns="0" rIns="0" bIns="0" rtlCol="0" anchor="ctr"/>
          <a:lstStyle/>
          <a:p>
            <a:pPr marL="0" indent="0">
              <a:buNone/>
            </a:pPr>
            <a:r>
              <a:rPr lang="en-US" sz="950" dirty="0">
                <a:solidFill>
                  <a:srgbClr val="9DBAC3"/>
                </a:solidFill>
                <a:latin typeface="Calibri" pitchFamily="34" charset="0"/>
                <a:ea typeface="Calibri" pitchFamily="34" charset="-122"/>
                <a:cs typeface="Calibri" pitchFamily="34" charset="-120"/>
              </a:rPr>
              <a:t>10 containers · JSON files locally, Postgres in production. Licensed data segregated.</a:t>
            </a:r>
            <a:endParaRPr lang="en-US" sz="950" dirty="0"/>
          </a:p>
        </p:txBody>
      </p:sp>
      <p:sp>
        <p:nvSpPr>
          <p:cNvPr id="28" name="Shape 26"/>
          <p:cNvSpPr/>
          <p:nvPr/>
        </p:nvSpPr>
        <p:spPr>
          <a:xfrm>
            <a:off x="3063240" y="4608576"/>
            <a:ext cx="2286000" cy="1188720"/>
          </a:xfrm>
          <a:prstGeom prst="roundRect">
            <a:avLst>
              <a:gd name="adj" fmla="val 6154"/>
            </a:avLst>
          </a:prstGeom>
          <a:solidFill>
            <a:srgbClr val="0E2A34"/>
          </a:solidFill>
          <a:ln w="12700">
            <a:solidFill>
              <a:srgbClr val="FF8A70"/>
            </a:solidFill>
            <a:prstDash val="solid"/>
          </a:ln>
        </p:spPr>
        <p:txBody>
          <a:bodyPr/>
          <a:lstStyle/>
          <a:p>
            <a:endParaRPr lang="en-AU"/>
          </a:p>
        </p:txBody>
      </p:sp>
      <p:sp>
        <p:nvSpPr>
          <p:cNvPr id="29" name="Text 27"/>
          <p:cNvSpPr/>
          <p:nvPr/>
        </p:nvSpPr>
        <p:spPr>
          <a:xfrm>
            <a:off x="3191256" y="4681728"/>
            <a:ext cx="2029968" cy="274320"/>
          </a:xfrm>
          <a:prstGeom prst="rect">
            <a:avLst/>
          </a:prstGeom>
          <a:noFill/>
          <a:ln/>
        </p:spPr>
        <p:txBody>
          <a:bodyPr wrap="square" lIns="0" tIns="0" rIns="0" bIns="0" rtlCol="0" anchor="ctr"/>
          <a:lstStyle/>
          <a:p>
            <a:pPr marL="0" indent="0">
              <a:buNone/>
            </a:pPr>
            <a:r>
              <a:rPr lang="en-US" sz="1150" b="1" dirty="0">
                <a:solidFill>
                  <a:srgbClr val="EAF6F9"/>
                </a:solidFill>
                <a:latin typeface="Calibri" pitchFamily="34" charset="0"/>
                <a:ea typeface="Calibri" pitchFamily="34" charset="-122"/>
                <a:cs typeface="Calibri" pitchFamily="34" charset="-120"/>
              </a:rPr>
              <a:t>AI Gateway</a:t>
            </a:r>
            <a:endParaRPr lang="en-US" sz="1150" dirty="0"/>
          </a:p>
        </p:txBody>
      </p:sp>
      <p:sp>
        <p:nvSpPr>
          <p:cNvPr id="30" name="Text 28"/>
          <p:cNvSpPr/>
          <p:nvPr/>
        </p:nvSpPr>
        <p:spPr>
          <a:xfrm>
            <a:off x="3191256" y="4937760"/>
            <a:ext cx="2029968" cy="786384"/>
          </a:xfrm>
          <a:prstGeom prst="rect">
            <a:avLst/>
          </a:prstGeom>
          <a:noFill/>
          <a:ln/>
        </p:spPr>
        <p:txBody>
          <a:bodyPr wrap="square" lIns="0" tIns="0" rIns="0" bIns="0" rtlCol="0" anchor="ctr"/>
          <a:lstStyle/>
          <a:p>
            <a:pPr marL="0" indent="0">
              <a:buNone/>
            </a:pPr>
            <a:r>
              <a:rPr lang="en-US" sz="950" dirty="0">
                <a:solidFill>
                  <a:srgbClr val="9DBAC3"/>
                </a:solidFill>
                <a:latin typeface="Calibri" pitchFamily="34" charset="0"/>
                <a:ea typeface="Calibri" pitchFamily="34" charset="-122"/>
                <a:cs typeface="Calibri" pitchFamily="34" charset="-120"/>
              </a:rPr>
              <a:t>5 logical lanes · 5 providers · retries, circuit breakers, offline fallback.</a:t>
            </a:r>
            <a:endParaRPr lang="en-US" sz="950" dirty="0"/>
          </a:p>
        </p:txBody>
      </p:sp>
      <p:sp>
        <p:nvSpPr>
          <p:cNvPr id="31" name="Shape 29"/>
          <p:cNvSpPr/>
          <p:nvPr/>
        </p:nvSpPr>
        <p:spPr>
          <a:xfrm>
            <a:off x="5486400" y="4608576"/>
            <a:ext cx="2286000" cy="1188720"/>
          </a:xfrm>
          <a:prstGeom prst="roundRect">
            <a:avLst>
              <a:gd name="adj" fmla="val 6154"/>
            </a:avLst>
          </a:prstGeom>
          <a:solidFill>
            <a:srgbClr val="0E2A34"/>
          </a:solidFill>
          <a:ln w="12700">
            <a:solidFill>
              <a:srgbClr val="FFC94D"/>
            </a:solidFill>
            <a:prstDash val="solid"/>
          </a:ln>
        </p:spPr>
        <p:txBody>
          <a:bodyPr/>
          <a:lstStyle/>
          <a:p>
            <a:endParaRPr lang="en-AU"/>
          </a:p>
        </p:txBody>
      </p:sp>
      <p:sp>
        <p:nvSpPr>
          <p:cNvPr id="32" name="Text 30"/>
          <p:cNvSpPr/>
          <p:nvPr/>
        </p:nvSpPr>
        <p:spPr>
          <a:xfrm>
            <a:off x="5614416" y="4681728"/>
            <a:ext cx="2029968" cy="274320"/>
          </a:xfrm>
          <a:prstGeom prst="rect">
            <a:avLst/>
          </a:prstGeom>
          <a:noFill/>
          <a:ln/>
        </p:spPr>
        <p:txBody>
          <a:bodyPr wrap="square" lIns="0" tIns="0" rIns="0" bIns="0" rtlCol="0" anchor="ctr"/>
          <a:lstStyle/>
          <a:p>
            <a:pPr marL="0" indent="0">
              <a:buNone/>
            </a:pPr>
            <a:r>
              <a:rPr lang="en-US" sz="1150" b="1" dirty="0">
                <a:solidFill>
                  <a:srgbClr val="EAF6F9"/>
                </a:solidFill>
                <a:latin typeface="Calibri" pitchFamily="34" charset="0"/>
                <a:ea typeface="Calibri" pitchFamily="34" charset="-122"/>
                <a:cs typeface="Calibri" pitchFamily="34" charset="-120"/>
              </a:rPr>
              <a:t>External systems</a:t>
            </a:r>
            <a:endParaRPr lang="en-US" sz="1150" dirty="0"/>
          </a:p>
        </p:txBody>
      </p:sp>
      <p:sp>
        <p:nvSpPr>
          <p:cNvPr id="33" name="Text 31"/>
          <p:cNvSpPr/>
          <p:nvPr/>
        </p:nvSpPr>
        <p:spPr>
          <a:xfrm>
            <a:off x="5614416" y="4937760"/>
            <a:ext cx="2029968" cy="786384"/>
          </a:xfrm>
          <a:prstGeom prst="rect">
            <a:avLst/>
          </a:prstGeom>
          <a:noFill/>
          <a:ln/>
        </p:spPr>
        <p:txBody>
          <a:bodyPr wrap="square" lIns="0" tIns="0" rIns="0" bIns="0" rtlCol="0" anchor="ctr"/>
          <a:lstStyle/>
          <a:p>
            <a:pPr marL="0" indent="0">
              <a:buNone/>
            </a:pPr>
            <a:r>
              <a:rPr lang="en-US" sz="950" dirty="0">
                <a:solidFill>
                  <a:srgbClr val="9DBAC3"/>
                </a:solidFill>
                <a:latin typeface="Calibri" pitchFamily="34" charset="0"/>
                <a:ea typeface="Calibri" pitchFamily="34" charset="-122"/>
                <a:cs typeface="Calibri" pitchFamily="34" charset="-120"/>
              </a:rPr>
              <a:t>Telegram Bot API · Open Food Facts · wger corpus · Resend mail.</a:t>
            </a:r>
            <a:endParaRPr lang="en-US" sz="950" dirty="0"/>
          </a:p>
        </p:txBody>
      </p:sp>
      <p:sp>
        <p:nvSpPr>
          <p:cNvPr id="34" name="Shape 32"/>
          <p:cNvSpPr/>
          <p:nvPr/>
        </p:nvSpPr>
        <p:spPr>
          <a:xfrm>
            <a:off x="8229600" y="1481328"/>
            <a:ext cx="3401568" cy="4315968"/>
          </a:xfrm>
          <a:prstGeom prst="roundRect">
            <a:avLst>
              <a:gd name="adj" fmla="val 2688"/>
            </a:avLst>
          </a:prstGeom>
          <a:solidFill>
            <a:srgbClr val="123441"/>
          </a:solidFill>
          <a:ln w="12700">
            <a:solidFill>
              <a:srgbClr val="1E4A57"/>
            </a:solidFill>
            <a:prstDash val="solid"/>
          </a:ln>
        </p:spPr>
        <p:txBody>
          <a:bodyPr/>
          <a:lstStyle/>
          <a:p>
            <a:endParaRPr lang="en-AU"/>
          </a:p>
        </p:txBody>
      </p:sp>
      <p:sp>
        <p:nvSpPr>
          <p:cNvPr id="35" name="Text 33"/>
          <p:cNvSpPr/>
          <p:nvPr/>
        </p:nvSpPr>
        <p:spPr>
          <a:xfrm>
            <a:off x="8467344" y="1700784"/>
            <a:ext cx="2944368" cy="274320"/>
          </a:xfrm>
          <a:prstGeom prst="rect">
            <a:avLst/>
          </a:prstGeom>
          <a:noFill/>
          <a:ln/>
        </p:spPr>
        <p:txBody>
          <a:bodyPr wrap="square" lIns="0" tIns="0" rIns="0" bIns="0" rtlCol="0" anchor="ctr"/>
          <a:lstStyle/>
          <a:p>
            <a:pPr marL="0" indent="0">
              <a:buNone/>
            </a:pPr>
            <a:r>
              <a:rPr lang="en-US" sz="1050" b="1" kern="0" spc="150" dirty="0">
                <a:solidFill>
                  <a:srgbClr val="4FD8F0"/>
                </a:solidFill>
                <a:latin typeface="Calibri" pitchFamily="34" charset="0"/>
                <a:ea typeface="Calibri" pitchFamily="34" charset="-122"/>
                <a:cs typeface="Calibri" pitchFamily="34" charset="-120"/>
              </a:rPr>
              <a:t>WHY IT IS SHAPED THIS WAY</a:t>
            </a:r>
            <a:endParaRPr lang="en-US" sz="1050" dirty="0"/>
          </a:p>
        </p:txBody>
      </p:sp>
      <p:pic>
        <p:nvPicPr>
          <p:cNvPr id="36" name="Image 0" descr="C:\Users\lumin\AppData\Local\Temp\claude\C--Users-lumin-Desktop-aquazerofit\2e3b7983-e45b-4e1c-8fdf-0a5635a22264\scratchpad\assets\icon_layers_cyan.png"/>
          <p:cNvPicPr>
            <a:picLocks noChangeAspect="1"/>
          </p:cNvPicPr>
          <p:nvPr/>
        </p:nvPicPr>
        <p:blipFill>
          <a:blip r:embed="rId4"/>
          <a:stretch>
            <a:fillRect/>
          </a:stretch>
        </p:blipFill>
        <p:spPr>
          <a:xfrm>
            <a:off x="8485632" y="2139696"/>
            <a:ext cx="256032" cy="256032"/>
          </a:xfrm>
          <a:prstGeom prst="rect">
            <a:avLst/>
          </a:prstGeom>
        </p:spPr>
      </p:pic>
      <p:sp>
        <p:nvSpPr>
          <p:cNvPr id="37" name="Text 34"/>
          <p:cNvSpPr/>
          <p:nvPr/>
        </p:nvSpPr>
        <p:spPr>
          <a:xfrm>
            <a:off x="8851392" y="2093976"/>
            <a:ext cx="2578608" cy="274320"/>
          </a:xfrm>
          <a:prstGeom prst="rect">
            <a:avLst/>
          </a:prstGeom>
          <a:noFill/>
          <a:ln/>
        </p:spPr>
        <p:txBody>
          <a:bodyPr wrap="square" lIns="0" tIns="0" rIns="0" bIns="0" rtlCol="0" anchor="ctr"/>
          <a:lstStyle/>
          <a:p>
            <a:pPr marL="0" indent="0">
              <a:buNone/>
            </a:pPr>
            <a:r>
              <a:rPr lang="en-US" sz="1150" b="1" dirty="0">
                <a:solidFill>
                  <a:srgbClr val="EAF6F9"/>
                </a:solidFill>
                <a:latin typeface="Calibri" pitchFamily="34" charset="0"/>
                <a:ea typeface="Calibri" pitchFamily="34" charset="-122"/>
                <a:cs typeface="Calibri" pitchFamily="34" charset="-120"/>
              </a:rPr>
              <a:t>Modules stay in their lane</a:t>
            </a:r>
            <a:endParaRPr lang="en-US" sz="1150" dirty="0"/>
          </a:p>
        </p:txBody>
      </p:sp>
      <p:sp>
        <p:nvSpPr>
          <p:cNvPr id="38" name="Text 35"/>
          <p:cNvSpPr/>
          <p:nvPr/>
        </p:nvSpPr>
        <p:spPr>
          <a:xfrm>
            <a:off x="8851392" y="2350008"/>
            <a:ext cx="2578608" cy="777240"/>
          </a:xfrm>
          <a:prstGeom prst="rect">
            <a:avLst/>
          </a:prstGeom>
          <a:noFill/>
          <a:ln/>
        </p:spPr>
        <p:txBody>
          <a:bodyPr wrap="square" lIns="0" tIns="0" rIns="0" bIns="0" rtlCol="0" anchor="ctr"/>
          <a:lstStyle/>
          <a:p>
            <a:pPr marL="0" indent="0">
              <a:buNone/>
            </a:pPr>
            <a:r>
              <a:rPr lang="en-US" sz="980" dirty="0">
                <a:solidFill>
                  <a:srgbClr val="9DBAC3"/>
                </a:solidFill>
                <a:latin typeface="Calibri" pitchFamily="34" charset="0"/>
                <a:ea typeface="Calibri" pitchFamily="34" charset="-122"/>
                <a:cs typeface="Calibri" pitchFamily="34" charset="-120"/>
              </a:rPr>
              <a:t>No module ever touches another’s storage, they talk through service functions.</a:t>
            </a:r>
            <a:endParaRPr lang="en-US" sz="980" dirty="0"/>
          </a:p>
        </p:txBody>
      </p:sp>
      <p:pic>
        <p:nvPicPr>
          <p:cNvPr id="39" name="Image 1" descr="C:\Users\lumin\AppData\Local\Temp\claude\C--Users-lumin-Desktop-aquazerofit\2e3b7983-e45b-4e1c-8fdf-0a5635a22264\scratchpad\assets\icon_shield_mint.png"/>
          <p:cNvPicPr>
            <a:picLocks noChangeAspect="1"/>
          </p:cNvPicPr>
          <p:nvPr/>
        </p:nvPicPr>
        <p:blipFill>
          <a:blip r:embed="rId5"/>
          <a:stretch>
            <a:fillRect/>
          </a:stretch>
        </p:blipFill>
        <p:spPr>
          <a:xfrm>
            <a:off x="8485632" y="3346704"/>
            <a:ext cx="256032" cy="256032"/>
          </a:xfrm>
          <a:prstGeom prst="rect">
            <a:avLst/>
          </a:prstGeom>
        </p:spPr>
      </p:pic>
      <p:sp>
        <p:nvSpPr>
          <p:cNvPr id="40" name="Text 36"/>
          <p:cNvSpPr/>
          <p:nvPr/>
        </p:nvSpPr>
        <p:spPr>
          <a:xfrm>
            <a:off x="8851392" y="3300984"/>
            <a:ext cx="2578608" cy="274320"/>
          </a:xfrm>
          <a:prstGeom prst="rect">
            <a:avLst/>
          </a:prstGeom>
          <a:noFill/>
          <a:ln/>
        </p:spPr>
        <p:txBody>
          <a:bodyPr wrap="square" lIns="0" tIns="0" rIns="0" bIns="0" rtlCol="0" anchor="ctr"/>
          <a:lstStyle/>
          <a:p>
            <a:pPr marL="0" indent="0">
              <a:buNone/>
            </a:pPr>
            <a:r>
              <a:rPr lang="en-US" sz="1150" b="1" dirty="0">
                <a:solidFill>
                  <a:srgbClr val="EAF6F9"/>
                </a:solidFill>
                <a:latin typeface="Calibri" pitchFamily="34" charset="0"/>
                <a:ea typeface="Calibri" pitchFamily="34" charset="-122"/>
                <a:cs typeface="Calibri" pitchFamily="34" charset="-120"/>
              </a:rPr>
              <a:t>One door to the AI</a:t>
            </a:r>
            <a:endParaRPr lang="en-US" sz="1150" dirty="0"/>
          </a:p>
        </p:txBody>
      </p:sp>
      <p:sp>
        <p:nvSpPr>
          <p:cNvPr id="41" name="Text 37"/>
          <p:cNvSpPr/>
          <p:nvPr/>
        </p:nvSpPr>
        <p:spPr>
          <a:xfrm>
            <a:off x="8851392" y="3557016"/>
            <a:ext cx="2578608" cy="777240"/>
          </a:xfrm>
          <a:prstGeom prst="rect">
            <a:avLst/>
          </a:prstGeom>
          <a:noFill/>
          <a:ln/>
        </p:spPr>
        <p:txBody>
          <a:bodyPr wrap="square" lIns="0" tIns="0" rIns="0" bIns="0" rtlCol="0" anchor="ctr"/>
          <a:lstStyle/>
          <a:p>
            <a:pPr marL="0" indent="0">
              <a:buNone/>
            </a:pPr>
            <a:r>
              <a:rPr lang="en-US" sz="980" dirty="0">
                <a:solidFill>
                  <a:srgbClr val="9DBAC3"/>
                </a:solidFill>
                <a:latin typeface="Calibri" pitchFamily="34" charset="0"/>
                <a:ea typeface="Calibri" pitchFamily="34" charset="-122"/>
                <a:cs typeface="Calibri" pitchFamily="34" charset="-120"/>
              </a:rPr>
              <a:t>Every model call passes the same 7-step admission sequence. No exceptions, no fast paths.</a:t>
            </a:r>
            <a:endParaRPr lang="en-US" sz="980" dirty="0"/>
          </a:p>
        </p:txBody>
      </p:sp>
      <p:pic>
        <p:nvPicPr>
          <p:cNvPr id="42" name="Image 2" descr="C:\Users\lumin\AppData\Local\Temp\claude\C--Users-lumin-Desktop-aquazerofit\2e3b7983-e45b-4e1c-8fdf-0a5635a22264\scratchpad\assets\icon_database_gold.png"/>
          <p:cNvPicPr>
            <a:picLocks noChangeAspect="1"/>
          </p:cNvPicPr>
          <p:nvPr/>
        </p:nvPicPr>
        <p:blipFill>
          <a:blip r:embed="rId6"/>
          <a:stretch>
            <a:fillRect/>
          </a:stretch>
        </p:blipFill>
        <p:spPr>
          <a:xfrm>
            <a:off x="8485632" y="4553712"/>
            <a:ext cx="256032" cy="256032"/>
          </a:xfrm>
          <a:prstGeom prst="rect">
            <a:avLst/>
          </a:prstGeom>
        </p:spPr>
      </p:pic>
      <p:sp>
        <p:nvSpPr>
          <p:cNvPr id="43" name="Text 38"/>
          <p:cNvSpPr/>
          <p:nvPr/>
        </p:nvSpPr>
        <p:spPr>
          <a:xfrm>
            <a:off x="8851392" y="4507992"/>
            <a:ext cx="2578608" cy="274320"/>
          </a:xfrm>
          <a:prstGeom prst="rect">
            <a:avLst/>
          </a:prstGeom>
          <a:noFill/>
          <a:ln/>
        </p:spPr>
        <p:txBody>
          <a:bodyPr wrap="square" lIns="0" tIns="0" rIns="0" bIns="0" rtlCol="0" anchor="ctr"/>
          <a:lstStyle/>
          <a:p>
            <a:pPr marL="0" indent="0">
              <a:buNone/>
            </a:pPr>
            <a:r>
              <a:rPr lang="en-US" sz="1150" b="1" dirty="0">
                <a:solidFill>
                  <a:srgbClr val="EAF6F9"/>
                </a:solidFill>
                <a:latin typeface="Calibri" pitchFamily="34" charset="0"/>
                <a:ea typeface="Calibri" pitchFamily="34" charset="-122"/>
                <a:cs typeface="Calibri" pitchFamily="34" charset="-120"/>
              </a:rPr>
              <a:t>Licences never mix</a:t>
            </a:r>
            <a:endParaRPr lang="en-US" sz="1150" dirty="0"/>
          </a:p>
        </p:txBody>
      </p:sp>
      <p:sp>
        <p:nvSpPr>
          <p:cNvPr id="44" name="Text 39"/>
          <p:cNvSpPr/>
          <p:nvPr/>
        </p:nvSpPr>
        <p:spPr>
          <a:xfrm>
            <a:off x="8851392" y="4764024"/>
            <a:ext cx="2578608" cy="777240"/>
          </a:xfrm>
          <a:prstGeom prst="rect">
            <a:avLst/>
          </a:prstGeom>
          <a:noFill/>
          <a:ln/>
        </p:spPr>
        <p:txBody>
          <a:bodyPr wrap="square" lIns="0" tIns="0" rIns="0" bIns="0" rtlCol="0" anchor="ctr"/>
          <a:lstStyle/>
          <a:p>
            <a:pPr marL="0" indent="0">
              <a:buNone/>
            </a:pPr>
            <a:r>
              <a:rPr lang="en-US" sz="980" dirty="0">
                <a:solidFill>
                  <a:srgbClr val="9DBAC3"/>
                </a:solidFill>
                <a:latin typeface="Calibri" pitchFamily="34" charset="0"/>
                <a:ea typeface="Calibri" pitchFamily="34" charset="-122"/>
                <a:cs typeface="Calibri" pitchFamily="34" charset="-120"/>
              </a:rPr>
              <a:t>Open-licence food data lives in its own containers so it can never contaminate our curated corpus.</a:t>
            </a:r>
            <a:endParaRPr lang="en-US" sz="9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8</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3DE8B0"/>
                </a:solidFill>
                <a:latin typeface="Calibri" pitchFamily="34" charset="0"/>
                <a:ea typeface="Calibri" pitchFamily="34" charset="-122"/>
                <a:cs typeface="Calibri" pitchFamily="34" charset="-120"/>
              </a:rPr>
              <a:t>NUTRITION 1/3   </a:t>
            </a:r>
            <a:r>
              <a:rPr lang="en-US" sz="1100" b="1" kern="0" spc="200" dirty="0">
                <a:solidFill>
                  <a:srgbClr val="9DBAC3"/>
                </a:solidFill>
                <a:latin typeface="Calibri" pitchFamily="34" charset="0"/>
                <a:ea typeface="Calibri" pitchFamily="34" charset="-122"/>
                <a:cs typeface="Calibri" pitchFamily="34" charset="-120"/>
              </a:rPr>
              <a:t>|   PRESENTER: VICTOR HONG</a:t>
            </a:r>
            <a:endParaRPr lang="en-US" sz="1100" dirty="0"/>
          </a:p>
        </p:txBody>
      </p:sp>
      <p:sp>
        <p:nvSpPr>
          <p:cNvPr id="5" name="Text 3"/>
          <p:cNvSpPr/>
          <p:nvPr/>
        </p:nvSpPr>
        <p:spPr>
          <a:xfrm>
            <a:off x="548640" y="566928"/>
            <a:ext cx="859536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Your daily targets are arithmetic, never an AI guess</a:t>
            </a:r>
            <a:endParaRPr lang="en-US" sz="2600" dirty="0"/>
          </a:p>
        </p:txBody>
      </p:sp>
      <p:sp>
        <p:nvSpPr>
          <p:cNvPr id="6" name="Shape 4"/>
          <p:cNvSpPr/>
          <p:nvPr/>
        </p:nvSpPr>
        <p:spPr>
          <a:xfrm>
            <a:off x="566928" y="1545336"/>
            <a:ext cx="457200" cy="457200"/>
          </a:xfrm>
          <a:prstGeom prst="ellipse">
            <a:avLst/>
          </a:prstGeom>
          <a:solidFill>
            <a:srgbClr val="123441"/>
          </a:solidFill>
          <a:ln w="9525">
            <a:solidFill>
              <a:srgbClr val="1E4A57"/>
            </a:solidFill>
            <a:prstDash val="solid"/>
          </a:ln>
        </p:spPr>
        <p:txBody>
          <a:bodyPr/>
          <a:lstStyle/>
          <a:p>
            <a:endParaRPr lang="en-AU"/>
          </a:p>
        </p:txBody>
      </p:sp>
      <p:pic>
        <p:nvPicPr>
          <p:cNvPr id="7" name="Image 0" descr="C:\Users\lumin\AppData\Local\Temp\claude\C--Users-lumin-Desktop-aquazerofit\2e3b7983-e45b-4e1c-8fdf-0a5635a22264\scratchpad\assets\icon_calculator_mint.png"/>
          <p:cNvPicPr>
            <a:picLocks noChangeAspect="1"/>
          </p:cNvPicPr>
          <p:nvPr/>
        </p:nvPicPr>
        <p:blipFill>
          <a:blip r:embed="rId4"/>
          <a:stretch>
            <a:fillRect/>
          </a:stretch>
        </p:blipFill>
        <p:spPr>
          <a:xfrm>
            <a:off x="676656" y="1664208"/>
            <a:ext cx="237744" cy="237744"/>
          </a:xfrm>
          <a:prstGeom prst="rect">
            <a:avLst/>
          </a:prstGeom>
        </p:spPr>
      </p:pic>
      <p:sp>
        <p:nvSpPr>
          <p:cNvPr id="8" name="Text 5"/>
          <p:cNvSpPr/>
          <p:nvPr/>
        </p:nvSpPr>
        <p:spPr>
          <a:xfrm>
            <a:off x="1188720" y="1490472"/>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Science first, in deterministic code</a:t>
            </a:r>
            <a:endParaRPr lang="en-US" sz="1350" dirty="0"/>
          </a:p>
        </p:txBody>
      </p:sp>
      <p:sp>
        <p:nvSpPr>
          <p:cNvPr id="9" name="Text 6"/>
          <p:cNvSpPr/>
          <p:nvPr/>
        </p:nvSpPr>
        <p:spPr>
          <a:xfrm>
            <a:off x="1188720" y="1764792"/>
            <a:ext cx="781812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Basal rate via the Mifflin-St Jeor equation, scaled by an activity factor (1.2–1.9), then adjusted toward your goal only within a safe band, 0.5–1% of bodyweight per week.</a:t>
            </a:r>
            <a:endParaRPr lang="en-US" sz="1100" dirty="0"/>
          </a:p>
        </p:txBody>
      </p:sp>
      <p:sp>
        <p:nvSpPr>
          <p:cNvPr id="10" name="Shape 7"/>
          <p:cNvSpPr/>
          <p:nvPr/>
        </p:nvSpPr>
        <p:spPr>
          <a:xfrm>
            <a:off x="566928" y="2523744"/>
            <a:ext cx="457200" cy="457200"/>
          </a:xfrm>
          <a:prstGeom prst="ellipse">
            <a:avLst/>
          </a:prstGeom>
          <a:solidFill>
            <a:srgbClr val="123441"/>
          </a:solidFill>
          <a:ln w="9525">
            <a:solidFill>
              <a:srgbClr val="1E4A57"/>
            </a:solidFill>
            <a:prstDash val="solid"/>
          </a:ln>
        </p:spPr>
        <p:txBody>
          <a:bodyPr/>
          <a:lstStyle/>
          <a:p>
            <a:endParaRPr lang="en-AU"/>
          </a:p>
        </p:txBody>
      </p:sp>
      <p:pic>
        <p:nvPicPr>
          <p:cNvPr id="11" name="Image 1" descr="C:\Users\lumin\AppData\Local\Temp\claude\C--Users-lumin-Desktop-aquazerofit\2e3b7983-e45b-4e1c-8fdf-0a5635a22264\scratchpad\assets\icon_shield_cyan.png"/>
          <p:cNvPicPr>
            <a:picLocks noChangeAspect="1"/>
          </p:cNvPicPr>
          <p:nvPr/>
        </p:nvPicPr>
        <p:blipFill>
          <a:blip r:embed="rId5"/>
          <a:stretch>
            <a:fillRect/>
          </a:stretch>
        </p:blipFill>
        <p:spPr>
          <a:xfrm>
            <a:off x="676656" y="2642616"/>
            <a:ext cx="237744" cy="237744"/>
          </a:xfrm>
          <a:prstGeom prst="rect">
            <a:avLst/>
          </a:prstGeom>
        </p:spPr>
      </p:pic>
      <p:sp>
        <p:nvSpPr>
          <p:cNvPr id="12" name="Text 8"/>
          <p:cNvSpPr/>
          <p:nvPr/>
        </p:nvSpPr>
        <p:spPr>
          <a:xfrm>
            <a:off x="1188720" y="2468880"/>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A floor the app will not cross</a:t>
            </a:r>
            <a:endParaRPr lang="en-US" sz="1350" dirty="0"/>
          </a:p>
        </p:txBody>
      </p:sp>
      <p:sp>
        <p:nvSpPr>
          <p:cNvPr id="13" name="Text 9"/>
          <p:cNvSpPr/>
          <p:nvPr/>
        </p:nvSpPr>
        <p:spPr>
          <a:xfrm>
            <a:off x="1188720" y="2743200"/>
            <a:ext cx="781812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Targets are clamped to 1,200 kcal (1,500 for men). When the clamp fires, the app tells you why. It never silently overrules you, and never lets you under-eat by design.</a:t>
            </a:r>
            <a:endParaRPr lang="en-US" sz="1100" dirty="0"/>
          </a:p>
        </p:txBody>
      </p:sp>
      <p:sp>
        <p:nvSpPr>
          <p:cNvPr id="14" name="Shape 10"/>
          <p:cNvSpPr/>
          <p:nvPr/>
        </p:nvSpPr>
        <p:spPr>
          <a:xfrm>
            <a:off x="566928" y="3502152"/>
            <a:ext cx="457200" cy="457200"/>
          </a:xfrm>
          <a:prstGeom prst="ellipse">
            <a:avLst/>
          </a:prstGeom>
          <a:solidFill>
            <a:srgbClr val="123441"/>
          </a:solidFill>
          <a:ln w="9525">
            <a:solidFill>
              <a:srgbClr val="1E4A57"/>
            </a:solidFill>
            <a:prstDash val="solid"/>
          </a:ln>
        </p:spPr>
        <p:txBody>
          <a:bodyPr/>
          <a:lstStyle/>
          <a:p>
            <a:endParaRPr lang="en-AU"/>
          </a:p>
        </p:txBody>
      </p:sp>
      <p:pic>
        <p:nvPicPr>
          <p:cNvPr id="15" name="Image 2" descr="C:\Users\lumin\AppData\Local\Temp\claude\C--Users-lumin-Desktop-aquazerofit\2e3b7983-e45b-4e1c-8fdf-0a5635a22264\scratchpad\assets\icon_water_cyan.png"/>
          <p:cNvPicPr>
            <a:picLocks noChangeAspect="1"/>
          </p:cNvPicPr>
          <p:nvPr/>
        </p:nvPicPr>
        <p:blipFill>
          <a:blip r:embed="rId6"/>
          <a:stretch>
            <a:fillRect/>
          </a:stretch>
        </p:blipFill>
        <p:spPr>
          <a:xfrm>
            <a:off x="676656" y="3621024"/>
            <a:ext cx="237744" cy="237744"/>
          </a:xfrm>
          <a:prstGeom prst="rect">
            <a:avLst/>
          </a:prstGeom>
        </p:spPr>
      </p:pic>
      <p:sp>
        <p:nvSpPr>
          <p:cNvPr id="16" name="Text 11"/>
          <p:cNvSpPr/>
          <p:nvPr/>
        </p:nvSpPr>
        <p:spPr>
          <a:xfrm>
            <a:off x="1188720" y="3447288"/>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Macros and hydration included</a:t>
            </a:r>
            <a:endParaRPr lang="en-US" sz="1350" dirty="0"/>
          </a:p>
        </p:txBody>
      </p:sp>
      <p:sp>
        <p:nvSpPr>
          <p:cNvPr id="17" name="Text 12"/>
          <p:cNvSpPr/>
          <p:nvPr/>
        </p:nvSpPr>
        <p:spPr>
          <a:xfrm>
            <a:off x="1188720" y="3721608"/>
            <a:ext cx="781812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Protein set per kilogram by goal (1.6–2.2 g/kg), fat at least 20% of energy, carbohydrate takes the rest, water at 33 ml per kg.</a:t>
            </a:r>
            <a:endParaRPr lang="en-US" sz="1100" dirty="0"/>
          </a:p>
        </p:txBody>
      </p:sp>
      <p:sp>
        <p:nvSpPr>
          <p:cNvPr id="18" name="Shape 13"/>
          <p:cNvSpPr/>
          <p:nvPr/>
        </p:nvSpPr>
        <p:spPr>
          <a:xfrm>
            <a:off x="566928" y="4480560"/>
            <a:ext cx="457200" cy="457200"/>
          </a:xfrm>
          <a:prstGeom prst="ellipse">
            <a:avLst/>
          </a:prstGeom>
          <a:solidFill>
            <a:srgbClr val="123441"/>
          </a:solidFill>
          <a:ln w="9525">
            <a:solidFill>
              <a:srgbClr val="1E4A57"/>
            </a:solidFill>
            <a:prstDash val="solid"/>
          </a:ln>
        </p:spPr>
        <p:txBody>
          <a:bodyPr/>
          <a:lstStyle/>
          <a:p>
            <a:endParaRPr lang="en-AU"/>
          </a:p>
        </p:txBody>
      </p:sp>
      <p:pic>
        <p:nvPicPr>
          <p:cNvPr id="19" name="Image 3" descr="C:\Users\lumin\AppData\Local\Temp\claude\C--Users-lumin-Desktop-aquazerofit\2e3b7983-e45b-4e1c-8fdf-0a5635a22264\scratchpad\assets\icon_book_gold.png"/>
          <p:cNvPicPr>
            <a:picLocks noChangeAspect="1"/>
          </p:cNvPicPr>
          <p:nvPr/>
        </p:nvPicPr>
        <p:blipFill>
          <a:blip r:embed="rId7"/>
          <a:stretch>
            <a:fillRect/>
          </a:stretch>
        </p:blipFill>
        <p:spPr>
          <a:xfrm>
            <a:off x="676656" y="4599432"/>
            <a:ext cx="237744" cy="237744"/>
          </a:xfrm>
          <a:prstGeom prst="rect">
            <a:avLst/>
          </a:prstGeom>
        </p:spPr>
      </p:pic>
      <p:sp>
        <p:nvSpPr>
          <p:cNvPr id="20" name="Text 14"/>
          <p:cNvSpPr/>
          <p:nvPr/>
        </p:nvSpPr>
        <p:spPr>
          <a:xfrm>
            <a:off x="1188720" y="4425696"/>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Every number is accountable</a:t>
            </a:r>
            <a:endParaRPr lang="en-US" sz="1350" dirty="0"/>
          </a:p>
        </p:txBody>
      </p:sp>
      <p:sp>
        <p:nvSpPr>
          <p:cNvPr id="21" name="Text 15"/>
          <p:cNvSpPr/>
          <p:nvPr/>
        </p:nvSpPr>
        <p:spPr>
          <a:xfrm>
            <a:off x="1188720" y="4700016"/>
            <a:ext cx="781812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The formula version is stored with every set of targets, so we can always say exactly which mathematics produced a figure a user acted on.</a:t>
            </a:r>
            <a:endParaRPr lang="en-US" sz="1100" dirty="0"/>
          </a:p>
        </p:txBody>
      </p:sp>
      <p:sp>
        <p:nvSpPr>
          <p:cNvPr id="22" name="Shape 16"/>
          <p:cNvSpPr/>
          <p:nvPr/>
        </p:nvSpPr>
        <p:spPr>
          <a:xfrm>
            <a:off x="548640"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3" name="Text 17"/>
          <p:cNvSpPr/>
          <p:nvPr/>
        </p:nvSpPr>
        <p:spPr>
          <a:xfrm>
            <a:off x="548640" y="5596128"/>
            <a:ext cx="2002536" cy="329184"/>
          </a:xfrm>
          <a:prstGeom prst="rect">
            <a:avLst/>
          </a:prstGeom>
          <a:noFill/>
          <a:ln/>
        </p:spPr>
        <p:txBody>
          <a:bodyPr wrap="square" lIns="0" tIns="0" rIns="0" bIns="0" rtlCol="0" anchor="ctr"/>
          <a:lstStyle/>
          <a:p>
            <a:pPr marL="0" indent="0" algn="ctr">
              <a:buNone/>
            </a:pPr>
            <a:r>
              <a:rPr lang="en-US" sz="1500" b="1" dirty="0">
                <a:solidFill>
                  <a:srgbClr val="3DE8B0"/>
                </a:solidFill>
                <a:latin typeface="Calibri" pitchFamily="34" charset="0"/>
                <a:ea typeface="Calibri" pitchFamily="34" charset="-122"/>
                <a:cs typeface="Calibri" pitchFamily="34" charset="-120"/>
              </a:rPr>
              <a:t>1,200 kcal</a:t>
            </a:r>
            <a:endParaRPr lang="en-US" sz="1500" dirty="0"/>
          </a:p>
        </p:txBody>
      </p:sp>
      <p:sp>
        <p:nvSpPr>
          <p:cNvPr id="24" name="Text 18"/>
          <p:cNvSpPr/>
          <p:nvPr/>
        </p:nvSpPr>
        <p:spPr>
          <a:xfrm>
            <a:off x="621792"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safety floor (1,500 men)</a:t>
            </a:r>
            <a:endParaRPr lang="en-US" sz="870" dirty="0"/>
          </a:p>
        </p:txBody>
      </p:sp>
      <p:sp>
        <p:nvSpPr>
          <p:cNvPr id="25" name="Shape 19"/>
          <p:cNvSpPr/>
          <p:nvPr/>
        </p:nvSpPr>
        <p:spPr>
          <a:xfrm>
            <a:off x="2715768"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6" name="Text 20"/>
          <p:cNvSpPr/>
          <p:nvPr/>
        </p:nvSpPr>
        <p:spPr>
          <a:xfrm>
            <a:off x="2715768" y="5596128"/>
            <a:ext cx="2002536" cy="329184"/>
          </a:xfrm>
          <a:prstGeom prst="rect">
            <a:avLst/>
          </a:prstGeom>
          <a:noFill/>
          <a:ln/>
        </p:spPr>
        <p:txBody>
          <a:bodyPr wrap="square" lIns="0" tIns="0" rIns="0" bIns="0" rtlCol="0" anchor="ctr"/>
          <a:lstStyle/>
          <a:p>
            <a:pPr marL="0" indent="0" algn="ctr">
              <a:buNone/>
            </a:pPr>
            <a:r>
              <a:rPr lang="en-US" sz="1500" b="1" dirty="0">
                <a:solidFill>
                  <a:srgbClr val="4FD8F0"/>
                </a:solidFill>
                <a:latin typeface="Calibri" pitchFamily="34" charset="0"/>
                <a:ea typeface="Calibri" pitchFamily="34" charset="-122"/>
                <a:cs typeface="Calibri" pitchFamily="34" charset="-120"/>
              </a:rPr>
              <a:t>1.2–1.9</a:t>
            </a:r>
            <a:endParaRPr lang="en-US" sz="1500" dirty="0"/>
          </a:p>
        </p:txBody>
      </p:sp>
      <p:sp>
        <p:nvSpPr>
          <p:cNvPr id="27" name="Text 21"/>
          <p:cNvSpPr/>
          <p:nvPr/>
        </p:nvSpPr>
        <p:spPr>
          <a:xfrm>
            <a:off x="2788920"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activity factors</a:t>
            </a:r>
            <a:endParaRPr lang="en-US" sz="870" dirty="0"/>
          </a:p>
        </p:txBody>
      </p:sp>
      <p:sp>
        <p:nvSpPr>
          <p:cNvPr id="28" name="Shape 22"/>
          <p:cNvSpPr/>
          <p:nvPr/>
        </p:nvSpPr>
        <p:spPr>
          <a:xfrm>
            <a:off x="4882896"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9" name="Text 23"/>
          <p:cNvSpPr/>
          <p:nvPr/>
        </p:nvSpPr>
        <p:spPr>
          <a:xfrm>
            <a:off x="4882896" y="5596128"/>
            <a:ext cx="2002536" cy="329184"/>
          </a:xfrm>
          <a:prstGeom prst="rect">
            <a:avLst/>
          </a:prstGeom>
          <a:noFill/>
          <a:ln/>
        </p:spPr>
        <p:txBody>
          <a:bodyPr wrap="square" lIns="0" tIns="0" rIns="0" bIns="0" rtlCol="0" anchor="ctr"/>
          <a:lstStyle/>
          <a:p>
            <a:pPr marL="0" indent="0" algn="ctr">
              <a:buNone/>
            </a:pPr>
            <a:r>
              <a:rPr lang="en-US" sz="1500" b="1" dirty="0">
                <a:solidFill>
                  <a:srgbClr val="3DE8B0"/>
                </a:solidFill>
                <a:latin typeface="Calibri" pitchFamily="34" charset="0"/>
                <a:ea typeface="Calibri" pitchFamily="34" charset="-122"/>
                <a:cs typeface="Calibri" pitchFamily="34" charset="-120"/>
              </a:rPr>
              <a:t>2.0 g/kg</a:t>
            </a:r>
            <a:endParaRPr lang="en-US" sz="1500" dirty="0"/>
          </a:p>
        </p:txBody>
      </p:sp>
      <p:sp>
        <p:nvSpPr>
          <p:cNvPr id="30" name="Text 24"/>
          <p:cNvSpPr/>
          <p:nvPr/>
        </p:nvSpPr>
        <p:spPr>
          <a:xfrm>
            <a:off x="4956048"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protein (weight-loss goal)</a:t>
            </a:r>
            <a:endParaRPr lang="en-US" sz="870" dirty="0"/>
          </a:p>
        </p:txBody>
      </p:sp>
      <p:sp>
        <p:nvSpPr>
          <p:cNvPr id="31" name="Shape 25"/>
          <p:cNvSpPr/>
          <p:nvPr/>
        </p:nvSpPr>
        <p:spPr>
          <a:xfrm>
            <a:off x="7050024"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32" name="Text 26"/>
          <p:cNvSpPr/>
          <p:nvPr/>
        </p:nvSpPr>
        <p:spPr>
          <a:xfrm>
            <a:off x="7050024" y="5596128"/>
            <a:ext cx="2002536" cy="329184"/>
          </a:xfrm>
          <a:prstGeom prst="rect">
            <a:avLst/>
          </a:prstGeom>
          <a:noFill/>
          <a:ln/>
        </p:spPr>
        <p:txBody>
          <a:bodyPr wrap="square" lIns="0" tIns="0" rIns="0" bIns="0" rtlCol="0" anchor="ctr"/>
          <a:lstStyle/>
          <a:p>
            <a:pPr marL="0" indent="0" algn="ctr">
              <a:buNone/>
            </a:pPr>
            <a:r>
              <a:rPr lang="en-US" sz="1500" b="1" dirty="0">
                <a:solidFill>
                  <a:srgbClr val="4FD8F0"/>
                </a:solidFill>
                <a:latin typeface="Calibri" pitchFamily="34" charset="0"/>
                <a:ea typeface="Calibri" pitchFamily="34" charset="-122"/>
                <a:cs typeface="Calibri" pitchFamily="34" charset="-120"/>
              </a:rPr>
              <a:t>33 ml/kg</a:t>
            </a:r>
            <a:endParaRPr lang="en-US" sz="1500" dirty="0"/>
          </a:p>
        </p:txBody>
      </p:sp>
      <p:sp>
        <p:nvSpPr>
          <p:cNvPr id="33" name="Text 27"/>
          <p:cNvSpPr/>
          <p:nvPr/>
        </p:nvSpPr>
        <p:spPr>
          <a:xfrm>
            <a:off x="7123176"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hydration target</a:t>
            </a:r>
            <a:endParaRPr lang="en-US" sz="870" dirty="0"/>
          </a:p>
        </p:txBody>
      </p:sp>
      <p:sp>
        <p:nvSpPr>
          <p:cNvPr id="34" name="Shape 28"/>
          <p:cNvSpPr/>
          <p:nvPr/>
        </p:nvSpPr>
        <p:spPr>
          <a:xfrm>
            <a:off x="9354312" y="1307592"/>
            <a:ext cx="2388556" cy="5020056"/>
          </a:xfrm>
          <a:prstGeom prst="roundRect">
            <a:avLst>
              <a:gd name="adj" fmla="val 4594"/>
            </a:avLst>
          </a:prstGeom>
          <a:solidFill>
            <a:srgbClr val="062028"/>
          </a:solidFill>
          <a:ln w="12700">
            <a:solidFill>
              <a:srgbClr val="1E4A57"/>
            </a:solidFill>
            <a:prstDash val="solid"/>
          </a:ln>
        </p:spPr>
        <p:txBody>
          <a:bodyPr/>
          <a:lstStyle/>
          <a:p>
            <a:endParaRPr lang="en-AU"/>
          </a:p>
        </p:txBody>
      </p:sp>
      <p:pic>
        <p:nvPicPr>
          <p:cNvPr id="35" name="Image 4" descr="C:\Users\lumin\Desktop\aquazerofit\docs\screenshots\04-nutrition.png"/>
          <p:cNvPicPr>
            <a:picLocks noChangeAspect="1"/>
          </p:cNvPicPr>
          <p:nvPr/>
        </p:nvPicPr>
        <p:blipFill>
          <a:blip r:embed="rId8"/>
          <a:stretch>
            <a:fillRect/>
          </a:stretch>
        </p:blipFill>
        <p:spPr>
          <a:xfrm>
            <a:off x="9418320" y="1371600"/>
            <a:ext cx="2260540" cy="4892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9</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3DE8B0"/>
                </a:solidFill>
                <a:latin typeface="Calibri" pitchFamily="34" charset="0"/>
                <a:ea typeface="Calibri" pitchFamily="34" charset="-122"/>
                <a:cs typeface="Calibri" pitchFamily="34" charset="-120"/>
              </a:rPr>
              <a:t>NUTRITION 2/3   </a:t>
            </a:r>
            <a:r>
              <a:rPr lang="en-US" sz="1100" b="1" kern="0" spc="200" dirty="0">
                <a:solidFill>
                  <a:srgbClr val="9DBAC3"/>
                </a:solidFill>
                <a:latin typeface="Calibri" pitchFamily="34" charset="0"/>
                <a:ea typeface="Calibri" pitchFamily="34" charset="-122"/>
                <a:cs typeface="Calibri" pitchFamily="34" charset="-120"/>
              </a:rPr>
              <a:t>|   PRESENTER: VICTOR HONG</a:t>
            </a:r>
            <a:endParaRPr lang="en-US" sz="1100" dirty="0"/>
          </a:p>
        </p:txBody>
      </p:sp>
      <p:sp>
        <p:nvSpPr>
          <p:cNvPr id="5" name="Text 3"/>
          <p:cNvSpPr/>
          <p:nvPr/>
        </p:nvSpPr>
        <p:spPr>
          <a:xfrm>
            <a:off x="548640" y="566928"/>
            <a:ext cx="859536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Logging a meal takes seconds: four ways in</a:t>
            </a:r>
            <a:endParaRPr lang="en-US" sz="2600" dirty="0"/>
          </a:p>
        </p:txBody>
      </p:sp>
      <p:sp>
        <p:nvSpPr>
          <p:cNvPr id="6" name="Shape 4"/>
          <p:cNvSpPr/>
          <p:nvPr/>
        </p:nvSpPr>
        <p:spPr>
          <a:xfrm>
            <a:off x="566928" y="1545336"/>
            <a:ext cx="457200" cy="457200"/>
          </a:xfrm>
          <a:prstGeom prst="ellipse">
            <a:avLst/>
          </a:prstGeom>
          <a:solidFill>
            <a:srgbClr val="123441"/>
          </a:solidFill>
          <a:ln w="9525">
            <a:solidFill>
              <a:srgbClr val="1E4A57"/>
            </a:solidFill>
            <a:prstDash val="solid"/>
          </a:ln>
        </p:spPr>
        <p:txBody>
          <a:bodyPr/>
          <a:lstStyle/>
          <a:p>
            <a:endParaRPr lang="en-AU"/>
          </a:p>
        </p:txBody>
      </p:sp>
      <p:pic>
        <p:nvPicPr>
          <p:cNvPr id="7" name="Image 0" descr="C:\Users\lumin\AppData\Local\Temp\claude\C--Users-lumin-Desktop-aquazerofit\2e3b7983-e45b-4e1c-8fdf-0a5635a22264\scratchpad\assets\icon_camera_mint.png"/>
          <p:cNvPicPr>
            <a:picLocks noChangeAspect="1"/>
          </p:cNvPicPr>
          <p:nvPr/>
        </p:nvPicPr>
        <p:blipFill>
          <a:blip r:embed="rId4"/>
          <a:stretch>
            <a:fillRect/>
          </a:stretch>
        </p:blipFill>
        <p:spPr>
          <a:xfrm>
            <a:off x="676656" y="1664208"/>
            <a:ext cx="237744" cy="237744"/>
          </a:xfrm>
          <a:prstGeom prst="rect">
            <a:avLst/>
          </a:prstGeom>
        </p:spPr>
      </p:pic>
      <p:sp>
        <p:nvSpPr>
          <p:cNvPr id="8" name="Text 5"/>
          <p:cNvSpPr/>
          <p:nvPr/>
        </p:nvSpPr>
        <p:spPr>
          <a:xfrm>
            <a:off x="1188720" y="1490472"/>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Photo → draft → confirm</a:t>
            </a:r>
            <a:endParaRPr lang="en-US" sz="1350" dirty="0"/>
          </a:p>
        </p:txBody>
      </p:sp>
      <p:sp>
        <p:nvSpPr>
          <p:cNvPr id="9" name="Text 6"/>
          <p:cNvSpPr/>
          <p:nvPr/>
        </p:nvSpPr>
        <p:spPr>
          <a:xfrm>
            <a:off x="1188720" y="1764792"/>
            <a:ext cx="7818120" cy="68580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The model only names the food; the app recomputes calories from its own 139-record corpus. Nothing is saved until you confirm. Then the photo is deleted, its GPS and camera metadata already stripped on upload.</a:t>
            </a:r>
            <a:endParaRPr lang="en-US" sz="1100" dirty="0"/>
          </a:p>
        </p:txBody>
      </p:sp>
      <p:sp>
        <p:nvSpPr>
          <p:cNvPr id="10" name="Shape 7"/>
          <p:cNvSpPr/>
          <p:nvPr/>
        </p:nvSpPr>
        <p:spPr>
          <a:xfrm>
            <a:off x="566928" y="2523744"/>
            <a:ext cx="457200" cy="457200"/>
          </a:xfrm>
          <a:prstGeom prst="ellipse">
            <a:avLst/>
          </a:prstGeom>
          <a:solidFill>
            <a:srgbClr val="123441"/>
          </a:solidFill>
          <a:ln w="9525">
            <a:solidFill>
              <a:srgbClr val="1E4A57"/>
            </a:solidFill>
            <a:prstDash val="solid"/>
          </a:ln>
        </p:spPr>
        <p:txBody>
          <a:bodyPr/>
          <a:lstStyle/>
          <a:p>
            <a:endParaRPr lang="en-AU"/>
          </a:p>
        </p:txBody>
      </p:sp>
      <p:pic>
        <p:nvPicPr>
          <p:cNvPr id="11" name="Image 1" descr="C:\Users\lumin\AppData\Local\Temp\claude\C--Users-lumin-Desktop-aquazerofit\2e3b7983-e45b-4e1c-8fdf-0a5635a22264\scratchpad\assets\icon_barcode_cyan.png"/>
          <p:cNvPicPr>
            <a:picLocks noChangeAspect="1"/>
          </p:cNvPicPr>
          <p:nvPr/>
        </p:nvPicPr>
        <p:blipFill>
          <a:blip r:embed="rId5"/>
          <a:stretch>
            <a:fillRect/>
          </a:stretch>
        </p:blipFill>
        <p:spPr>
          <a:xfrm>
            <a:off x="676656" y="2642616"/>
            <a:ext cx="237744" cy="237744"/>
          </a:xfrm>
          <a:prstGeom prst="rect">
            <a:avLst/>
          </a:prstGeom>
        </p:spPr>
      </p:pic>
      <p:sp>
        <p:nvSpPr>
          <p:cNvPr id="12" name="Text 8"/>
          <p:cNvSpPr/>
          <p:nvPr/>
        </p:nvSpPr>
        <p:spPr>
          <a:xfrm>
            <a:off x="1188720" y="2468880"/>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Barcodes are checked, not trusted</a:t>
            </a:r>
            <a:endParaRPr lang="en-US" sz="1350" dirty="0"/>
          </a:p>
        </p:txBody>
      </p:sp>
      <p:sp>
        <p:nvSpPr>
          <p:cNvPr id="13" name="Text 9"/>
          <p:cNvSpPr/>
          <p:nvPr/>
        </p:nvSpPr>
        <p:spPr>
          <a:xfrm>
            <a:off x="1188720" y="2743200"/>
            <a:ext cx="7818120" cy="68580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EAN-8/13 check-digit validated locally, our mirror first, Open Food Facts as fallback. Then the label’s calories are recomputed from its own macros, and a label that lies outside 30% tolerance is flagged.</a:t>
            </a:r>
            <a:endParaRPr lang="en-US" sz="1100" dirty="0"/>
          </a:p>
        </p:txBody>
      </p:sp>
      <p:sp>
        <p:nvSpPr>
          <p:cNvPr id="14" name="Shape 10"/>
          <p:cNvSpPr/>
          <p:nvPr/>
        </p:nvSpPr>
        <p:spPr>
          <a:xfrm>
            <a:off x="566928" y="3502152"/>
            <a:ext cx="457200" cy="457200"/>
          </a:xfrm>
          <a:prstGeom prst="ellipse">
            <a:avLst/>
          </a:prstGeom>
          <a:solidFill>
            <a:srgbClr val="123441"/>
          </a:solidFill>
          <a:ln w="9525">
            <a:solidFill>
              <a:srgbClr val="1E4A57"/>
            </a:solidFill>
            <a:prstDash val="solid"/>
          </a:ln>
        </p:spPr>
        <p:txBody>
          <a:bodyPr/>
          <a:lstStyle/>
          <a:p>
            <a:endParaRPr lang="en-AU"/>
          </a:p>
        </p:txBody>
      </p:sp>
      <p:pic>
        <p:nvPicPr>
          <p:cNvPr id="15" name="Image 2" descr="C:\Users\lumin\AppData\Local\Temp\claude\C--Users-lumin-Desktop-aquazerofit\2e3b7983-e45b-4e1c-8fdf-0a5635a22264\scratchpad\assets\icon_copy_gold.png"/>
          <p:cNvPicPr>
            <a:picLocks noChangeAspect="1"/>
          </p:cNvPicPr>
          <p:nvPr/>
        </p:nvPicPr>
        <p:blipFill>
          <a:blip r:embed="rId6"/>
          <a:stretch>
            <a:fillRect/>
          </a:stretch>
        </p:blipFill>
        <p:spPr>
          <a:xfrm>
            <a:off x="676656" y="3621024"/>
            <a:ext cx="237744" cy="237744"/>
          </a:xfrm>
          <a:prstGeom prst="rect">
            <a:avLst/>
          </a:prstGeom>
        </p:spPr>
      </p:pic>
      <p:sp>
        <p:nvSpPr>
          <p:cNvPr id="16" name="Text 11"/>
          <p:cNvSpPr/>
          <p:nvPr/>
        </p:nvSpPr>
        <p:spPr>
          <a:xfrm>
            <a:off x="1188720" y="3447288"/>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History does the typing</a:t>
            </a:r>
            <a:endParaRPr lang="en-US" sz="1350" dirty="0"/>
          </a:p>
        </p:txBody>
      </p:sp>
      <p:sp>
        <p:nvSpPr>
          <p:cNvPr id="17" name="Text 12"/>
          <p:cNvSpPr/>
          <p:nvPr/>
        </p:nvSpPr>
        <p:spPr>
          <a:xfrm>
            <a:off x="1188720" y="3721608"/>
            <a:ext cx="7818120" cy="68580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“Copy yesterday” duplicates a whole day of meals in one request, and a month calendar steps back through everything you’ve logged.</a:t>
            </a:r>
            <a:endParaRPr lang="en-US" sz="1100" dirty="0"/>
          </a:p>
        </p:txBody>
      </p:sp>
      <p:sp>
        <p:nvSpPr>
          <p:cNvPr id="18" name="Shape 13"/>
          <p:cNvSpPr/>
          <p:nvPr/>
        </p:nvSpPr>
        <p:spPr>
          <a:xfrm>
            <a:off x="566928" y="4480560"/>
            <a:ext cx="457200" cy="457200"/>
          </a:xfrm>
          <a:prstGeom prst="ellipse">
            <a:avLst/>
          </a:prstGeom>
          <a:solidFill>
            <a:srgbClr val="123441"/>
          </a:solidFill>
          <a:ln w="9525">
            <a:solidFill>
              <a:srgbClr val="1E4A57"/>
            </a:solidFill>
            <a:prstDash val="solid"/>
          </a:ln>
        </p:spPr>
        <p:txBody>
          <a:bodyPr/>
          <a:lstStyle/>
          <a:p>
            <a:endParaRPr lang="en-AU"/>
          </a:p>
        </p:txBody>
      </p:sp>
      <p:pic>
        <p:nvPicPr>
          <p:cNvPr id="19" name="Image 3" descr="C:\Users\lumin\AppData\Local\Temp\claude\C--Users-lumin-Desktop-aquazerofit\2e3b7983-e45b-4e1c-8fdf-0a5635a22264\scratchpad\assets\icon_sync_mint.png"/>
          <p:cNvPicPr>
            <a:picLocks noChangeAspect="1"/>
          </p:cNvPicPr>
          <p:nvPr/>
        </p:nvPicPr>
        <p:blipFill>
          <a:blip r:embed="rId7"/>
          <a:stretch>
            <a:fillRect/>
          </a:stretch>
        </p:blipFill>
        <p:spPr>
          <a:xfrm>
            <a:off x="676656" y="4599432"/>
            <a:ext cx="237744" cy="237744"/>
          </a:xfrm>
          <a:prstGeom prst="rect">
            <a:avLst/>
          </a:prstGeom>
        </p:spPr>
      </p:pic>
      <p:sp>
        <p:nvSpPr>
          <p:cNvPr id="20" name="Text 14"/>
          <p:cNvSpPr/>
          <p:nvPr/>
        </p:nvSpPr>
        <p:spPr>
          <a:xfrm>
            <a:off x="1188720" y="4425696"/>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Retry-safe by design</a:t>
            </a:r>
            <a:endParaRPr lang="en-US" sz="1350" dirty="0"/>
          </a:p>
        </p:txBody>
      </p:sp>
      <p:sp>
        <p:nvSpPr>
          <p:cNvPr id="21" name="Text 15"/>
          <p:cNvSpPr/>
          <p:nvPr/>
        </p:nvSpPr>
        <p:spPr>
          <a:xfrm>
            <a:off x="1188720" y="4700016"/>
            <a:ext cx="7818120" cy="68580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Every creation route honours an idempotency key, so a flaky connection can retry forever and never double-log a meal.</a:t>
            </a:r>
            <a:endParaRPr lang="en-US" sz="1100" dirty="0"/>
          </a:p>
        </p:txBody>
      </p:sp>
      <p:sp>
        <p:nvSpPr>
          <p:cNvPr id="22" name="Shape 16"/>
          <p:cNvSpPr/>
          <p:nvPr/>
        </p:nvSpPr>
        <p:spPr>
          <a:xfrm>
            <a:off x="548640"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3" name="Text 17"/>
          <p:cNvSpPr/>
          <p:nvPr/>
        </p:nvSpPr>
        <p:spPr>
          <a:xfrm>
            <a:off x="548640" y="5596128"/>
            <a:ext cx="2002536" cy="329184"/>
          </a:xfrm>
          <a:prstGeom prst="rect">
            <a:avLst/>
          </a:prstGeom>
          <a:noFill/>
          <a:ln/>
        </p:spPr>
        <p:txBody>
          <a:bodyPr wrap="square" lIns="0" tIns="0" rIns="0" bIns="0" rtlCol="0" anchor="ctr"/>
          <a:lstStyle/>
          <a:p>
            <a:pPr marL="0" indent="0" algn="ctr">
              <a:buNone/>
            </a:pPr>
            <a:r>
              <a:rPr lang="en-US" sz="1500" b="1" dirty="0">
                <a:solidFill>
                  <a:srgbClr val="3DE8B0"/>
                </a:solidFill>
                <a:latin typeface="Calibri" pitchFamily="34" charset="0"/>
                <a:ea typeface="Calibri" pitchFamily="34" charset="-122"/>
                <a:cs typeface="Calibri" pitchFamily="34" charset="-120"/>
              </a:rPr>
              <a:t>139</a:t>
            </a:r>
            <a:endParaRPr lang="en-US" sz="1500" dirty="0"/>
          </a:p>
        </p:txBody>
      </p:sp>
      <p:sp>
        <p:nvSpPr>
          <p:cNvPr id="24" name="Text 18"/>
          <p:cNvSpPr/>
          <p:nvPr/>
        </p:nvSpPr>
        <p:spPr>
          <a:xfrm>
            <a:off x="621792"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foods, each with source + licence</a:t>
            </a:r>
            <a:endParaRPr lang="en-US" sz="870" dirty="0"/>
          </a:p>
        </p:txBody>
      </p:sp>
      <p:sp>
        <p:nvSpPr>
          <p:cNvPr id="25" name="Shape 19"/>
          <p:cNvSpPr/>
          <p:nvPr/>
        </p:nvSpPr>
        <p:spPr>
          <a:xfrm>
            <a:off x="2715768"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6" name="Text 20"/>
          <p:cNvSpPr/>
          <p:nvPr/>
        </p:nvSpPr>
        <p:spPr>
          <a:xfrm>
            <a:off x="2715768" y="5596128"/>
            <a:ext cx="2002536" cy="329184"/>
          </a:xfrm>
          <a:prstGeom prst="rect">
            <a:avLst/>
          </a:prstGeom>
          <a:noFill/>
          <a:ln/>
        </p:spPr>
        <p:txBody>
          <a:bodyPr wrap="square" lIns="0" tIns="0" rIns="0" bIns="0" rtlCol="0" anchor="ctr"/>
          <a:lstStyle/>
          <a:p>
            <a:pPr marL="0" indent="0" algn="ctr">
              <a:buNone/>
            </a:pPr>
            <a:r>
              <a:rPr lang="en-US" sz="1500" b="1" dirty="0">
                <a:solidFill>
                  <a:srgbClr val="4FD8F0"/>
                </a:solidFill>
                <a:latin typeface="Calibri" pitchFamily="34" charset="0"/>
                <a:ea typeface="Calibri" pitchFamily="34" charset="-122"/>
                <a:cs typeface="Calibri" pitchFamily="34" charset="-120"/>
              </a:rPr>
              <a:t>10 MB</a:t>
            </a:r>
            <a:endParaRPr lang="en-US" sz="1500" dirty="0"/>
          </a:p>
        </p:txBody>
      </p:sp>
      <p:sp>
        <p:nvSpPr>
          <p:cNvPr id="27" name="Text 21"/>
          <p:cNvSpPr/>
          <p:nvPr/>
        </p:nvSpPr>
        <p:spPr>
          <a:xfrm>
            <a:off x="2788920"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JPEG / PNG / HEIC uploads</a:t>
            </a:r>
            <a:endParaRPr lang="en-US" sz="870" dirty="0"/>
          </a:p>
        </p:txBody>
      </p:sp>
      <p:sp>
        <p:nvSpPr>
          <p:cNvPr id="28" name="Shape 22"/>
          <p:cNvSpPr/>
          <p:nvPr/>
        </p:nvSpPr>
        <p:spPr>
          <a:xfrm>
            <a:off x="4882896"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9" name="Text 23"/>
          <p:cNvSpPr/>
          <p:nvPr/>
        </p:nvSpPr>
        <p:spPr>
          <a:xfrm>
            <a:off x="4882896" y="5596128"/>
            <a:ext cx="2002536" cy="329184"/>
          </a:xfrm>
          <a:prstGeom prst="rect">
            <a:avLst/>
          </a:prstGeom>
          <a:noFill/>
          <a:ln/>
        </p:spPr>
        <p:txBody>
          <a:bodyPr wrap="square" lIns="0" tIns="0" rIns="0" bIns="0" rtlCol="0" anchor="ctr"/>
          <a:lstStyle/>
          <a:p>
            <a:pPr marL="0" indent="0" algn="ctr">
              <a:buNone/>
            </a:pPr>
            <a:r>
              <a:rPr lang="en-US" sz="1500" b="1" dirty="0">
                <a:solidFill>
                  <a:srgbClr val="FFC94D"/>
                </a:solidFill>
                <a:latin typeface="Calibri" pitchFamily="34" charset="0"/>
                <a:ea typeface="Calibri" pitchFamily="34" charset="-122"/>
                <a:cs typeface="Calibri" pitchFamily="34" charset="-120"/>
              </a:rPr>
              <a:t>30% + 5 kcal</a:t>
            </a:r>
            <a:endParaRPr lang="en-US" sz="1500" dirty="0"/>
          </a:p>
        </p:txBody>
      </p:sp>
      <p:sp>
        <p:nvSpPr>
          <p:cNvPr id="30" name="Text 24"/>
          <p:cNvSpPr/>
          <p:nvPr/>
        </p:nvSpPr>
        <p:spPr>
          <a:xfrm>
            <a:off x="4956048"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label cross-check tolerance</a:t>
            </a:r>
            <a:endParaRPr lang="en-US" sz="870" dirty="0"/>
          </a:p>
        </p:txBody>
      </p:sp>
      <p:sp>
        <p:nvSpPr>
          <p:cNvPr id="31" name="Shape 25"/>
          <p:cNvSpPr/>
          <p:nvPr/>
        </p:nvSpPr>
        <p:spPr>
          <a:xfrm>
            <a:off x="7050024"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32" name="Text 26"/>
          <p:cNvSpPr/>
          <p:nvPr/>
        </p:nvSpPr>
        <p:spPr>
          <a:xfrm>
            <a:off x="7050024" y="5596128"/>
            <a:ext cx="2002536" cy="329184"/>
          </a:xfrm>
          <a:prstGeom prst="rect">
            <a:avLst/>
          </a:prstGeom>
          <a:noFill/>
          <a:ln/>
        </p:spPr>
        <p:txBody>
          <a:bodyPr wrap="square" lIns="0" tIns="0" rIns="0" bIns="0" rtlCol="0" anchor="ctr"/>
          <a:lstStyle/>
          <a:p>
            <a:pPr marL="0" indent="0" algn="ctr">
              <a:buNone/>
            </a:pPr>
            <a:r>
              <a:rPr lang="en-US" sz="1500" b="1" dirty="0">
                <a:solidFill>
                  <a:srgbClr val="FF8A70"/>
                </a:solidFill>
                <a:latin typeface="Calibri" pitchFamily="34" charset="0"/>
                <a:ea typeface="Calibri" pitchFamily="34" charset="-122"/>
                <a:cs typeface="Calibri" pitchFamily="34" charset="-120"/>
              </a:rPr>
              <a:t>24 h</a:t>
            </a:r>
            <a:endParaRPr lang="en-US" sz="1500" dirty="0"/>
          </a:p>
        </p:txBody>
      </p:sp>
      <p:sp>
        <p:nvSpPr>
          <p:cNvPr id="33" name="Text 27"/>
          <p:cNvSpPr/>
          <p:nvPr/>
        </p:nvSpPr>
        <p:spPr>
          <a:xfrm>
            <a:off x="7123176"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orphaned photos swept</a:t>
            </a:r>
            <a:endParaRPr lang="en-US" sz="870" dirty="0"/>
          </a:p>
        </p:txBody>
      </p:sp>
      <p:sp>
        <p:nvSpPr>
          <p:cNvPr id="34" name="Shape 28"/>
          <p:cNvSpPr/>
          <p:nvPr/>
        </p:nvSpPr>
        <p:spPr>
          <a:xfrm>
            <a:off x="9354312" y="1307592"/>
            <a:ext cx="2388556" cy="5020056"/>
          </a:xfrm>
          <a:prstGeom prst="roundRect">
            <a:avLst>
              <a:gd name="adj" fmla="val 4594"/>
            </a:avLst>
          </a:prstGeom>
          <a:solidFill>
            <a:srgbClr val="062028"/>
          </a:solidFill>
          <a:ln w="12700">
            <a:solidFill>
              <a:srgbClr val="1E4A57"/>
            </a:solidFill>
            <a:prstDash val="solid"/>
          </a:ln>
        </p:spPr>
        <p:txBody>
          <a:bodyPr/>
          <a:lstStyle/>
          <a:p>
            <a:endParaRPr lang="en-AU"/>
          </a:p>
        </p:txBody>
      </p:sp>
      <p:pic>
        <p:nvPicPr>
          <p:cNvPr id="35" name="Image 4" descr="C:\Users\lumin\Desktop\aquazerofit\docs\screenshots\05-capture-meal.png"/>
          <p:cNvPicPr>
            <a:picLocks noChangeAspect="1"/>
          </p:cNvPicPr>
          <p:nvPr/>
        </p:nvPicPr>
        <p:blipFill>
          <a:blip r:embed="rId8"/>
          <a:stretch>
            <a:fillRect/>
          </a:stretch>
        </p:blipFill>
        <p:spPr>
          <a:xfrm>
            <a:off x="9418320" y="1371600"/>
            <a:ext cx="2260540" cy="48920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10</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3DE8B0"/>
                </a:solidFill>
                <a:latin typeface="Calibri" pitchFamily="34" charset="0"/>
                <a:ea typeface="Calibri" pitchFamily="34" charset="-122"/>
                <a:cs typeface="Calibri" pitchFamily="34" charset="-120"/>
              </a:rPr>
              <a:t>NUTRITION 3/3   </a:t>
            </a:r>
            <a:r>
              <a:rPr lang="en-US" sz="1100" b="1" kern="0" spc="200" dirty="0">
                <a:solidFill>
                  <a:srgbClr val="9DBAC3"/>
                </a:solidFill>
                <a:latin typeface="Calibri" pitchFamily="34" charset="0"/>
                <a:ea typeface="Calibri" pitchFamily="34" charset="-122"/>
                <a:cs typeface="Calibri" pitchFamily="34" charset="-120"/>
              </a:rPr>
              <a:t>|   PRESENTER: VICTOR HONG</a:t>
            </a:r>
            <a:endParaRPr lang="en-US" sz="1100" dirty="0"/>
          </a:p>
        </p:txBody>
      </p:sp>
      <p:sp>
        <p:nvSpPr>
          <p:cNvPr id="5" name="Text 3"/>
          <p:cNvSpPr/>
          <p:nvPr/>
        </p:nvSpPr>
        <p:spPr>
          <a:xfrm>
            <a:off x="548640" y="566928"/>
            <a:ext cx="859536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The safety net you never see</a:t>
            </a:r>
            <a:endParaRPr lang="en-US" sz="2600" dirty="0"/>
          </a:p>
        </p:txBody>
      </p:sp>
      <p:sp>
        <p:nvSpPr>
          <p:cNvPr id="6" name="Shape 4"/>
          <p:cNvSpPr/>
          <p:nvPr/>
        </p:nvSpPr>
        <p:spPr>
          <a:xfrm>
            <a:off x="566928" y="1545336"/>
            <a:ext cx="457200" cy="457200"/>
          </a:xfrm>
          <a:prstGeom prst="ellipse">
            <a:avLst/>
          </a:prstGeom>
          <a:solidFill>
            <a:srgbClr val="123441"/>
          </a:solidFill>
          <a:ln w="9525">
            <a:solidFill>
              <a:srgbClr val="1E4A57"/>
            </a:solidFill>
            <a:prstDash val="solid"/>
          </a:ln>
        </p:spPr>
        <p:txBody>
          <a:bodyPr/>
          <a:lstStyle/>
          <a:p>
            <a:endParaRPr lang="en-AU"/>
          </a:p>
        </p:txBody>
      </p:sp>
      <p:pic>
        <p:nvPicPr>
          <p:cNvPr id="7" name="Image 0" descr="C:\Users\lumin\AppData\Local\Temp\claude\C--Users-lumin-Desktop-aquazerofit\2e3b7983-e45b-4e1c-8fdf-0a5635a22264\scratchpad\assets\icon_ban_red.png"/>
          <p:cNvPicPr>
            <a:picLocks noChangeAspect="1"/>
          </p:cNvPicPr>
          <p:nvPr/>
        </p:nvPicPr>
        <p:blipFill>
          <a:blip r:embed="rId4"/>
          <a:stretch>
            <a:fillRect/>
          </a:stretch>
        </p:blipFill>
        <p:spPr>
          <a:xfrm>
            <a:off x="676656" y="1664208"/>
            <a:ext cx="237744" cy="237744"/>
          </a:xfrm>
          <a:prstGeom prst="rect">
            <a:avLst/>
          </a:prstGeom>
        </p:spPr>
      </p:pic>
      <p:sp>
        <p:nvSpPr>
          <p:cNvPr id="8" name="Text 5"/>
          <p:cNvSpPr/>
          <p:nvPr/>
        </p:nvSpPr>
        <p:spPr>
          <a:xfrm>
            <a:off x="1188720" y="1490472"/>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Allergens: two independent nets, zero AI</a:t>
            </a:r>
            <a:endParaRPr lang="en-US" sz="1350" dirty="0"/>
          </a:p>
        </p:txBody>
      </p:sp>
      <p:sp>
        <p:nvSpPr>
          <p:cNvPr id="9" name="Text 6"/>
          <p:cNvSpPr/>
          <p:nvPr/>
        </p:nvSpPr>
        <p:spPr>
          <a:xfrm>
            <a:off x="1188720" y="1764792"/>
            <a:ext cx="7818120" cy="68580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Nine allergen classes filtered in code, the record’s declared field, plus a keyword net that catches untagged records (satay → peanuts, tahini → sesame). Over-blocking is acceptable; under-blocking never is.</a:t>
            </a:r>
            <a:endParaRPr lang="en-US" sz="1100" dirty="0"/>
          </a:p>
        </p:txBody>
      </p:sp>
      <p:sp>
        <p:nvSpPr>
          <p:cNvPr id="10" name="Shape 7"/>
          <p:cNvSpPr/>
          <p:nvPr/>
        </p:nvSpPr>
        <p:spPr>
          <a:xfrm>
            <a:off x="566928" y="2523744"/>
            <a:ext cx="457200" cy="457200"/>
          </a:xfrm>
          <a:prstGeom prst="ellipse">
            <a:avLst/>
          </a:prstGeom>
          <a:solidFill>
            <a:srgbClr val="123441"/>
          </a:solidFill>
          <a:ln w="9525">
            <a:solidFill>
              <a:srgbClr val="1E4A57"/>
            </a:solidFill>
            <a:prstDash val="solid"/>
          </a:ln>
        </p:spPr>
        <p:txBody>
          <a:bodyPr/>
          <a:lstStyle/>
          <a:p>
            <a:endParaRPr lang="en-AU"/>
          </a:p>
        </p:txBody>
      </p:sp>
      <p:pic>
        <p:nvPicPr>
          <p:cNvPr id="11" name="Image 1" descr="C:\Users\lumin\AppData\Local\Temp\claude\C--Users-lumin-Desktop-aquazerofit\2e3b7983-e45b-4e1c-8fdf-0a5635a22264\scratchpad\assets\icon_utensils_mint.png"/>
          <p:cNvPicPr>
            <a:picLocks noChangeAspect="1"/>
          </p:cNvPicPr>
          <p:nvPr/>
        </p:nvPicPr>
        <p:blipFill>
          <a:blip r:embed="rId5"/>
          <a:stretch>
            <a:fillRect/>
          </a:stretch>
        </p:blipFill>
        <p:spPr>
          <a:xfrm>
            <a:off x="676656" y="2642616"/>
            <a:ext cx="237744" cy="237744"/>
          </a:xfrm>
          <a:prstGeom prst="rect">
            <a:avLst/>
          </a:prstGeom>
        </p:spPr>
      </p:pic>
      <p:sp>
        <p:nvSpPr>
          <p:cNvPr id="12" name="Text 8"/>
          <p:cNvSpPr/>
          <p:nvPr/>
        </p:nvSpPr>
        <p:spPr>
          <a:xfrm>
            <a:off x="1188720" y="2468880"/>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Suggestions the model cannot sabotage</a:t>
            </a:r>
            <a:endParaRPr lang="en-US" sz="1350" dirty="0"/>
          </a:p>
        </p:txBody>
      </p:sp>
      <p:sp>
        <p:nvSpPr>
          <p:cNvPr id="13" name="Text 9"/>
          <p:cNvSpPr/>
          <p:nvPr/>
        </p:nvSpPr>
        <p:spPr>
          <a:xfrm>
            <a:off x="1188720" y="2743200"/>
            <a:ext cx="7818120" cy="68580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Code computes your remaining budget and filters candidates for diet and allergens; the model only ranks the survivors, and even its pick is re-checked against the safe list.</a:t>
            </a:r>
            <a:endParaRPr lang="en-US" sz="1100" dirty="0"/>
          </a:p>
        </p:txBody>
      </p:sp>
      <p:sp>
        <p:nvSpPr>
          <p:cNvPr id="14" name="Shape 10"/>
          <p:cNvSpPr/>
          <p:nvPr/>
        </p:nvSpPr>
        <p:spPr>
          <a:xfrm>
            <a:off x="566928" y="3502152"/>
            <a:ext cx="457200" cy="457200"/>
          </a:xfrm>
          <a:prstGeom prst="ellipse">
            <a:avLst/>
          </a:prstGeom>
          <a:solidFill>
            <a:srgbClr val="123441"/>
          </a:solidFill>
          <a:ln w="9525">
            <a:solidFill>
              <a:srgbClr val="1E4A57"/>
            </a:solidFill>
            <a:prstDash val="solid"/>
          </a:ln>
        </p:spPr>
        <p:txBody>
          <a:bodyPr/>
          <a:lstStyle/>
          <a:p>
            <a:endParaRPr lang="en-AU"/>
          </a:p>
        </p:txBody>
      </p:sp>
      <p:pic>
        <p:nvPicPr>
          <p:cNvPr id="15" name="Image 2" descr="C:\Users\lumin\AppData\Local\Temp\claude\C--Users-lumin-Desktop-aquazerofit\2e3b7983-e45b-4e1c-8fdf-0a5635a22264\scratchpad\assets\icon_leaf_mint.png"/>
          <p:cNvPicPr>
            <a:picLocks noChangeAspect="1"/>
          </p:cNvPicPr>
          <p:nvPr/>
        </p:nvPicPr>
        <p:blipFill>
          <a:blip r:embed="rId6"/>
          <a:stretch>
            <a:fillRect/>
          </a:stretch>
        </p:blipFill>
        <p:spPr>
          <a:xfrm>
            <a:off x="676656" y="3621024"/>
            <a:ext cx="237744" cy="237744"/>
          </a:xfrm>
          <a:prstGeom prst="rect">
            <a:avLst/>
          </a:prstGeom>
        </p:spPr>
      </p:pic>
      <p:sp>
        <p:nvSpPr>
          <p:cNvPr id="16" name="Text 11"/>
          <p:cNvSpPr/>
          <p:nvPr/>
        </p:nvSpPr>
        <p:spPr>
          <a:xfrm>
            <a:off x="1188720" y="3447288"/>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Depth without clutter</a:t>
            </a:r>
            <a:endParaRPr lang="en-US" sz="1350" dirty="0"/>
          </a:p>
        </p:txBody>
      </p:sp>
      <p:sp>
        <p:nvSpPr>
          <p:cNvPr id="17" name="Text 12"/>
          <p:cNvSpPr/>
          <p:nvPr/>
        </p:nvSpPr>
        <p:spPr>
          <a:xfrm>
            <a:off x="1188720" y="3721608"/>
            <a:ext cx="7818120" cy="68580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Six micronutrients (fibre, sugar, sodium, potassium, calcium, iron) folded live from your log; 17 curated, licensed recipes loggable in one tap.</a:t>
            </a:r>
            <a:endParaRPr lang="en-US" sz="1100" dirty="0"/>
          </a:p>
        </p:txBody>
      </p:sp>
      <p:sp>
        <p:nvSpPr>
          <p:cNvPr id="18" name="Shape 13"/>
          <p:cNvSpPr/>
          <p:nvPr/>
        </p:nvSpPr>
        <p:spPr>
          <a:xfrm>
            <a:off x="566928" y="4480560"/>
            <a:ext cx="457200" cy="457200"/>
          </a:xfrm>
          <a:prstGeom prst="ellipse">
            <a:avLst/>
          </a:prstGeom>
          <a:solidFill>
            <a:srgbClr val="123441"/>
          </a:solidFill>
          <a:ln w="9525">
            <a:solidFill>
              <a:srgbClr val="1E4A57"/>
            </a:solidFill>
            <a:prstDash val="solid"/>
          </a:ln>
        </p:spPr>
        <p:txBody>
          <a:bodyPr/>
          <a:lstStyle/>
          <a:p>
            <a:endParaRPr lang="en-AU"/>
          </a:p>
        </p:txBody>
      </p:sp>
      <p:pic>
        <p:nvPicPr>
          <p:cNvPr id="19" name="Image 3" descr="C:\Users\lumin\AppData\Local\Temp\claude\C--Users-lumin-Desktop-aquazerofit\2e3b7983-e45b-4e1c-8fdf-0a5635a22264\scratchpad\assets\icon_exportf_cyan.png"/>
          <p:cNvPicPr>
            <a:picLocks noChangeAspect="1"/>
          </p:cNvPicPr>
          <p:nvPr/>
        </p:nvPicPr>
        <p:blipFill>
          <a:blip r:embed="rId7"/>
          <a:stretch>
            <a:fillRect/>
          </a:stretch>
        </p:blipFill>
        <p:spPr>
          <a:xfrm>
            <a:off x="676656" y="4599432"/>
            <a:ext cx="237744" cy="237744"/>
          </a:xfrm>
          <a:prstGeom prst="rect">
            <a:avLst/>
          </a:prstGeom>
        </p:spPr>
      </p:pic>
      <p:sp>
        <p:nvSpPr>
          <p:cNvPr id="20" name="Text 14"/>
          <p:cNvSpPr/>
          <p:nvPr/>
        </p:nvSpPr>
        <p:spPr>
          <a:xfrm>
            <a:off x="1188720" y="4425696"/>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Your data leaves with you</a:t>
            </a:r>
            <a:endParaRPr lang="en-US" sz="1350" dirty="0"/>
          </a:p>
        </p:txBody>
      </p:sp>
      <p:sp>
        <p:nvSpPr>
          <p:cNvPr id="21" name="Text 15"/>
          <p:cNvSpPr/>
          <p:nvPr/>
        </p:nvSpPr>
        <p:spPr>
          <a:xfrm>
            <a:off x="1188720" y="4700016"/>
            <a:ext cx="7818120" cy="68580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Full diary export in JSON or CSV (meals, macros, micronutrients, hydration), ready for a dietitian or another app. Data rights you can exercise, not just read about.</a:t>
            </a:r>
            <a:endParaRPr lang="en-US" sz="1100" dirty="0"/>
          </a:p>
        </p:txBody>
      </p:sp>
      <p:sp>
        <p:nvSpPr>
          <p:cNvPr id="22" name="Shape 16"/>
          <p:cNvSpPr/>
          <p:nvPr/>
        </p:nvSpPr>
        <p:spPr>
          <a:xfrm>
            <a:off x="548640"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3" name="Text 17"/>
          <p:cNvSpPr/>
          <p:nvPr/>
        </p:nvSpPr>
        <p:spPr>
          <a:xfrm>
            <a:off x="548640" y="5596128"/>
            <a:ext cx="2002536" cy="329184"/>
          </a:xfrm>
          <a:prstGeom prst="rect">
            <a:avLst/>
          </a:prstGeom>
          <a:noFill/>
          <a:ln/>
        </p:spPr>
        <p:txBody>
          <a:bodyPr wrap="square" lIns="0" tIns="0" rIns="0" bIns="0" rtlCol="0" anchor="ctr"/>
          <a:lstStyle/>
          <a:p>
            <a:pPr marL="0" indent="0" algn="ctr">
              <a:buNone/>
            </a:pPr>
            <a:r>
              <a:rPr lang="en-US" sz="1500" b="1" dirty="0">
                <a:solidFill>
                  <a:srgbClr val="FF7B7B"/>
                </a:solidFill>
                <a:latin typeface="Calibri" pitchFamily="34" charset="0"/>
                <a:ea typeface="Calibri" pitchFamily="34" charset="-122"/>
                <a:cs typeface="Calibri" pitchFamily="34" charset="-120"/>
              </a:rPr>
              <a:t>9</a:t>
            </a:r>
            <a:endParaRPr lang="en-US" sz="1500" dirty="0"/>
          </a:p>
        </p:txBody>
      </p:sp>
      <p:sp>
        <p:nvSpPr>
          <p:cNvPr id="24" name="Text 18"/>
          <p:cNvSpPr/>
          <p:nvPr/>
        </p:nvSpPr>
        <p:spPr>
          <a:xfrm>
            <a:off x="621792"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allergen classes</a:t>
            </a:r>
            <a:endParaRPr lang="en-US" sz="870" dirty="0"/>
          </a:p>
        </p:txBody>
      </p:sp>
      <p:sp>
        <p:nvSpPr>
          <p:cNvPr id="25" name="Shape 19"/>
          <p:cNvSpPr/>
          <p:nvPr/>
        </p:nvSpPr>
        <p:spPr>
          <a:xfrm>
            <a:off x="2715768"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6" name="Text 20"/>
          <p:cNvSpPr/>
          <p:nvPr/>
        </p:nvSpPr>
        <p:spPr>
          <a:xfrm>
            <a:off x="2715768" y="5596128"/>
            <a:ext cx="2002536" cy="329184"/>
          </a:xfrm>
          <a:prstGeom prst="rect">
            <a:avLst/>
          </a:prstGeom>
          <a:noFill/>
          <a:ln/>
        </p:spPr>
        <p:txBody>
          <a:bodyPr wrap="square" lIns="0" tIns="0" rIns="0" bIns="0" rtlCol="0" anchor="ctr"/>
          <a:lstStyle/>
          <a:p>
            <a:pPr marL="0" indent="0" algn="ctr">
              <a:buNone/>
            </a:pPr>
            <a:r>
              <a:rPr lang="en-US" sz="1500" b="1" dirty="0">
                <a:solidFill>
                  <a:srgbClr val="3DE8B0"/>
                </a:solidFill>
                <a:latin typeface="Calibri" pitchFamily="34" charset="0"/>
                <a:ea typeface="Calibri" pitchFamily="34" charset="-122"/>
                <a:cs typeface="Calibri" pitchFamily="34" charset="-120"/>
              </a:rPr>
              <a:t>2</a:t>
            </a:r>
            <a:endParaRPr lang="en-US" sz="1500" dirty="0"/>
          </a:p>
        </p:txBody>
      </p:sp>
      <p:sp>
        <p:nvSpPr>
          <p:cNvPr id="27" name="Text 21"/>
          <p:cNvSpPr/>
          <p:nvPr/>
        </p:nvSpPr>
        <p:spPr>
          <a:xfrm>
            <a:off x="2788920"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independent filter nets</a:t>
            </a:r>
            <a:endParaRPr lang="en-US" sz="870" dirty="0"/>
          </a:p>
        </p:txBody>
      </p:sp>
      <p:sp>
        <p:nvSpPr>
          <p:cNvPr id="28" name="Shape 22"/>
          <p:cNvSpPr/>
          <p:nvPr/>
        </p:nvSpPr>
        <p:spPr>
          <a:xfrm>
            <a:off x="4882896"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9" name="Text 23"/>
          <p:cNvSpPr/>
          <p:nvPr/>
        </p:nvSpPr>
        <p:spPr>
          <a:xfrm>
            <a:off x="4882896" y="5596128"/>
            <a:ext cx="2002536" cy="329184"/>
          </a:xfrm>
          <a:prstGeom prst="rect">
            <a:avLst/>
          </a:prstGeom>
          <a:noFill/>
          <a:ln/>
        </p:spPr>
        <p:txBody>
          <a:bodyPr wrap="square" lIns="0" tIns="0" rIns="0" bIns="0" rtlCol="0" anchor="ctr"/>
          <a:lstStyle/>
          <a:p>
            <a:pPr marL="0" indent="0" algn="ctr">
              <a:buNone/>
            </a:pPr>
            <a:r>
              <a:rPr lang="en-US" sz="1500" b="1" dirty="0">
                <a:solidFill>
                  <a:srgbClr val="4FD8F0"/>
                </a:solidFill>
                <a:latin typeface="Calibri" pitchFamily="34" charset="0"/>
                <a:ea typeface="Calibri" pitchFamily="34" charset="-122"/>
                <a:cs typeface="Calibri" pitchFamily="34" charset="-120"/>
              </a:rPr>
              <a:t>6</a:t>
            </a:r>
            <a:endParaRPr lang="en-US" sz="1500" dirty="0"/>
          </a:p>
        </p:txBody>
      </p:sp>
      <p:sp>
        <p:nvSpPr>
          <p:cNvPr id="30" name="Text 24"/>
          <p:cNvSpPr/>
          <p:nvPr/>
        </p:nvSpPr>
        <p:spPr>
          <a:xfrm>
            <a:off x="4956048"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micronutrients tracked</a:t>
            </a:r>
            <a:endParaRPr lang="en-US" sz="870" dirty="0"/>
          </a:p>
        </p:txBody>
      </p:sp>
      <p:sp>
        <p:nvSpPr>
          <p:cNvPr id="31" name="Shape 25"/>
          <p:cNvSpPr/>
          <p:nvPr/>
        </p:nvSpPr>
        <p:spPr>
          <a:xfrm>
            <a:off x="7050024"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32" name="Text 26"/>
          <p:cNvSpPr/>
          <p:nvPr/>
        </p:nvSpPr>
        <p:spPr>
          <a:xfrm>
            <a:off x="7050024" y="5596128"/>
            <a:ext cx="2002536" cy="329184"/>
          </a:xfrm>
          <a:prstGeom prst="rect">
            <a:avLst/>
          </a:prstGeom>
          <a:noFill/>
          <a:ln/>
        </p:spPr>
        <p:txBody>
          <a:bodyPr wrap="square" lIns="0" tIns="0" rIns="0" bIns="0" rtlCol="0" anchor="ctr"/>
          <a:lstStyle/>
          <a:p>
            <a:pPr marL="0" indent="0" algn="ctr">
              <a:buNone/>
            </a:pPr>
            <a:r>
              <a:rPr lang="en-US" sz="1500" b="1" dirty="0">
                <a:solidFill>
                  <a:srgbClr val="FFC94D"/>
                </a:solidFill>
                <a:latin typeface="Calibri" pitchFamily="34" charset="0"/>
                <a:ea typeface="Calibri" pitchFamily="34" charset="-122"/>
                <a:cs typeface="Calibri" pitchFamily="34" charset="-120"/>
              </a:rPr>
              <a:t>JSON/CSV</a:t>
            </a:r>
            <a:endParaRPr lang="en-US" sz="1500" dirty="0"/>
          </a:p>
        </p:txBody>
      </p:sp>
      <p:sp>
        <p:nvSpPr>
          <p:cNvPr id="33" name="Text 27"/>
          <p:cNvSpPr/>
          <p:nvPr/>
        </p:nvSpPr>
        <p:spPr>
          <a:xfrm>
            <a:off x="7123176"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one-request export</a:t>
            </a:r>
            <a:endParaRPr lang="en-US" sz="870" dirty="0"/>
          </a:p>
        </p:txBody>
      </p:sp>
      <p:sp>
        <p:nvSpPr>
          <p:cNvPr id="34" name="Shape 28"/>
          <p:cNvSpPr/>
          <p:nvPr/>
        </p:nvSpPr>
        <p:spPr>
          <a:xfrm>
            <a:off x="9354312" y="1307592"/>
            <a:ext cx="2388556" cy="5020056"/>
          </a:xfrm>
          <a:prstGeom prst="roundRect">
            <a:avLst>
              <a:gd name="adj" fmla="val 4594"/>
            </a:avLst>
          </a:prstGeom>
          <a:solidFill>
            <a:srgbClr val="062028"/>
          </a:solidFill>
          <a:ln w="12700">
            <a:solidFill>
              <a:srgbClr val="1E4A57"/>
            </a:solidFill>
            <a:prstDash val="solid"/>
          </a:ln>
        </p:spPr>
        <p:txBody>
          <a:bodyPr/>
          <a:lstStyle/>
          <a:p>
            <a:endParaRPr lang="en-AU"/>
          </a:p>
        </p:txBody>
      </p:sp>
      <p:pic>
        <p:nvPicPr>
          <p:cNvPr id="35" name="Image 4" descr="C:\Users\lumin\Desktop\aquazerofit\docs\screenshots\06-meal-plan.png"/>
          <p:cNvPicPr>
            <a:picLocks noChangeAspect="1"/>
          </p:cNvPicPr>
          <p:nvPr/>
        </p:nvPicPr>
        <p:blipFill>
          <a:blip r:embed="rId8"/>
          <a:stretch>
            <a:fillRect/>
          </a:stretch>
        </p:blipFill>
        <p:spPr>
          <a:xfrm>
            <a:off x="9418320" y="1371600"/>
            <a:ext cx="2260540" cy="48920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11</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3DE8B0"/>
                </a:solidFill>
                <a:latin typeface="Calibri" pitchFamily="34" charset="0"/>
                <a:ea typeface="Calibri" pitchFamily="34" charset="-122"/>
                <a:cs typeface="Calibri" pitchFamily="34" charset="-120"/>
              </a:rPr>
              <a:t>NUTRITION · UNDER THE HOOD   </a:t>
            </a:r>
            <a:r>
              <a:rPr lang="en-US" sz="1100" b="1" kern="0" spc="200" dirty="0">
                <a:solidFill>
                  <a:srgbClr val="9DBAC3"/>
                </a:solidFill>
                <a:latin typeface="Calibri" pitchFamily="34" charset="0"/>
                <a:ea typeface="Calibri" pitchFamily="34" charset="-122"/>
                <a:cs typeface="Calibri" pitchFamily="34" charset="-120"/>
              </a:rPr>
              <a:t>|   PRESENTER: VICTOR HONG</a:t>
            </a:r>
            <a:endParaRPr lang="en-US" sz="1100" dirty="0"/>
          </a:p>
        </p:txBody>
      </p:sp>
      <p:sp>
        <p:nvSpPr>
          <p:cNvPr id="5" name="Text 3"/>
          <p:cNvSpPr/>
          <p:nvPr/>
        </p:nvSpPr>
        <p:spPr>
          <a:xfrm>
            <a:off x="548640" y="566928"/>
            <a:ext cx="1106424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Where the safety lives in code</a:t>
            </a:r>
            <a:endParaRPr lang="en-US" sz="2600" dirty="0"/>
          </a:p>
        </p:txBody>
      </p:sp>
      <p:sp>
        <p:nvSpPr>
          <p:cNvPr id="6" name="Shape 4"/>
          <p:cNvSpPr/>
          <p:nvPr/>
        </p:nvSpPr>
        <p:spPr>
          <a:xfrm>
            <a:off x="548640" y="1463040"/>
            <a:ext cx="5532120" cy="4846320"/>
          </a:xfrm>
          <a:prstGeom prst="roundRect">
            <a:avLst>
              <a:gd name="adj" fmla="val 1698"/>
            </a:avLst>
          </a:prstGeom>
          <a:solidFill>
            <a:srgbClr val="04141B"/>
          </a:solidFill>
          <a:ln w="12700">
            <a:solidFill>
              <a:srgbClr val="1E4A57"/>
            </a:solidFill>
            <a:prstDash val="solid"/>
          </a:ln>
        </p:spPr>
        <p:txBody>
          <a:bodyPr/>
          <a:lstStyle/>
          <a:p>
            <a:endParaRPr lang="en-AU"/>
          </a:p>
        </p:txBody>
      </p:sp>
      <p:sp>
        <p:nvSpPr>
          <p:cNvPr id="7" name="Shape 5"/>
          <p:cNvSpPr/>
          <p:nvPr/>
        </p:nvSpPr>
        <p:spPr>
          <a:xfrm>
            <a:off x="749808" y="1645920"/>
            <a:ext cx="109728" cy="109728"/>
          </a:xfrm>
          <a:prstGeom prst="ellipse">
            <a:avLst/>
          </a:prstGeom>
          <a:solidFill>
            <a:srgbClr val="3DE8B0"/>
          </a:solidFill>
          <a:ln/>
        </p:spPr>
        <p:txBody>
          <a:bodyPr/>
          <a:lstStyle/>
          <a:p>
            <a:endParaRPr lang="en-AU"/>
          </a:p>
        </p:txBody>
      </p:sp>
      <p:sp>
        <p:nvSpPr>
          <p:cNvPr id="8" name="Text 6"/>
          <p:cNvSpPr/>
          <p:nvPr/>
        </p:nvSpPr>
        <p:spPr>
          <a:xfrm>
            <a:off x="950976" y="1554480"/>
            <a:ext cx="4983480" cy="292608"/>
          </a:xfrm>
          <a:prstGeom prst="rect">
            <a:avLst/>
          </a:prstGeom>
          <a:noFill/>
          <a:ln/>
        </p:spPr>
        <p:txBody>
          <a:bodyPr wrap="square" lIns="0" tIns="0" rIns="0" bIns="0" rtlCol="0" anchor="ctr"/>
          <a:lstStyle/>
          <a:p>
            <a:pPr marL="0" indent="0">
              <a:buNone/>
            </a:pPr>
            <a:r>
              <a:rPr lang="en-US" sz="900" dirty="0">
                <a:solidFill>
                  <a:srgbClr val="9DBAC3"/>
                </a:solidFill>
                <a:latin typeface="Courier New" pitchFamily="34" charset="0"/>
                <a:ea typeface="Courier New" pitchFamily="34" charset="-122"/>
                <a:cs typeface="Courier New" pitchFamily="34" charset="-120"/>
              </a:rPr>
              <a:t>apps/api/src/modules/me/targets.ts</a:t>
            </a:r>
            <a:endParaRPr lang="en-US" sz="900" dirty="0"/>
          </a:p>
        </p:txBody>
      </p:sp>
      <p:sp>
        <p:nvSpPr>
          <p:cNvPr id="9" name="Text 7"/>
          <p:cNvSpPr/>
          <p:nvPr/>
        </p:nvSpPr>
        <p:spPr>
          <a:xfrm>
            <a:off x="786384" y="1920240"/>
            <a:ext cx="5074920" cy="3712464"/>
          </a:xfrm>
          <a:prstGeom prst="rect">
            <a:avLst/>
          </a:prstGeom>
          <a:noFill/>
          <a:ln/>
        </p:spPr>
        <p:txBody>
          <a:bodyPr wrap="square" lIns="0" tIns="0" rIns="0" bIns="0" rtlCol="0" anchor="t"/>
          <a:lstStyle/>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export </a:t>
            </a:r>
            <a:r>
              <a:rPr lang="en-US" sz="950" b="1" dirty="0">
                <a:solidFill>
                  <a:srgbClr val="4FD8F0"/>
                </a:solidFill>
                <a:latin typeface="Courier New" pitchFamily="34" charset="0"/>
                <a:ea typeface="Courier New" pitchFamily="34" charset="-122"/>
                <a:cs typeface="Courier New" pitchFamily="34" charset="-120"/>
              </a:rPr>
              <a:t>function</a:t>
            </a:r>
            <a:r>
              <a:rPr lang="en-US" sz="950" dirty="0">
                <a:solidFill>
                  <a:srgbClr val="D9EAEF"/>
                </a:solidFill>
                <a:latin typeface="Courier New" pitchFamily="34" charset="0"/>
                <a:ea typeface="Courier New" pitchFamily="34" charset="-122"/>
                <a:cs typeface="Courier New" pitchFamily="34" charset="-120"/>
              </a:rPr>
              <a:t> computeTargets(profile)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const</a:t>
            </a:r>
            <a:r>
              <a:rPr lang="en-US" sz="950" dirty="0">
                <a:solidFill>
                  <a:srgbClr val="D9EAEF"/>
                </a:solidFill>
                <a:latin typeface="Courier New" pitchFamily="34" charset="0"/>
                <a:ea typeface="Courier New" pitchFamily="34" charset="-122"/>
                <a:cs typeface="Courier New" pitchFamily="34" charset="-120"/>
              </a:rPr>
              <a:t> bmr    = computeBmr(profile);            </a:t>
            </a:r>
            <a:r>
              <a:rPr lang="en-US" sz="950" dirty="0">
                <a:solidFill>
                  <a:srgbClr val="7A98A1"/>
                </a:solidFill>
                <a:latin typeface="Courier New" pitchFamily="34" charset="0"/>
                <a:ea typeface="Courier New" pitchFamily="34" charset="-122"/>
                <a:cs typeface="Courier New" pitchFamily="34" charset="-120"/>
              </a:rPr>
              <a:t>// Mifflin-St Jeor</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const</a:t>
            </a:r>
            <a:r>
              <a:rPr lang="en-US" sz="950" dirty="0">
                <a:solidFill>
                  <a:srgbClr val="D9EAEF"/>
                </a:solidFill>
                <a:latin typeface="Courier New" pitchFamily="34" charset="0"/>
                <a:ea typeface="Courier New" pitchFamily="34" charset="-122"/>
                <a:cs typeface="Courier New" pitchFamily="34" charset="-120"/>
              </a:rPr>
              <a:t> tdee   = bmr * ACTIVITY_FACTORS[profile.activityLevel];</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const</a:t>
            </a:r>
            <a:r>
              <a:rPr lang="en-US" sz="950" dirty="0">
                <a:solidFill>
                  <a:srgbClr val="D9EAEF"/>
                </a:solidFill>
                <a:latin typeface="Courier New" pitchFamily="34" charset="0"/>
                <a:ea typeface="Courier New" pitchFamily="34" charset="-122"/>
                <a:cs typeface="Courier New" pitchFamily="34" charset="-120"/>
              </a:rPr>
              <a:t> rawTarget = tdee + dailyAdjustment(profile.goal,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Safety clamp: the engine never proposes intake below</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the floor (FR-031).</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const</a:t>
            </a:r>
            <a:r>
              <a:rPr lang="en-US" sz="950" dirty="0">
                <a:solidFill>
                  <a:srgbClr val="D9EAEF"/>
                </a:solidFill>
                <a:latin typeface="Courier New" pitchFamily="34" charset="0"/>
                <a:ea typeface="Courier New" pitchFamily="34" charset="-122"/>
                <a:cs typeface="Courier New" pitchFamily="34" charset="-120"/>
              </a:rPr>
              <a:t> floor      = KCAL_FLOOR[profile.sex];    </a:t>
            </a:r>
            <a:r>
              <a:rPr lang="en-US" sz="950" dirty="0">
                <a:solidFill>
                  <a:srgbClr val="7A98A1"/>
                </a:solidFill>
                <a:latin typeface="Courier New" pitchFamily="34" charset="0"/>
                <a:ea typeface="Courier New" pitchFamily="34" charset="-122"/>
                <a:cs typeface="Courier New" pitchFamily="34" charset="-120"/>
              </a:rPr>
              <a:t>// 1200 / 1500</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const</a:t>
            </a:r>
            <a:r>
              <a:rPr lang="en-US" sz="950" dirty="0">
                <a:solidFill>
                  <a:srgbClr val="D9EAEF"/>
                </a:solidFill>
                <a:latin typeface="Courier New" pitchFamily="34" charset="0"/>
                <a:ea typeface="Courier New" pitchFamily="34" charset="-122"/>
                <a:cs typeface="Courier New" pitchFamily="34" charset="-120"/>
              </a:rPr>
              <a:t> clamped    = rawTarget &lt; floor;</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const</a:t>
            </a:r>
            <a:r>
              <a:rPr lang="en-US" sz="950" dirty="0">
                <a:solidFill>
                  <a:srgbClr val="D9EAEF"/>
                </a:solidFill>
                <a:latin typeface="Courier New" pitchFamily="34" charset="0"/>
                <a:ea typeface="Courier New" pitchFamily="34" charset="-122"/>
                <a:cs typeface="Courier New" pitchFamily="34" charset="-120"/>
              </a:rPr>
              <a:t> kcalTarget = clamped ? floor : rawTarget;</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const</a:t>
            </a:r>
            <a:r>
              <a:rPr lang="en-US" sz="950" dirty="0">
                <a:solidFill>
                  <a:srgbClr val="D9EAEF"/>
                </a:solidFill>
                <a:latin typeface="Courier New" pitchFamily="34" charset="0"/>
                <a:ea typeface="Courier New" pitchFamily="34" charset="-122"/>
                <a:cs typeface="Courier New" pitchFamily="34" charset="-120"/>
              </a:rPr>
              <a:t> clampReason = clamped</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 </a:t>
            </a:r>
            <a:r>
              <a:rPr lang="en-US" sz="950" dirty="0">
                <a:solidFill>
                  <a:srgbClr val="3DE8B0"/>
                </a:solidFill>
                <a:latin typeface="Courier New" pitchFamily="34" charset="0"/>
                <a:ea typeface="Courier New" pitchFamily="34" charset="-122"/>
                <a:cs typeface="Courier New" pitchFamily="34" charset="-120"/>
              </a:rPr>
              <a:t>`Calculated target (... kcal) is below the safe</a:t>
            </a:r>
            <a:endParaRPr lang="en-US" sz="950" dirty="0"/>
          </a:p>
          <a:p>
            <a:pPr marL="0" indent="0">
              <a:lnSpc>
                <a:spcPct val="112000"/>
              </a:lnSpc>
              <a:buNone/>
            </a:pPr>
            <a:r>
              <a:rPr lang="en-US" sz="950" dirty="0">
                <a:solidFill>
                  <a:srgbClr val="3DE8B0"/>
                </a:solidFill>
                <a:latin typeface="Courier New" pitchFamily="34" charset="0"/>
                <a:ea typeface="Courier New" pitchFamily="34" charset="-122"/>
                <a:cs typeface="Courier New" pitchFamily="34" charset="-120"/>
              </a:rPr>
              <a:t>       minimum of ${floor} kcal, so the target was raised</a:t>
            </a:r>
            <a:endParaRPr lang="en-US" sz="950" dirty="0"/>
          </a:p>
          <a:p>
            <a:pPr marL="0" indent="0">
              <a:lnSpc>
                <a:spcPct val="112000"/>
              </a:lnSpc>
              <a:buNone/>
            </a:pPr>
            <a:r>
              <a:rPr lang="en-US" sz="950" dirty="0">
                <a:solidFill>
                  <a:srgbClr val="3DE8B0"/>
                </a:solidFill>
                <a:latin typeface="Courier New" pitchFamily="34" charset="0"/>
                <a:ea typeface="Courier New" pitchFamily="34" charset="-122"/>
                <a:cs typeface="Courier New" pitchFamily="34" charset="-120"/>
              </a:rPr>
              <a:t>       to the floor. Consider a gentler rate of change.`</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 </a:t>
            </a:r>
            <a:r>
              <a:rPr lang="en-US" sz="950" dirty="0">
                <a:solidFill>
                  <a:srgbClr val="FFC94D"/>
                </a:solidFill>
                <a:latin typeface="Courier New" pitchFamily="34" charset="0"/>
                <a:ea typeface="Courier New" pitchFamily="34" charset="-122"/>
                <a:cs typeface="Courier New" pitchFamily="34" charset="-120"/>
              </a:rPr>
              <a:t>null</a:t>
            </a:r>
            <a:r>
              <a:rPr lang="en-US" sz="950" dirty="0">
                <a:solidFill>
                  <a:srgbClr val="D9EAEF"/>
                </a:solidFill>
                <a:latin typeface="Courier New" pitchFamily="34" charset="0"/>
                <a:ea typeface="Courier New" pitchFamily="34" charset="-122"/>
                <a:cs typeface="Courier New" pitchFamily="34" charset="-120"/>
              </a:rPr>
              <a:t>;</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return</a:t>
            </a:r>
            <a:r>
              <a:rPr lang="en-US" sz="950" dirty="0">
                <a:solidFill>
                  <a:srgbClr val="D9EAEF"/>
                </a:solidFill>
                <a:latin typeface="Courier New" pitchFamily="34" charset="0"/>
                <a:ea typeface="Courier New" pitchFamily="34" charset="-122"/>
                <a:cs typeface="Courier New" pitchFamily="34" charset="-120"/>
              </a:rPr>
              <a:t> { ..., clamped, clampReason,</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formulaVersion: FORMULA_VERSION };  </a:t>
            </a:r>
            <a:r>
              <a:rPr lang="en-US" sz="950" dirty="0">
                <a:solidFill>
                  <a:srgbClr val="7A98A1"/>
                </a:solidFill>
                <a:latin typeface="Courier New" pitchFamily="34" charset="0"/>
                <a:ea typeface="Courier New" pitchFamily="34" charset="-122"/>
                <a:cs typeface="Courier New" pitchFamily="34" charset="-120"/>
              </a:rPr>
              <a:t>// mifflin-stjeor-v1</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a:t>
            </a:r>
            <a:endParaRPr lang="en-US" sz="950" dirty="0"/>
          </a:p>
        </p:txBody>
      </p:sp>
      <p:sp>
        <p:nvSpPr>
          <p:cNvPr id="10" name="Text 8"/>
          <p:cNvSpPr/>
          <p:nvPr/>
        </p:nvSpPr>
        <p:spPr>
          <a:xfrm>
            <a:off x="786384" y="5705856"/>
            <a:ext cx="5074920" cy="512064"/>
          </a:xfrm>
          <a:prstGeom prst="rect">
            <a:avLst/>
          </a:prstGeom>
          <a:noFill/>
          <a:ln/>
        </p:spPr>
        <p:txBody>
          <a:bodyPr wrap="square" lIns="0" tIns="0" rIns="0" bIns="0" rtlCol="0" anchor="t"/>
          <a:lstStyle/>
          <a:p>
            <a:pPr marL="0" indent="0">
              <a:buNone/>
            </a:pPr>
            <a:r>
              <a:rPr lang="en-US" sz="750" b="1" kern="0" spc="150" dirty="0">
                <a:solidFill>
                  <a:srgbClr val="3DE8B0"/>
                </a:solidFill>
                <a:latin typeface="Calibri" pitchFamily="34" charset="0"/>
                <a:ea typeface="Calibri" pitchFamily="34" charset="-122"/>
                <a:cs typeface="Calibri" pitchFamily="34" charset="-120"/>
              </a:rPr>
              <a:t>WHY IT MATTERS   </a:t>
            </a:r>
            <a:r>
              <a:rPr lang="en-US" sz="950" dirty="0">
                <a:solidFill>
                  <a:srgbClr val="9DBAC3"/>
                </a:solidFill>
                <a:latin typeface="Calibri" pitchFamily="34" charset="0"/>
                <a:ea typeface="Calibri" pitchFamily="34" charset="-122"/>
                <a:cs typeface="Calibri" pitchFamily="34" charset="-120"/>
              </a:rPr>
              <a:t>No AI import anywhere in this file. The target is pure arithmetic, and when it overrules the user, it says why, in a sentence stored beside the number.</a:t>
            </a:r>
            <a:endParaRPr lang="en-US" sz="750" dirty="0"/>
          </a:p>
        </p:txBody>
      </p:sp>
      <p:sp>
        <p:nvSpPr>
          <p:cNvPr id="11" name="Shape 9"/>
          <p:cNvSpPr/>
          <p:nvPr/>
        </p:nvSpPr>
        <p:spPr>
          <a:xfrm>
            <a:off x="6309360" y="1463040"/>
            <a:ext cx="5349240" cy="4846320"/>
          </a:xfrm>
          <a:prstGeom prst="roundRect">
            <a:avLst>
              <a:gd name="adj" fmla="val 1698"/>
            </a:avLst>
          </a:prstGeom>
          <a:solidFill>
            <a:srgbClr val="04141B"/>
          </a:solidFill>
          <a:ln w="12700">
            <a:solidFill>
              <a:srgbClr val="1E4A57"/>
            </a:solidFill>
            <a:prstDash val="solid"/>
          </a:ln>
        </p:spPr>
        <p:txBody>
          <a:bodyPr/>
          <a:lstStyle/>
          <a:p>
            <a:endParaRPr lang="en-AU"/>
          </a:p>
        </p:txBody>
      </p:sp>
      <p:sp>
        <p:nvSpPr>
          <p:cNvPr id="12" name="Shape 10"/>
          <p:cNvSpPr/>
          <p:nvPr/>
        </p:nvSpPr>
        <p:spPr>
          <a:xfrm>
            <a:off x="6510528" y="1645920"/>
            <a:ext cx="109728" cy="109728"/>
          </a:xfrm>
          <a:prstGeom prst="ellipse">
            <a:avLst/>
          </a:prstGeom>
          <a:solidFill>
            <a:srgbClr val="3DE8B0"/>
          </a:solidFill>
          <a:ln/>
        </p:spPr>
        <p:txBody>
          <a:bodyPr/>
          <a:lstStyle/>
          <a:p>
            <a:endParaRPr lang="en-AU"/>
          </a:p>
        </p:txBody>
      </p:sp>
      <p:sp>
        <p:nvSpPr>
          <p:cNvPr id="13" name="Text 11"/>
          <p:cNvSpPr/>
          <p:nvPr/>
        </p:nvSpPr>
        <p:spPr>
          <a:xfrm>
            <a:off x="6711696" y="1554480"/>
            <a:ext cx="4800600" cy="292608"/>
          </a:xfrm>
          <a:prstGeom prst="rect">
            <a:avLst/>
          </a:prstGeom>
          <a:noFill/>
          <a:ln/>
        </p:spPr>
        <p:txBody>
          <a:bodyPr wrap="square" lIns="0" tIns="0" rIns="0" bIns="0" rtlCol="0" anchor="ctr"/>
          <a:lstStyle/>
          <a:p>
            <a:pPr marL="0" indent="0">
              <a:buNone/>
            </a:pPr>
            <a:r>
              <a:rPr lang="en-US" sz="900" dirty="0">
                <a:solidFill>
                  <a:srgbClr val="9DBAC3"/>
                </a:solidFill>
                <a:latin typeface="Courier New" pitchFamily="34" charset="0"/>
                <a:ea typeface="Courier New" pitchFamily="34" charset="-122"/>
                <a:cs typeface="Courier New" pitchFamily="34" charset="-120"/>
              </a:rPr>
              <a:t>apps/api/src/modules/recommendations/allergenFilter.ts</a:t>
            </a:r>
            <a:endParaRPr lang="en-US" sz="900" dirty="0"/>
          </a:p>
        </p:txBody>
      </p:sp>
      <p:sp>
        <p:nvSpPr>
          <p:cNvPr id="14" name="Text 12"/>
          <p:cNvSpPr/>
          <p:nvPr/>
        </p:nvSpPr>
        <p:spPr>
          <a:xfrm>
            <a:off x="6547104" y="1920240"/>
            <a:ext cx="4892040" cy="3712464"/>
          </a:xfrm>
          <a:prstGeom prst="rect">
            <a:avLst/>
          </a:prstGeom>
          <a:noFill/>
          <a:ln/>
        </p:spPr>
        <p:txBody>
          <a:bodyPr wrap="square" lIns="0" tIns="0" rIns="0" bIns="0" rtlCol="0" anchor="t"/>
          <a:lstStyle/>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Deterministic allergen exclusion (AQF-11 §2: zero</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tolerance for false negatives). This filter runs in</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CODE, after candidate selection and before any model</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involvement, a model NEVER decides allergen safety.</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Two independent nets:</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1. The record’s declared `allergens` field.</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2. A name/ingredient keyword fallback map that catches</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records with missing tagging ("satay" → peanuts).</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False positives (over-blocking) are acceptable;</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false negatives are not.</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export </a:t>
            </a:r>
            <a:r>
              <a:rPr lang="en-US" sz="950" b="1" dirty="0">
                <a:solidFill>
                  <a:srgbClr val="4FD8F0"/>
                </a:solidFill>
                <a:latin typeface="Courier New" pitchFamily="34" charset="0"/>
                <a:ea typeface="Courier New" pitchFamily="34" charset="-122"/>
                <a:cs typeface="Courier New" pitchFamily="34" charset="-120"/>
              </a:rPr>
              <a:t>const</a:t>
            </a:r>
            <a:r>
              <a:rPr lang="en-US" sz="950" dirty="0">
                <a:solidFill>
                  <a:srgbClr val="D9EAEF"/>
                </a:solidFill>
                <a:latin typeface="Courier New" pitchFamily="34" charset="0"/>
                <a:ea typeface="Courier New" pitchFamily="34" charset="-122"/>
                <a:cs typeface="Courier New" pitchFamily="34" charset="-120"/>
              </a:rPr>
              <a:t> ALLERGEN_NAME_KEYWORDS =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peanuts:  [</a:t>
            </a:r>
            <a:r>
              <a:rPr lang="en-US" sz="950" dirty="0">
                <a:solidFill>
                  <a:srgbClr val="3DE8B0"/>
                </a:solidFill>
                <a:latin typeface="Courier New" pitchFamily="34" charset="0"/>
                <a:ea typeface="Courier New" pitchFamily="34" charset="-122"/>
                <a:cs typeface="Courier New" pitchFamily="34" charset="-120"/>
              </a:rPr>
              <a:t>'peanut'</a:t>
            </a:r>
            <a:r>
              <a:rPr lang="en-US" sz="950" dirty="0">
                <a:solidFill>
                  <a:srgbClr val="D9EAEF"/>
                </a:solidFill>
                <a:latin typeface="Courier New" pitchFamily="34" charset="0"/>
                <a:ea typeface="Courier New" pitchFamily="34" charset="-122"/>
                <a:cs typeface="Courier New" pitchFamily="34" charset="-120"/>
              </a:rPr>
              <a:t>, </a:t>
            </a:r>
            <a:r>
              <a:rPr lang="en-US" sz="950" dirty="0">
                <a:solidFill>
                  <a:srgbClr val="3DE8B0"/>
                </a:solidFill>
                <a:latin typeface="Courier New" pitchFamily="34" charset="0"/>
                <a:ea typeface="Courier New" pitchFamily="34" charset="-122"/>
                <a:cs typeface="Courier New" pitchFamily="34" charset="-120"/>
              </a:rPr>
              <a:t>'satay'</a:t>
            </a:r>
            <a:r>
              <a:rPr lang="en-US" sz="950" dirty="0">
                <a:solidFill>
                  <a:srgbClr val="D9EAEF"/>
                </a:solidFill>
                <a:latin typeface="Courier New" pitchFamily="34" charset="0"/>
                <a:ea typeface="Courier New" pitchFamily="34" charset="-122"/>
                <a:cs typeface="Courier New" pitchFamily="34" charset="-120"/>
              </a:rPr>
              <a:t>, </a:t>
            </a:r>
            <a:r>
              <a:rPr lang="en-US" sz="950" dirty="0">
                <a:solidFill>
                  <a:srgbClr val="3DE8B0"/>
                </a:solidFill>
                <a:latin typeface="Courier New" pitchFamily="34" charset="0"/>
                <a:ea typeface="Courier New" pitchFamily="34" charset="-122"/>
                <a:cs typeface="Courier New" pitchFamily="34" charset="-120"/>
              </a:rPr>
              <a:t>'groundnut'</a:t>
            </a:r>
            <a:r>
              <a:rPr lang="en-US" sz="950" dirty="0">
                <a:solidFill>
                  <a:srgbClr val="D9EAEF"/>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treeNuts: [</a:t>
            </a:r>
            <a:r>
              <a:rPr lang="en-US" sz="950" dirty="0">
                <a:solidFill>
                  <a:srgbClr val="3DE8B0"/>
                </a:solidFill>
                <a:latin typeface="Courier New" pitchFamily="34" charset="0"/>
                <a:ea typeface="Courier New" pitchFamily="34" charset="-122"/>
                <a:cs typeface="Courier New" pitchFamily="34" charset="-120"/>
              </a:rPr>
              <a:t>'almond'</a:t>
            </a:r>
            <a:r>
              <a:rPr lang="en-US" sz="950" dirty="0">
                <a:solidFill>
                  <a:srgbClr val="D9EAEF"/>
                </a:solidFill>
                <a:latin typeface="Courier New" pitchFamily="34" charset="0"/>
                <a:ea typeface="Courier New" pitchFamily="34" charset="-122"/>
                <a:cs typeface="Courier New" pitchFamily="34" charset="-120"/>
              </a:rPr>
              <a:t>, </a:t>
            </a:r>
            <a:r>
              <a:rPr lang="en-US" sz="950" dirty="0">
                <a:solidFill>
                  <a:srgbClr val="3DE8B0"/>
                </a:solidFill>
                <a:latin typeface="Courier New" pitchFamily="34" charset="0"/>
                <a:ea typeface="Courier New" pitchFamily="34" charset="-122"/>
                <a:cs typeface="Courier New" pitchFamily="34" charset="-120"/>
              </a:rPr>
              <a:t>'praline'</a:t>
            </a:r>
            <a:r>
              <a:rPr lang="en-US" sz="950" dirty="0">
                <a:solidFill>
                  <a:srgbClr val="D9EAEF"/>
                </a:solidFill>
                <a:latin typeface="Courier New" pitchFamily="34" charset="0"/>
                <a:ea typeface="Courier New" pitchFamily="34" charset="-122"/>
                <a:cs typeface="Courier New" pitchFamily="34" charset="-120"/>
              </a:rPr>
              <a:t>, </a:t>
            </a:r>
            <a:r>
              <a:rPr lang="en-US" sz="950" dirty="0">
                <a:solidFill>
                  <a:srgbClr val="3DE8B0"/>
                </a:solidFill>
                <a:latin typeface="Courier New" pitchFamily="34" charset="0"/>
                <a:ea typeface="Courier New" pitchFamily="34" charset="-122"/>
                <a:cs typeface="Courier New" pitchFamily="34" charset="-120"/>
              </a:rPr>
              <a:t>'marzipan'</a:t>
            </a:r>
            <a:r>
              <a:rPr lang="en-US" sz="950" dirty="0">
                <a:solidFill>
                  <a:srgbClr val="D9EAEF"/>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milk:     [</a:t>
            </a:r>
            <a:r>
              <a:rPr lang="en-US" sz="950" dirty="0">
                <a:solidFill>
                  <a:srgbClr val="3DE8B0"/>
                </a:solidFill>
                <a:latin typeface="Courier New" pitchFamily="34" charset="0"/>
                <a:ea typeface="Courier New" pitchFamily="34" charset="-122"/>
                <a:cs typeface="Courier New" pitchFamily="34" charset="-120"/>
              </a:rPr>
              <a:t>'whey'</a:t>
            </a:r>
            <a:r>
              <a:rPr lang="en-US" sz="950" dirty="0">
                <a:solidFill>
                  <a:srgbClr val="D9EAEF"/>
                </a:solidFill>
                <a:latin typeface="Courier New" pitchFamily="34" charset="0"/>
                <a:ea typeface="Courier New" pitchFamily="34" charset="-122"/>
                <a:cs typeface="Courier New" pitchFamily="34" charset="-120"/>
              </a:rPr>
              <a:t>, </a:t>
            </a:r>
            <a:r>
              <a:rPr lang="en-US" sz="950" dirty="0">
                <a:solidFill>
                  <a:srgbClr val="3DE8B0"/>
                </a:solidFill>
                <a:latin typeface="Courier New" pitchFamily="34" charset="0"/>
                <a:ea typeface="Courier New" pitchFamily="34" charset="-122"/>
                <a:cs typeface="Courier New" pitchFamily="34" charset="-120"/>
              </a:rPr>
              <a:t>'casein'</a:t>
            </a:r>
            <a:r>
              <a:rPr lang="en-US" sz="950" dirty="0">
                <a:solidFill>
                  <a:srgbClr val="D9EAEF"/>
                </a:solidFill>
                <a:latin typeface="Courier New" pitchFamily="34" charset="0"/>
                <a:ea typeface="Courier New" pitchFamily="34" charset="-122"/>
                <a:cs typeface="Courier New" pitchFamily="34" charset="-120"/>
              </a:rPr>
              <a:t>, </a:t>
            </a:r>
            <a:r>
              <a:rPr lang="en-US" sz="950" dirty="0">
                <a:solidFill>
                  <a:srgbClr val="3DE8B0"/>
                </a:solidFill>
                <a:latin typeface="Courier New" pitchFamily="34" charset="0"/>
                <a:ea typeface="Courier New" pitchFamily="34" charset="-122"/>
                <a:cs typeface="Courier New" pitchFamily="34" charset="-120"/>
              </a:rPr>
              <a:t>'ghee'</a:t>
            </a:r>
            <a:r>
              <a:rPr lang="en-US" sz="950" dirty="0">
                <a:solidFill>
                  <a:srgbClr val="D9EAEF"/>
                </a:solidFill>
                <a:latin typeface="Courier New" pitchFamily="34" charset="0"/>
                <a:ea typeface="Courier New" pitchFamily="34" charset="-122"/>
                <a:cs typeface="Courier New" pitchFamily="34" charset="-120"/>
              </a:rPr>
              <a:t>, </a:t>
            </a:r>
            <a:r>
              <a:rPr lang="en-US" sz="950" dirty="0">
                <a:solidFill>
                  <a:srgbClr val="3DE8B0"/>
                </a:solidFill>
                <a:latin typeface="Courier New" pitchFamily="34" charset="0"/>
                <a:ea typeface="Courier New" pitchFamily="34" charset="-122"/>
                <a:cs typeface="Courier New" pitchFamily="34" charset="-120"/>
              </a:rPr>
              <a:t>'halloumi'</a:t>
            </a:r>
            <a:r>
              <a:rPr lang="en-US" sz="950" dirty="0">
                <a:solidFill>
                  <a:srgbClr val="D9EAEF"/>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       </a:t>
            </a:r>
            <a:r>
              <a:rPr lang="en-US" sz="950" dirty="0">
                <a:solidFill>
                  <a:srgbClr val="7A98A1"/>
                </a:solidFill>
                <a:latin typeface="Courier New" pitchFamily="34" charset="0"/>
                <a:ea typeface="Courier New" pitchFamily="34" charset="-122"/>
                <a:cs typeface="Courier New" pitchFamily="34" charset="-120"/>
              </a:rPr>
              <a:t>// 9 classes, both nets applied in code</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a:t>
            </a:r>
            <a:endParaRPr lang="en-US" sz="950" dirty="0"/>
          </a:p>
        </p:txBody>
      </p:sp>
      <p:sp>
        <p:nvSpPr>
          <p:cNvPr id="15" name="Text 13"/>
          <p:cNvSpPr/>
          <p:nvPr/>
        </p:nvSpPr>
        <p:spPr>
          <a:xfrm>
            <a:off x="6547104" y="5705856"/>
            <a:ext cx="4892040" cy="512064"/>
          </a:xfrm>
          <a:prstGeom prst="rect">
            <a:avLst/>
          </a:prstGeom>
          <a:noFill/>
          <a:ln/>
        </p:spPr>
        <p:txBody>
          <a:bodyPr wrap="square" lIns="0" tIns="0" rIns="0" bIns="0" rtlCol="0" anchor="t"/>
          <a:lstStyle/>
          <a:p>
            <a:pPr marL="0" indent="0">
              <a:buNone/>
            </a:pPr>
            <a:r>
              <a:rPr lang="en-US" sz="750" b="1" kern="0" spc="150" dirty="0">
                <a:solidFill>
                  <a:srgbClr val="3DE8B0"/>
                </a:solidFill>
                <a:latin typeface="Calibri" pitchFamily="34" charset="0"/>
                <a:ea typeface="Calibri" pitchFamily="34" charset="-122"/>
                <a:cs typeface="Calibri" pitchFamily="34" charset="-120"/>
              </a:rPr>
              <a:t>WHY IT MATTERS   </a:t>
            </a:r>
            <a:r>
              <a:rPr lang="en-US" sz="950" dirty="0">
                <a:solidFill>
                  <a:srgbClr val="9DBAC3"/>
                </a:solidFill>
                <a:latin typeface="Calibri" pitchFamily="34" charset="0"/>
                <a:ea typeface="Calibri" pitchFamily="34" charset="-122"/>
                <a:cs typeface="Calibri" pitchFamily="34" charset="-120"/>
              </a:rPr>
              <a:t>The safety policy is written at the top of the file that enforces it, and a test fails if either net stops firing.</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12</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FF8A70"/>
                </a:solidFill>
                <a:latin typeface="Calibri" pitchFamily="34" charset="0"/>
                <a:ea typeface="Calibri" pitchFamily="34" charset="-122"/>
                <a:cs typeface="Calibri" pitchFamily="34" charset="-120"/>
              </a:rPr>
              <a:t>TRAINING 1/3   </a:t>
            </a:r>
            <a:r>
              <a:rPr lang="en-US" sz="1100" b="1" kern="0" spc="200" dirty="0">
                <a:solidFill>
                  <a:srgbClr val="9DBAC3"/>
                </a:solidFill>
                <a:latin typeface="Calibri" pitchFamily="34" charset="0"/>
                <a:ea typeface="Calibri" pitchFamily="34" charset="-122"/>
                <a:cs typeface="Calibri" pitchFamily="34" charset="-120"/>
              </a:rPr>
              <a:t>|   PRESENTER: ERIC LA</a:t>
            </a:r>
            <a:endParaRPr lang="en-US" sz="1100" dirty="0"/>
          </a:p>
        </p:txBody>
      </p:sp>
      <p:sp>
        <p:nvSpPr>
          <p:cNvPr id="5" name="Text 3"/>
          <p:cNvSpPr/>
          <p:nvPr/>
        </p:nvSpPr>
        <p:spPr>
          <a:xfrm>
            <a:off x="548640" y="566928"/>
            <a:ext cx="859536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A movement library with a licence, not just a list</a:t>
            </a:r>
            <a:endParaRPr lang="en-US" sz="2600" dirty="0"/>
          </a:p>
        </p:txBody>
      </p:sp>
      <p:sp>
        <p:nvSpPr>
          <p:cNvPr id="6" name="Shape 4"/>
          <p:cNvSpPr/>
          <p:nvPr/>
        </p:nvSpPr>
        <p:spPr>
          <a:xfrm>
            <a:off x="566928" y="1545336"/>
            <a:ext cx="457200" cy="457200"/>
          </a:xfrm>
          <a:prstGeom prst="ellipse">
            <a:avLst/>
          </a:prstGeom>
          <a:solidFill>
            <a:srgbClr val="123441"/>
          </a:solidFill>
          <a:ln w="9525">
            <a:solidFill>
              <a:srgbClr val="1E4A57"/>
            </a:solidFill>
            <a:prstDash val="solid"/>
          </a:ln>
        </p:spPr>
        <p:txBody>
          <a:bodyPr/>
          <a:lstStyle/>
          <a:p>
            <a:endParaRPr lang="en-AU"/>
          </a:p>
        </p:txBody>
      </p:sp>
      <p:pic>
        <p:nvPicPr>
          <p:cNvPr id="7" name="Image 0" descr="C:\Users\lumin\AppData\Local\Temp\claude\C--Users-lumin-Desktop-aquazerofit\2e3b7983-e45b-4e1c-8fdf-0a5635a22264\scratchpad\assets\icon_dumbbell_coral.png"/>
          <p:cNvPicPr>
            <a:picLocks noChangeAspect="1"/>
          </p:cNvPicPr>
          <p:nvPr/>
        </p:nvPicPr>
        <p:blipFill>
          <a:blip r:embed="rId4"/>
          <a:stretch>
            <a:fillRect/>
          </a:stretch>
        </p:blipFill>
        <p:spPr>
          <a:xfrm>
            <a:off x="676656" y="1664208"/>
            <a:ext cx="237744" cy="237744"/>
          </a:xfrm>
          <a:prstGeom prst="rect">
            <a:avLst/>
          </a:prstGeom>
        </p:spPr>
      </p:pic>
      <p:sp>
        <p:nvSpPr>
          <p:cNvPr id="8" name="Text 5"/>
          <p:cNvSpPr/>
          <p:nvPr/>
        </p:nvSpPr>
        <p:spPr>
          <a:xfrm>
            <a:off x="1188720" y="1490472"/>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51 seeded movements, extended from wger</a:t>
            </a:r>
            <a:endParaRPr lang="en-US" sz="1350" dirty="0"/>
          </a:p>
        </p:txBody>
      </p:sp>
      <p:sp>
        <p:nvSpPr>
          <p:cNvPr id="9" name="Text 6"/>
          <p:cNvSpPr/>
          <p:nvPr/>
        </p:nvSpPr>
        <p:spPr>
          <a:xfrm>
            <a:off x="1188720" y="1764792"/>
            <a:ext cx="781812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Each categorised strength / cardio / mobility / core, with primary and secondary muscles, required equipment, difficulty and demonstration media.</a:t>
            </a:r>
            <a:endParaRPr lang="en-US" sz="1100" dirty="0"/>
          </a:p>
        </p:txBody>
      </p:sp>
      <p:sp>
        <p:nvSpPr>
          <p:cNvPr id="10" name="Shape 7"/>
          <p:cNvSpPr/>
          <p:nvPr/>
        </p:nvSpPr>
        <p:spPr>
          <a:xfrm>
            <a:off x="566928" y="2523744"/>
            <a:ext cx="457200" cy="457200"/>
          </a:xfrm>
          <a:prstGeom prst="ellipse">
            <a:avLst/>
          </a:prstGeom>
          <a:solidFill>
            <a:srgbClr val="123441"/>
          </a:solidFill>
          <a:ln w="9525">
            <a:solidFill>
              <a:srgbClr val="1E4A57"/>
            </a:solidFill>
            <a:prstDash val="solid"/>
          </a:ln>
        </p:spPr>
        <p:txBody>
          <a:bodyPr/>
          <a:lstStyle/>
          <a:p>
            <a:endParaRPr lang="en-AU"/>
          </a:p>
        </p:txBody>
      </p:sp>
      <p:pic>
        <p:nvPicPr>
          <p:cNvPr id="11" name="Image 1" descr="C:\Users\lumin\AppData\Local\Temp\claude\C--Users-lumin-Desktop-aquazerofit\2e3b7983-e45b-4e1c-8fdf-0a5635a22264\scratchpad\assets\icon_balance_gold.png"/>
          <p:cNvPicPr>
            <a:picLocks noChangeAspect="1"/>
          </p:cNvPicPr>
          <p:nvPr/>
        </p:nvPicPr>
        <p:blipFill>
          <a:blip r:embed="rId5"/>
          <a:stretch>
            <a:fillRect/>
          </a:stretch>
        </p:blipFill>
        <p:spPr>
          <a:xfrm>
            <a:off x="676656" y="2642616"/>
            <a:ext cx="237744" cy="237744"/>
          </a:xfrm>
          <a:prstGeom prst="rect">
            <a:avLst/>
          </a:prstGeom>
        </p:spPr>
      </p:pic>
      <p:sp>
        <p:nvSpPr>
          <p:cNvPr id="12" name="Text 8"/>
          <p:cNvSpPr/>
          <p:nvPr/>
        </p:nvSpPr>
        <p:spPr>
          <a:xfrm>
            <a:off x="1188720" y="2468880"/>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Attribution survives every refactor</a:t>
            </a:r>
            <a:endParaRPr lang="en-US" sz="1350" dirty="0"/>
          </a:p>
        </p:txBody>
      </p:sp>
      <p:sp>
        <p:nvSpPr>
          <p:cNvPr id="13" name="Text 9"/>
          <p:cNvSpPr/>
          <p:nvPr/>
        </p:nvSpPr>
        <p:spPr>
          <a:xfrm>
            <a:off x="1188720" y="2743200"/>
            <a:ext cx="781812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The upstream corpus is Creative Commons share-alike, so licence, author and deed URL are fields on the record itself, never stripped, and rendered to the user in the app.</a:t>
            </a:r>
            <a:endParaRPr lang="en-US" sz="1100" dirty="0"/>
          </a:p>
        </p:txBody>
      </p:sp>
      <p:sp>
        <p:nvSpPr>
          <p:cNvPr id="14" name="Shape 10"/>
          <p:cNvSpPr/>
          <p:nvPr/>
        </p:nvSpPr>
        <p:spPr>
          <a:xfrm>
            <a:off x="566928" y="3502152"/>
            <a:ext cx="457200" cy="457200"/>
          </a:xfrm>
          <a:prstGeom prst="ellipse">
            <a:avLst/>
          </a:prstGeom>
          <a:solidFill>
            <a:srgbClr val="123441"/>
          </a:solidFill>
          <a:ln w="9525">
            <a:solidFill>
              <a:srgbClr val="1E4A57"/>
            </a:solidFill>
            <a:prstDash val="solid"/>
          </a:ln>
        </p:spPr>
        <p:txBody>
          <a:bodyPr/>
          <a:lstStyle/>
          <a:p>
            <a:endParaRPr lang="en-AU"/>
          </a:p>
        </p:txBody>
      </p:sp>
      <p:pic>
        <p:nvPicPr>
          <p:cNvPr id="15" name="Image 2" descr="C:\Users\lumin\AppData\Local\Temp\claude\C--Users-lumin-Desktop-aquazerofit\2e3b7983-e45b-4e1c-8fdf-0a5635a22264\scratchpad\assets\icon_random_cyan.png"/>
          <p:cNvPicPr>
            <a:picLocks noChangeAspect="1"/>
          </p:cNvPicPr>
          <p:nvPr/>
        </p:nvPicPr>
        <p:blipFill>
          <a:blip r:embed="rId6"/>
          <a:stretch>
            <a:fillRect/>
          </a:stretch>
        </p:blipFill>
        <p:spPr>
          <a:xfrm>
            <a:off x="676656" y="3621024"/>
            <a:ext cx="237744" cy="237744"/>
          </a:xfrm>
          <a:prstGeom prst="rect">
            <a:avLst/>
          </a:prstGeom>
        </p:spPr>
      </p:pic>
      <p:sp>
        <p:nvSpPr>
          <p:cNvPr id="16" name="Text 11"/>
          <p:cNvSpPr/>
          <p:nvPr/>
        </p:nvSpPr>
        <p:spPr>
          <a:xfrm>
            <a:off x="1188720" y="3447288"/>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Variation groups</a:t>
            </a:r>
            <a:endParaRPr lang="en-US" sz="1350" dirty="0"/>
          </a:p>
        </p:txBody>
      </p:sp>
      <p:sp>
        <p:nvSpPr>
          <p:cNvPr id="17" name="Text 12"/>
          <p:cNvSpPr/>
          <p:nvPr/>
        </p:nvSpPr>
        <p:spPr>
          <a:xfrm>
            <a:off x="1188720" y="3721608"/>
            <a:ext cx="781812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Interchangeable movements share a group ID. That one field is what makes safe in-session swaps possible without breaking historical progression.</a:t>
            </a:r>
            <a:endParaRPr lang="en-US" sz="1100" dirty="0"/>
          </a:p>
        </p:txBody>
      </p:sp>
      <p:sp>
        <p:nvSpPr>
          <p:cNvPr id="18" name="Shape 13"/>
          <p:cNvSpPr/>
          <p:nvPr/>
        </p:nvSpPr>
        <p:spPr>
          <a:xfrm>
            <a:off x="566928" y="4480560"/>
            <a:ext cx="457200" cy="457200"/>
          </a:xfrm>
          <a:prstGeom prst="ellipse">
            <a:avLst/>
          </a:prstGeom>
          <a:solidFill>
            <a:srgbClr val="123441"/>
          </a:solidFill>
          <a:ln w="9525">
            <a:solidFill>
              <a:srgbClr val="1E4A57"/>
            </a:solidFill>
            <a:prstDash val="solid"/>
          </a:ln>
        </p:spPr>
        <p:txBody>
          <a:bodyPr/>
          <a:lstStyle/>
          <a:p>
            <a:endParaRPr lang="en-AU"/>
          </a:p>
        </p:txBody>
      </p:sp>
      <p:pic>
        <p:nvPicPr>
          <p:cNvPr id="19" name="Image 3" descr="C:\Users\lumin\AppData\Local\Temp\claude\C--Users-lumin-Desktop-aquazerofit\2e3b7983-e45b-4e1c-8fdf-0a5635a22264\scratchpad\assets\icon_usershield_mint.png"/>
          <p:cNvPicPr>
            <a:picLocks noChangeAspect="1"/>
          </p:cNvPicPr>
          <p:nvPr/>
        </p:nvPicPr>
        <p:blipFill>
          <a:blip r:embed="rId7"/>
          <a:stretch>
            <a:fillRect/>
          </a:stretch>
        </p:blipFill>
        <p:spPr>
          <a:xfrm>
            <a:off x="676656" y="4599432"/>
            <a:ext cx="237744" cy="237744"/>
          </a:xfrm>
          <a:prstGeom prst="rect">
            <a:avLst/>
          </a:prstGeom>
        </p:spPr>
      </p:pic>
      <p:sp>
        <p:nvSpPr>
          <p:cNvPr id="20" name="Text 14"/>
          <p:cNvSpPr/>
          <p:nvPr/>
        </p:nvSpPr>
        <p:spPr>
          <a:xfrm>
            <a:off x="1188720" y="4425696"/>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Filtered to your reality</a:t>
            </a:r>
            <a:endParaRPr lang="en-US" sz="1350" dirty="0"/>
          </a:p>
        </p:txBody>
      </p:sp>
      <p:sp>
        <p:nvSpPr>
          <p:cNvPr id="21" name="Text 15"/>
          <p:cNvSpPr/>
          <p:nvPr/>
        </p:nvSpPr>
        <p:spPr>
          <a:xfrm>
            <a:off x="1188720" y="4700016"/>
            <a:ext cx="781812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Plans only ever draw from movements whose equipment you actually own and whose difficulty matches your experience.</a:t>
            </a:r>
            <a:endParaRPr lang="en-US" sz="1100" dirty="0"/>
          </a:p>
        </p:txBody>
      </p:sp>
      <p:sp>
        <p:nvSpPr>
          <p:cNvPr id="22" name="Shape 16"/>
          <p:cNvSpPr/>
          <p:nvPr/>
        </p:nvSpPr>
        <p:spPr>
          <a:xfrm>
            <a:off x="548640" y="5541264"/>
            <a:ext cx="2724912"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3" name="Text 17"/>
          <p:cNvSpPr/>
          <p:nvPr/>
        </p:nvSpPr>
        <p:spPr>
          <a:xfrm>
            <a:off x="548640" y="5596128"/>
            <a:ext cx="2724912" cy="329184"/>
          </a:xfrm>
          <a:prstGeom prst="rect">
            <a:avLst/>
          </a:prstGeom>
          <a:noFill/>
          <a:ln/>
        </p:spPr>
        <p:txBody>
          <a:bodyPr wrap="square" lIns="0" tIns="0" rIns="0" bIns="0" rtlCol="0" anchor="ctr"/>
          <a:lstStyle/>
          <a:p>
            <a:pPr marL="0" indent="0" algn="ctr">
              <a:buNone/>
            </a:pPr>
            <a:r>
              <a:rPr lang="en-US" sz="1500" b="1" dirty="0">
                <a:solidFill>
                  <a:srgbClr val="FF8A70"/>
                </a:solidFill>
                <a:latin typeface="Calibri" pitchFamily="34" charset="0"/>
                <a:ea typeface="Calibri" pitchFamily="34" charset="-122"/>
                <a:cs typeface="Calibri" pitchFamily="34" charset="-120"/>
              </a:rPr>
              <a:t>51 + wger</a:t>
            </a:r>
            <a:endParaRPr lang="en-US" sz="1500" dirty="0"/>
          </a:p>
        </p:txBody>
      </p:sp>
      <p:sp>
        <p:nvSpPr>
          <p:cNvPr id="24" name="Text 18"/>
          <p:cNvSpPr/>
          <p:nvPr/>
        </p:nvSpPr>
        <p:spPr>
          <a:xfrm>
            <a:off x="621792" y="5925312"/>
            <a:ext cx="2578608"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seeded &amp; imported movements</a:t>
            </a:r>
            <a:endParaRPr lang="en-US" sz="870" dirty="0"/>
          </a:p>
        </p:txBody>
      </p:sp>
      <p:sp>
        <p:nvSpPr>
          <p:cNvPr id="25" name="Shape 19"/>
          <p:cNvSpPr/>
          <p:nvPr/>
        </p:nvSpPr>
        <p:spPr>
          <a:xfrm>
            <a:off x="3438144" y="5541264"/>
            <a:ext cx="2724912"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6" name="Text 20"/>
          <p:cNvSpPr/>
          <p:nvPr/>
        </p:nvSpPr>
        <p:spPr>
          <a:xfrm>
            <a:off x="3438144" y="5596128"/>
            <a:ext cx="2724912" cy="329184"/>
          </a:xfrm>
          <a:prstGeom prst="rect">
            <a:avLst/>
          </a:prstGeom>
          <a:noFill/>
          <a:ln/>
        </p:spPr>
        <p:txBody>
          <a:bodyPr wrap="square" lIns="0" tIns="0" rIns="0" bIns="0" rtlCol="0" anchor="ctr"/>
          <a:lstStyle/>
          <a:p>
            <a:pPr marL="0" indent="0" algn="ctr">
              <a:buNone/>
            </a:pPr>
            <a:r>
              <a:rPr lang="en-US" sz="1500" b="1" dirty="0">
                <a:solidFill>
                  <a:srgbClr val="FFC94D"/>
                </a:solidFill>
                <a:latin typeface="Calibri" pitchFamily="34" charset="0"/>
                <a:ea typeface="Calibri" pitchFamily="34" charset="-122"/>
                <a:cs typeface="Calibri" pitchFamily="34" charset="-120"/>
              </a:rPr>
              <a:t>CC BY-SA</a:t>
            </a:r>
            <a:endParaRPr lang="en-US" sz="1500" dirty="0"/>
          </a:p>
        </p:txBody>
      </p:sp>
      <p:sp>
        <p:nvSpPr>
          <p:cNvPr id="27" name="Text 21"/>
          <p:cNvSpPr/>
          <p:nvPr/>
        </p:nvSpPr>
        <p:spPr>
          <a:xfrm>
            <a:off x="3511296" y="5925312"/>
            <a:ext cx="2578608"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honoured on every record</a:t>
            </a:r>
            <a:endParaRPr lang="en-US" sz="870" dirty="0"/>
          </a:p>
        </p:txBody>
      </p:sp>
      <p:sp>
        <p:nvSpPr>
          <p:cNvPr id="28" name="Shape 22"/>
          <p:cNvSpPr/>
          <p:nvPr/>
        </p:nvSpPr>
        <p:spPr>
          <a:xfrm>
            <a:off x="6327648" y="5541264"/>
            <a:ext cx="2724912"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9" name="Text 23"/>
          <p:cNvSpPr/>
          <p:nvPr/>
        </p:nvSpPr>
        <p:spPr>
          <a:xfrm>
            <a:off x="6327648" y="5596128"/>
            <a:ext cx="2724912" cy="329184"/>
          </a:xfrm>
          <a:prstGeom prst="rect">
            <a:avLst/>
          </a:prstGeom>
          <a:noFill/>
          <a:ln/>
        </p:spPr>
        <p:txBody>
          <a:bodyPr wrap="square" lIns="0" tIns="0" rIns="0" bIns="0" rtlCol="0" anchor="ctr"/>
          <a:lstStyle/>
          <a:p>
            <a:pPr marL="0" indent="0" algn="ctr">
              <a:buNone/>
            </a:pPr>
            <a:r>
              <a:rPr lang="en-US" sz="1500" b="1" dirty="0">
                <a:solidFill>
                  <a:srgbClr val="4FD8F0"/>
                </a:solidFill>
                <a:latin typeface="Calibri" pitchFamily="34" charset="0"/>
                <a:ea typeface="Calibri" pitchFamily="34" charset="-122"/>
                <a:cs typeface="Calibri" pitchFamily="34" charset="-120"/>
              </a:rPr>
              <a:t>4</a:t>
            </a:r>
            <a:endParaRPr lang="en-US" sz="1500" dirty="0"/>
          </a:p>
        </p:txBody>
      </p:sp>
      <p:sp>
        <p:nvSpPr>
          <p:cNvPr id="30" name="Text 24"/>
          <p:cNvSpPr/>
          <p:nvPr/>
        </p:nvSpPr>
        <p:spPr>
          <a:xfrm>
            <a:off x="6400800" y="5925312"/>
            <a:ext cx="2578608"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movement categories</a:t>
            </a:r>
            <a:endParaRPr lang="en-US" sz="870" dirty="0"/>
          </a:p>
        </p:txBody>
      </p:sp>
      <p:sp>
        <p:nvSpPr>
          <p:cNvPr id="31" name="Shape 25"/>
          <p:cNvSpPr/>
          <p:nvPr/>
        </p:nvSpPr>
        <p:spPr>
          <a:xfrm>
            <a:off x="9354312" y="1307592"/>
            <a:ext cx="2388556" cy="5020056"/>
          </a:xfrm>
          <a:prstGeom prst="roundRect">
            <a:avLst>
              <a:gd name="adj" fmla="val 4594"/>
            </a:avLst>
          </a:prstGeom>
          <a:solidFill>
            <a:srgbClr val="062028"/>
          </a:solidFill>
          <a:ln w="12700">
            <a:solidFill>
              <a:srgbClr val="1E4A57"/>
            </a:solidFill>
            <a:prstDash val="solid"/>
          </a:ln>
        </p:spPr>
        <p:txBody>
          <a:bodyPr/>
          <a:lstStyle/>
          <a:p>
            <a:endParaRPr lang="en-AU"/>
          </a:p>
        </p:txBody>
      </p:sp>
      <p:pic>
        <p:nvPicPr>
          <p:cNvPr id="32" name="Image 4" descr="C:\Users\lumin\Desktop\aquazerofit\docs\screenshots\08-workouts.png"/>
          <p:cNvPicPr>
            <a:picLocks noChangeAspect="1"/>
          </p:cNvPicPr>
          <p:nvPr/>
        </p:nvPicPr>
        <p:blipFill>
          <a:blip r:embed="rId8"/>
          <a:stretch>
            <a:fillRect/>
          </a:stretch>
        </p:blipFill>
        <p:spPr>
          <a:xfrm>
            <a:off x="9418320" y="1371600"/>
            <a:ext cx="2260540" cy="48920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13</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FF8A70"/>
                </a:solidFill>
                <a:latin typeface="Calibri" pitchFamily="34" charset="0"/>
                <a:ea typeface="Calibri" pitchFamily="34" charset="-122"/>
                <a:cs typeface="Calibri" pitchFamily="34" charset="-120"/>
              </a:rPr>
              <a:t>TRAINING 2/3   </a:t>
            </a:r>
            <a:r>
              <a:rPr lang="en-US" sz="1100" b="1" kern="0" spc="200" dirty="0">
                <a:solidFill>
                  <a:srgbClr val="9DBAC3"/>
                </a:solidFill>
                <a:latin typeface="Calibri" pitchFamily="34" charset="0"/>
                <a:ea typeface="Calibri" pitchFamily="34" charset="-122"/>
                <a:cs typeface="Calibri" pitchFamily="34" charset="-120"/>
              </a:rPr>
              <a:t>|   PRESENTER: ERIC LA</a:t>
            </a:r>
            <a:endParaRPr lang="en-US" sz="1100" dirty="0"/>
          </a:p>
        </p:txBody>
      </p:sp>
      <p:sp>
        <p:nvSpPr>
          <p:cNvPr id="5" name="Text 3"/>
          <p:cNvSpPr/>
          <p:nvPr/>
        </p:nvSpPr>
        <p:spPr>
          <a:xfrm>
            <a:off x="548640" y="566928"/>
            <a:ext cx="1106424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Plans are deterministic first; the AI has to earn its way in</a:t>
            </a:r>
            <a:endParaRPr lang="en-US" sz="2600" dirty="0"/>
          </a:p>
        </p:txBody>
      </p:sp>
      <p:sp>
        <p:nvSpPr>
          <p:cNvPr id="6" name="Shape 4"/>
          <p:cNvSpPr/>
          <p:nvPr/>
        </p:nvSpPr>
        <p:spPr>
          <a:xfrm>
            <a:off x="566928" y="1545336"/>
            <a:ext cx="457200" cy="457200"/>
          </a:xfrm>
          <a:prstGeom prst="ellipse">
            <a:avLst/>
          </a:prstGeom>
          <a:solidFill>
            <a:srgbClr val="123441"/>
          </a:solidFill>
          <a:ln w="9525">
            <a:solidFill>
              <a:srgbClr val="1E4A57"/>
            </a:solidFill>
            <a:prstDash val="solid"/>
          </a:ln>
        </p:spPr>
        <p:txBody>
          <a:bodyPr/>
          <a:lstStyle/>
          <a:p>
            <a:endParaRPr lang="en-AU"/>
          </a:p>
        </p:txBody>
      </p:sp>
      <p:pic>
        <p:nvPicPr>
          <p:cNvPr id="7" name="Image 0" descr="C:\Users\lumin\AppData\Local\Temp\claude\C--Users-lumin-Desktop-aquazerofit\2e3b7983-e45b-4e1c-8fdf-0a5635a22264\scratchpad\assets\icon_layers_coral.png"/>
          <p:cNvPicPr>
            <a:picLocks noChangeAspect="1"/>
          </p:cNvPicPr>
          <p:nvPr/>
        </p:nvPicPr>
        <p:blipFill>
          <a:blip r:embed="rId4"/>
          <a:stretch>
            <a:fillRect/>
          </a:stretch>
        </p:blipFill>
        <p:spPr>
          <a:xfrm>
            <a:off x="676656" y="1664208"/>
            <a:ext cx="237744" cy="237744"/>
          </a:xfrm>
          <a:prstGeom prst="rect">
            <a:avLst/>
          </a:prstGeom>
        </p:spPr>
      </p:pic>
      <p:sp>
        <p:nvSpPr>
          <p:cNvPr id="8" name="Text 5"/>
          <p:cNvSpPr/>
          <p:nvPr/>
        </p:nvSpPr>
        <p:spPr>
          <a:xfrm>
            <a:off x="1188720" y="1490472"/>
            <a:ext cx="1060704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A generator you can predict</a:t>
            </a:r>
            <a:endParaRPr lang="en-US" sz="1350" dirty="0"/>
          </a:p>
        </p:txBody>
      </p:sp>
      <p:sp>
        <p:nvSpPr>
          <p:cNvPr id="9" name="Text 6"/>
          <p:cNvSpPr/>
          <p:nvPr/>
        </p:nvSpPr>
        <p:spPr>
          <a:xfrm>
            <a:off x="1188720" y="1764792"/>
            <a:ext cx="10607040" cy="65836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Calendar patterns place 2–6 sessions a week so rest days fall sensibly; focus rotates with your goal; a beginner is never given two high-intensity days in a row.</a:t>
            </a:r>
            <a:endParaRPr lang="en-US" sz="1100" dirty="0"/>
          </a:p>
        </p:txBody>
      </p:sp>
      <p:sp>
        <p:nvSpPr>
          <p:cNvPr id="10" name="Shape 7"/>
          <p:cNvSpPr/>
          <p:nvPr/>
        </p:nvSpPr>
        <p:spPr>
          <a:xfrm>
            <a:off x="566928" y="2578608"/>
            <a:ext cx="457200" cy="457200"/>
          </a:xfrm>
          <a:prstGeom prst="ellipse">
            <a:avLst/>
          </a:prstGeom>
          <a:solidFill>
            <a:srgbClr val="123441"/>
          </a:solidFill>
          <a:ln w="9525">
            <a:solidFill>
              <a:srgbClr val="1E4A57"/>
            </a:solidFill>
            <a:prstDash val="solid"/>
          </a:ln>
        </p:spPr>
        <p:txBody>
          <a:bodyPr/>
          <a:lstStyle/>
          <a:p>
            <a:endParaRPr lang="en-AU"/>
          </a:p>
        </p:txBody>
      </p:sp>
      <p:pic>
        <p:nvPicPr>
          <p:cNvPr id="11" name="Image 1" descr="C:\Users\lumin\AppData\Local\Temp\claude\C--Users-lumin-Desktop-aquazerofit\2e3b7983-e45b-4e1c-8fdf-0a5635a22264\scratchpad\assets\icon_chart_cyan.png"/>
          <p:cNvPicPr>
            <a:picLocks noChangeAspect="1"/>
          </p:cNvPicPr>
          <p:nvPr/>
        </p:nvPicPr>
        <p:blipFill>
          <a:blip r:embed="rId5"/>
          <a:stretch>
            <a:fillRect/>
          </a:stretch>
        </p:blipFill>
        <p:spPr>
          <a:xfrm>
            <a:off x="676656" y="2697480"/>
            <a:ext cx="237744" cy="237744"/>
          </a:xfrm>
          <a:prstGeom prst="rect">
            <a:avLst/>
          </a:prstGeom>
        </p:spPr>
      </p:pic>
      <p:sp>
        <p:nvSpPr>
          <p:cNvPr id="12" name="Text 8"/>
          <p:cNvSpPr/>
          <p:nvPr/>
        </p:nvSpPr>
        <p:spPr>
          <a:xfrm>
            <a:off x="1188720" y="2523744"/>
            <a:ext cx="1060704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Progression is data, not hidden code</a:t>
            </a:r>
            <a:endParaRPr lang="en-US" sz="1350" dirty="0"/>
          </a:p>
        </p:txBody>
      </p:sp>
      <p:sp>
        <p:nvSpPr>
          <p:cNvPr id="13" name="Text 9"/>
          <p:cNvSpPr/>
          <p:nvPr/>
        </p:nvSpPr>
        <p:spPr>
          <a:xfrm>
            <a:off x="1188720" y="2798064"/>
            <a:ext cx="10607040" cy="65836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“Week 2: more reps. Week 3: more volume. Week 4: tighter rest.” Rules are inspectable data, resolved by a pure engine with hard caps, so the user can see what week five will ask of them.</a:t>
            </a:r>
            <a:endParaRPr lang="en-US" sz="1100" dirty="0"/>
          </a:p>
        </p:txBody>
      </p:sp>
      <p:sp>
        <p:nvSpPr>
          <p:cNvPr id="14" name="Shape 10"/>
          <p:cNvSpPr/>
          <p:nvPr/>
        </p:nvSpPr>
        <p:spPr>
          <a:xfrm>
            <a:off x="566928" y="3611880"/>
            <a:ext cx="457200" cy="457200"/>
          </a:xfrm>
          <a:prstGeom prst="ellipse">
            <a:avLst/>
          </a:prstGeom>
          <a:solidFill>
            <a:srgbClr val="123441"/>
          </a:solidFill>
          <a:ln w="9525">
            <a:solidFill>
              <a:srgbClr val="1E4A57"/>
            </a:solidFill>
            <a:prstDash val="solid"/>
          </a:ln>
        </p:spPr>
        <p:txBody>
          <a:bodyPr/>
          <a:lstStyle/>
          <a:p>
            <a:endParaRPr lang="en-AU"/>
          </a:p>
        </p:txBody>
      </p:sp>
      <p:pic>
        <p:nvPicPr>
          <p:cNvPr id="15" name="Image 2" descr="C:\Users\lumin\AppData\Local\Temp\claude\C--Users-lumin-Desktop-aquazerofit\2e3b7983-e45b-4e1c-8fdf-0a5635a22264\scratchpad\assets\icon_lock_gold.png"/>
          <p:cNvPicPr>
            <a:picLocks noChangeAspect="1"/>
          </p:cNvPicPr>
          <p:nvPr/>
        </p:nvPicPr>
        <p:blipFill>
          <a:blip r:embed="rId6"/>
          <a:stretch>
            <a:fillRect/>
          </a:stretch>
        </p:blipFill>
        <p:spPr>
          <a:xfrm>
            <a:off x="676656" y="3730752"/>
            <a:ext cx="237744" cy="237744"/>
          </a:xfrm>
          <a:prstGeom prst="rect">
            <a:avLst/>
          </a:prstGeom>
        </p:spPr>
      </p:pic>
      <p:sp>
        <p:nvSpPr>
          <p:cNvPr id="16" name="Text 11"/>
          <p:cNvSpPr/>
          <p:nvPr/>
        </p:nvSpPr>
        <p:spPr>
          <a:xfrm>
            <a:off x="1188720" y="3557016"/>
            <a:ext cx="1060704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Progression fails closed</a:t>
            </a:r>
            <a:endParaRPr lang="en-US" sz="1350" dirty="0"/>
          </a:p>
        </p:txBody>
      </p:sp>
      <p:sp>
        <p:nvSpPr>
          <p:cNvPr id="17" name="Text 12"/>
          <p:cNvSpPr/>
          <p:nvPr/>
        </p:nvSpPr>
        <p:spPr>
          <a:xfrm>
            <a:off x="1188720" y="3831336"/>
            <a:ext cx="10607040" cy="65836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Autoregulated steps apply only when your logs prove last week’s targets were actually met. No evidence, no increase, and no percentage step may exceed 50%.</a:t>
            </a:r>
            <a:endParaRPr lang="en-US" sz="1100" dirty="0"/>
          </a:p>
        </p:txBody>
      </p:sp>
      <p:sp>
        <p:nvSpPr>
          <p:cNvPr id="18" name="Shape 13"/>
          <p:cNvSpPr/>
          <p:nvPr/>
        </p:nvSpPr>
        <p:spPr>
          <a:xfrm>
            <a:off x="566928" y="4645152"/>
            <a:ext cx="457200" cy="457200"/>
          </a:xfrm>
          <a:prstGeom prst="ellipse">
            <a:avLst/>
          </a:prstGeom>
          <a:solidFill>
            <a:srgbClr val="123441"/>
          </a:solidFill>
          <a:ln w="9525">
            <a:solidFill>
              <a:srgbClr val="1E4A57"/>
            </a:solidFill>
            <a:prstDash val="solid"/>
          </a:ln>
        </p:spPr>
        <p:txBody>
          <a:bodyPr/>
          <a:lstStyle/>
          <a:p>
            <a:endParaRPr lang="en-AU"/>
          </a:p>
        </p:txBody>
      </p:sp>
      <p:pic>
        <p:nvPicPr>
          <p:cNvPr id="19" name="Image 3" descr="C:\Users\lumin\AppData\Local\Temp\claude\C--Users-lumin-Desktop-aquazerofit\2e3b7983-e45b-4e1c-8fdf-0a5635a22264\scratchpad\assets\icon_brain_mint.png"/>
          <p:cNvPicPr>
            <a:picLocks noChangeAspect="1"/>
          </p:cNvPicPr>
          <p:nvPr/>
        </p:nvPicPr>
        <p:blipFill>
          <a:blip r:embed="rId7"/>
          <a:stretch>
            <a:fillRect/>
          </a:stretch>
        </p:blipFill>
        <p:spPr>
          <a:xfrm>
            <a:off x="676656" y="4764024"/>
            <a:ext cx="237744" cy="237744"/>
          </a:xfrm>
          <a:prstGeom prst="rect">
            <a:avLst/>
          </a:prstGeom>
        </p:spPr>
      </p:pic>
      <p:sp>
        <p:nvSpPr>
          <p:cNvPr id="20" name="Text 14"/>
          <p:cNvSpPr/>
          <p:nvPr/>
        </p:nvSpPr>
        <p:spPr>
          <a:xfrm>
            <a:off x="1188720" y="4590288"/>
            <a:ext cx="1060704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The AI lane is optional, and audited</a:t>
            </a:r>
            <a:endParaRPr lang="en-US" sz="1350" dirty="0"/>
          </a:p>
        </p:txBody>
      </p:sp>
      <p:sp>
        <p:nvSpPr>
          <p:cNvPr id="21" name="Text 15"/>
          <p:cNvSpPr/>
          <p:nvPr/>
        </p:nvSpPr>
        <p:spPr>
          <a:xfrm>
            <a:off x="1188720" y="4864608"/>
            <a:ext cx="10607040" cy="65836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A model may draft the week from the same pre-filtered pool, but the draft is validated structurally and semantically. Any failure falls back to the deterministic engine, invisibly.</a:t>
            </a:r>
            <a:endParaRPr lang="en-US" sz="1100" dirty="0"/>
          </a:p>
        </p:txBody>
      </p:sp>
      <p:sp>
        <p:nvSpPr>
          <p:cNvPr id="22" name="Shape 16"/>
          <p:cNvSpPr/>
          <p:nvPr/>
        </p:nvSpPr>
        <p:spPr>
          <a:xfrm>
            <a:off x="548640" y="5541264"/>
            <a:ext cx="2649474"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3" name="Text 17"/>
          <p:cNvSpPr/>
          <p:nvPr/>
        </p:nvSpPr>
        <p:spPr>
          <a:xfrm>
            <a:off x="548640" y="5596128"/>
            <a:ext cx="2649474" cy="329184"/>
          </a:xfrm>
          <a:prstGeom prst="rect">
            <a:avLst/>
          </a:prstGeom>
          <a:noFill/>
          <a:ln/>
        </p:spPr>
        <p:txBody>
          <a:bodyPr wrap="square" lIns="0" tIns="0" rIns="0" bIns="0" rtlCol="0" anchor="ctr"/>
          <a:lstStyle/>
          <a:p>
            <a:pPr marL="0" indent="0" algn="ctr">
              <a:buNone/>
            </a:pPr>
            <a:r>
              <a:rPr lang="en-US" sz="1500" b="1" dirty="0">
                <a:solidFill>
                  <a:srgbClr val="FF8A70"/>
                </a:solidFill>
                <a:latin typeface="Calibri" pitchFamily="34" charset="0"/>
                <a:ea typeface="Calibri" pitchFamily="34" charset="-122"/>
                <a:cs typeface="Calibri" pitchFamily="34" charset="-120"/>
              </a:rPr>
              <a:t>2–6</a:t>
            </a:r>
            <a:endParaRPr lang="en-US" sz="1500" dirty="0"/>
          </a:p>
        </p:txBody>
      </p:sp>
      <p:sp>
        <p:nvSpPr>
          <p:cNvPr id="24" name="Text 18"/>
          <p:cNvSpPr/>
          <p:nvPr/>
        </p:nvSpPr>
        <p:spPr>
          <a:xfrm>
            <a:off x="621792" y="5925312"/>
            <a:ext cx="2503170"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sessions per week</a:t>
            </a:r>
            <a:endParaRPr lang="en-US" sz="870" dirty="0"/>
          </a:p>
        </p:txBody>
      </p:sp>
      <p:sp>
        <p:nvSpPr>
          <p:cNvPr id="25" name="Shape 19"/>
          <p:cNvSpPr/>
          <p:nvPr/>
        </p:nvSpPr>
        <p:spPr>
          <a:xfrm>
            <a:off x="3362706" y="5541264"/>
            <a:ext cx="2649474"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6" name="Text 20"/>
          <p:cNvSpPr/>
          <p:nvPr/>
        </p:nvSpPr>
        <p:spPr>
          <a:xfrm>
            <a:off x="3362706" y="5596128"/>
            <a:ext cx="2649474" cy="329184"/>
          </a:xfrm>
          <a:prstGeom prst="rect">
            <a:avLst/>
          </a:prstGeom>
          <a:noFill/>
          <a:ln/>
        </p:spPr>
        <p:txBody>
          <a:bodyPr wrap="square" lIns="0" tIns="0" rIns="0" bIns="0" rtlCol="0" anchor="ctr"/>
          <a:lstStyle/>
          <a:p>
            <a:pPr marL="0" indent="0" algn="ctr">
              <a:buNone/>
            </a:pPr>
            <a:r>
              <a:rPr lang="en-US" sz="1500" b="1" dirty="0">
                <a:solidFill>
                  <a:srgbClr val="FFC94D"/>
                </a:solidFill>
                <a:latin typeface="Calibri" pitchFamily="34" charset="0"/>
                <a:ea typeface="Calibri" pitchFamily="34" charset="-122"/>
                <a:cs typeface="Calibri" pitchFamily="34" charset="-120"/>
              </a:rPr>
              <a:t>Sets 1–20 · Reps 1–100</a:t>
            </a:r>
            <a:endParaRPr lang="en-US" sz="1500" dirty="0"/>
          </a:p>
        </p:txBody>
      </p:sp>
      <p:sp>
        <p:nvSpPr>
          <p:cNvPr id="27" name="Text 21"/>
          <p:cNvSpPr/>
          <p:nvPr/>
        </p:nvSpPr>
        <p:spPr>
          <a:xfrm>
            <a:off x="3435858" y="5925312"/>
            <a:ext cx="2503170"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hard caps in the resolver</a:t>
            </a:r>
            <a:endParaRPr lang="en-US" sz="870" dirty="0"/>
          </a:p>
        </p:txBody>
      </p:sp>
      <p:sp>
        <p:nvSpPr>
          <p:cNvPr id="28" name="Shape 22"/>
          <p:cNvSpPr/>
          <p:nvPr/>
        </p:nvSpPr>
        <p:spPr>
          <a:xfrm>
            <a:off x="6176772" y="5541264"/>
            <a:ext cx="2649474"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9" name="Text 23"/>
          <p:cNvSpPr/>
          <p:nvPr/>
        </p:nvSpPr>
        <p:spPr>
          <a:xfrm>
            <a:off x="6176772" y="5596128"/>
            <a:ext cx="2649474" cy="329184"/>
          </a:xfrm>
          <a:prstGeom prst="rect">
            <a:avLst/>
          </a:prstGeom>
          <a:noFill/>
          <a:ln/>
        </p:spPr>
        <p:txBody>
          <a:bodyPr wrap="square" lIns="0" tIns="0" rIns="0" bIns="0" rtlCol="0" anchor="ctr"/>
          <a:lstStyle/>
          <a:p>
            <a:pPr marL="0" indent="0" algn="ctr">
              <a:buNone/>
            </a:pPr>
            <a:r>
              <a:rPr lang="en-US" sz="1500" b="1" dirty="0">
                <a:solidFill>
                  <a:srgbClr val="4FD8F0"/>
                </a:solidFill>
                <a:latin typeface="Calibri" pitchFamily="34" charset="0"/>
                <a:ea typeface="Calibri" pitchFamily="34" charset="-122"/>
                <a:cs typeface="Calibri" pitchFamily="34" charset="-120"/>
              </a:rPr>
              <a:t>≤50%</a:t>
            </a:r>
            <a:endParaRPr lang="en-US" sz="1500" dirty="0"/>
          </a:p>
        </p:txBody>
      </p:sp>
      <p:sp>
        <p:nvSpPr>
          <p:cNvPr id="30" name="Text 24"/>
          <p:cNvSpPr/>
          <p:nvPr/>
        </p:nvSpPr>
        <p:spPr>
          <a:xfrm>
            <a:off x="6249924" y="5925312"/>
            <a:ext cx="2503170"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max percentage step</a:t>
            </a:r>
            <a:endParaRPr lang="en-US" sz="870" dirty="0"/>
          </a:p>
        </p:txBody>
      </p:sp>
      <p:sp>
        <p:nvSpPr>
          <p:cNvPr id="31" name="Shape 25"/>
          <p:cNvSpPr/>
          <p:nvPr/>
        </p:nvSpPr>
        <p:spPr>
          <a:xfrm>
            <a:off x="8990838" y="5541264"/>
            <a:ext cx="2649474"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32" name="Text 26"/>
          <p:cNvSpPr/>
          <p:nvPr/>
        </p:nvSpPr>
        <p:spPr>
          <a:xfrm>
            <a:off x="8990838" y="5596128"/>
            <a:ext cx="2649474" cy="329184"/>
          </a:xfrm>
          <a:prstGeom prst="rect">
            <a:avLst/>
          </a:prstGeom>
          <a:noFill/>
          <a:ln/>
        </p:spPr>
        <p:txBody>
          <a:bodyPr wrap="square" lIns="0" tIns="0" rIns="0" bIns="0" rtlCol="0" anchor="ctr"/>
          <a:lstStyle/>
          <a:p>
            <a:pPr marL="0" indent="0" algn="ctr">
              <a:buNone/>
            </a:pPr>
            <a:r>
              <a:rPr lang="en-US" sz="1500" b="1" dirty="0">
                <a:solidFill>
                  <a:srgbClr val="3DE8B0"/>
                </a:solidFill>
                <a:latin typeface="Calibri" pitchFamily="34" charset="0"/>
                <a:ea typeface="Calibri" pitchFamily="34" charset="-122"/>
                <a:cs typeface="Calibri" pitchFamily="34" charset="-120"/>
              </a:rPr>
              <a:t>100%</a:t>
            </a:r>
            <a:endParaRPr lang="en-US" sz="1500" dirty="0"/>
          </a:p>
        </p:txBody>
      </p:sp>
      <p:sp>
        <p:nvSpPr>
          <p:cNvPr id="33" name="Text 27"/>
          <p:cNvSpPr/>
          <p:nvPr/>
        </p:nvSpPr>
        <p:spPr>
          <a:xfrm>
            <a:off x="9063990" y="5925312"/>
            <a:ext cx="2503170"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of AI drafts validated before use</a:t>
            </a:r>
            <a:endParaRPr lang="en-US" sz="87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14</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FF8A70"/>
                </a:solidFill>
                <a:latin typeface="Calibri" pitchFamily="34" charset="0"/>
                <a:ea typeface="Calibri" pitchFamily="34" charset="-122"/>
                <a:cs typeface="Calibri" pitchFamily="34" charset="-120"/>
              </a:rPr>
              <a:t>TRAINING 3/3   </a:t>
            </a:r>
            <a:r>
              <a:rPr lang="en-US" sz="1100" b="1" kern="0" spc="200" dirty="0">
                <a:solidFill>
                  <a:srgbClr val="9DBAC3"/>
                </a:solidFill>
                <a:latin typeface="Calibri" pitchFamily="34" charset="0"/>
                <a:ea typeface="Calibri" pitchFamily="34" charset="-122"/>
                <a:cs typeface="Calibri" pitchFamily="34" charset="-120"/>
              </a:rPr>
              <a:t>|   PRESENTER: ERIC LA</a:t>
            </a:r>
            <a:endParaRPr lang="en-US" sz="1100" dirty="0"/>
          </a:p>
        </p:txBody>
      </p:sp>
      <p:sp>
        <p:nvSpPr>
          <p:cNvPr id="5" name="Text 3"/>
          <p:cNvSpPr/>
          <p:nvPr/>
        </p:nvSpPr>
        <p:spPr>
          <a:xfrm>
            <a:off x="548640" y="566928"/>
            <a:ext cx="859536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The plan adapts to the week you actually had</a:t>
            </a:r>
            <a:endParaRPr lang="en-US" sz="2600" dirty="0"/>
          </a:p>
        </p:txBody>
      </p:sp>
      <p:sp>
        <p:nvSpPr>
          <p:cNvPr id="6" name="Shape 4"/>
          <p:cNvSpPr/>
          <p:nvPr/>
        </p:nvSpPr>
        <p:spPr>
          <a:xfrm>
            <a:off x="566928" y="1545336"/>
            <a:ext cx="457200" cy="457200"/>
          </a:xfrm>
          <a:prstGeom prst="ellipse">
            <a:avLst/>
          </a:prstGeom>
          <a:solidFill>
            <a:srgbClr val="123441"/>
          </a:solidFill>
          <a:ln w="9525">
            <a:solidFill>
              <a:srgbClr val="1E4A57"/>
            </a:solidFill>
            <a:prstDash val="solid"/>
          </a:ln>
        </p:spPr>
        <p:txBody>
          <a:bodyPr/>
          <a:lstStyle/>
          <a:p>
            <a:endParaRPr lang="en-AU"/>
          </a:p>
        </p:txBody>
      </p:sp>
      <p:pic>
        <p:nvPicPr>
          <p:cNvPr id="7" name="Image 0" descr="C:\Users\lumin\AppData\Local\Temp\claude\C--Users-lumin-Desktop-aquazerofit\2e3b7983-e45b-4e1c-8fdf-0a5635a22264\scratchpad\assets\icon_heartbeat_coral.png"/>
          <p:cNvPicPr>
            <a:picLocks noChangeAspect="1"/>
          </p:cNvPicPr>
          <p:nvPr/>
        </p:nvPicPr>
        <p:blipFill>
          <a:blip r:embed="rId4"/>
          <a:stretch>
            <a:fillRect/>
          </a:stretch>
        </p:blipFill>
        <p:spPr>
          <a:xfrm>
            <a:off x="676656" y="1664208"/>
            <a:ext cx="237744" cy="237744"/>
          </a:xfrm>
          <a:prstGeom prst="rect">
            <a:avLst/>
          </a:prstGeom>
        </p:spPr>
      </p:pic>
      <p:sp>
        <p:nvSpPr>
          <p:cNvPr id="8" name="Text 5"/>
          <p:cNvSpPr/>
          <p:nvPr/>
        </p:nvSpPr>
        <p:spPr>
          <a:xfrm>
            <a:off x="1188720" y="1490472"/>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Protect · Maintain · Progress</a:t>
            </a:r>
            <a:endParaRPr lang="en-US" sz="1350" dirty="0"/>
          </a:p>
        </p:txBody>
      </p:sp>
      <p:sp>
        <p:nvSpPr>
          <p:cNvPr id="9" name="Text 6"/>
          <p:cNvSpPr/>
          <p:nvPr/>
        </p:nvSpPr>
        <p:spPr>
          <a:xfrm>
            <a:off x="1188720" y="1764792"/>
            <a:ext cx="7818120" cy="713232"/>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Four weighted signals from your last 7 days (completion 45%, activity 25%, recency 20%, intake 10%) scale next week’s working volume ×0.6, ×1.0 or ×1.1. A hard week quietly eases the next one; a quiet week is never framed as failure.</a:t>
            </a:r>
            <a:endParaRPr lang="en-US" sz="1100" dirty="0"/>
          </a:p>
        </p:txBody>
      </p:sp>
      <p:sp>
        <p:nvSpPr>
          <p:cNvPr id="10" name="Shape 7"/>
          <p:cNvSpPr/>
          <p:nvPr/>
        </p:nvSpPr>
        <p:spPr>
          <a:xfrm>
            <a:off x="566928" y="2523744"/>
            <a:ext cx="457200" cy="457200"/>
          </a:xfrm>
          <a:prstGeom prst="ellipse">
            <a:avLst/>
          </a:prstGeom>
          <a:solidFill>
            <a:srgbClr val="123441"/>
          </a:solidFill>
          <a:ln w="9525">
            <a:solidFill>
              <a:srgbClr val="1E4A57"/>
            </a:solidFill>
            <a:prstDash val="solid"/>
          </a:ln>
        </p:spPr>
        <p:txBody>
          <a:bodyPr/>
          <a:lstStyle/>
          <a:p>
            <a:endParaRPr lang="en-AU"/>
          </a:p>
        </p:txBody>
      </p:sp>
      <p:pic>
        <p:nvPicPr>
          <p:cNvPr id="11" name="Image 1" descr="C:\Users\lumin\AppData\Local\Temp\claude\C--Users-lumin-Desktop-aquazerofit\2e3b7983-e45b-4e1c-8fdf-0a5635a22264\scratchpad\assets\icon_play_cyan.png"/>
          <p:cNvPicPr>
            <a:picLocks noChangeAspect="1"/>
          </p:cNvPicPr>
          <p:nvPr/>
        </p:nvPicPr>
        <p:blipFill>
          <a:blip r:embed="rId5"/>
          <a:stretch>
            <a:fillRect/>
          </a:stretch>
        </p:blipFill>
        <p:spPr>
          <a:xfrm>
            <a:off x="676656" y="2642616"/>
            <a:ext cx="237744" cy="237744"/>
          </a:xfrm>
          <a:prstGeom prst="rect">
            <a:avLst/>
          </a:prstGeom>
        </p:spPr>
      </p:pic>
      <p:sp>
        <p:nvSpPr>
          <p:cNvPr id="12" name="Text 8"/>
          <p:cNvSpPr/>
          <p:nvPr/>
        </p:nvSpPr>
        <p:spPr>
          <a:xfrm>
            <a:off x="1188720" y="2468880"/>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A guided session logger</a:t>
            </a:r>
            <a:endParaRPr lang="en-US" sz="1350" dirty="0"/>
          </a:p>
        </p:txBody>
      </p:sp>
      <p:sp>
        <p:nvSpPr>
          <p:cNvPr id="13" name="Text 9"/>
          <p:cNvSpPr/>
          <p:nvPr/>
        </p:nvSpPr>
        <p:spPr>
          <a:xfrm>
            <a:off x="1188720" y="2743200"/>
            <a:ext cx="7818120" cy="713232"/>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Pre-resolved targets, weights rounded to real plates, a rest countdown between sets, actuals recorded set by set, and swaps constrained to genuine alternatives you have equipment for.</a:t>
            </a:r>
            <a:endParaRPr lang="en-US" sz="1100" dirty="0"/>
          </a:p>
        </p:txBody>
      </p:sp>
      <p:sp>
        <p:nvSpPr>
          <p:cNvPr id="14" name="Shape 10"/>
          <p:cNvSpPr/>
          <p:nvPr/>
        </p:nvSpPr>
        <p:spPr>
          <a:xfrm>
            <a:off x="566928" y="3502152"/>
            <a:ext cx="457200" cy="457200"/>
          </a:xfrm>
          <a:prstGeom prst="ellipse">
            <a:avLst/>
          </a:prstGeom>
          <a:solidFill>
            <a:srgbClr val="123441"/>
          </a:solidFill>
          <a:ln w="9525">
            <a:solidFill>
              <a:srgbClr val="1E4A57"/>
            </a:solidFill>
            <a:prstDash val="solid"/>
          </a:ln>
        </p:spPr>
        <p:txBody>
          <a:bodyPr/>
          <a:lstStyle/>
          <a:p>
            <a:endParaRPr lang="en-AU"/>
          </a:p>
        </p:txBody>
      </p:sp>
      <p:pic>
        <p:nvPicPr>
          <p:cNvPr id="15" name="Image 2" descr="C:\Users\lumin\AppData\Local\Temp\claude\C--Users-lumin-Desktop-aquazerofit\2e3b7983-e45b-4e1c-8fdf-0a5635a22264\scratchpad\assets\icon_chart_mint.png"/>
          <p:cNvPicPr>
            <a:picLocks noChangeAspect="1"/>
          </p:cNvPicPr>
          <p:nvPr/>
        </p:nvPicPr>
        <p:blipFill>
          <a:blip r:embed="rId6"/>
          <a:stretch>
            <a:fillRect/>
          </a:stretch>
        </p:blipFill>
        <p:spPr>
          <a:xfrm>
            <a:off x="676656" y="3621024"/>
            <a:ext cx="237744" cy="237744"/>
          </a:xfrm>
          <a:prstGeom prst="rect">
            <a:avLst/>
          </a:prstGeom>
        </p:spPr>
      </p:pic>
      <p:sp>
        <p:nvSpPr>
          <p:cNvPr id="16" name="Text 11"/>
          <p:cNvSpPr/>
          <p:nvPr/>
        </p:nvSpPr>
        <p:spPr>
          <a:xfrm>
            <a:off x="1188720" y="3447288"/>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Analytics with no AI in it</a:t>
            </a:r>
            <a:endParaRPr lang="en-US" sz="1350" dirty="0"/>
          </a:p>
        </p:txBody>
      </p:sp>
      <p:sp>
        <p:nvSpPr>
          <p:cNvPr id="17" name="Text 12"/>
          <p:cNvSpPr/>
          <p:nvPr/>
        </p:nvSpPr>
        <p:spPr>
          <a:xfrm>
            <a:off x="1188720" y="3721608"/>
            <a:ext cx="7818120" cy="713232"/>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Weekly volume and set counts per muscle, and a Brzycki estimated one-rep max with the formula version pinned so history can never silently shift.</a:t>
            </a:r>
            <a:endParaRPr lang="en-US" sz="1100" dirty="0"/>
          </a:p>
        </p:txBody>
      </p:sp>
      <p:sp>
        <p:nvSpPr>
          <p:cNvPr id="18" name="Shape 13"/>
          <p:cNvSpPr/>
          <p:nvPr/>
        </p:nvSpPr>
        <p:spPr>
          <a:xfrm>
            <a:off x="566928" y="4480560"/>
            <a:ext cx="457200" cy="457200"/>
          </a:xfrm>
          <a:prstGeom prst="ellipse">
            <a:avLst/>
          </a:prstGeom>
          <a:solidFill>
            <a:srgbClr val="123441"/>
          </a:solidFill>
          <a:ln w="9525">
            <a:solidFill>
              <a:srgbClr val="1E4A57"/>
            </a:solidFill>
            <a:prstDash val="solid"/>
          </a:ln>
        </p:spPr>
        <p:txBody>
          <a:bodyPr/>
          <a:lstStyle/>
          <a:p>
            <a:endParaRPr lang="en-AU"/>
          </a:p>
        </p:txBody>
      </p:sp>
      <p:pic>
        <p:nvPicPr>
          <p:cNvPr id="19" name="Image 3" descr="C:\Users\lumin\AppData\Local\Temp\claude\C--Users-lumin-Desktop-aquazerofit\2e3b7983-e45b-4e1c-8fdf-0a5635a22264\scratchpad\assets\icon_trophy_gold.png"/>
          <p:cNvPicPr>
            <a:picLocks noChangeAspect="1"/>
          </p:cNvPicPr>
          <p:nvPr/>
        </p:nvPicPr>
        <p:blipFill>
          <a:blip r:embed="rId7"/>
          <a:stretch>
            <a:fillRect/>
          </a:stretch>
        </p:blipFill>
        <p:spPr>
          <a:xfrm>
            <a:off x="676656" y="4599432"/>
            <a:ext cx="237744" cy="237744"/>
          </a:xfrm>
          <a:prstGeom prst="rect">
            <a:avLst/>
          </a:prstGeom>
        </p:spPr>
      </p:pic>
      <p:sp>
        <p:nvSpPr>
          <p:cNvPr id="20" name="Text 14"/>
          <p:cNvSpPr/>
          <p:nvPr/>
        </p:nvSpPr>
        <p:spPr>
          <a:xfrm>
            <a:off x="1188720" y="4425696"/>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Achievements are never revoked</a:t>
            </a:r>
            <a:endParaRPr lang="en-US" sz="1350" dirty="0"/>
          </a:p>
        </p:txBody>
      </p:sp>
      <p:sp>
        <p:nvSpPr>
          <p:cNvPr id="21" name="Text 15"/>
          <p:cNvSpPr/>
          <p:nvPr/>
        </p:nvSpPr>
        <p:spPr>
          <a:xfrm>
            <a:off x="1188720" y="4700016"/>
            <a:ext cx="7818120" cy="713232"/>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Streaks evaluate against your best-ever run, not your current one. A badge earned stays earned; we removed the punishing reset-to-zero counter entirely.</a:t>
            </a:r>
            <a:endParaRPr lang="en-US" sz="1100" dirty="0"/>
          </a:p>
        </p:txBody>
      </p:sp>
      <p:sp>
        <p:nvSpPr>
          <p:cNvPr id="22" name="Shape 16"/>
          <p:cNvSpPr/>
          <p:nvPr/>
        </p:nvSpPr>
        <p:spPr>
          <a:xfrm>
            <a:off x="548640" y="5541264"/>
            <a:ext cx="2724912"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3" name="Text 17"/>
          <p:cNvSpPr/>
          <p:nvPr/>
        </p:nvSpPr>
        <p:spPr>
          <a:xfrm>
            <a:off x="548640" y="5596128"/>
            <a:ext cx="2724912" cy="329184"/>
          </a:xfrm>
          <a:prstGeom prst="rect">
            <a:avLst/>
          </a:prstGeom>
          <a:noFill/>
          <a:ln/>
        </p:spPr>
        <p:txBody>
          <a:bodyPr wrap="square" lIns="0" tIns="0" rIns="0" bIns="0" rtlCol="0" anchor="ctr"/>
          <a:lstStyle/>
          <a:p>
            <a:pPr marL="0" indent="0" algn="ctr">
              <a:buNone/>
            </a:pPr>
            <a:r>
              <a:rPr lang="en-US" sz="1500" b="1" dirty="0">
                <a:solidFill>
                  <a:srgbClr val="FF8A70"/>
                </a:solidFill>
                <a:latin typeface="Calibri" pitchFamily="34" charset="0"/>
                <a:ea typeface="Calibri" pitchFamily="34" charset="-122"/>
                <a:cs typeface="Calibri" pitchFamily="34" charset="-120"/>
              </a:rPr>
              <a:t>×0.6 / 1.0 / 1.1</a:t>
            </a:r>
            <a:endParaRPr lang="en-US" sz="1500" dirty="0"/>
          </a:p>
        </p:txBody>
      </p:sp>
      <p:sp>
        <p:nvSpPr>
          <p:cNvPr id="24" name="Text 18"/>
          <p:cNvSpPr/>
          <p:nvPr/>
        </p:nvSpPr>
        <p:spPr>
          <a:xfrm>
            <a:off x="621792" y="5925312"/>
            <a:ext cx="2578608"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protect · maintain · progress</a:t>
            </a:r>
            <a:endParaRPr lang="en-US" sz="870" dirty="0"/>
          </a:p>
        </p:txBody>
      </p:sp>
      <p:sp>
        <p:nvSpPr>
          <p:cNvPr id="25" name="Shape 19"/>
          <p:cNvSpPr/>
          <p:nvPr/>
        </p:nvSpPr>
        <p:spPr>
          <a:xfrm>
            <a:off x="3438144" y="5541264"/>
            <a:ext cx="2724912"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6" name="Text 20"/>
          <p:cNvSpPr/>
          <p:nvPr/>
        </p:nvSpPr>
        <p:spPr>
          <a:xfrm>
            <a:off x="3438144" y="5596128"/>
            <a:ext cx="2724912" cy="329184"/>
          </a:xfrm>
          <a:prstGeom prst="rect">
            <a:avLst/>
          </a:prstGeom>
          <a:noFill/>
          <a:ln/>
        </p:spPr>
        <p:txBody>
          <a:bodyPr wrap="square" lIns="0" tIns="0" rIns="0" bIns="0" rtlCol="0" anchor="ctr"/>
          <a:lstStyle/>
          <a:p>
            <a:pPr marL="0" indent="0" algn="ctr">
              <a:buNone/>
            </a:pPr>
            <a:r>
              <a:rPr lang="en-US" sz="1500" b="1" dirty="0">
                <a:solidFill>
                  <a:srgbClr val="4FD8F0"/>
                </a:solidFill>
                <a:latin typeface="Calibri" pitchFamily="34" charset="0"/>
                <a:ea typeface="Calibri" pitchFamily="34" charset="-122"/>
                <a:cs typeface="Calibri" pitchFamily="34" charset="-120"/>
              </a:rPr>
              <a:t>45 / 25 / 20 / 10</a:t>
            </a:r>
            <a:endParaRPr lang="en-US" sz="1500" dirty="0"/>
          </a:p>
        </p:txBody>
      </p:sp>
      <p:sp>
        <p:nvSpPr>
          <p:cNvPr id="27" name="Text 21"/>
          <p:cNvSpPr/>
          <p:nvPr/>
        </p:nvSpPr>
        <p:spPr>
          <a:xfrm>
            <a:off x="3511296" y="5925312"/>
            <a:ext cx="2578608"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readiness signal weights</a:t>
            </a:r>
            <a:endParaRPr lang="en-US" sz="870" dirty="0"/>
          </a:p>
        </p:txBody>
      </p:sp>
      <p:sp>
        <p:nvSpPr>
          <p:cNvPr id="28" name="Shape 22"/>
          <p:cNvSpPr/>
          <p:nvPr/>
        </p:nvSpPr>
        <p:spPr>
          <a:xfrm>
            <a:off x="6327648" y="5541264"/>
            <a:ext cx="2724912"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9" name="Text 23"/>
          <p:cNvSpPr/>
          <p:nvPr/>
        </p:nvSpPr>
        <p:spPr>
          <a:xfrm>
            <a:off x="6327648" y="5596128"/>
            <a:ext cx="2724912" cy="329184"/>
          </a:xfrm>
          <a:prstGeom prst="rect">
            <a:avLst/>
          </a:prstGeom>
          <a:noFill/>
          <a:ln/>
        </p:spPr>
        <p:txBody>
          <a:bodyPr wrap="square" lIns="0" tIns="0" rIns="0" bIns="0" rtlCol="0" anchor="ctr"/>
          <a:lstStyle/>
          <a:p>
            <a:pPr marL="0" indent="0" algn="ctr">
              <a:buNone/>
            </a:pPr>
            <a:r>
              <a:rPr lang="en-US" sz="1500" b="1" dirty="0">
                <a:solidFill>
                  <a:srgbClr val="FFC94D"/>
                </a:solidFill>
                <a:latin typeface="Calibri" pitchFamily="34" charset="0"/>
                <a:ea typeface="Calibri" pitchFamily="34" charset="-122"/>
                <a:cs typeface="Calibri" pitchFamily="34" charset="-120"/>
              </a:rPr>
              <a:t>11</a:t>
            </a:r>
            <a:endParaRPr lang="en-US" sz="1500" dirty="0"/>
          </a:p>
        </p:txBody>
      </p:sp>
      <p:sp>
        <p:nvSpPr>
          <p:cNvPr id="30" name="Text 24"/>
          <p:cNvSpPr/>
          <p:nvPr/>
        </p:nvSpPr>
        <p:spPr>
          <a:xfrm>
            <a:off x="6400800" y="5925312"/>
            <a:ext cx="2578608"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achievement definitions</a:t>
            </a:r>
            <a:endParaRPr lang="en-US" sz="870" dirty="0"/>
          </a:p>
        </p:txBody>
      </p:sp>
      <p:sp>
        <p:nvSpPr>
          <p:cNvPr id="31" name="Shape 25"/>
          <p:cNvSpPr/>
          <p:nvPr/>
        </p:nvSpPr>
        <p:spPr>
          <a:xfrm>
            <a:off x="9354312" y="1307592"/>
            <a:ext cx="2388556" cy="5020056"/>
          </a:xfrm>
          <a:prstGeom prst="roundRect">
            <a:avLst>
              <a:gd name="adj" fmla="val 4594"/>
            </a:avLst>
          </a:prstGeom>
          <a:solidFill>
            <a:srgbClr val="062028"/>
          </a:solidFill>
          <a:ln w="12700">
            <a:solidFill>
              <a:srgbClr val="1E4A57"/>
            </a:solidFill>
            <a:prstDash val="solid"/>
          </a:ln>
        </p:spPr>
        <p:txBody>
          <a:bodyPr/>
          <a:lstStyle/>
          <a:p>
            <a:endParaRPr lang="en-AU"/>
          </a:p>
        </p:txBody>
      </p:sp>
      <p:pic>
        <p:nvPicPr>
          <p:cNvPr id="32" name="Image 4" descr="C:\Users\lumin\Desktop\aquazerofit\docs\screenshots\09-progress.png"/>
          <p:cNvPicPr>
            <a:picLocks noChangeAspect="1"/>
          </p:cNvPicPr>
          <p:nvPr/>
        </p:nvPicPr>
        <p:blipFill>
          <a:blip r:embed="rId8"/>
          <a:stretch>
            <a:fillRect/>
          </a:stretch>
        </p:blipFill>
        <p:spPr>
          <a:xfrm>
            <a:off x="9418320" y="1371600"/>
            <a:ext cx="2260540" cy="48920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15</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FF8A70"/>
                </a:solidFill>
                <a:latin typeface="Calibri" pitchFamily="34" charset="0"/>
                <a:ea typeface="Calibri" pitchFamily="34" charset="-122"/>
                <a:cs typeface="Calibri" pitchFamily="34" charset="-120"/>
              </a:rPr>
              <a:t>TRAINING · UNDER THE HOOD   </a:t>
            </a:r>
            <a:r>
              <a:rPr lang="en-US" sz="1100" b="1" kern="0" spc="200" dirty="0">
                <a:solidFill>
                  <a:srgbClr val="9DBAC3"/>
                </a:solidFill>
                <a:latin typeface="Calibri" pitchFamily="34" charset="0"/>
                <a:ea typeface="Calibri" pitchFamily="34" charset="-122"/>
                <a:cs typeface="Calibri" pitchFamily="34" charset="-120"/>
              </a:rPr>
              <a:t>|   PRESENTER: ERIC LA</a:t>
            </a:r>
            <a:endParaRPr lang="en-US" sz="1100" dirty="0"/>
          </a:p>
        </p:txBody>
      </p:sp>
      <p:sp>
        <p:nvSpPr>
          <p:cNvPr id="5" name="Text 3"/>
          <p:cNvSpPr/>
          <p:nvPr/>
        </p:nvSpPr>
        <p:spPr>
          <a:xfrm>
            <a:off x="548640" y="566928"/>
            <a:ext cx="1106424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Progression and readiness, exactly as shipped</a:t>
            </a:r>
            <a:endParaRPr lang="en-US" sz="2600" dirty="0"/>
          </a:p>
        </p:txBody>
      </p:sp>
      <p:sp>
        <p:nvSpPr>
          <p:cNvPr id="6" name="Shape 4"/>
          <p:cNvSpPr/>
          <p:nvPr/>
        </p:nvSpPr>
        <p:spPr>
          <a:xfrm>
            <a:off x="548640" y="1463040"/>
            <a:ext cx="5532120" cy="4846320"/>
          </a:xfrm>
          <a:prstGeom prst="roundRect">
            <a:avLst>
              <a:gd name="adj" fmla="val 1698"/>
            </a:avLst>
          </a:prstGeom>
          <a:solidFill>
            <a:srgbClr val="04141B"/>
          </a:solidFill>
          <a:ln w="12700">
            <a:solidFill>
              <a:srgbClr val="1E4A57"/>
            </a:solidFill>
            <a:prstDash val="solid"/>
          </a:ln>
        </p:spPr>
        <p:txBody>
          <a:bodyPr/>
          <a:lstStyle/>
          <a:p>
            <a:endParaRPr lang="en-AU"/>
          </a:p>
        </p:txBody>
      </p:sp>
      <p:sp>
        <p:nvSpPr>
          <p:cNvPr id="7" name="Shape 5"/>
          <p:cNvSpPr/>
          <p:nvPr/>
        </p:nvSpPr>
        <p:spPr>
          <a:xfrm>
            <a:off x="749808" y="1645920"/>
            <a:ext cx="109728" cy="109728"/>
          </a:xfrm>
          <a:prstGeom prst="ellipse">
            <a:avLst/>
          </a:prstGeom>
          <a:solidFill>
            <a:srgbClr val="FF8A70"/>
          </a:solidFill>
          <a:ln/>
        </p:spPr>
        <p:txBody>
          <a:bodyPr/>
          <a:lstStyle/>
          <a:p>
            <a:endParaRPr lang="en-AU"/>
          </a:p>
        </p:txBody>
      </p:sp>
      <p:sp>
        <p:nvSpPr>
          <p:cNvPr id="8" name="Text 6"/>
          <p:cNvSpPr/>
          <p:nvPr/>
        </p:nvSpPr>
        <p:spPr>
          <a:xfrm>
            <a:off x="950976" y="1554480"/>
            <a:ext cx="4983480" cy="292608"/>
          </a:xfrm>
          <a:prstGeom prst="rect">
            <a:avLst/>
          </a:prstGeom>
          <a:noFill/>
          <a:ln/>
        </p:spPr>
        <p:txBody>
          <a:bodyPr wrap="square" lIns="0" tIns="0" rIns="0" bIns="0" rtlCol="0" anchor="ctr"/>
          <a:lstStyle/>
          <a:p>
            <a:pPr marL="0" indent="0">
              <a:buNone/>
            </a:pPr>
            <a:r>
              <a:rPr lang="en-US" sz="900" dirty="0">
                <a:solidFill>
                  <a:srgbClr val="9DBAC3"/>
                </a:solidFill>
                <a:latin typeface="Courier New" pitchFamily="34" charset="0"/>
                <a:ea typeface="Courier New" pitchFamily="34" charset="-122"/>
                <a:cs typeface="Courier New" pitchFamily="34" charset="-120"/>
              </a:rPr>
              <a:t>apps/api/src/modules/plans/readiness.ts</a:t>
            </a:r>
            <a:endParaRPr lang="en-US" sz="900" dirty="0"/>
          </a:p>
        </p:txBody>
      </p:sp>
      <p:sp>
        <p:nvSpPr>
          <p:cNvPr id="9" name="Text 7"/>
          <p:cNvSpPr/>
          <p:nvPr/>
        </p:nvSpPr>
        <p:spPr>
          <a:xfrm>
            <a:off x="786384" y="1920240"/>
            <a:ext cx="5074920" cy="3712464"/>
          </a:xfrm>
          <a:prstGeom prst="rect">
            <a:avLst/>
          </a:prstGeom>
          <a:noFill/>
          <a:ln/>
        </p:spPr>
        <p:txBody>
          <a:bodyPr wrap="square" lIns="0" tIns="0" rIns="0" bIns="0" rtlCol="0" anchor="t"/>
          <a:lstStyle/>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completion 45: the only signal that measures the</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thing we are modulating.</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recency    20: four quiet days in a row read worse</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than four scattered through the week.</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intake     10: smallest weight ON PURPOSE: the</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noisiest signal, and the one most easily</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turned into food moralising. It may nudge</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the band but never decide it.            */</a:t>
            </a:r>
            <a:endParaRPr lang="en-US" sz="950" dirty="0"/>
          </a:p>
          <a:p>
            <a:pPr marL="0" indent="0">
              <a:lnSpc>
                <a:spcPct val="112000"/>
              </a:lnSpc>
              <a:buNone/>
            </a:pPr>
            <a:r>
              <a:rPr lang="en-US" sz="950" b="1" dirty="0">
                <a:solidFill>
                  <a:srgbClr val="4FD8F0"/>
                </a:solidFill>
                <a:latin typeface="Courier New" pitchFamily="34" charset="0"/>
                <a:ea typeface="Courier New" pitchFamily="34" charset="-122"/>
                <a:cs typeface="Courier New" pitchFamily="34" charset="-120"/>
              </a:rPr>
              <a:t>const</a:t>
            </a:r>
            <a:r>
              <a:rPr lang="en-US" sz="950" dirty="0">
                <a:solidFill>
                  <a:srgbClr val="D9EAEF"/>
                </a:solidFill>
                <a:latin typeface="Courier New" pitchFamily="34" charset="0"/>
                <a:ea typeface="Courier New" pitchFamily="34" charset="-122"/>
                <a:cs typeface="Courier New" pitchFamily="34" charset="-120"/>
              </a:rPr>
              <a:t> WEIGHTS =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completion: </a:t>
            </a:r>
            <a:r>
              <a:rPr lang="en-US" sz="950" dirty="0">
                <a:solidFill>
                  <a:srgbClr val="FFC94D"/>
                </a:solidFill>
                <a:latin typeface="Courier New" pitchFamily="34" charset="0"/>
                <a:ea typeface="Courier New" pitchFamily="34" charset="-122"/>
                <a:cs typeface="Courier New" pitchFamily="34" charset="-120"/>
              </a:rPr>
              <a:t>45</a:t>
            </a:r>
            <a:r>
              <a:rPr lang="en-US" sz="950" dirty="0">
                <a:solidFill>
                  <a:srgbClr val="D9EAEF"/>
                </a:solidFill>
                <a:latin typeface="Courier New" pitchFamily="34" charset="0"/>
                <a:ea typeface="Courier New" pitchFamily="34" charset="-122"/>
                <a:cs typeface="Courier New" pitchFamily="34" charset="-120"/>
              </a:rPr>
              <a:t>, logging: </a:t>
            </a:r>
            <a:r>
              <a:rPr lang="en-US" sz="950" dirty="0">
                <a:solidFill>
                  <a:srgbClr val="FFC94D"/>
                </a:solidFill>
                <a:latin typeface="Courier New" pitchFamily="34" charset="0"/>
                <a:ea typeface="Courier New" pitchFamily="34" charset="-122"/>
                <a:cs typeface="Courier New" pitchFamily="34" charset="-120"/>
              </a:rPr>
              <a:t>25</a:t>
            </a:r>
            <a:r>
              <a:rPr lang="en-US" sz="950" dirty="0">
                <a:solidFill>
                  <a:srgbClr val="D9EAEF"/>
                </a:solidFill>
                <a:latin typeface="Courier New" pitchFamily="34" charset="0"/>
                <a:ea typeface="Courier New" pitchFamily="34" charset="-122"/>
                <a:cs typeface="Courier New" pitchFamily="34" charset="-120"/>
              </a:rPr>
              <a:t>, recency: </a:t>
            </a:r>
            <a:r>
              <a:rPr lang="en-US" sz="950" dirty="0">
                <a:solidFill>
                  <a:srgbClr val="FFC94D"/>
                </a:solidFill>
                <a:latin typeface="Courier New" pitchFamily="34" charset="0"/>
                <a:ea typeface="Courier New" pitchFamily="34" charset="-122"/>
                <a:cs typeface="Courier New" pitchFamily="34" charset="-120"/>
              </a:rPr>
              <a:t>20</a:t>
            </a:r>
            <a:r>
              <a:rPr lang="en-US" sz="950" dirty="0">
                <a:solidFill>
                  <a:srgbClr val="D9EAEF"/>
                </a:solidFill>
                <a:latin typeface="Courier New" pitchFamily="34" charset="0"/>
                <a:ea typeface="Courier New" pitchFamily="34" charset="-122"/>
                <a:cs typeface="Courier New" pitchFamily="34" charset="-120"/>
              </a:rPr>
              <a:t>, intake: </a:t>
            </a:r>
            <a:r>
              <a:rPr lang="en-US" sz="950" dirty="0">
                <a:solidFill>
                  <a:srgbClr val="FFC94D"/>
                </a:solidFill>
                <a:latin typeface="Courier New" pitchFamily="34" charset="0"/>
                <a:ea typeface="Courier New" pitchFamily="34" charset="-122"/>
                <a:cs typeface="Courier New" pitchFamily="34" charset="-120"/>
              </a:rPr>
              <a:t>10</a:t>
            </a:r>
            <a:r>
              <a:rPr lang="en-US" sz="950" dirty="0">
                <a:solidFill>
                  <a:srgbClr val="D9EAEF"/>
                </a:solidFill>
                <a:latin typeface="Courier New" pitchFamily="34" charset="0"/>
                <a:ea typeface="Courier New" pitchFamily="34" charset="-122"/>
                <a:cs typeface="Courier New" pitchFamily="34" charset="-120"/>
              </a:rPr>
              <a:t>,</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as const</a:t>
            </a:r>
            <a:r>
              <a:rPr lang="en-US" sz="950" dirty="0">
                <a:solidFill>
                  <a:srgbClr val="D9EAEF"/>
                </a:solidFill>
                <a:latin typeface="Courier New" pitchFamily="34" charset="0"/>
                <a:ea typeface="Courier New" pitchFamily="34" charset="-122"/>
                <a:cs typeface="Courier New" pitchFamily="34" charset="-120"/>
              </a:rPr>
              <a:t>;</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Applied to the ABSOLUTE deviation: eating well under</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target costs exactly as much as eating well over it.</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Under-eating is never scored as virtue, that is the</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disordered-eating pattern this product must not reward. */</a:t>
            </a:r>
            <a:endParaRPr lang="en-US" sz="950" dirty="0"/>
          </a:p>
          <a:p>
            <a:pPr marL="0" indent="0">
              <a:lnSpc>
                <a:spcPct val="112000"/>
              </a:lnSpc>
              <a:buNone/>
            </a:pPr>
            <a:r>
              <a:rPr lang="en-US" sz="950" b="1" dirty="0">
                <a:solidFill>
                  <a:srgbClr val="4FD8F0"/>
                </a:solidFill>
                <a:latin typeface="Courier New" pitchFamily="34" charset="0"/>
                <a:ea typeface="Courier New" pitchFamily="34" charset="-122"/>
                <a:cs typeface="Courier New" pitchFamily="34" charset="-120"/>
              </a:rPr>
              <a:t>const</a:t>
            </a:r>
            <a:r>
              <a:rPr lang="en-US" sz="950" dirty="0">
                <a:solidFill>
                  <a:srgbClr val="D9EAEF"/>
                </a:solidFill>
                <a:latin typeface="Courier New" pitchFamily="34" charset="0"/>
                <a:ea typeface="Courier New" pitchFamily="34" charset="-122"/>
                <a:cs typeface="Courier New" pitchFamily="34" charset="-120"/>
              </a:rPr>
              <a:t> INTAKE_ZERO_AT_DEVIATION = </a:t>
            </a:r>
            <a:r>
              <a:rPr lang="en-US" sz="950" dirty="0">
                <a:solidFill>
                  <a:srgbClr val="FFC94D"/>
                </a:solidFill>
                <a:latin typeface="Courier New" pitchFamily="34" charset="0"/>
                <a:ea typeface="Courier New" pitchFamily="34" charset="-122"/>
                <a:cs typeface="Courier New" pitchFamily="34" charset="-120"/>
              </a:rPr>
              <a:t>0.3</a:t>
            </a:r>
            <a:r>
              <a:rPr lang="en-US" sz="950" dirty="0">
                <a:solidFill>
                  <a:srgbClr val="D9EAEF"/>
                </a:solidFill>
                <a:latin typeface="Courier New" pitchFamily="34" charset="0"/>
                <a:ea typeface="Courier New" pitchFamily="34" charset="-122"/>
                <a:cs typeface="Courier New" pitchFamily="34" charset="-120"/>
              </a:rPr>
              <a:t>;</a:t>
            </a:r>
            <a:endParaRPr lang="en-US" sz="950" dirty="0"/>
          </a:p>
        </p:txBody>
      </p:sp>
      <p:sp>
        <p:nvSpPr>
          <p:cNvPr id="10" name="Text 8"/>
          <p:cNvSpPr/>
          <p:nvPr/>
        </p:nvSpPr>
        <p:spPr>
          <a:xfrm>
            <a:off x="786384" y="5705856"/>
            <a:ext cx="5074920" cy="512064"/>
          </a:xfrm>
          <a:prstGeom prst="rect">
            <a:avLst/>
          </a:prstGeom>
          <a:noFill/>
          <a:ln/>
        </p:spPr>
        <p:txBody>
          <a:bodyPr wrap="square" lIns="0" tIns="0" rIns="0" bIns="0" rtlCol="0" anchor="t"/>
          <a:lstStyle/>
          <a:p>
            <a:pPr marL="0" indent="0">
              <a:buNone/>
            </a:pPr>
            <a:r>
              <a:rPr lang="en-US" sz="750" b="1" kern="0" spc="150" dirty="0">
                <a:solidFill>
                  <a:srgbClr val="FF8A70"/>
                </a:solidFill>
                <a:latin typeface="Calibri" pitchFamily="34" charset="0"/>
                <a:ea typeface="Calibri" pitchFamily="34" charset="-122"/>
                <a:cs typeface="Calibri" pitchFamily="34" charset="-120"/>
              </a:rPr>
              <a:t>WHY IT MATTERS   </a:t>
            </a:r>
            <a:r>
              <a:rPr lang="en-US" sz="950" dirty="0">
                <a:solidFill>
                  <a:srgbClr val="9DBAC3"/>
                </a:solidFill>
                <a:latin typeface="Calibri" pitchFamily="34" charset="0"/>
                <a:ea typeface="Calibri" pitchFamily="34" charset="-122"/>
                <a:cs typeface="Calibri" pitchFamily="34" charset="-120"/>
              </a:rPr>
              <a:t>Every weight is justified in a comment beside it. A marker can audit our judgement, not just our arithmetic.</a:t>
            </a:r>
            <a:endParaRPr lang="en-US" sz="750" dirty="0"/>
          </a:p>
        </p:txBody>
      </p:sp>
      <p:sp>
        <p:nvSpPr>
          <p:cNvPr id="11" name="Shape 9"/>
          <p:cNvSpPr/>
          <p:nvPr/>
        </p:nvSpPr>
        <p:spPr>
          <a:xfrm>
            <a:off x="6309360" y="1463040"/>
            <a:ext cx="5349240" cy="4846320"/>
          </a:xfrm>
          <a:prstGeom prst="roundRect">
            <a:avLst>
              <a:gd name="adj" fmla="val 1698"/>
            </a:avLst>
          </a:prstGeom>
          <a:solidFill>
            <a:srgbClr val="04141B"/>
          </a:solidFill>
          <a:ln w="12700">
            <a:solidFill>
              <a:srgbClr val="1E4A57"/>
            </a:solidFill>
            <a:prstDash val="solid"/>
          </a:ln>
        </p:spPr>
        <p:txBody>
          <a:bodyPr/>
          <a:lstStyle/>
          <a:p>
            <a:endParaRPr lang="en-AU"/>
          </a:p>
        </p:txBody>
      </p:sp>
      <p:sp>
        <p:nvSpPr>
          <p:cNvPr id="12" name="Shape 10"/>
          <p:cNvSpPr/>
          <p:nvPr/>
        </p:nvSpPr>
        <p:spPr>
          <a:xfrm>
            <a:off x="6510528" y="1645920"/>
            <a:ext cx="109728" cy="109728"/>
          </a:xfrm>
          <a:prstGeom prst="ellipse">
            <a:avLst/>
          </a:prstGeom>
          <a:solidFill>
            <a:srgbClr val="FF8A70"/>
          </a:solidFill>
          <a:ln/>
        </p:spPr>
        <p:txBody>
          <a:bodyPr/>
          <a:lstStyle/>
          <a:p>
            <a:endParaRPr lang="en-AU"/>
          </a:p>
        </p:txBody>
      </p:sp>
      <p:sp>
        <p:nvSpPr>
          <p:cNvPr id="13" name="Text 11"/>
          <p:cNvSpPr/>
          <p:nvPr/>
        </p:nvSpPr>
        <p:spPr>
          <a:xfrm>
            <a:off x="6711696" y="1554480"/>
            <a:ext cx="4800600" cy="292608"/>
          </a:xfrm>
          <a:prstGeom prst="rect">
            <a:avLst/>
          </a:prstGeom>
          <a:noFill/>
          <a:ln/>
        </p:spPr>
        <p:txBody>
          <a:bodyPr wrap="square" lIns="0" tIns="0" rIns="0" bIns="0" rtlCol="0" anchor="ctr"/>
          <a:lstStyle/>
          <a:p>
            <a:pPr marL="0" indent="0">
              <a:buNone/>
            </a:pPr>
            <a:r>
              <a:rPr lang="en-US" sz="900" dirty="0">
                <a:solidFill>
                  <a:srgbClr val="9DBAC3"/>
                </a:solidFill>
                <a:latin typeface="Courier New" pitchFamily="34" charset="0"/>
                <a:ea typeface="Courier New" pitchFamily="34" charset="-122"/>
                <a:cs typeface="Courier New" pitchFamily="34" charset="-120"/>
              </a:rPr>
              <a:t>apps/api/src/modules/plans/progression.ts</a:t>
            </a:r>
            <a:endParaRPr lang="en-US" sz="900" dirty="0"/>
          </a:p>
        </p:txBody>
      </p:sp>
      <p:sp>
        <p:nvSpPr>
          <p:cNvPr id="14" name="Text 12"/>
          <p:cNvSpPr/>
          <p:nvPr/>
        </p:nvSpPr>
        <p:spPr>
          <a:xfrm>
            <a:off x="6547104" y="1920240"/>
            <a:ext cx="4892040" cy="3712464"/>
          </a:xfrm>
          <a:prstGeom prst="rect">
            <a:avLst/>
          </a:prstGeom>
          <a:noFill/>
          <a:ln/>
        </p:spPr>
        <p:txBody>
          <a:bodyPr wrap="square" lIns="0" tIns="0" rIns="0" bIns="0" rtlCol="0" anchor="t"/>
          <a:lstStyle/>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Autoregulation: if the logs cannot confirm the previous</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iteration’s targets were met, the step is skipped.</a:t>
            </a:r>
            <a:endParaRPr lang="en-US" sz="950" dirty="0"/>
          </a:p>
          <a:p>
            <a:pPr marL="0" indent="0">
              <a:lnSpc>
                <a:spcPct val="112000"/>
              </a:lnSpc>
              <a:buNone/>
            </a:pPr>
            <a:r>
              <a:rPr lang="en-US" sz="950" b="1" dirty="0">
                <a:solidFill>
                  <a:srgbClr val="4FD8F0"/>
                </a:solidFill>
                <a:latin typeface="Courier New" pitchFamily="34" charset="0"/>
                <a:ea typeface="Courier New" pitchFamily="34" charset="-122"/>
                <a:cs typeface="Courier New" pitchFamily="34" charset="-120"/>
              </a:rPr>
              <a:t>if</a:t>
            </a:r>
            <a:r>
              <a:rPr lang="en-US" sz="950" dirty="0">
                <a:solidFill>
                  <a:srgbClr val="D9EAEF"/>
                </a:solidFill>
                <a:latin typeface="Courier New" pitchFamily="34" charset="0"/>
                <a:ea typeface="Courier New" pitchFamily="34" charset="-122"/>
                <a:cs typeface="Courier New" pitchFamily="34" charset="-120"/>
              </a:rPr>
              <a:t> (rule.requires &amp;&amp; rule.requires.length &gt; </a:t>
            </a:r>
            <a:r>
              <a:rPr lang="en-US" sz="950" dirty="0">
                <a:solidFill>
                  <a:srgbClr val="FFC94D"/>
                </a:solidFill>
                <a:latin typeface="Courier New" pitchFamily="34" charset="0"/>
                <a:ea typeface="Courier New" pitchFamily="34" charset="-122"/>
                <a:cs typeface="Courier New" pitchFamily="34" charset="-120"/>
              </a:rPr>
              <a:t>0</a:t>
            </a:r>
            <a:r>
              <a:rPr lang="en-US" sz="950" dirty="0">
                <a:solidFill>
                  <a:srgbClr val="D9EAEF"/>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if</a:t>
            </a:r>
            <a:r>
              <a:rPr lang="en-US" sz="950" dirty="0">
                <a:solidFill>
                  <a:srgbClr val="D9EAEF"/>
                </a:solidFill>
                <a:latin typeface="Courier New" pitchFamily="34" charset="0"/>
                <a:ea typeface="Courier New" pitchFamily="34" charset="-122"/>
                <a:cs typeface="Courier New" pitchFamily="34" charset="-120"/>
              </a:rPr>
              <a:t> (!gate || !gate(atIteration, rule)) </a:t>
            </a:r>
            <a:r>
              <a:rPr lang="en-US" sz="950" b="1" dirty="0">
                <a:solidFill>
                  <a:srgbClr val="4FD8F0"/>
                </a:solidFill>
                <a:latin typeface="Courier New" pitchFamily="34" charset="0"/>
                <a:ea typeface="Courier New" pitchFamily="34" charset="-122"/>
                <a:cs typeface="Courier New" pitchFamily="34" charset="-120"/>
              </a:rPr>
              <a:t>continue</a:t>
            </a:r>
            <a:r>
              <a:rPr lang="en-US" sz="950" dirty="0">
                <a:solidFill>
                  <a:srgbClr val="D9EAEF"/>
                </a:solidFill>
                <a:latin typeface="Courier New" pitchFamily="34" charset="0"/>
                <a:ea typeface="Courier New" pitchFamily="34" charset="-122"/>
                <a:cs typeface="Courier New" pitchFamily="34" charset="-120"/>
              </a:rPr>
              <a:t>;</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dirty="0">
                <a:solidFill>
                  <a:srgbClr val="7A98A1"/>
                </a:solidFill>
                <a:latin typeface="Courier New" pitchFamily="34" charset="0"/>
                <a:ea typeface="Courier New" pitchFamily="34" charset="-122"/>
                <a:cs typeface="Courier New" pitchFamily="34" charset="-120"/>
              </a:rPr>
              <a:t>// no evidence → no increase</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Hard caps mirror the shared validation schemas:</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sets 1–20, reps 1–100, rest 0–900 s, weight 0–1000 kg.</a:t>
            </a:r>
            <a:endParaRPr lang="en-US" sz="950" dirty="0"/>
          </a:p>
          <a:p>
            <a:pPr marL="0" indent="0">
              <a:lnSpc>
                <a:spcPct val="112000"/>
              </a:lnSpc>
              <a:buNone/>
            </a:pPr>
            <a:r>
              <a:rPr lang="en-US" sz="950" b="1" dirty="0">
                <a:solidFill>
                  <a:srgbClr val="4FD8F0"/>
                </a:solidFill>
                <a:latin typeface="Courier New" pitchFamily="34" charset="0"/>
                <a:ea typeface="Courier New" pitchFamily="34" charset="-122"/>
                <a:cs typeface="Courier New" pitchFamily="34" charset="-120"/>
              </a:rPr>
              <a:t>function</a:t>
            </a:r>
            <a:r>
              <a:rPr lang="en-US" sz="950" dirty="0">
                <a:solidFill>
                  <a:srgbClr val="D9EAEF"/>
                </a:solidFill>
                <a:latin typeface="Courier New" pitchFamily="34" charset="0"/>
                <a:ea typeface="Courier New" pitchFamily="34" charset="-122"/>
                <a:cs typeface="Courier New" pitchFamily="34" charset="-120"/>
              </a:rPr>
              <a:t> clamp(value, kind)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return</a:t>
            </a:r>
            <a:r>
              <a:rPr lang="en-US" sz="950" dirty="0">
                <a:solidFill>
                  <a:srgbClr val="D9EAEF"/>
                </a:solidFill>
                <a:latin typeface="Courier New" pitchFamily="34" charset="0"/>
                <a:ea typeface="Courier New" pitchFamily="34" charset="-122"/>
                <a:cs typeface="Courier New" pitchFamily="34" charset="-120"/>
              </a:rPr>
              <a:t> Math.min(CAPS[kind].max,</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Math.max(CAPS[kind].min, value));</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Rules are DATA, resolved by this pure engine, so the</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user can inspect week 5, an AI draft can speak the same</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vocabulary, and a unit test can pin the reference example.</a:t>
            </a:r>
            <a:endParaRPr lang="en-US" sz="950" dirty="0"/>
          </a:p>
        </p:txBody>
      </p:sp>
      <p:sp>
        <p:nvSpPr>
          <p:cNvPr id="15" name="Text 13"/>
          <p:cNvSpPr/>
          <p:nvPr/>
        </p:nvSpPr>
        <p:spPr>
          <a:xfrm>
            <a:off x="6547104" y="5705856"/>
            <a:ext cx="4892040" cy="512064"/>
          </a:xfrm>
          <a:prstGeom prst="rect">
            <a:avLst/>
          </a:prstGeom>
          <a:noFill/>
          <a:ln/>
        </p:spPr>
        <p:txBody>
          <a:bodyPr wrap="square" lIns="0" tIns="0" rIns="0" bIns="0" rtlCol="0" anchor="t"/>
          <a:lstStyle/>
          <a:p>
            <a:pPr marL="0" indent="0">
              <a:buNone/>
            </a:pPr>
            <a:r>
              <a:rPr lang="en-US" sz="750" b="1" kern="0" spc="150" dirty="0">
                <a:solidFill>
                  <a:srgbClr val="FF8A70"/>
                </a:solidFill>
                <a:latin typeface="Calibri" pitchFamily="34" charset="0"/>
                <a:ea typeface="Calibri" pitchFamily="34" charset="-122"/>
                <a:cs typeface="Calibri" pitchFamily="34" charset="-120"/>
              </a:rPr>
              <a:t>WHY IT MATTERS   </a:t>
            </a:r>
            <a:r>
              <a:rPr lang="en-US" sz="950" dirty="0">
                <a:solidFill>
                  <a:srgbClr val="9DBAC3"/>
                </a:solidFill>
                <a:latin typeface="Calibri" pitchFamily="34" charset="0"/>
                <a:ea typeface="Calibri" pitchFamily="34" charset="-122"/>
                <a:cs typeface="Calibri" pitchFamily="34" charset="-120"/>
              </a:rPr>
              <a:t>The gate fails closed and the caps are unconditional, even a model-drafted plan physically cannot prescribe past them.</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16</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4FD8F0"/>
                </a:solidFill>
                <a:latin typeface="Calibri" pitchFamily="34" charset="0"/>
                <a:ea typeface="Calibri" pitchFamily="34" charset="-122"/>
                <a:cs typeface="Calibri" pitchFamily="34" charset="-120"/>
              </a:rPr>
              <a:t>PLATFORM &amp; AI 1/4   </a:t>
            </a:r>
            <a:r>
              <a:rPr lang="en-US" sz="1100" b="1" kern="0" spc="200" dirty="0">
                <a:solidFill>
                  <a:srgbClr val="9DBAC3"/>
                </a:solidFill>
                <a:latin typeface="Calibri" pitchFamily="34" charset="0"/>
                <a:ea typeface="Calibri" pitchFamily="34" charset="-122"/>
                <a:cs typeface="Calibri" pitchFamily="34" charset="-120"/>
              </a:rPr>
              <a:t>|   PRESENTER: TUNDJI WILLIAMS-FULWOOD</a:t>
            </a:r>
            <a:endParaRPr lang="en-US" sz="1100" dirty="0"/>
          </a:p>
        </p:txBody>
      </p:sp>
      <p:sp>
        <p:nvSpPr>
          <p:cNvPr id="5" name="Text 3"/>
          <p:cNvSpPr/>
          <p:nvPr/>
        </p:nvSpPr>
        <p:spPr>
          <a:xfrm>
            <a:off x="548640" y="566928"/>
            <a:ext cx="841248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Every AI call goes through one door and survives failure</a:t>
            </a:r>
            <a:endParaRPr lang="en-US" sz="2600" dirty="0"/>
          </a:p>
        </p:txBody>
      </p:sp>
      <p:sp>
        <p:nvSpPr>
          <p:cNvPr id="6" name="Shape 4"/>
          <p:cNvSpPr/>
          <p:nvPr/>
        </p:nvSpPr>
        <p:spPr>
          <a:xfrm>
            <a:off x="566928" y="1545336"/>
            <a:ext cx="457200" cy="457200"/>
          </a:xfrm>
          <a:prstGeom prst="ellipse">
            <a:avLst/>
          </a:prstGeom>
          <a:solidFill>
            <a:srgbClr val="123441"/>
          </a:solidFill>
          <a:ln w="9525">
            <a:solidFill>
              <a:srgbClr val="1E4A57"/>
            </a:solidFill>
            <a:prstDash val="solid"/>
          </a:ln>
        </p:spPr>
        <p:txBody>
          <a:bodyPr/>
          <a:lstStyle/>
          <a:p>
            <a:endParaRPr lang="en-AU"/>
          </a:p>
        </p:txBody>
      </p:sp>
      <p:pic>
        <p:nvPicPr>
          <p:cNvPr id="7" name="Image 0" descr="C:\Users\lumin\AppData\Local\Temp\claude\C--Users-lumin-Desktop-aquazerofit\2e3b7983-e45b-4e1c-8fdf-0a5635a22264\scratchpad\assets\icon_layers_cyan.png"/>
          <p:cNvPicPr>
            <a:picLocks noChangeAspect="1"/>
          </p:cNvPicPr>
          <p:nvPr/>
        </p:nvPicPr>
        <p:blipFill>
          <a:blip r:embed="rId4"/>
          <a:stretch>
            <a:fillRect/>
          </a:stretch>
        </p:blipFill>
        <p:spPr>
          <a:xfrm>
            <a:off x="676656" y="1664208"/>
            <a:ext cx="237744" cy="237744"/>
          </a:xfrm>
          <a:prstGeom prst="rect">
            <a:avLst/>
          </a:prstGeom>
        </p:spPr>
      </p:pic>
      <p:sp>
        <p:nvSpPr>
          <p:cNvPr id="8" name="Text 5"/>
          <p:cNvSpPr/>
          <p:nvPr/>
        </p:nvSpPr>
        <p:spPr>
          <a:xfrm>
            <a:off x="1188720" y="1490472"/>
            <a:ext cx="704088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Lanes, not vendors</a:t>
            </a:r>
            <a:endParaRPr lang="en-US" sz="1350" dirty="0"/>
          </a:p>
        </p:txBody>
      </p:sp>
      <p:sp>
        <p:nvSpPr>
          <p:cNvPr id="9" name="Text 6"/>
          <p:cNvSpPr/>
          <p:nvPr/>
        </p:nvSpPr>
        <p:spPr>
          <a:xfrm>
            <a:off x="1188720" y="1764792"/>
            <a:ext cx="704088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Features ask for a capability (“vision”, “chat fast”, “plan structured”), never a brand. The gateway maps each lane onto whichever providers actually have API keys.</a:t>
            </a:r>
            <a:endParaRPr lang="en-US" sz="1100" dirty="0"/>
          </a:p>
        </p:txBody>
      </p:sp>
      <p:sp>
        <p:nvSpPr>
          <p:cNvPr id="10" name="Shape 7"/>
          <p:cNvSpPr/>
          <p:nvPr/>
        </p:nvSpPr>
        <p:spPr>
          <a:xfrm>
            <a:off x="566928" y="2523744"/>
            <a:ext cx="457200" cy="457200"/>
          </a:xfrm>
          <a:prstGeom prst="ellipse">
            <a:avLst/>
          </a:prstGeom>
          <a:solidFill>
            <a:srgbClr val="123441"/>
          </a:solidFill>
          <a:ln w="9525">
            <a:solidFill>
              <a:srgbClr val="1E4A57"/>
            </a:solidFill>
            <a:prstDash val="solid"/>
          </a:ln>
        </p:spPr>
        <p:txBody>
          <a:bodyPr/>
          <a:lstStyle/>
          <a:p>
            <a:endParaRPr lang="en-AU"/>
          </a:p>
        </p:txBody>
      </p:sp>
      <p:pic>
        <p:nvPicPr>
          <p:cNvPr id="11" name="Image 1" descr="C:\Users\lumin\AppData\Local\Temp\claude\C--Users-lumin-Desktop-aquazerofit\2e3b7983-e45b-4e1c-8fdf-0a5635a22264\scratchpad\assets\icon_bolt_gold.png"/>
          <p:cNvPicPr>
            <a:picLocks noChangeAspect="1"/>
          </p:cNvPicPr>
          <p:nvPr/>
        </p:nvPicPr>
        <p:blipFill>
          <a:blip r:embed="rId5"/>
          <a:stretch>
            <a:fillRect/>
          </a:stretch>
        </p:blipFill>
        <p:spPr>
          <a:xfrm>
            <a:off x="676656" y="2642616"/>
            <a:ext cx="237744" cy="237744"/>
          </a:xfrm>
          <a:prstGeom prst="rect">
            <a:avLst/>
          </a:prstGeom>
        </p:spPr>
      </p:pic>
      <p:sp>
        <p:nvSpPr>
          <p:cNvPr id="12" name="Text 8"/>
          <p:cNvSpPr/>
          <p:nvPr/>
        </p:nvSpPr>
        <p:spPr>
          <a:xfrm>
            <a:off x="1188720" y="2468880"/>
            <a:ext cx="704088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Engineered resilience</a:t>
            </a:r>
            <a:endParaRPr lang="en-US" sz="1350" dirty="0"/>
          </a:p>
        </p:txBody>
      </p:sp>
      <p:sp>
        <p:nvSpPr>
          <p:cNvPr id="13" name="Text 9"/>
          <p:cNvSpPr/>
          <p:nvPr/>
        </p:nvSpPr>
        <p:spPr>
          <a:xfrm>
            <a:off x="1188720" y="2743200"/>
            <a:ext cx="704088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Retries with jittered backoff; a circuit breaker sidelines any provider that fails 3 calls in a row for a 60-second cooldown; one 12-second deadline bounds the whole call.</a:t>
            </a:r>
            <a:endParaRPr lang="en-US" sz="1100" dirty="0"/>
          </a:p>
        </p:txBody>
      </p:sp>
      <p:sp>
        <p:nvSpPr>
          <p:cNvPr id="14" name="Shape 10"/>
          <p:cNvSpPr/>
          <p:nvPr/>
        </p:nvSpPr>
        <p:spPr>
          <a:xfrm>
            <a:off x="566928" y="3502152"/>
            <a:ext cx="457200" cy="457200"/>
          </a:xfrm>
          <a:prstGeom prst="ellipse">
            <a:avLst/>
          </a:prstGeom>
          <a:solidFill>
            <a:srgbClr val="123441"/>
          </a:solidFill>
          <a:ln w="9525">
            <a:solidFill>
              <a:srgbClr val="1E4A57"/>
            </a:solidFill>
            <a:prstDash val="solid"/>
          </a:ln>
        </p:spPr>
        <p:txBody>
          <a:bodyPr/>
          <a:lstStyle/>
          <a:p>
            <a:endParaRPr lang="en-AU"/>
          </a:p>
        </p:txBody>
      </p:sp>
      <p:pic>
        <p:nvPicPr>
          <p:cNvPr id="15" name="Image 2" descr="C:\Users\lumin\AppData\Local\Temp\claude\C--Users-lumin-Desktop-aquazerofit\2e3b7983-e45b-4e1c-8fdf-0a5635a22264\scratchpad\assets\icon_sync_mint.png"/>
          <p:cNvPicPr>
            <a:picLocks noChangeAspect="1"/>
          </p:cNvPicPr>
          <p:nvPr/>
        </p:nvPicPr>
        <p:blipFill>
          <a:blip r:embed="rId6"/>
          <a:stretch>
            <a:fillRect/>
          </a:stretch>
        </p:blipFill>
        <p:spPr>
          <a:xfrm>
            <a:off x="676656" y="3621024"/>
            <a:ext cx="237744" cy="237744"/>
          </a:xfrm>
          <a:prstGeom prst="rect">
            <a:avLst/>
          </a:prstGeom>
        </p:spPr>
      </p:pic>
      <p:sp>
        <p:nvSpPr>
          <p:cNvPr id="16" name="Text 11"/>
          <p:cNvSpPr/>
          <p:nvPr/>
        </p:nvSpPr>
        <p:spPr>
          <a:xfrm>
            <a:off x="1188720" y="3447288"/>
            <a:ext cx="704088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An offline brain of last resort</a:t>
            </a:r>
            <a:endParaRPr lang="en-US" sz="1350" dirty="0"/>
          </a:p>
        </p:txBody>
      </p:sp>
      <p:sp>
        <p:nvSpPr>
          <p:cNvPr id="17" name="Text 12"/>
          <p:cNvSpPr/>
          <p:nvPr/>
        </p:nvSpPr>
        <p:spPr>
          <a:xfrm>
            <a:off x="1188720" y="3721608"/>
            <a:ext cx="704088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If every provider fails, or no keys are configured at all, a deterministic engine answers instead. Every core journey works with the AI completely gone.</a:t>
            </a:r>
            <a:endParaRPr lang="en-US" sz="1100" dirty="0"/>
          </a:p>
        </p:txBody>
      </p:sp>
      <p:sp>
        <p:nvSpPr>
          <p:cNvPr id="18" name="Shape 13"/>
          <p:cNvSpPr/>
          <p:nvPr/>
        </p:nvSpPr>
        <p:spPr>
          <a:xfrm>
            <a:off x="566928" y="4480560"/>
            <a:ext cx="457200" cy="457200"/>
          </a:xfrm>
          <a:prstGeom prst="ellipse">
            <a:avLst/>
          </a:prstGeom>
          <a:solidFill>
            <a:srgbClr val="123441"/>
          </a:solidFill>
          <a:ln w="9525">
            <a:solidFill>
              <a:srgbClr val="1E4A57"/>
            </a:solidFill>
            <a:prstDash val="solid"/>
          </a:ln>
        </p:spPr>
        <p:txBody>
          <a:bodyPr/>
          <a:lstStyle/>
          <a:p>
            <a:endParaRPr lang="en-AU"/>
          </a:p>
        </p:txBody>
      </p:sp>
      <p:pic>
        <p:nvPicPr>
          <p:cNvPr id="19" name="Image 3" descr="C:\Users\lumin\AppData\Local\Temp\claude\C--Users-lumin-Desktop-aquazerofit\2e3b7983-e45b-4e1c-8fdf-0a5635a22264\scratchpad\assets\icon_coins_coral.png"/>
          <p:cNvPicPr>
            <a:picLocks noChangeAspect="1"/>
          </p:cNvPicPr>
          <p:nvPr/>
        </p:nvPicPr>
        <p:blipFill>
          <a:blip r:embed="rId7"/>
          <a:stretch>
            <a:fillRect/>
          </a:stretch>
        </p:blipFill>
        <p:spPr>
          <a:xfrm>
            <a:off x="676656" y="4599432"/>
            <a:ext cx="237744" cy="237744"/>
          </a:xfrm>
          <a:prstGeom prst="rect">
            <a:avLst/>
          </a:prstGeom>
        </p:spPr>
      </p:pic>
      <p:sp>
        <p:nvSpPr>
          <p:cNvPr id="20" name="Text 14"/>
          <p:cNvSpPr/>
          <p:nvPr/>
        </p:nvSpPr>
        <p:spPr>
          <a:xfrm>
            <a:off x="1188720" y="4425696"/>
            <a:ext cx="704088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Degraded output is never billed</a:t>
            </a:r>
            <a:endParaRPr lang="en-US" sz="1350" dirty="0"/>
          </a:p>
        </p:txBody>
      </p:sp>
      <p:sp>
        <p:nvSpPr>
          <p:cNvPr id="21" name="Text 15"/>
          <p:cNvSpPr/>
          <p:nvPr/>
        </p:nvSpPr>
        <p:spPr>
          <a:xfrm>
            <a:off x="1188720" y="4700016"/>
            <a:ext cx="704088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A fallback answer carries a degraded flag and the reserved credit is returned. Template text is not a model answer anyone should pay for.</a:t>
            </a:r>
            <a:endParaRPr lang="en-US" sz="1100" dirty="0"/>
          </a:p>
        </p:txBody>
      </p:sp>
      <p:sp>
        <p:nvSpPr>
          <p:cNvPr id="22" name="Shape 16"/>
          <p:cNvSpPr/>
          <p:nvPr/>
        </p:nvSpPr>
        <p:spPr>
          <a:xfrm>
            <a:off x="8366760" y="1481328"/>
            <a:ext cx="3246120" cy="3931920"/>
          </a:xfrm>
          <a:prstGeom prst="roundRect">
            <a:avLst>
              <a:gd name="adj" fmla="val 2817"/>
            </a:avLst>
          </a:prstGeom>
          <a:solidFill>
            <a:srgbClr val="123441"/>
          </a:solidFill>
          <a:ln w="12700">
            <a:solidFill>
              <a:srgbClr val="1E4A57"/>
            </a:solidFill>
            <a:prstDash val="solid"/>
          </a:ln>
        </p:spPr>
        <p:txBody>
          <a:bodyPr/>
          <a:lstStyle/>
          <a:p>
            <a:endParaRPr lang="en-AU"/>
          </a:p>
        </p:txBody>
      </p:sp>
      <p:sp>
        <p:nvSpPr>
          <p:cNvPr id="23" name="Text 17"/>
          <p:cNvSpPr/>
          <p:nvPr/>
        </p:nvSpPr>
        <p:spPr>
          <a:xfrm>
            <a:off x="8586216" y="1645920"/>
            <a:ext cx="2807208" cy="256032"/>
          </a:xfrm>
          <a:prstGeom prst="rect">
            <a:avLst/>
          </a:prstGeom>
          <a:noFill/>
          <a:ln/>
        </p:spPr>
        <p:txBody>
          <a:bodyPr wrap="square" lIns="0" tIns="0" rIns="0" bIns="0" rtlCol="0" anchor="ctr"/>
          <a:lstStyle/>
          <a:p>
            <a:pPr marL="0" indent="0">
              <a:buNone/>
            </a:pPr>
            <a:r>
              <a:rPr lang="en-US" sz="1000" b="1" kern="0" spc="150" dirty="0">
                <a:solidFill>
                  <a:srgbClr val="4FD8F0"/>
                </a:solidFill>
                <a:latin typeface="Calibri" pitchFamily="34" charset="0"/>
                <a:ea typeface="Calibri" pitchFamily="34" charset="-122"/>
                <a:cs typeface="Calibri" pitchFamily="34" charset="-120"/>
              </a:rPr>
              <a:t>ONE CALL’S JOURNEY</a:t>
            </a:r>
            <a:endParaRPr lang="en-US" sz="1000" dirty="0"/>
          </a:p>
        </p:txBody>
      </p:sp>
      <p:sp>
        <p:nvSpPr>
          <p:cNvPr id="24" name="Shape 18"/>
          <p:cNvSpPr/>
          <p:nvPr/>
        </p:nvSpPr>
        <p:spPr>
          <a:xfrm>
            <a:off x="8641080" y="2011680"/>
            <a:ext cx="2697480" cy="420624"/>
          </a:xfrm>
          <a:prstGeom prst="roundRect">
            <a:avLst>
              <a:gd name="adj" fmla="val 13043"/>
            </a:avLst>
          </a:prstGeom>
          <a:solidFill>
            <a:srgbClr val="0E2A34"/>
          </a:solidFill>
          <a:ln w="12700">
            <a:solidFill>
              <a:srgbClr val="4FD8F0"/>
            </a:solidFill>
            <a:prstDash val="solid"/>
          </a:ln>
        </p:spPr>
        <p:txBody>
          <a:bodyPr/>
          <a:lstStyle/>
          <a:p>
            <a:endParaRPr lang="en-AU"/>
          </a:p>
        </p:txBody>
      </p:sp>
      <p:sp>
        <p:nvSpPr>
          <p:cNvPr id="25" name="Text 19"/>
          <p:cNvSpPr/>
          <p:nvPr/>
        </p:nvSpPr>
        <p:spPr>
          <a:xfrm>
            <a:off x="8641080" y="2011680"/>
            <a:ext cx="2697480" cy="420624"/>
          </a:xfrm>
          <a:prstGeom prst="rect">
            <a:avLst/>
          </a:prstGeom>
          <a:noFill/>
          <a:ln/>
        </p:spPr>
        <p:txBody>
          <a:bodyPr wrap="square" lIns="0" tIns="0" rIns="0" bIns="0" rtlCol="0" anchor="ctr"/>
          <a:lstStyle/>
          <a:p>
            <a:pPr marL="0" indent="0" algn="ctr">
              <a:buNone/>
            </a:pPr>
            <a:r>
              <a:rPr lang="en-US" sz="1050" b="1" dirty="0">
                <a:solidFill>
                  <a:srgbClr val="4FD8F0"/>
                </a:solidFill>
                <a:latin typeface="Calibri" pitchFamily="34" charset="0"/>
                <a:ea typeface="Calibri" pitchFamily="34" charset="-122"/>
                <a:cs typeface="Calibri" pitchFamily="34" charset="-120"/>
              </a:rPr>
              <a:t>request → lane</a:t>
            </a:r>
            <a:endParaRPr lang="en-US" sz="1050" dirty="0"/>
          </a:p>
        </p:txBody>
      </p:sp>
      <p:sp>
        <p:nvSpPr>
          <p:cNvPr id="26" name="Shape 20"/>
          <p:cNvSpPr/>
          <p:nvPr/>
        </p:nvSpPr>
        <p:spPr>
          <a:xfrm>
            <a:off x="9989820" y="2432304"/>
            <a:ext cx="0" cy="274320"/>
          </a:xfrm>
          <a:prstGeom prst="line">
            <a:avLst/>
          </a:prstGeom>
          <a:noFill/>
          <a:ln w="15875">
            <a:solidFill>
              <a:srgbClr val="6E939D"/>
            </a:solidFill>
            <a:prstDash val="solid"/>
            <a:tailEnd type="triangle"/>
          </a:ln>
        </p:spPr>
        <p:txBody>
          <a:bodyPr/>
          <a:lstStyle/>
          <a:p>
            <a:endParaRPr lang="en-AU"/>
          </a:p>
        </p:txBody>
      </p:sp>
      <p:sp>
        <p:nvSpPr>
          <p:cNvPr id="27" name="Shape 21"/>
          <p:cNvSpPr/>
          <p:nvPr/>
        </p:nvSpPr>
        <p:spPr>
          <a:xfrm>
            <a:off x="8641080" y="2706624"/>
            <a:ext cx="2697480" cy="420624"/>
          </a:xfrm>
          <a:prstGeom prst="roundRect">
            <a:avLst>
              <a:gd name="adj" fmla="val 13043"/>
            </a:avLst>
          </a:prstGeom>
          <a:solidFill>
            <a:srgbClr val="0E2A34"/>
          </a:solidFill>
          <a:ln w="12700">
            <a:solidFill>
              <a:srgbClr val="1E4A57"/>
            </a:solidFill>
            <a:prstDash val="solid"/>
          </a:ln>
        </p:spPr>
        <p:txBody>
          <a:bodyPr/>
          <a:lstStyle/>
          <a:p>
            <a:endParaRPr lang="en-AU"/>
          </a:p>
        </p:txBody>
      </p:sp>
      <p:sp>
        <p:nvSpPr>
          <p:cNvPr id="28" name="Text 22"/>
          <p:cNvSpPr/>
          <p:nvPr/>
        </p:nvSpPr>
        <p:spPr>
          <a:xfrm>
            <a:off x="8641080" y="2706624"/>
            <a:ext cx="2697480" cy="420624"/>
          </a:xfrm>
          <a:prstGeom prst="rect">
            <a:avLst/>
          </a:prstGeom>
          <a:noFill/>
          <a:ln/>
        </p:spPr>
        <p:txBody>
          <a:bodyPr wrap="square" lIns="0" tIns="0" rIns="0" bIns="0" rtlCol="0" anchor="ctr"/>
          <a:lstStyle/>
          <a:p>
            <a:pPr marL="0" indent="0" algn="ctr">
              <a:buNone/>
            </a:pPr>
            <a:r>
              <a:rPr lang="en-US" sz="1050" b="1" dirty="0">
                <a:solidFill>
                  <a:srgbClr val="EAF6F9"/>
                </a:solidFill>
                <a:latin typeface="Calibri" pitchFamily="34" charset="0"/>
                <a:ea typeface="Calibri" pitchFamily="34" charset="-122"/>
                <a:cs typeface="Calibri" pitchFamily="34" charset="-120"/>
              </a:rPr>
              <a:t>provider 1 · retry</a:t>
            </a:r>
            <a:endParaRPr lang="en-US" sz="1050" dirty="0"/>
          </a:p>
        </p:txBody>
      </p:sp>
      <p:sp>
        <p:nvSpPr>
          <p:cNvPr id="29" name="Shape 23"/>
          <p:cNvSpPr/>
          <p:nvPr/>
        </p:nvSpPr>
        <p:spPr>
          <a:xfrm>
            <a:off x="9989820" y="3127248"/>
            <a:ext cx="0" cy="274320"/>
          </a:xfrm>
          <a:prstGeom prst="line">
            <a:avLst/>
          </a:prstGeom>
          <a:noFill/>
          <a:ln w="15875">
            <a:solidFill>
              <a:srgbClr val="6E939D"/>
            </a:solidFill>
            <a:prstDash val="solid"/>
            <a:tailEnd type="triangle"/>
          </a:ln>
        </p:spPr>
        <p:txBody>
          <a:bodyPr/>
          <a:lstStyle/>
          <a:p>
            <a:endParaRPr lang="en-AU"/>
          </a:p>
        </p:txBody>
      </p:sp>
      <p:sp>
        <p:nvSpPr>
          <p:cNvPr id="30" name="Shape 24"/>
          <p:cNvSpPr/>
          <p:nvPr/>
        </p:nvSpPr>
        <p:spPr>
          <a:xfrm>
            <a:off x="8641080" y="3401568"/>
            <a:ext cx="2697480" cy="420624"/>
          </a:xfrm>
          <a:prstGeom prst="roundRect">
            <a:avLst>
              <a:gd name="adj" fmla="val 13043"/>
            </a:avLst>
          </a:prstGeom>
          <a:solidFill>
            <a:srgbClr val="0E2A34"/>
          </a:solidFill>
          <a:ln w="12700">
            <a:solidFill>
              <a:srgbClr val="1E4A57"/>
            </a:solidFill>
            <a:prstDash val="solid"/>
          </a:ln>
        </p:spPr>
        <p:txBody>
          <a:bodyPr/>
          <a:lstStyle/>
          <a:p>
            <a:endParaRPr lang="en-AU"/>
          </a:p>
        </p:txBody>
      </p:sp>
      <p:sp>
        <p:nvSpPr>
          <p:cNvPr id="31" name="Text 25"/>
          <p:cNvSpPr/>
          <p:nvPr/>
        </p:nvSpPr>
        <p:spPr>
          <a:xfrm>
            <a:off x="8641080" y="3401568"/>
            <a:ext cx="2697480" cy="420624"/>
          </a:xfrm>
          <a:prstGeom prst="rect">
            <a:avLst/>
          </a:prstGeom>
          <a:noFill/>
          <a:ln/>
        </p:spPr>
        <p:txBody>
          <a:bodyPr wrap="square" lIns="0" tIns="0" rIns="0" bIns="0" rtlCol="0" anchor="ctr"/>
          <a:lstStyle/>
          <a:p>
            <a:pPr marL="0" indent="0" algn="ctr">
              <a:buNone/>
            </a:pPr>
            <a:r>
              <a:rPr lang="en-US" sz="1050" b="1" dirty="0">
                <a:solidFill>
                  <a:srgbClr val="EAF6F9"/>
                </a:solidFill>
                <a:latin typeface="Calibri" pitchFamily="34" charset="0"/>
                <a:ea typeface="Calibri" pitchFamily="34" charset="-122"/>
                <a:cs typeface="Calibri" pitchFamily="34" charset="-120"/>
              </a:rPr>
              <a:t>provider 2 … 5 · breaker</a:t>
            </a:r>
            <a:endParaRPr lang="en-US" sz="1050" dirty="0"/>
          </a:p>
        </p:txBody>
      </p:sp>
      <p:sp>
        <p:nvSpPr>
          <p:cNvPr id="32" name="Shape 26"/>
          <p:cNvSpPr/>
          <p:nvPr/>
        </p:nvSpPr>
        <p:spPr>
          <a:xfrm>
            <a:off x="9989820" y="3822192"/>
            <a:ext cx="0" cy="274320"/>
          </a:xfrm>
          <a:prstGeom prst="line">
            <a:avLst/>
          </a:prstGeom>
          <a:noFill/>
          <a:ln w="15875">
            <a:solidFill>
              <a:srgbClr val="6E939D"/>
            </a:solidFill>
            <a:prstDash val="solid"/>
            <a:tailEnd type="triangle"/>
          </a:ln>
        </p:spPr>
        <p:txBody>
          <a:bodyPr/>
          <a:lstStyle/>
          <a:p>
            <a:endParaRPr lang="en-AU"/>
          </a:p>
        </p:txBody>
      </p:sp>
      <p:sp>
        <p:nvSpPr>
          <p:cNvPr id="33" name="Shape 27"/>
          <p:cNvSpPr/>
          <p:nvPr/>
        </p:nvSpPr>
        <p:spPr>
          <a:xfrm>
            <a:off x="8641080" y="4096512"/>
            <a:ext cx="2697480" cy="420624"/>
          </a:xfrm>
          <a:prstGeom prst="roundRect">
            <a:avLst>
              <a:gd name="adj" fmla="val 13043"/>
            </a:avLst>
          </a:prstGeom>
          <a:solidFill>
            <a:srgbClr val="0E2A34"/>
          </a:solidFill>
          <a:ln w="12700">
            <a:solidFill>
              <a:srgbClr val="3DE8B0"/>
            </a:solidFill>
            <a:prstDash val="solid"/>
          </a:ln>
        </p:spPr>
        <p:txBody>
          <a:bodyPr/>
          <a:lstStyle/>
          <a:p>
            <a:endParaRPr lang="en-AU"/>
          </a:p>
        </p:txBody>
      </p:sp>
      <p:sp>
        <p:nvSpPr>
          <p:cNvPr id="34" name="Text 28"/>
          <p:cNvSpPr/>
          <p:nvPr/>
        </p:nvSpPr>
        <p:spPr>
          <a:xfrm>
            <a:off x="8641080" y="4096512"/>
            <a:ext cx="2697480" cy="420624"/>
          </a:xfrm>
          <a:prstGeom prst="rect">
            <a:avLst/>
          </a:prstGeom>
          <a:noFill/>
          <a:ln/>
        </p:spPr>
        <p:txBody>
          <a:bodyPr wrap="square" lIns="0" tIns="0" rIns="0" bIns="0" rtlCol="0" anchor="ctr"/>
          <a:lstStyle/>
          <a:p>
            <a:pPr marL="0" indent="0" algn="ctr">
              <a:buNone/>
            </a:pPr>
            <a:r>
              <a:rPr lang="en-US" sz="1050" b="1" dirty="0">
                <a:solidFill>
                  <a:srgbClr val="3DE8B0"/>
                </a:solidFill>
                <a:latin typeface="Calibri" pitchFamily="34" charset="0"/>
                <a:ea typeface="Calibri" pitchFamily="34" charset="-122"/>
                <a:cs typeface="Calibri" pitchFamily="34" charset="-120"/>
              </a:rPr>
              <a:t>offline engine</a:t>
            </a:r>
            <a:endParaRPr lang="en-US" sz="1050" dirty="0"/>
          </a:p>
        </p:txBody>
      </p:sp>
      <p:sp>
        <p:nvSpPr>
          <p:cNvPr id="35" name="Shape 29"/>
          <p:cNvSpPr/>
          <p:nvPr/>
        </p:nvSpPr>
        <p:spPr>
          <a:xfrm>
            <a:off x="9989820" y="4517136"/>
            <a:ext cx="0" cy="274320"/>
          </a:xfrm>
          <a:prstGeom prst="line">
            <a:avLst/>
          </a:prstGeom>
          <a:noFill/>
          <a:ln w="15875">
            <a:solidFill>
              <a:srgbClr val="6E939D"/>
            </a:solidFill>
            <a:prstDash val="solid"/>
            <a:tailEnd type="triangle"/>
          </a:ln>
        </p:spPr>
        <p:txBody>
          <a:bodyPr/>
          <a:lstStyle/>
          <a:p>
            <a:endParaRPr lang="en-AU"/>
          </a:p>
        </p:txBody>
      </p:sp>
      <p:sp>
        <p:nvSpPr>
          <p:cNvPr id="36" name="Shape 30"/>
          <p:cNvSpPr/>
          <p:nvPr/>
        </p:nvSpPr>
        <p:spPr>
          <a:xfrm>
            <a:off x="8641080" y="4791456"/>
            <a:ext cx="2697480" cy="420624"/>
          </a:xfrm>
          <a:prstGeom prst="roundRect">
            <a:avLst>
              <a:gd name="adj" fmla="val 13043"/>
            </a:avLst>
          </a:prstGeom>
          <a:solidFill>
            <a:srgbClr val="0E2A34"/>
          </a:solidFill>
          <a:ln w="12700">
            <a:solidFill>
              <a:srgbClr val="FFC94D"/>
            </a:solidFill>
            <a:prstDash val="solid"/>
          </a:ln>
        </p:spPr>
        <p:txBody>
          <a:bodyPr/>
          <a:lstStyle/>
          <a:p>
            <a:endParaRPr lang="en-AU"/>
          </a:p>
        </p:txBody>
      </p:sp>
      <p:sp>
        <p:nvSpPr>
          <p:cNvPr id="37" name="Text 31"/>
          <p:cNvSpPr/>
          <p:nvPr/>
        </p:nvSpPr>
        <p:spPr>
          <a:xfrm>
            <a:off x="8641080" y="4791456"/>
            <a:ext cx="2697480" cy="420624"/>
          </a:xfrm>
          <a:prstGeom prst="rect">
            <a:avLst/>
          </a:prstGeom>
          <a:noFill/>
          <a:ln/>
        </p:spPr>
        <p:txBody>
          <a:bodyPr wrap="square" lIns="0" tIns="0" rIns="0" bIns="0" rtlCol="0" anchor="ctr"/>
          <a:lstStyle/>
          <a:p>
            <a:pPr marL="0" indent="0" algn="ctr">
              <a:buNone/>
            </a:pPr>
            <a:r>
              <a:rPr lang="en-US" sz="1050" b="1" dirty="0">
                <a:solidFill>
                  <a:srgbClr val="FFC94D"/>
                </a:solidFill>
                <a:latin typeface="Calibri" pitchFamily="34" charset="0"/>
                <a:ea typeface="Calibri" pitchFamily="34" charset="-122"/>
                <a:cs typeface="Calibri" pitchFamily="34" charset="-120"/>
              </a:rPr>
              <a:t>reply + degraded flag</a:t>
            </a:r>
            <a:endParaRPr lang="en-US" sz="1050" dirty="0"/>
          </a:p>
        </p:txBody>
      </p:sp>
      <p:sp>
        <p:nvSpPr>
          <p:cNvPr id="38" name="Shape 32"/>
          <p:cNvSpPr/>
          <p:nvPr/>
        </p:nvSpPr>
        <p:spPr>
          <a:xfrm>
            <a:off x="548640" y="5541264"/>
            <a:ext cx="17739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39" name="Text 33"/>
          <p:cNvSpPr/>
          <p:nvPr/>
        </p:nvSpPr>
        <p:spPr>
          <a:xfrm>
            <a:off x="548640" y="5596128"/>
            <a:ext cx="1773936" cy="329184"/>
          </a:xfrm>
          <a:prstGeom prst="rect">
            <a:avLst/>
          </a:prstGeom>
          <a:noFill/>
          <a:ln/>
        </p:spPr>
        <p:txBody>
          <a:bodyPr wrap="square" lIns="0" tIns="0" rIns="0" bIns="0" rtlCol="0" anchor="ctr"/>
          <a:lstStyle/>
          <a:p>
            <a:pPr marL="0" indent="0" algn="ctr">
              <a:buNone/>
            </a:pPr>
            <a:r>
              <a:rPr lang="en-US" sz="1500" b="1" dirty="0">
                <a:solidFill>
                  <a:srgbClr val="4FD8F0"/>
                </a:solidFill>
                <a:latin typeface="Calibri" pitchFamily="34" charset="0"/>
                <a:ea typeface="Calibri" pitchFamily="34" charset="-122"/>
                <a:cs typeface="Calibri" pitchFamily="34" charset="-120"/>
              </a:rPr>
              <a:t>5</a:t>
            </a:r>
            <a:endParaRPr lang="en-US" sz="1500" dirty="0"/>
          </a:p>
        </p:txBody>
      </p:sp>
      <p:sp>
        <p:nvSpPr>
          <p:cNvPr id="40" name="Text 34"/>
          <p:cNvSpPr/>
          <p:nvPr/>
        </p:nvSpPr>
        <p:spPr>
          <a:xfrm>
            <a:off x="621792" y="5925312"/>
            <a:ext cx="16276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logical model lanes</a:t>
            </a:r>
            <a:endParaRPr lang="en-US" sz="870" dirty="0"/>
          </a:p>
        </p:txBody>
      </p:sp>
      <p:sp>
        <p:nvSpPr>
          <p:cNvPr id="41" name="Shape 35"/>
          <p:cNvSpPr/>
          <p:nvPr/>
        </p:nvSpPr>
        <p:spPr>
          <a:xfrm>
            <a:off x="2487168" y="5541264"/>
            <a:ext cx="17739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42" name="Text 36"/>
          <p:cNvSpPr/>
          <p:nvPr/>
        </p:nvSpPr>
        <p:spPr>
          <a:xfrm>
            <a:off x="2487168" y="5596128"/>
            <a:ext cx="1773936" cy="329184"/>
          </a:xfrm>
          <a:prstGeom prst="rect">
            <a:avLst/>
          </a:prstGeom>
          <a:noFill/>
          <a:ln/>
        </p:spPr>
        <p:txBody>
          <a:bodyPr wrap="square" lIns="0" tIns="0" rIns="0" bIns="0" rtlCol="0" anchor="ctr"/>
          <a:lstStyle/>
          <a:p>
            <a:pPr marL="0" indent="0" algn="ctr">
              <a:buNone/>
            </a:pPr>
            <a:r>
              <a:rPr lang="en-US" sz="1500" b="1" dirty="0">
                <a:solidFill>
                  <a:srgbClr val="3DE8B0"/>
                </a:solidFill>
                <a:latin typeface="Calibri" pitchFamily="34" charset="0"/>
                <a:ea typeface="Calibri" pitchFamily="34" charset="-122"/>
                <a:cs typeface="Calibri" pitchFamily="34" charset="-120"/>
              </a:rPr>
              <a:t>5</a:t>
            </a:r>
            <a:endParaRPr lang="en-US" sz="1500" dirty="0"/>
          </a:p>
        </p:txBody>
      </p:sp>
      <p:sp>
        <p:nvSpPr>
          <p:cNvPr id="43" name="Text 37"/>
          <p:cNvSpPr/>
          <p:nvPr/>
        </p:nvSpPr>
        <p:spPr>
          <a:xfrm>
            <a:off x="2560320" y="5925312"/>
            <a:ext cx="16276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providers in the chain</a:t>
            </a:r>
            <a:endParaRPr lang="en-US" sz="870" dirty="0"/>
          </a:p>
        </p:txBody>
      </p:sp>
      <p:sp>
        <p:nvSpPr>
          <p:cNvPr id="44" name="Shape 38"/>
          <p:cNvSpPr/>
          <p:nvPr/>
        </p:nvSpPr>
        <p:spPr>
          <a:xfrm>
            <a:off x="4425696" y="5541264"/>
            <a:ext cx="17739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45" name="Text 39"/>
          <p:cNvSpPr/>
          <p:nvPr/>
        </p:nvSpPr>
        <p:spPr>
          <a:xfrm>
            <a:off x="4425696" y="5596128"/>
            <a:ext cx="1773936" cy="329184"/>
          </a:xfrm>
          <a:prstGeom prst="rect">
            <a:avLst/>
          </a:prstGeom>
          <a:noFill/>
          <a:ln/>
        </p:spPr>
        <p:txBody>
          <a:bodyPr wrap="square" lIns="0" tIns="0" rIns="0" bIns="0" rtlCol="0" anchor="ctr"/>
          <a:lstStyle/>
          <a:p>
            <a:pPr marL="0" indent="0" algn="ctr">
              <a:buNone/>
            </a:pPr>
            <a:r>
              <a:rPr lang="en-US" sz="1500" b="1" dirty="0">
                <a:solidFill>
                  <a:srgbClr val="FFC94D"/>
                </a:solidFill>
                <a:latin typeface="Calibri" pitchFamily="34" charset="0"/>
                <a:ea typeface="Calibri" pitchFamily="34" charset="-122"/>
                <a:cs typeface="Calibri" pitchFamily="34" charset="-120"/>
              </a:rPr>
              <a:t>12 s</a:t>
            </a:r>
            <a:endParaRPr lang="en-US" sz="1500" dirty="0"/>
          </a:p>
        </p:txBody>
      </p:sp>
      <p:sp>
        <p:nvSpPr>
          <p:cNvPr id="46" name="Text 40"/>
          <p:cNvSpPr/>
          <p:nvPr/>
        </p:nvSpPr>
        <p:spPr>
          <a:xfrm>
            <a:off x="4498848" y="5925312"/>
            <a:ext cx="16276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overall deadline</a:t>
            </a:r>
            <a:endParaRPr lang="en-US" sz="870" dirty="0"/>
          </a:p>
        </p:txBody>
      </p:sp>
      <p:sp>
        <p:nvSpPr>
          <p:cNvPr id="47" name="Shape 41"/>
          <p:cNvSpPr/>
          <p:nvPr/>
        </p:nvSpPr>
        <p:spPr>
          <a:xfrm>
            <a:off x="6364224" y="5541264"/>
            <a:ext cx="17739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48" name="Text 42"/>
          <p:cNvSpPr/>
          <p:nvPr/>
        </p:nvSpPr>
        <p:spPr>
          <a:xfrm>
            <a:off x="6364224" y="5596128"/>
            <a:ext cx="1773936" cy="329184"/>
          </a:xfrm>
          <a:prstGeom prst="rect">
            <a:avLst/>
          </a:prstGeom>
          <a:noFill/>
          <a:ln/>
        </p:spPr>
        <p:txBody>
          <a:bodyPr wrap="square" lIns="0" tIns="0" rIns="0" bIns="0" rtlCol="0" anchor="ctr"/>
          <a:lstStyle/>
          <a:p>
            <a:pPr marL="0" indent="0" algn="ctr">
              <a:buNone/>
            </a:pPr>
            <a:r>
              <a:rPr lang="en-US" sz="1500" b="1" dirty="0">
                <a:solidFill>
                  <a:srgbClr val="FF8A70"/>
                </a:solidFill>
                <a:latin typeface="Calibri" pitchFamily="34" charset="0"/>
                <a:ea typeface="Calibri" pitchFamily="34" charset="-122"/>
                <a:cs typeface="Calibri" pitchFamily="34" charset="-120"/>
              </a:rPr>
              <a:t>0</a:t>
            </a:r>
            <a:endParaRPr lang="en-US" sz="1500" dirty="0"/>
          </a:p>
        </p:txBody>
      </p:sp>
      <p:sp>
        <p:nvSpPr>
          <p:cNvPr id="49" name="Text 43"/>
          <p:cNvSpPr/>
          <p:nvPr/>
        </p:nvSpPr>
        <p:spPr>
          <a:xfrm>
            <a:off x="6437376" y="5925312"/>
            <a:ext cx="16276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credits charged when degraded</a:t>
            </a:r>
            <a:endParaRPr lang="en-US" sz="87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17</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4FD8F0"/>
                </a:solidFill>
                <a:latin typeface="Calibri" pitchFamily="34" charset="0"/>
                <a:ea typeface="Calibri" pitchFamily="34" charset="-122"/>
                <a:cs typeface="Calibri" pitchFamily="34" charset="-120"/>
              </a:rPr>
              <a:t>PLATFORM &amp; AI 2/4   </a:t>
            </a:r>
            <a:r>
              <a:rPr lang="en-US" sz="1100" b="1" kern="0" spc="200" dirty="0">
                <a:solidFill>
                  <a:srgbClr val="9DBAC3"/>
                </a:solidFill>
                <a:latin typeface="Calibri" pitchFamily="34" charset="0"/>
                <a:ea typeface="Calibri" pitchFamily="34" charset="-122"/>
                <a:cs typeface="Calibri" pitchFamily="34" charset="-120"/>
              </a:rPr>
              <a:t>|   PRESENTER: TUNDJI WILLIAMS-FULWOOD</a:t>
            </a:r>
            <a:endParaRPr lang="en-US" sz="1100" dirty="0"/>
          </a:p>
        </p:txBody>
      </p:sp>
      <p:sp>
        <p:nvSpPr>
          <p:cNvPr id="5" name="Text 3"/>
          <p:cNvSpPr/>
          <p:nvPr/>
        </p:nvSpPr>
        <p:spPr>
          <a:xfrm>
            <a:off x="548640" y="566928"/>
            <a:ext cx="1106424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Safety is architecture: seven steps in front of every model</a:t>
            </a:r>
            <a:endParaRPr lang="en-US" sz="2600" dirty="0"/>
          </a:p>
        </p:txBody>
      </p:sp>
      <p:sp>
        <p:nvSpPr>
          <p:cNvPr id="6" name="Shape 4"/>
          <p:cNvSpPr/>
          <p:nvPr/>
        </p:nvSpPr>
        <p:spPr>
          <a:xfrm>
            <a:off x="548640" y="1572768"/>
            <a:ext cx="1481328" cy="841248"/>
          </a:xfrm>
          <a:prstGeom prst="roundRect">
            <a:avLst>
              <a:gd name="adj" fmla="val 7609"/>
            </a:avLst>
          </a:prstGeom>
          <a:solidFill>
            <a:srgbClr val="0E2A34"/>
          </a:solidFill>
          <a:ln w="12700">
            <a:solidFill>
              <a:srgbClr val="1E4A57"/>
            </a:solidFill>
            <a:prstDash val="solid"/>
          </a:ln>
        </p:spPr>
        <p:txBody>
          <a:bodyPr/>
          <a:lstStyle/>
          <a:p>
            <a:endParaRPr lang="en-AU"/>
          </a:p>
        </p:txBody>
      </p:sp>
      <p:sp>
        <p:nvSpPr>
          <p:cNvPr id="7" name="Text 5"/>
          <p:cNvSpPr/>
          <p:nvPr/>
        </p:nvSpPr>
        <p:spPr>
          <a:xfrm>
            <a:off x="548640" y="1645920"/>
            <a:ext cx="1481328" cy="274320"/>
          </a:xfrm>
          <a:prstGeom prst="rect">
            <a:avLst/>
          </a:prstGeom>
          <a:noFill/>
          <a:ln/>
        </p:spPr>
        <p:txBody>
          <a:bodyPr wrap="square" lIns="0" tIns="0" rIns="0" bIns="0" rtlCol="0" anchor="ctr"/>
          <a:lstStyle/>
          <a:p>
            <a:pPr marL="0" indent="0" algn="ctr">
              <a:buNone/>
            </a:pPr>
            <a:r>
              <a:rPr lang="en-US" sz="1200" b="1" dirty="0">
                <a:solidFill>
                  <a:srgbClr val="6E939D"/>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594360" y="1901952"/>
            <a:ext cx="1389888" cy="457200"/>
          </a:xfrm>
          <a:prstGeom prst="rect">
            <a:avLst/>
          </a:prstGeom>
          <a:noFill/>
          <a:ln/>
        </p:spPr>
        <p:txBody>
          <a:bodyPr wrap="square" lIns="0" tIns="0" rIns="0" bIns="0" rtlCol="0" anchor="ctr"/>
          <a:lstStyle/>
          <a:p>
            <a:pPr marL="0" indent="0" algn="ctr">
              <a:buNone/>
            </a:pPr>
            <a:r>
              <a:rPr lang="en-US" sz="950" dirty="0">
                <a:solidFill>
                  <a:srgbClr val="9DBAC3"/>
                </a:solidFill>
                <a:latin typeface="Calibri" pitchFamily="34" charset="0"/>
                <a:ea typeface="Calibri" pitchFamily="34" charset="-122"/>
                <a:cs typeface="Calibri" pitchFamily="34" charset="-120"/>
              </a:rPr>
              <a:t>Authenticate</a:t>
            </a:r>
            <a:endParaRPr lang="en-US" sz="950" dirty="0"/>
          </a:p>
        </p:txBody>
      </p:sp>
      <p:sp>
        <p:nvSpPr>
          <p:cNvPr id="9" name="Shape 7"/>
          <p:cNvSpPr/>
          <p:nvPr/>
        </p:nvSpPr>
        <p:spPr>
          <a:xfrm>
            <a:off x="2029968" y="1993392"/>
            <a:ext cx="118872" cy="0"/>
          </a:xfrm>
          <a:prstGeom prst="line">
            <a:avLst/>
          </a:prstGeom>
          <a:noFill/>
          <a:ln w="15875">
            <a:solidFill>
              <a:srgbClr val="6E939D"/>
            </a:solidFill>
            <a:prstDash val="solid"/>
            <a:tailEnd type="triangle"/>
          </a:ln>
        </p:spPr>
        <p:txBody>
          <a:bodyPr/>
          <a:lstStyle/>
          <a:p>
            <a:endParaRPr lang="en-AU"/>
          </a:p>
        </p:txBody>
      </p:sp>
      <p:sp>
        <p:nvSpPr>
          <p:cNvPr id="10" name="Shape 8"/>
          <p:cNvSpPr/>
          <p:nvPr/>
        </p:nvSpPr>
        <p:spPr>
          <a:xfrm>
            <a:off x="2148840" y="1572768"/>
            <a:ext cx="1481328" cy="841248"/>
          </a:xfrm>
          <a:prstGeom prst="roundRect">
            <a:avLst>
              <a:gd name="adj" fmla="val 7609"/>
            </a:avLst>
          </a:prstGeom>
          <a:solidFill>
            <a:srgbClr val="0E2A34"/>
          </a:solidFill>
          <a:ln w="12700">
            <a:solidFill>
              <a:srgbClr val="1E4A57"/>
            </a:solidFill>
            <a:prstDash val="solid"/>
          </a:ln>
        </p:spPr>
        <p:txBody>
          <a:bodyPr/>
          <a:lstStyle/>
          <a:p>
            <a:endParaRPr lang="en-AU"/>
          </a:p>
        </p:txBody>
      </p:sp>
      <p:sp>
        <p:nvSpPr>
          <p:cNvPr id="11" name="Text 9"/>
          <p:cNvSpPr/>
          <p:nvPr/>
        </p:nvSpPr>
        <p:spPr>
          <a:xfrm>
            <a:off x="2148840" y="1645920"/>
            <a:ext cx="1481328" cy="274320"/>
          </a:xfrm>
          <a:prstGeom prst="rect">
            <a:avLst/>
          </a:prstGeom>
          <a:noFill/>
          <a:ln/>
        </p:spPr>
        <p:txBody>
          <a:bodyPr wrap="square" lIns="0" tIns="0" rIns="0" bIns="0" rtlCol="0" anchor="ctr"/>
          <a:lstStyle/>
          <a:p>
            <a:pPr marL="0" indent="0" algn="ctr">
              <a:buNone/>
            </a:pPr>
            <a:r>
              <a:rPr lang="en-US" sz="1200" b="1" dirty="0">
                <a:solidFill>
                  <a:srgbClr val="6E939D"/>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2194560" y="1901952"/>
            <a:ext cx="1389888" cy="457200"/>
          </a:xfrm>
          <a:prstGeom prst="rect">
            <a:avLst/>
          </a:prstGeom>
          <a:noFill/>
          <a:ln/>
        </p:spPr>
        <p:txBody>
          <a:bodyPr wrap="square" lIns="0" tIns="0" rIns="0" bIns="0" rtlCol="0" anchor="ctr"/>
          <a:lstStyle/>
          <a:p>
            <a:pPr marL="0" indent="0" algn="ctr">
              <a:buNone/>
            </a:pPr>
            <a:r>
              <a:rPr lang="en-US" sz="950" dirty="0">
                <a:solidFill>
                  <a:srgbClr val="9DBAC3"/>
                </a:solidFill>
                <a:latin typeface="Calibri" pitchFamily="34" charset="0"/>
                <a:ea typeface="Calibri" pitchFamily="34" charset="-122"/>
                <a:cs typeface="Calibri" pitchFamily="34" charset="-120"/>
              </a:rPr>
              <a:t>Rate limit</a:t>
            </a:r>
            <a:endParaRPr lang="en-US" sz="950" dirty="0"/>
          </a:p>
        </p:txBody>
      </p:sp>
      <p:sp>
        <p:nvSpPr>
          <p:cNvPr id="13" name="Shape 11"/>
          <p:cNvSpPr/>
          <p:nvPr/>
        </p:nvSpPr>
        <p:spPr>
          <a:xfrm>
            <a:off x="3630168" y="1993392"/>
            <a:ext cx="118872" cy="0"/>
          </a:xfrm>
          <a:prstGeom prst="line">
            <a:avLst/>
          </a:prstGeom>
          <a:noFill/>
          <a:ln w="15875">
            <a:solidFill>
              <a:srgbClr val="6E939D"/>
            </a:solidFill>
            <a:prstDash val="solid"/>
            <a:tailEnd type="triangle"/>
          </a:ln>
        </p:spPr>
        <p:txBody>
          <a:bodyPr/>
          <a:lstStyle/>
          <a:p>
            <a:endParaRPr lang="en-AU"/>
          </a:p>
        </p:txBody>
      </p:sp>
      <p:sp>
        <p:nvSpPr>
          <p:cNvPr id="14" name="Shape 12"/>
          <p:cNvSpPr/>
          <p:nvPr/>
        </p:nvSpPr>
        <p:spPr>
          <a:xfrm>
            <a:off x="3749040" y="1572768"/>
            <a:ext cx="1481328" cy="841248"/>
          </a:xfrm>
          <a:prstGeom prst="roundRect">
            <a:avLst>
              <a:gd name="adj" fmla="val 7609"/>
            </a:avLst>
          </a:prstGeom>
          <a:solidFill>
            <a:srgbClr val="0E2A34"/>
          </a:solidFill>
          <a:ln w="12700">
            <a:solidFill>
              <a:srgbClr val="1E4A57"/>
            </a:solidFill>
            <a:prstDash val="solid"/>
          </a:ln>
        </p:spPr>
        <p:txBody>
          <a:bodyPr/>
          <a:lstStyle/>
          <a:p>
            <a:endParaRPr lang="en-AU"/>
          </a:p>
        </p:txBody>
      </p:sp>
      <p:sp>
        <p:nvSpPr>
          <p:cNvPr id="15" name="Text 13"/>
          <p:cNvSpPr/>
          <p:nvPr/>
        </p:nvSpPr>
        <p:spPr>
          <a:xfrm>
            <a:off x="3749040" y="1645920"/>
            <a:ext cx="1481328" cy="274320"/>
          </a:xfrm>
          <a:prstGeom prst="rect">
            <a:avLst/>
          </a:prstGeom>
          <a:noFill/>
          <a:ln/>
        </p:spPr>
        <p:txBody>
          <a:bodyPr wrap="square" lIns="0" tIns="0" rIns="0" bIns="0" rtlCol="0" anchor="ctr"/>
          <a:lstStyle/>
          <a:p>
            <a:pPr marL="0" indent="0" algn="ctr">
              <a:buNone/>
            </a:pPr>
            <a:r>
              <a:rPr lang="en-US" sz="1200" b="1" dirty="0">
                <a:solidFill>
                  <a:srgbClr val="6E939D"/>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3794760" y="1901952"/>
            <a:ext cx="1389888" cy="457200"/>
          </a:xfrm>
          <a:prstGeom prst="rect">
            <a:avLst/>
          </a:prstGeom>
          <a:noFill/>
          <a:ln/>
        </p:spPr>
        <p:txBody>
          <a:bodyPr wrap="square" lIns="0" tIns="0" rIns="0" bIns="0" rtlCol="0" anchor="ctr"/>
          <a:lstStyle/>
          <a:p>
            <a:pPr marL="0" indent="0" algn="ctr">
              <a:buNone/>
            </a:pPr>
            <a:r>
              <a:rPr lang="en-US" sz="950" dirty="0">
                <a:solidFill>
                  <a:srgbClr val="9DBAC3"/>
                </a:solidFill>
                <a:latin typeface="Calibri" pitchFamily="34" charset="0"/>
                <a:ea typeface="Calibri" pitchFamily="34" charset="-122"/>
                <a:cs typeface="Calibri" pitchFamily="34" charset="-120"/>
              </a:rPr>
              <a:t>Reserve credits</a:t>
            </a:r>
            <a:endParaRPr lang="en-US" sz="950" dirty="0"/>
          </a:p>
        </p:txBody>
      </p:sp>
      <p:sp>
        <p:nvSpPr>
          <p:cNvPr id="17" name="Shape 15"/>
          <p:cNvSpPr/>
          <p:nvPr/>
        </p:nvSpPr>
        <p:spPr>
          <a:xfrm>
            <a:off x="5230368" y="1993392"/>
            <a:ext cx="118872" cy="0"/>
          </a:xfrm>
          <a:prstGeom prst="line">
            <a:avLst/>
          </a:prstGeom>
          <a:noFill/>
          <a:ln w="15875">
            <a:solidFill>
              <a:srgbClr val="6E939D"/>
            </a:solidFill>
            <a:prstDash val="solid"/>
            <a:tailEnd type="triangle"/>
          </a:ln>
        </p:spPr>
        <p:txBody>
          <a:bodyPr/>
          <a:lstStyle/>
          <a:p>
            <a:endParaRPr lang="en-AU"/>
          </a:p>
        </p:txBody>
      </p:sp>
      <p:sp>
        <p:nvSpPr>
          <p:cNvPr id="18" name="Shape 16"/>
          <p:cNvSpPr/>
          <p:nvPr/>
        </p:nvSpPr>
        <p:spPr>
          <a:xfrm>
            <a:off x="5349240" y="1572768"/>
            <a:ext cx="1481328" cy="841248"/>
          </a:xfrm>
          <a:prstGeom prst="roundRect">
            <a:avLst>
              <a:gd name="adj" fmla="val 7609"/>
            </a:avLst>
          </a:prstGeom>
          <a:solidFill>
            <a:srgbClr val="123441"/>
          </a:solidFill>
          <a:ln w="19050">
            <a:solidFill>
              <a:srgbClr val="4FD8F0"/>
            </a:solidFill>
            <a:prstDash val="solid"/>
          </a:ln>
        </p:spPr>
        <p:txBody>
          <a:bodyPr/>
          <a:lstStyle/>
          <a:p>
            <a:endParaRPr lang="en-AU"/>
          </a:p>
        </p:txBody>
      </p:sp>
      <p:sp>
        <p:nvSpPr>
          <p:cNvPr id="19" name="Text 17"/>
          <p:cNvSpPr/>
          <p:nvPr/>
        </p:nvSpPr>
        <p:spPr>
          <a:xfrm>
            <a:off x="5349240" y="1645920"/>
            <a:ext cx="1481328" cy="274320"/>
          </a:xfrm>
          <a:prstGeom prst="rect">
            <a:avLst/>
          </a:prstGeom>
          <a:noFill/>
          <a:ln/>
        </p:spPr>
        <p:txBody>
          <a:bodyPr wrap="square" lIns="0" tIns="0" rIns="0" bIns="0" rtlCol="0" anchor="ctr"/>
          <a:lstStyle/>
          <a:p>
            <a:pPr marL="0" indent="0" algn="ctr">
              <a:buNone/>
            </a:pPr>
            <a:r>
              <a:rPr lang="en-US" sz="1200" b="1" dirty="0">
                <a:solidFill>
                  <a:srgbClr val="4FD8F0"/>
                </a:solidFill>
                <a:latin typeface="Calibri" pitchFamily="34" charset="0"/>
                <a:ea typeface="Calibri" pitchFamily="34" charset="-122"/>
                <a:cs typeface="Calibri" pitchFamily="34" charset="-120"/>
              </a:rPr>
              <a:t>4</a:t>
            </a:r>
            <a:endParaRPr lang="en-US" sz="1200" dirty="0"/>
          </a:p>
        </p:txBody>
      </p:sp>
      <p:sp>
        <p:nvSpPr>
          <p:cNvPr id="20" name="Text 18"/>
          <p:cNvSpPr/>
          <p:nvPr/>
        </p:nvSpPr>
        <p:spPr>
          <a:xfrm>
            <a:off x="5394960" y="1901952"/>
            <a:ext cx="1389888" cy="457200"/>
          </a:xfrm>
          <a:prstGeom prst="rect">
            <a:avLst/>
          </a:prstGeom>
          <a:noFill/>
          <a:ln/>
        </p:spPr>
        <p:txBody>
          <a:bodyPr wrap="square" lIns="0" tIns="0" rIns="0" bIns="0" rtlCol="0" anchor="ctr"/>
          <a:lstStyle/>
          <a:p>
            <a:pPr marL="0" indent="0" algn="ctr">
              <a:buNone/>
            </a:pPr>
            <a:r>
              <a:rPr lang="en-US" sz="950" b="1" dirty="0">
                <a:solidFill>
                  <a:srgbClr val="EAF6F9"/>
                </a:solidFill>
                <a:latin typeface="Calibri" pitchFamily="34" charset="0"/>
                <a:ea typeface="Calibri" pitchFamily="34" charset="-122"/>
                <a:cs typeface="Calibri" pitchFamily="34" charset="-120"/>
              </a:rPr>
              <a:t>Input guardrail</a:t>
            </a:r>
            <a:endParaRPr lang="en-US" sz="950" dirty="0"/>
          </a:p>
        </p:txBody>
      </p:sp>
      <p:sp>
        <p:nvSpPr>
          <p:cNvPr id="21" name="Shape 19"/>
          <p:cNvSpPr/>
          <p:nvPr/>
        </p:nvSpPr>
        <p:spPr>
          <a:xfrm>
            <a:off x="6830568" y="1993392"/>
            <a:ext cx="118872" cy="0"/>
          </a:xfrm>
          <a:prstGeom prst="line">
            <a:avLst/>
          </a:prstGeom>
          <a:noFill/>
          <a:ln w="15875">
            <a:solidFill>
              <a:srgbClr val="6E939D"/>
            </a:solidFill>
            <a:prstDash val="solid"/>
            <a:tailEnd type="triangle"/>
          </a:ln>
        </p:spPr>
        <p:txBody>
          <a:bodyPr/>
          <a:lstStyle/>
          <a:p>
            <a:endParaRPr lang="en-AU"/>
          </a:p>
        </p:txBody>
      </p:sp>
      <p:sp>
        <p:nvSpPr>
          <p:cNvPr id="22" name="Shape 20"/>
          <p:cNvSpPr/>
          <p:nvPr/>
        </p:nvSpPr>
        <p:spPr>
          <a:xfrm>
            <a:off x="6949440" y="1572768"/>
            <a:ext cx="1481328" cy="841248"/>
          </a:xfrm>
          <a:prstGeom prst="roundRect">
            <a:avLst>
              <a:gd name="adj" fmla="val 7609"/>
            </a:avLst>
          </a:prstGeom>
          <a:solidFill>
            <a:srgbClr val="0E2A34"/>
          </a:solidFill>
          <a:ln w="12700">
            <a:solidFill>
              <a:srgbClr val="1E4A57"/>
            </a:solidFill>
            <a:prstDash val="solid"/>
          </a:ln>
        </p:spPr>
        <p:txBody>
          <a:bodyPr/>
          <a:lstStyle/>
          <a:p>
            <a:endParaRPr lang="en-AU"/>
          </a:p>
        </p:txBody>
      </p:sp>
      <p:sp>
        <p:nvSpPr>
          <p:cNvPr id="23" name="Text 21"/>
          <p:cNvSpPr/>
          <p:nvPr/>
        </p:nvSpPr>
        <p:spPr>
          <a:xfrm>
            <a:off x="6949440" y="1645920"/>
            <a:ext cx="1481328" cy="274320"/>
          </a:xfrm>
          <a:prstGeom prst="rect">
            <a:avLst/>
          </a:prstGeom>
          <a:noFill/>
          <a:ln/>
        </p:spPr>
        <p:txBody>
          <a:bodyPr wrap="square" lIns="0" tIns="0" rIns="0" bIns="0" rtlCol="0" anchor="ctr"/>
          <a:lstStyle/>
          <a:p>
            <a:pPr marL="0" indent="0" algn="ctr">
              <a:buNone/>
            </a:pPr>
            <a:r>
              <a:rPr lang="en-US" sz="1200" b="1" dirty="0">
                <a:solidFill>
                  <a:srgbClr val="6E939D"/>
                </a:solidFill>
                <a:latin typeface="Calibri" pitchFamily="34" charset="0"/>
                <a:ea typeface="Calibri" pitchFamily="34" charset="-122"/>
                <a:cs typeface="Calibri" pitchFamily="34" charset="-120"/>
              </a:rPr>
              <a:t>5</a:t>
            </a:r>
            <a:endParaRPr lang="en-US" sz="1200" dirty="0"/>
          </a:p>
        </p:txBody>
      </p:sp>
      <p:sp>
        <p:nvSpPr>
          <p:cNvPr id="24" name="Text 22"/>
          <p:cNvSpPr/>
          <p:nvPr/>
        </p:nvSpPr>
        <p:spPr>
          <a:xfrm>
            <a:off x="6995160" y="1901952"/>
            <a:ext cx="1389888" cy="457200"/>
          </a:xfrm>
          <a:prstGeom prst="rect">
            <a:avLst/>
          </a:prstGeom>
          <a:noFill/>
          <a:ln/>
        </p:spPr>
        <p:txBody>
          <a:bodyPr wrap="square" lIns="0" tIns="0" rIns="0" bIns="0" rtlCol="0" anchor="ctr"/>
          <a:lstStyle/>
          <a:p>
            <a:pPr marL="0" indent="0" algn="ctr">
              <a:buNone/>
            </a:pPr>
            <a:r>
              <a:rPr lang="en-US" sz="950" dirty="0">
                <a:solidFill>
                  <a:srgbClr val="9DBAC3"/>
                </a:solidFill>
                <a:latin typeface="Calibri" pitchFamily="34" charset="0"/>
                <a:ea typeface="Calibri" pitchFamily="34" charset="-122"/>
                <a:cs typeface="Calibri" pitchFamily="34" charset="-120"/>
              </a:rPr>
              <a:t>Gateway call</a:t>
            </a:r>
            <a:endParaRPr lang="en-US" sz="950" dirty="0"/>
          </a:p>
        </p:txBody>
      </p:sp>
      <p:sp>
        <p:nvSpPr>
          <p:cNvPr id="25" name="Shape 23"/>
          <p:cNvSpPr/>
          <p:nvPr/>
        </p:nvSpPr>
        <p:spPr>
          <a:xfrm>
            <a:off x="8430768" y="1993392"/>
            <a:ext cx="118872" cy="0"/>
          </a:xfrm>
          <a:prstGeom prst="line">
            <a:avLst/>
          </a:prstGeom>
          <a:noFill/>
          <a:ln w="15875">
            <a:solidFill>
              <a:srgbClr val="6E939D"/>
            </a:solidFill>
            <a:prstDash val="solid"/>
            <a:tailEnd type="triangle"/>
          </a:ln>
        </p:spPr>
        <p:txBody>
          <a:bodyPr/>
          <a:lstStyle/>
          <a:p>
            <a:endParaRPr lang="en-AU"/>
          </a:p>
        </p:txBody>
      </p:sp>
      <p:sp>
        <p:nvSpPr>
          <p:cNvPr id="26" name="Shape 24"/>
          <p:cNvSpPr/>
          <p:nvPr/>
        </p:nvSpPr>
        <p:spPr>
          <a:xfrm>
            <a:off x="8549640" y="1572768"/>
            <a:ext cx="1481328" cy="841248"/>
          </a:xfrm>
          <a:prstGeom prst="roundRect">
            <a:avLst>
              <a:gd name="adj" fmla="val 7609"/>
            </a:avLst>
          </a:prstGeom>
          <a:solidFill>
            <a:srgbClr val="123441"/>
          </a:solidFill>
          <a:ln w="19050">
            <a:solidFill>
              <a:srgbClr val="4FD8F0"/>
            </a:solidFill>
            <a:prstDash val="solid"/>
          </a:ln>
        </p:spPr>
        <p:txBody>
          <a:bodyPr/>
          <a:lstStyle/>
          <a:p>
            <a:endParaRPr lang="en-AU"/>
          </a:p>
        </p:txBody>
      </p:sp>
      <p:sp>
        <p:nvSpPr>
          <p:cNvPr id="27" name="Text 25"/>
          <p:cNvSpPr/>
          <p:nvPr/>
        </p:nvSpPr>
        <p:spPr>
          <a:xfrm>
            <a:off x="8549640" y="1645920"/>
            <a:ext cx="1481328" cy="274320"/>
          </a:xfrm>
          <a:prstGeom prst="rect">
            <a:avLst/>
          </a:prstGeom>
          <a:noFill/>
          <a:ln/>
        </p:spPr>
        <p:txBody>
          <a:bodyPr wrap="square" lIns="0" tIns="0" rIns="0" bIns="0" rtlCol="0" anchor="ctr"/>
          <a:lstStyle/>
          <a:p>
            <a:pPr marL="0" indent="0" algn="ctr">
              <a:buNone/>
            </a:pPr>
            <a:r>
              <a:rPr lang="en-US" sz="1200" b="1" dirty="0">
                <a:solidFill>
                  <a:srgbClr val="4FD8F0"/>
                </a:solidFill>
                <a:latin typeface="Calibri" pitchFamily="34" charset="0"/>
                <a:ea typeface="Calibri" pitchFamily="34" charset="-122"/>
                <a:cs typeface="Calibri" pitchFamily="34" charset="-120"/>
              </a:rPr>
              <a:t>6</a:t>
            </a:r>
            <a:endParaRPr lang="en-US" sz="1200" dirty="0"/>
          </a:p>
        </p:txBody>
      </p:sp>
      <p:sp>
        <p:nvSpPr>
          <p:cNvPr id="28" name="Text 26"/>
          <p:cNvSpPr/>
          <p:nvPr/>
        </p:nvSpPr>
        <p:spPr>
          <a:xfrm>
            <a:off x="8595360" y="1901952"/>
            <a:ext cx="1389888" cy="457200"/>
          </a:xfrm>
          <a:prstGeom prst="rect">
            <a:avLst/>
          </a:prstGeom>
          <a:noFill/>
          <a:ln/>
        </p:spPr>
        <p:txBody>
          <a:bodyPr wrap="square" lIns="0" tIns="0" rIns="0" bIns="0" rtlCol="0" anchor="ctr"/>
          <a:lstStyle/>
          <a:p>
            <a:pPr marL="0" indent="0" algn="ctr">
              <a:buNone/>
            </a:pPr>
            <a:r>
              <a:rPr lang="en-US" sz="950" b="1" dirty="0">
                <a:solidFill>
                  <a:srgbClr val="EAF6F9"/>
                </a:solidFill>
                <a:latin typeface="Calibri" pitchFamily="34" charset="0"/>
                <a:ea typeface="Calibri" pitchFamily="34" charset="-122"/>
                <a:cs typeface="Calibri" pitchFamily="34" charset="-120"/>
              </a:rPr>
              <a:t>Output guardrail</a:t>
            </a:r>
            <a:endParaRPr lang="en-US" sz="950" dirty="0"/>
          </a:p>
        </p:txBody>
      </p:sp>
      <p:sp>
        <p:nvSpPr>
          <p:cNvPr id="29" name="Shape 27"/>
          <p:cNvSpPr/>
          <p:nvPr/>
        </p:nvSpPr>
        <p:spPr>
          <a:xfrm>
            <a:off x="10030968" y="1993392"/>
            <a:ext cx="118872" cy="0"/>
          </a:xfrm>
          <a:prstGeom prst="line">
            <a:avLst/>
          </a:prstGeom>
          <a:noFill/>
          <a:ln w="15875">
            <a:solidFill>
              <a:srgbClr val="6E939D"/>
            </a:solidFill>
            <a:prstDash val="solid"/>
            <a:tailEnd type="triangle"/>
          </a:ln>
        </p:spPr>
        <p:txBody>
          <a:bodyPr/>
          <a:lstStyle/>
          <a:p>
            <a:endParaRPr lang="en-AU"/>
          </a:p>
        </p:txBody>
      </p:sp>
      <p:sp>
        <p:nvSpPr>
          <p:cNvPr id="30" name="Shape 28"/>
          <p:cNvSpPr/>
          <p:nvPr/>
        </p:nvSpPr>
        <p:spPr>
          <a:xfrm>
            <a:off x="10149840" y="1572768"/>
            <a:ext cx="1481328" cy="841248"/>
          </a:xfrm>
          <a:prstGeom prst="roundRect">
            <a:avLst>
              <a:gd name="adj" fmla="val 7609"/>
            </a:avLst>
          </a:prstGeom>
          <a:solidFill>
            <a:srgbClr val="0E2A34"/>
          </a:solidFill>
          <a:ln w="12700">
            <a:solidFill>
              <a:srgbClr val="1E4A57"/>
            </a:solidFill>
            <a:prstDash val="solid"/>
          </a:ln>
        </p:spPr>
        <p:txBody>
          <a:bodyPr/>
          <a:lstStyle/>
          <a:p>
            <a:endParaRPr lang="en-AU"/>
          </a:p>
        </p:txBody>
      </p:sp>
      <p:sp>
        <p:nvSpPr>
          <p:cNvPr id="31" name="Text 29"/>
          <p:cNvSpPr/>
          <p:nvPr/>
        </p:nvSpPr>
        <p:spPr>
          <a:xfrm>
            <a:off x="10149840" y="1645920"/>
            <a:ext cx="1481328" cy="274320"/>
          </a:xfrm>
          <a:prstGeom prst="rect">
            <a:avLst/>
          </a:prstGeom>
          <a:noFill/>
          <a:ln/>
        </p:spPr>
        <p:txBody>
          <a:bodyPr wrap="square" lIns="0" tIns="0" rIns="0" bIns="0" rtlCol="0" anchor="ctr"/>
          <a:lstStyle/>
          <a:p>
            <a:pPr marL="0" indent="0" algn="ctr">
              <a:buNone/>
            </a:pPr>
            <a:r>
              <a:rPr lang="en-US" sz="1200" b="1" dirty="0">
                <a:solidFill>
                  <a:srgbClr val="6E939D"/>
                </a:solidFill>
                <a:latin typeface="Calibri" pitchFamily="34" charset="0"/>
                <a:ea typeface="Calibri" pitchFamily="34" charset="-122"/>
                <a:cs typeface="Calibri" pitchFamily="34" charset="-120"/>
              </a:rPr>
              <a:t>7</a:t>
            </a:r>
            <a:endParaRPr lang="en-US" sz="1200" dirty="0"/>
          </a:p>
        </p:txBody>
      </p:sp>
      <p:sp>
        <p:nvSpPr>
          <p:cNvPr id="32" name="Text 30"/>
          <p:cNvSpPr/>
          <p:nvPr/>
        </p:nvSpPr>
        <p:spPr>
          <a:xfrm>
            <a:off x="10195560" y="1901952"/>
            <a:ext cx="1389888" cy="457200"/>
          </a:xfrm>
          <a:prstGeom prst="rect">
            <a:avLst/>
          </a:prstGeom>
          <a:noFill/>
          <a:ln/>
        </p:spPr>
        <p:txBody>
          <a:bodyPr wrap="square" lIns="0" tIns="0" rIns="0" bIns="0" rtlCol="0" anchor="ctr"/>
          <a:lstStyle/>
          <a:p>
            <a:pPr marL="0" indent="0" algn="ctr">
              <a:buNone/>
            </a:pPr>
            <a:r>
              <a:rPr lang="en-US" sz="950" dirty="0">
                <a:solidFill>
                  <a:srgbClr val="9DBAC3"/>
                </a:solidFill>
                <a:latin typeface="Calibri" pitchFamily="34" charset="0"/>
                <a:ea typeface="Calibri" pitchFamily="34" charset="-122"/>
                <a:cs typeface="Calibri" pitchFamily="34" charset="-120"/>
              </a:rPr>
              <a:t>Respond &amp; settle</a:t>
            </a:r>
            <a:endParaRPr lang="en-US" sz="950" dirty="0"/>
          </a:p>
        </p:txBody>
      </p:sp>
      <p:sp>
        <p:nvSpPr>
          <p:cNvPr id="33" name="Text 31"/>
          <p:cNvSpPr/>
          <p:nvPr/>
        </p:nvSpPr>
        <p:spPr>
          <a:xfrm>
            <a:off x="566928" y="2578608"/>
            <a:ext cx="10972800" cy="310896"/>
          </a:xfrm>
          <a:prstGeom prst="rect">
            <a:avLst/>
          </a:prstGeom>
          <a:noFill/>
          <a:ln/>
        </p:spPr>
        <p:txBody>
          <a:bodyPr wrap="square" lIns="0" tIns="0" rIns="0" bIns="0" rtlCol="0" anchor="ctr"/>
          <a:lstStyle/>
          <a:p>
            <a:pPr marL="0" indent="0">
              <a:buNone/>
            </a:pPr>
            <a:r>
              <a:rPr lang="en-US" sz="1100" dirty="0">
                <a:solidFill>
                  <a:srgbClr val="6E939D"/>
                </a:solidFill>
                <a:latin typeface="Calibri" pitchFamily="34" charset="0"/>
                <a:ea typeface="Calibri" pitchFamily="34" charset="-122"/>
                <a:cs typeface="Calibri" pitchFamily="34" charset="-120"/>
              </a:rPr>
              <a:t>The same sequence guards chat, meal photos, meal suggestions, plan generation and the weekly insight. No endpoint is exempt; there are no fast paths.</a:t>
            </a:r>
            <a:endParaRPr lang="en-US" sz="1100" dirty="0"/>
          </a:p>
        </p:txBody>
      </p:sp>
      <p:sp>
        <p:nvSpPr>
          <p:cNvPr id="34" name="Shape 32"/>
          <p:cNvSpPr/>
          <p:nvPr/>
        </p:nvSpPr>
        <p:spPr>
          <a:xfrm>
            <a:off x="566928" y="3118104"/>
            <a:ext cx="457200" cy="457200"/>
          </a:xfrm>
          <a:prstGeom prst="ellipse">
            <a:avLst/>
          </a:prstGeom>
          <a:solidFill>
            <a:srgbClr val="123441"/>
          </a:solidFill>
          <a:ln w="9525">
            <a:solidFill>
              <a:srgbClr val="1E4A57"/>
            </a:solidFill>
            <a:prstDash val="solid"/>
          </a:ln>
        </p:spPr>
        <p:txBody>
          <a:bodyPr/>
          <a:lstStyle/>
          <a:p>
            <a:endParaRPr lang="en-AU"/>
          </a:p>
        </p:txBody>
      </p:sp>
      <p:pic>
        <p:nvPicPr>
          <p:cNvPr id="35" name="Image 0" descr="C:\Users\lumin\AppData\Local\Temp\claude\C--Users-lumin-Desktop-aquazerofit\2e3b7983-e45b-4e1c-8fdf-0a5635a22264\scratchpad\assets\icon_heartbeat_red.png"/>
          <p:cNvPicPr>
            <a:picLocks noChangeAspect="1"/>
          </p:cNvPicPr>
          <p:nvPr/>
        </p:nvPicPr>
        <p:blipFill>
          <a:blip r:embed="rId4"/>
          <a:stretch>
            <a:fillRect/>
          </a:stretch>
        </p:blipFill>
        <p:spPr>
          <a:xfrm>
            <a:off x="676656" y="3236976"/>
            <a:ext cx="237744" cy="237744"/>
          </a:xfrm>
          <a:prstGeom prst="rect">
            <a:avLst/>
          </a:prstGeom>
        </p:spPr>
      </p:pic>
      <p:sp>
        <p:nvSpPr>
          <p:cNvPr id="36" name="Text 33"/>
          <p:cNvSpPr/>
          <p:nvPr/>
        </p:nvSpPr>
        <p:spPr>
          <a:xfrm>
            <a:off x="1188720" y="3063240"/>
            <a:ext cx="1060704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Crisis always wins</a:t>
            </a:r>
            <a:endParaRPr lang="en-US" sz="1350" dirty="0"/>
          </a:p>
        </p:txBody>
      </p:sp>
      <p:sp>
        <p:nvSpPr>
          <p:cNvPr id="37" name="Text 34"/>
          <p:cNvSpPr/>
          <p:nvPr/>
        </p:nvSpPr>
        <p:spPr>
          <a:xfrm>
            <a:off x="1188720" y="3337560"/>
            <a:ext cx="10607040" cy="54864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The input classifier prioritises crisis above medical, above extreme diet, above everything. A user in distress never receives diet content: no model is called, and the reply contains real helpline contacts.</a:t>
            </a:r>
            <a:endParaRPr lang="en-US" sz="1100" dirty="0"/>
          </a:p>
        </p:txBody>
      </p:sp>
      <p:sp>
        <p:nvSpPr>
          <p:cNvPr id="38" name="Shape 35"/>
          <p:cNvSpPr/>
          <p:nvPr/>
        </p:nvSpPr>
        <p:spPr>
          <a:xfrm>
            <a:off x="566928" y="3959352"/>
            <a:ext cx="457200" cy="457200"/>
          </a:xfrm>
          <a:prstGeom prst="ellipse">
            <a:avLst/>
          </a:prstGeom>
          <a:solidFill>
            <a:srgbClr val="123441"/>
          </a:solidFill>
          <a:ln w="9525">
            <a:solidFill>
              <a:srgbClr val="1E4A57"/>
            </a:solidFill>
            <a:prstDash val="solid"/>
          </a:ln>
        </p:spPr>
        <p:txBody>
          <a:bodyPr/>
          <a:lstStyle/>
          <a:p>
            <a:endParaRPr lang="en-AU"/>
          </a:p>
        </p:txBody>
      </p:sp>
      <p:pic>
        <p:nvPicPr>
          <p:cNvPr id="39" name="Image 1" descr="C:\Users\lumin\AppData\Local\Temp\claude\C--Users-lumin-Desktop-aquazerofit\2e3b7983-e45b-4e1c-8fdf-0a5635a22264\scratchpad\assets\icon_ban_gold.png"/>
          <p:cNvPicPr>
            <a:picLocks noChangeAspect="1"/>
          </p:cNvPicPr>
          <p:nvPr/>
        </p:nvPicPr>
        <p:blipFill>
          <a:blip r:embed="rId5"/>
          <a:stretch>
            <a:fillRect/>
          </a:stretch>
        </p:blipFill>
        <p:spPr>
          <a:xfrm>
            <a:off x="676656" y="4078224"/>
            <a:ext cx="237744" cy="237744"/>
          </a:xfrm>
          <a:prstGeom prst="rect">
            <a:avLst/>
          </a:prstGeom>
        </p:spPr>
      </p:pic>
      <p:sp>
        <p:nvSpPr>
          <p:cNvPr id="40" name="Text 36"/>
          <p:cNvSpPr/>
          <p:nvPr/>
        </p:nvSpPr>
        <p:spPr>
          <a:xfrm>
            <a:off x="1188720" y="3904488"/>
            <a:ext cx="1060704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Jailbreaks refused, floors enforced</a:t>
            </a:r>
            <a:endParaRPr lang="en-US" sz="1350" dirty="0"/>
          </a:p>
        </p:txBody>
      </p:sp>
      <p:sp>
        <p:nvSpPr>
          <p:cNvPr id="41" name="Text 37"/>
          <p:cNvSpPr/>
          <p:nvPr/>
        </p:nvSpPr>
        <p:spPr>
          <a:xfrm>
            <a:off x="1188720" y="4178808"/>
            <a:ext cx="10607040" cy="54864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“Pretend you’re not an AI” framing is refused outright. “Help me eat 600 calories a day” is refused on input, and numeric rules re-screen every reply on the way out.</a:t>
            </a:r>
            <a:endParaRPr lang="en-US" sz="1100" dirty="0"/>
          </a:p>
        </p:txBody>
      </p:sp>
      <p:sp>
        <p:nvSpPr>
          <p:cNvPr id="42" name="Shape 38"/>
          <p:cNvSpPr/>
          <p:nvPr/>
        </p:nvSpPr>
        <p:spPr>
          <a:xfrm>
            <a:off x="566928" y="4800600"/>
            <a:ext cx="457200" cy="457200"/>
          </a:xfrm>
          <a:prstGeom prst="ellipse">
            <a:avLst/>
          </a:prstGeom>
          <a:solidFill>
            <a:srgbClr val="123441"/>
          </a:solidFill>
          <a:ln w="9525">
            <a:solidFill>
              <a:srgbClr val="1E4A57"/>
            </a:solidFill>
            <a:prstDash val="solid"/>
          </a:ln>
        </p:spPr>
        <p:txBody>
          <a:bodyPr/>
          <a:lstStyle/>
          <a:p>
            <a:endParaRPr lang="en-AU"/>
          </a:p>
        </p:txBody>
      </p:sp>
      <p:pic>
        <p:nvPicPr>
          <p:cNvPr id="43" name="Image 2" descr="C:\Users\lumin\AppData\Local\Temp\claude\C--Users-lumin-Desktop-aquazerofit\2e3b7983-e45b-4e1c-8fdf-0a5635a22264\scratchpad\assets\icon_coins_mint.png"/>
          <p:cNvPicPr>
            <a:picLocks noChangeAspect="1"/>
          </p:cNvPicPr>
          <p:nvPr/>
        </p:nvPicPr>
        <p:blipFill>
          <a:blip r:embed="rId6"/>
          <a:stretch>
            <a:fillRect/>
          </a:stretch>
        </p:blipFill>
        <p:spPr>
          <a:xfrm>
            <a:off x="676656" y="4919472"/>
            <a:ext cx="237744" cy="237744"/>
          </a:xfrm>
          <a:prstGeom prst="rect">
            <a:avLst/>
          </a:prstGeom>
        </p:spPr>
      </p:pic>
      <p:sp>
        <p:nvSpPr>
          <p:cNvPr id="44" name="Text 39"/>
          <p:cNvSpPr/>
          <p:nvPr/>
        </p:nvSpPr>
        <p:spPr>
          <a:xfrm>
            <a:off x="1188720" y="4745736"/>
            <a:ext cx="1060704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A refused turn is free</a:t>
            </a:r>
            <a:endParaRPr lang="en-US" sz="1350" dirty="0"/>
          </a:p>
        </p:txBody>
      </p:sp>
      <p:sp>
        <p:nvSpPr>
          <p:cNvPr id="45" name="Text 40"/>
          <p:cNvSpPr/>
          <p:nvPr/>
        </p:nvSpPr>
        <p:spPr>
          <a:xfrm>
            <a:off x="1188720" y="5020056"/>
            <a:ext cx="10607040" cy="54864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Credits are reserved before the guardrail and released when it blocks, so safety never costs the user anything.</a:t>
            </a:r>
            <a:endParaRPr lang="en-US" sz="1100" dirty="0"/>
          </a:p>
        </p:txBody>
      </p:sp>
      <p:sp>
        <p:nvSpPr>
          <p:cNvPr id="46" name="Shape 41"/>
          <p:cNvSpPr/>
          <p:nvPr/>
        </p:nvSpPr>
        <p:spPr>
          <a:xfrm>
            <a:off x="548640" y="5669280"/>
            <a:ext cx="358749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47" name="Text 42"/>
          <p:cNvSpPr/>
          <p:nvPr/>
        </p:nvSpPr>
        <p:spPr>
          <a:xfrm>
            <a:off x="548640" y="5724144"/>
            <a:ext cx="3587496" cy="329184"/>
          </a:xfrm>
          <a:prstGeom prst="rect">
            <a:avLst/>
          </a:prstGeom>
          <a:noFill/>
          <a:ln/>
        </p:spPr>
        <p:txBody>
          <a:bodyPr wrap="square" lIns="0" tIns="0" rIns="0" bIns="0" rtlCol="0" anchor="ctr"/>
          <a:lstStyle/>
          <a:p>
            <a:pPr marL="0" indent="0" algn="ctr">
              <a:buNone/>
            </a:pPr>
            <a:r>
              <a:rPr lang="en-US" sz="1500" b="1" dirty="0">
                <a:solidFill>
                  <a:srgbClr val="FF7B7B"/>
                </a:solidFill>
                <a:latin typeface="Calibri" pitchFamily="34" charset="0"/>
                <a:ea typeface="Calibri" pitchFamily="34" charset="-122"/>
                <a:cs typeface="Calibri" pitchFamily="34" charset="-120"/>
              </a:rPr>
              <a:t>5</a:t>
            </a:r>
            <a:endParaRPr lang="en-US" sz="1500" dirty="0"/>
          </a:p>
        </p:txBody>
      </p:sp>
      <p:sp>
        <p:nvSpPr>
          <p:cNvPr id="48" name="Text 43"/>
          <p:cNvSpPr/>
          <p:nvPr/>
        </p:nvSpPr>
        <p:spPr>
          <a:xfrm>
            <a:off x="621792" y="6053328"/>
            <a:ext cx="344119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input categories, priority-ordered</a:t>
            </a:r>
            <a:endParaRPr lang="en-US" sz="870" dirty="0"/>
          </a:p>
        </p:txBody>
      </p:sp>
      <p:sp>
        <p:nvSpPr>
          <p:cNvPr id="49" name="Shape 44"/>
          <p:cNvSpPr/>
          <p:nvPr/>
        </p:nvSpPr>
        <p:spPr>
          <a:xfrm>
            <a:off x="4300728" y="5669280"/>
            <a:ext cx="358749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50" name="Text 45"/>
          <p:cNvSpPr/>
          <p:nvPr/>
        </p:nvSpPr>
        <p:spPr>
          <a:xfrm>
            <a:off x="4300728" y="5724144"/>
            <a:ext cx="3587496" cy="329184"/>
          </a:xfrm>
          <a:prstGeom prst="rect">
            <a:avLst/>
          </a:prstGeom>
          <a:noFill/>
          <a:ln/>
        </p:spPr>
        <p:txBody>
          <a:bodyPr wrap="square" lIns="0" tIns="0" rIns="0" bIns="0" rtlCol="0" anchor="ctr"/>
          <a:lstStyle/>
          <a:p>
            <a:pPr marL="0" indent="0" algn="ctr">
              <a:buNone/>
            </a:pPr>
            <a:r>
              <a:rPr lang="en-US" sz="1500" b="1" dirty="0">
                <a:solidFill>
                  <a:srgbClr val="4FD8F0"/>
                </a:solidFill>
                <a:latin typeface="Calibri" pitchFamily="34" charset="0"/>
                <a:ea typeface="Calibri" pitchFamily="34" charset="-122"/>
                <a:cs typeface="Calibri" pitchFamily="34" charset="-120"/>
              </a:rPr>
              <a:t>12</a:t>
            </a:r>
            <a:endParaRPr lang="en-US" sz="1500" dirty="0"/>
          </a:p>
        </p:txBody>
      </p:sp>
      <p:sp>
        <p:nvSpPr>
          <p:cNvPr id="51" name="Text 46"/>
          <p:cNvSpPr/>
          <p:nvPr/>
        </p:nvSpPr>
        <p:spPr>
          <a:xfrm>
            <a:off x="4373880" y="6053328"/>
            <a:ext cx="344119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versioned prompt files (P-01…P-12)</a:t>
            </a:r>
            <a:endParaRPr lang="en-US" sz="870" dirty="0"/>
          </a:p>
        </p:txBody>
      </p:sp>
      <p:sp>
        <p:nvSpPr>
          <p:cNvPr id="52" name="Shape 47"/>
          <p:cNvSpPr/>
          <p:nvPr/>
        </p:nvSpPr>
        <p:spPr>
          <a:xfrm>
            <a:off x="8052816" y="5669280"/>
            <a:ext cx="358749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53" name="Text 48"/>
          <p:cNvSpPr/>
          <p:nvPr/>
        </p:nvSpPr>
        <p:spPr>
          <a:xfrm>
            <a:off x="8052816" y="5724144"/>
            <a:ext cx="3587496" cy="329184"/>
          </a:xfrm>
          <a:prstGeom prst="rect">
            <a:avLst/>
          </a:prstGeom>
          <a:noFill/>
          <a:ln/>
        </p:spPr>
        <p:txBody>
          <a:bodyPr wrap="square" lIns="0" tIns="0" rIns="0" bIns="0" rtlCol="0" anchor="ctr"/>
          <a:lstStyle/>
          <a:p>
            <a:pPr marL="0" indent="0" algn="ctr">
              <a:buNone/>
            </a:pPr>
            <a:r>
              <a:rPr lang="en-US" sz="1500" b="1" dirty="0">
                <a:solidFill>
                  <a:srgbClr val="3DE8B0"/>
                </a:solidFill>
                <a:latin typeface="Calibri" pitchFamily="34" charset="0"/>
                <a:ea typeface="Calibri" pitchFamily="34" charset="-122"/>
                <a:cs typeface="Calibri" pitchFamily="34" charset="-120"/>
              </a:rPr>
              <a:t>70 cases</a:t>
            </a:r>
            <a:endParaRPr lang="en-US" sz="1500" dirty="0"/>
          </a:p>
        </p:txBody>
      </p:sp>
      <p:sp>
        <p:nvSpPr>
          <p:cNvPr id="54" name="Text 49"/>
          <p:cNvSpPr/>
          <p:nvPr/>
        </p:nvSpPr>
        <p:spPr>
          <a:xfrm>
            <a:off x="8125968" y="6053328"/>
            <a:ext cx="344119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in 3 CI-gated safety evaluation sets</a:t>
            </a:r>
            <a:endParaRPr lang="en-US" sz="87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18</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4FD8F0"/>
                </a:solidFill>
                <a:latin typeface="Calibri" pitchFamily="34" charset="0"/>
                <a:ea typeface="Calibri" pitchFamily="34" charset="-122"/>
                <a:cs typeface="Calibri" pitchFamily="34" charset="-120"/>
              </a:rPr>
              <a:t>PLATFORM &amp; AI 3/4   </a:t>
            </a:r>
            <a:r>
              <a:rPr lang="en-US" sz="1100" b="1" kern="0" spc="200" dirty="0">
                <a:solidFill>
                  <a:srgbClr val="9DBAC3"/>
                </a:solidFill>
                <a:latin typeface="Calibri" pitchFamily="34" charset="0"/>
                <a:ea typeface="Calibri" pitchFamily="34" charset="-122"/>
                <a:cs typeface="Calibri" pitchFamily="34" charset="-120"/>
              </a:rPr>
              <a:t>|   PRESENTER: TUNDJI WILLIAMS-FULWOOD</a:t>
            </a:r>
            <a:endParaRPr lang="en-US" sz="1100" dirty="0"/>
          </a:p>
        </p:txBody>
      </p:sp>
      <p:sp>
        <p:nvSpPr>
          <p:cNvPr id="5" name="Text 3"/>
          <p:cNvSpPr/>
          <p:nvPr/>
        </p:nvSpPr>
        <p:spPr>
          <a:xfrm>
            <a:off x="548640" y="566928"/>
            <a:ext cx="859536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Locked down by default, private by default</a:t>
            </a:r>
            <a:endParaRPr lang="en-US" sz="2600" dirty="0"/>
          </a:p>
        </p:txBody>
      </p:sp>
      <p:sp>
        <p:nvSpPr>
          <p:cNvPr id="6" name="Shape 4"/>
          <p:cNvSpPr/>
          <p:nvPr/>
        </p:nvSpPr>
        <p:spPr>
          <a:xfrm>
            <a:off x="548640" y="1517904"/>
            <a:ext cx="4206240" cy="4160520"/>
          </a:xfrm>
          <a:prstGeom prst="roundRect">
            <a:avLst>
              <a:gd name="adj" fmla="val 2198"/>
            </a:avLst>
          </a:prstGeom>
          <a:solidFill>
            <a:srgbClr val="0E2A34"/>
          </a:solidFill>
          <a:ln w="12700">
            <a:solidFill>
              <a:srgbClr val="1E4A57"/>
            </a:solidFill>
            <a:prstDash val="solid"/>
          </a:ln>
        </p:spPr>
        <p:txBody>
          <a:bodyPr/>
          <a:lstStyle/>
          <a:p>
            <a:endParaRPr lang="en-AU"/>
          </a:p>
        </p:txBody>
      </p:sp>
      <p:pic>
        <p:nvPicPr>
          <p:cNvPr id="7" name="Image 0" descr="C:\Users\lumin\AppData\Local\Temp\claude\C--Users-lumin-Desktop-aquazerofit\2e3b7983-e45b-4e1c-8fdf-0a5635a22264\scratchpad\assets\icon_lock_cyan.png"/>
          <p:cNvPicPr>
            <a:picLocks noChangeAspect="1"/>
          </p:cNvPicPr>
          <p:nvPr/>
        </p:nvPicPr>
        <p:blipFill>
          <a:blip r:embed="rId4"/>
          <a:stretch>
            <a:fillRect/>
          </a:stretch>
        </p:blipFill>
        <p:spPr>
          <a:xfrm>
            <a:off x="804672" y="1773936"/>
            <a:ext cx="274320" cy="274320"/>
          </a:xfrm>
          <a:prstGeom prst="rect">
            <a:avLst/>
          </a:prstGeom>
        </p:spPr>
      </p:pic>
      <p:sp>
        <p:nvSpPr>
          <p:cNvPr id="8" name="Text 5"/>
          <p:cNvSpPr/>
          <p:nvPr/>
        </p:nvSpPr>
        <p:spPr>
          <a:xfrm>
            <a:off x="1188720" y="1737360"/>
            <a:ext cx="3383280" cy="310896"/>
          </a:xfrm>
          <a:prstGeom prst="rect">
            <a:avLst/>
          </a:prstGeom>
          <a:noFill/>
          <a:ln/>
        </p:spPr>
        <p:txBody>
          <a:bodyPr wrap="square" lIns="0" tIns="0" rIns="0" bIns="0" rtlCol="0" anchor="ctr"/>
          <a:lstStyle/>
          <a:p>
            <a:pPr marL="0" indent="0">
              <a:buNone/>
            </a:pPr>
            <a:r>
              <a:rPr lang="en-US" sz="1400" b="1" kern="0" spc="100" dirty="0">
                <a:solidFill>
                  <a:srgbClr val="4FD8F0"/>
                </a:solidFill>
                <a:latin typeface="Calibri" pitchFamily="34" charset="0"/>
                <a:ea typeface="Calibri" pitchFamily="34" charset="-122"/>
                <a:cs typeface="Calibri" pitchFamily="34" charset="-120"/>
              </a:rPr>
              <a:t>SECURITY</a:t>
            </a:r>
            <a:endParaRPr lang="en-US" sz="1400" dirty="0"/>
          </a:p>
        </p:txBody>
      </p:sp>
      <p:sp>
        <p:nvSpPr>
          <p:cNvPr id="9" name="Text 6"/>
          <p:cNvSpPr/>
          <p:nvPr/>
        </p:nvSpPr>
        <p:spPr>
          <a:xfrm>
            <a:off x="841248" y="2286000"/>
            <a:ext cx="3639312" cy="3246120"/>
          </a:xfrm>
          <a:prstGeom prst="rect">
            <a:avLst/>
          </a:prstGeom>
          <a:noFill/>
          <a:ln/>
        </p:spPr>
        <p:txBody>
          <a:bodyPr wrap="square" lIns="0" tIns="0" rIns="0" bIns="0" rtlCol="0" anchor="t"/>
          <a:lstStyle/>
          <a:p>
            <a:pPr marL="152400" indent="-152400">
              <a:lnSpc>
                <a:spcPct val="104000"/>
              </a:lnSpc>
              <a:spcAft>
                <a:spcPts val="800"/>
              </a:spcAft>
              <a:buSzPct val="100000"/>
              <a:buChar char="•"/>
            </a:pPr>
            <a:r>
              <a:rPr lang="en-US" sz="1080" dirty="0">
                <a:solidFill>
                  <a:srgbClr val="EAF6F9"/>
                </a:solidFill>
                <a:latin typeface="Calibri" pitchFamily="34" charset="0"/>
                <a:ea typeface="Calibri" pitchFamily="34" charset="-122"/>
                <a:cs typeface="Calibri" pitchFamily="34" charset="-120"/>
              </a:rPr>
              <a:t>Access tokens live 15 minutes; refresh tokens are single-use, stored only as hashes</a:t>
            </a:r>
            <a:endParaRPr lang="en-US" sz="1080" dirty="0"/>
          </a:p>
          <a:p>
            <a:pPr marL="152400" indent="-152400">
              <a:lnSpc>
                <a:spcPct val="104000"/>
              </a:lnSpc>
              <a:spcAft>
                <a:spcPts val="800"/>
              </a:spcAft>
              <a:buSzPct val="100000"/>
              <a:buChar char="•"/>
            </a:pPr>
            <a:r>
              <a:rPr lang="en-US" sz="1080" dirty="0">
                <a:solidFill>
                  <a:srgbClr val="EAF6F9"/>
                </a:solidFill>
                <a:latin typeface="Calibri" pitchFamily="34" charset="0"/>
                <a:ea typeface="Calibri" pitchFamily="34" charset="-122"/>
                <a:cs typeface="Calibri" pitchFamily="34" charset="-120"/>
              </a:rPr>
              <a:t>A replayed refresh token revokes the whole token family: attacker and victim are both signed out</a:t>
            </a:r>
            <a:endParaRPr lang="en-US" sz="1080" dirty="0"/>
          </a:p>
          <a:p>
            <a:pPr marL="152400" indent="-152400">
              <a:lnSpc>
                <a:spcPct val="104000"/>
              </a:lnSpc>
              <a:spcAft>
                <a:spcPts val="800"/>
              </a:spcAft>
              <a:buSzPct val="100000"/>
              <a:buChar char="•"/>
            </a:pPr>
            <a:r>
              <a:rPr lang="en-US" sz="1080" dirty="0">
                <a:solidFill>
                  <a:srgbClr val="EAF6F9"/>
                </a:solidFill>
                <a:latin typeface="Calibri" pitchFamily="34" charset="0"/>
                <a:ea typeface="Calibri" pitchFamily="34" charset="-122"/>
                <a:cs typeface="Calibri" pitchFamily="34" charset="-120"/>
              </a:rPr>
              <a:t>Telegram sign-in: HMAC recomputed server-side, compared in constant time, stale after 10 minutes</a:t>
            </a:r>
            <a:endParaRPr lang="en-US" sz="1080" dirty="0"/>
          </a:p>
          <a:p>
            <a:pPr marL="152400" indent="-152400">
              <a:lnSpc>
                <a:spcPct val="104000"/>
              </a:lnSpc>
              <a:spcAft>
                <a:spcPts val="800"/>
              </a:spcAft>
              <a:buSzPct val="100000"/>
              <a:buChar char="•"/>
            </a:pPr>
            <a:r>
              <a:rPr lang="en-US" sz="1080" dirty="0">
                <a:solidFill>
                  <a:srgbClr val="EAF6F9"/>
                </a:solidFill>
                <a:latin typeface="Calibri" pitchFamily="34" charset="0"/>
                <a:ea typeface="Calibri" pitchFamily="34" charset="-122"/>
                <a:cs typeface="Calibri" pitchFamily="34" charset="-120"/>
              </a:rPr>
              <a:t>Four rate-limit lanes; five failed logins lock the account for 15 minutes</a:t>
            </a:r>
            <a:endParaRPr lang="en-US" sz="1080" dirty="0"/>
          </a:p>
        </p:txBody>
      </p:sp>
      <p:sp>
        <p:nvSpPr>
          <p:cNvPr id="10" name="Shape 7"/>
          <p:cNvSpPr/>
          <p:nvPr/>
        </p:nvSpPr>
        <p:spPr>
          <a:xfrm>
            <a:off x="4919472" y="1517904"/>
            <a:ext cx="4206240" cy="4160520"/>
          </a:xfrm>
          <a:prstGeom prst="roundRect">
            <a:avLst>
              <a:gd name="adj" fmla="val 2198"/>
            </a:avLst>
          </a:prstGeom>
          <a:solidFill>
            <a:srgbClr val="0E2A34"/>
          </a:solidFill>
          <a:ln w="12700">
            <a:solidFill>
              <a:srgbClr val="1E4A57"/>
            </a:solidFill>
            <a:prstDash val="solid"/>
          </a:ln>
        </p:spPr>
        <p:txBody>
          <a:bodyPr/>
          <a:lstStyle/>
          <a:p>
            <a:endParaRPr lang="en-AU"/>
          </a:p>
        </p:txBody>
      </p:sp>
      <p:pic>
        <p:nvPicPr>
          <p:cNvPr id="11" name="Image 1" descr="C:\Users\lumin\AppData\Local\Temp\claude\C--Users-lumin-Desktop-aquazerofit\2e3b7983-e45b-4e1c-8fdf-0a5635a22264\scratchpad\assets\icon_usershield_mint.png"/>
          <p:cNvPicPr>
            <a:picLocks noChangeAspect="1"/>
          </p:cNvPicPr>
          <p:nvPr/>
        </p:nvPicPr>
        <p:blipFill>
          <a:blip r:embed="rId5"/>
          <a:stretch>
            <a:fillRect/>
          </a:stretch>
        </p:blipFill>
        <p:spPr>
          <a:xfrm>
            <a:off x="5175504" y="1773936"/>
            <a:ext cx="274320" cy="274320"/>
          </a:xfrm>
          <a:prstGeom prst="rect">
            <a:avLst/>
          </a:prstGeom>
        </p:spPr>
      </p:pic>
      <p:sp>
        <p:nvSpPr>
          <p:cNvPr id="12" name="Text 8"/>
          <p:cNvSpPr/>
          <p:nvPr/>
        </p:nvSpPr>
        <p:spPr>
          <a:xfrm>
            <a:off x="5559552" y="1737360"/>
            <a:ext cx="3383280" cy="310896"/>
          </a:xfrm>
          <a:prstGeom prst="rect">
            <a:avLst/>
          </a:prstGeom>
          <a:noFill/>
          <a:ln/>
        </p:spPr>
        <p:txBody>
          <a:bodyPr wrap="square" lIns="0" tIns="0" rIns="0" bIns="0" rtlCol="0" anchor="ctr"/>
          <a:lstStyle/>
          <a:p>
            <a:pPr marL="0" indent="0">
              <a:buNone/>
            </a:pPr>
            <a:r>
              <a:rPr lang="en-US" sz="1400" b="1" kern="0" spc="100" dirty="0">
                <a:solidFill>
                  <a:srgbClr val="3DE8B0"/>
                </a:solidFill>
                <a:latin typeface="Calibri" pitchFamily="34" charset="0"/>
                <a:ea typeface="Calibri" pitchFamily="34" charset="-122"/>
                <a:cs typeface="Calibri" pitchFamily="34" charset="-120"/>
              </a:rPr>
              <a:t>PRIVACY</a:t>
            </a:r>
            <a:endParaRPr lang="en-US" sz="1400" dirty="0"/>
          </a:p>
        </p:txBody>
      </p:sp>
      <p:sp>
        <p:nvSpPr>
          <p:cNvPr id="13" name="Text 9"/>
          <p:cNvSpPr/>
          <p:nvPr/>
        </p:nvSpPr>
        <p:spPr>
          <a:xfrm>
            <a:off x="5212080" y="2286000"/>
            <a:ext cx="3639312" cy="3246120"/>
          </a:xfrm>
          <a:prstGeom prst="rect">
            <a:avLst/>
          </a:prstGeom>
          <a:noFill/>
          <a:ln/>
        </p:spPr>
        <p:txBody>
          <a:bodyPr wrap="square" lIns="0" tIns="0" rIns="0" bIns="0" rtlCol="0" anchor="t"/>
          <a:lstStyle/>
          <a:p>
            <a:pPr marL="152400" indent="-152400">
              <a:lnSpc>
                <a:spcPct val="104000"/>
              </a:lnSpc>
              <a:spcAft>
                <a:spcPts val="800"/>
              </a:spcAft>
              <a:buSzPct val="100000"/>
              <a:buChar char="•"/>
            </a:pPr>
            <a:r>
              <a:rPr lang="en-US" sz="1080" dirty="0">
                <a:solidFill>
                  <a:srgbClr val="EAF6F9"/>
                </a:solidFill>
                <a:latin typeface="Calibri" pitchFamily="34" charset="0"/>
                <a:ea typeface="Calibri" pitchFamily="34" charset="-122"/>
                <a:cs typeface="Calibri" pitchFamily="34" charset="-120"/>
              </a:rPr>
              <a:t>All four consents default OFF; with personalisation off, not even your name reaches a model</a:t>
            </a:r>
            <a:endParaRPr lang="en-US" sz="1080" dirty="0"/>
          </a:p>
          <a:p>
            <a:pPr marL="152400" indent="-152400">
              <a:lnSpc>
                <a:spcPct val="104000"/>
              </a:lnSpc>
              <a:spcAft>
                <a:spcPts val="800"/>
              </a:spcAft>
              <a:buSzPct val="100000"/>
              <a:buChar char="•"/>
            </a:pPr>
            <a:r>
              <a:rPr lang="en-US" sz="1080" dirty="0">
                <a:solidFill>
                  <a:srgbClr val="EAF6F9"/>
                </a:solidFill>
                <a:latin typeface="Calibri" pitchFamily="34" charset="0"/>
                <a:ea typeface="Calibri" pitchFamily="34" charset="-122"/>
                <a:cs typeface="Calibri" pitchFamily="34" charset="-120"/>
              </a:rPr>
              <a:t>AI memory is proposed by the model but approved by you; only approved facts ever enter a prompt</a:t>
            </a:r>
            <a:endParaRPr lang="en-US" sz="1080" dirty="0"/>
          </a:p>
          <a:p>
            <a:pPr marL="152400" indent="-152400">
              <a:lnSpc>
                <a:spcPct val="104000"/>
              </a:lnSpc>
              <a:spcAft>
                <a:spcPts val="800"/>
              </a:spcAft>
              <a:buSzPct val="100000"/>
              <a:buChar char="•"/>
            </a:pPr>
            <a:r>
              <a:rPr lang="en-US" sz="1080" dirty="0">
                <a:solidFill>
                  <a:srgbClr val="EAF6F9"/>
                </a:solidFill>
                <a:latin typeface="Calibri" pitchFamily="34" charset="0"/>
                <a:ea typeface="Calibri" pitchFamily="34" charset="-122"/>
                <a:cs typeface="Calibri" pitchFamily="34" charset="-120"/>
              </a:rPr>
              <a:t>Full data export in one request</a:t>
            </a:r>
            <a:endParaRPr lang="en-US" sz="1080" dirty="0"/>
          </a:p>
          <a:p>
            <a:pPr marL="152400" indent="-152400">
              <a:lnSpc>
                <a:spcPct val="104000"/>
              </a:lnSpc>
              <a:spcAft>
                <a:spcPts val="800"/>
              </a:spcAft>
              <a:buSzPct val="100000"/>
              <a:buChar char="•"/>
            </a:pPr>
            <a:r>
              <a:rPr lang="en-US" sz="1080" dirty="0">
                <a:solidFill>
                  <a:srgbClr val="EAF6F9"/>
                </a:solidFill>
                <a:latin typeface="Calibri" pitchFamily="34" charset="0"/>
                <a:ea typeface="Calibri" pitchFamily="34" charset="-122"/>
                <a:cs typeface="Calibri" pitchFamily="34" charset="-120"/>
              </a:rPr>
              <a:t>Two-step deletion: 30-day grace, then a purge that anonymises even audit trails and hashes leftover identifiers</a:t>
            </a:r>
            <a:endParaRPr lang="en-US" sz="1080" dirty="0"/>
          </a:p>
        </p:txBody>
      </p:sp>
      <p:sp>
        <p:nvSpPr>
          <p:cNvPr id="14" name="Shape 10"/>
          <p:cNvSpPr/>
          <p:nvPr/>
        </p:nvSpPr>
        <p:spPr>
          <a:xfrm>
            <a:off x="548640" y="5806440"/>
            <a:ext cx="274929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15" name="Text 11"/>
          <p:cNvSpPr/>
          <p:nvPr/>
        </p:nvSpPr>
        <p:spPr>
          <a:xfrm>
            <a:off x="548640" y="5861304"/>
            <a:ext cx="2749296" cy="329184"/>
          </a:xfrm>
          <a:prstGeom prst="rect">
            <a:avLst/>
          </a:prstGeom>
          <a:noFill/>
          <a:ln/>
        </p:spPr>
        <p:txBody>
          <a:bodyPr wrap="square" lIns="0" tIns="0" rIns="0" bIns="0" rtlCol="0" anchor="ctr"/>
          <a:lstStyle/>
          <a:p>
            <a:pPr marL="0" indent="0" algn="ctr">
              <a:buNone/>
            </a:pPr>
            <a:r>
              <a:rPr lang="en-US" sz="1500" b="1" dirty="0">
                <a:solidFill>
                  <a:srgbClr val="4FD8F0"/>
                </a:solidFill>
                <a:latin typeface="Calibri" pitchFamily="34" charset="0"/>
                <a:ea typeface="Calibri" pitchFamily="34" charset="-122"/>
                <a:cs typeface="Calibri" pitchFamily="34" charset="-120"/>
              </a:rPr>
              <a:t>15 min</a:t>
            </a:r>
            <a:endParaRPr lang="en-US" sz="1500" dirty="0"/>
          </a:p>
        </p:txBody>
      </p:sp>
      <p:sp>
        <p:nvSpPr>
          <p:cNvPr id="16" name="Text 12"/>
          <p:cNvSpPr/>
          <p:nvPr/>
        </p:nvSpPr>
        <p:spPr>
          <a:xfrm>
            <a:off x="621792" y="6190488"/>
            <a:ext cx="260299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access-token lifetime</a:t>
            </a:r>
            <a:endParaRPr lang="en-US" sz="870" dirty="0"/>
          </a:p>
        </p:txBody>
      </p:sp>
      <p:sp>
        <p:nvSpPr>
          <p:cNvPr id="17" name="Shape 13"/>
          <p:cNvSpPr/>
          <p:nvPr/>
        </p:nvSpPr>
        <p:spPr>
          <a:xfrm>
            <a:off x="3462528" y="5806440"/>
            <a:ext cx="274929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18" name="Text 14"/>
          <p:cNvSpPr/>
          <p:nvPr/>
        </p:nvSpPr>
        <p:spPr>
          <a:xfrm>
            <a:off x="3462528" y="5861304"/>
            <a:ext cx="2749296" cy="329184"/>
          </a:xfrm>
          <a:prstGeom prst="rect">
            <a:avLst/>
          </a:prstGeom>
          <a:noFill/>
          <a:ln/>
        </p:spPr>
        <p:txBody>
          <a:bodyPr wrap="square" lIns="0" tIns="0" rIns="0" bIns="0" rtlCol="0" anchor="ctr"/>
          <a:lstStyle/>
          <a:p>
            <a:pPr marL="0" indent="0" algn="ctr">
              <a:buNone/>
            </a:pPr>
            <a:r>
              <a:rPr lang="en-US" sz="1500" b="1" dirty="0">
                <a:solidFill>
                  <a:srgbClr val="3DE8B0"/>
                </a:solidFill>
                <a:latin typeface="Calibri" pitchFamily="34" charset="0"/>
                <a:ea typeface="Calibri" pitchFamily="34" charset="-122"/>
                <a:cs typeface="Calibri" pitchFamily="34" charset="-120"/>
              </a:rPr>
              <a:t>4</a:t>
            </a:r>
            <a:endParaRPr lang="en-US" sz="1500" dirty="0"/>
          </a:p>
        </p:txBody>
      </p:sp>
      <p:sp>
        <p:nvSpPr>
          <p:cNvPr id="19" name="Text 15"/>
          <p:cNvSpPr/>
          <p:nvPr/>
        </p:nvSpPr>
        <p:spPr>
          <a:xfrm>
            <a:off x="3535680" y="6190488"/>
            <a:ext cx="260299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consents, all default off</a:t>
            </a:r>
            <a:endParaRPr lang="en-US" sz="870" dirty="0"/>
          </a:p>
        </p:txBody>
      </p:sp>
      <p:sp>
        <p:nvSpPr>
          <p:cNvPr id="20" name="Shape 16"/>
          <p:cNvSpPr/>
          <p:nvPr/>
        </p:nvSpPr>
        <p:spPr>
          <a:xfrm>
            <a:off x="6376416" y="5806440"/>
            <a:ext cx="274929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1" name="Text 17"/>
          <p:cNvSpPr/>
          <p:nvPr/>
        </p:nvSpPr>
        <p:spPr>
          <a:xfrm>
            <a:off x="6376416" y="5861304"/>
            <a:ext cx="2749296" cy="329184"/>
          </a:xfrm>
          <a:prstGeom prst="rect">
            <a:avLst/>
          </a:prstGeom>
          <a:noFill/>
          <a:ln/>
        </p:spPr>
        <p:txBody>
          <a:bodyPr wrap="square" lIns="0" tIns="0" rIns="0" bIns="0" rtlCol="0" anchor="ctr"/>
          <a:lstStyle/>
          <a:p>
            <a:pPr marL="0" indent="0" algn="ctr">
              <a:buNone/>
            </a:pPr>
            <a:r>
              <a:rPr lang="en-US" sz="1500" b="1" dirty="0">
                <a:solidFill>
                  <a:srgbClr val="FFC94D"/>
                </a:solidFill>
                <a:latin typeface="Calibri" pitchFamily="34" charset="0"/>
                <a:ea typeface="Calibri" pitchFamily="34" charset="-122"/>
                <a:cs typeface="Calibri" pitchFamily="34" charset="-120"/>
              </a:rPr>
              <a:t>30 days</a:t>
            </a:r>
            <a:endParaRPr lang="en-US" sz="1500" dirty="0"/>
          </a:p>
        </p:txBody>
      </p:sp>
      <p:sp>
        <p:nvSpPr>
          <p:cNvPr id="22" name="Text 18"/>
          <p:cNvSpPr/>
          <p:nvPr/>
        </p:nvSpPr>
        <p:spPr>
          <a:xfrm>
            <a:off x="6449568" y="6190488"/>
            <a:ext cx="260299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deletion grace period</a:t>
            </a:r>
            <a:endParaRPr lang="en-US" sz="870" dirty="0"/>
          </a:p>
        </p:txBody>
      </p:sp>
      <p:sp>
        <p:nvSpPr>
          <p:cNvPr id="23" name="Shape 19"/>
          <p:cNvSpPr/>
          <p:nvPr/>
        </p:nvSpPr>
        <p:spPr>
          <a:xfrm>
            <a:off x="9354312" y="1307592"/>
            <a:ext cx="2388556" cy="5020056"/>
          </a:xfrm>
          <a:prstGeom prst="roundRect">
            <a:avLst>
              <a:gd name="adj" fmla="val 4594"/>
            </a:avLst>
          </a:prstGeom>
          <a:solidFill>
            <a:srgbClr val="062028"/>
          </a:solidFill>
          <a:ln w="12700">
            <a:solidFill>
              <a:srgbClr val="1E4A57"/>
            </a:solidFill>
            <a:prstDash val="solid"/>
          </a:ln>
        </p:spPr>
        <p:txBody>
          <a:bodyPr/>
          <a:lstStyle/>
          <a:p>
            <a:endParaRPr lang="en-AU"/>
          </a:p>
        </p:txBody>
      </p:sp>
      <p:pic>
        <p:nvPicPr>
          <p:cNvPr id="24" name="Image 2" descr="C:\Users\lumin\Desktop\aquazerofit\docs\screenshots\10-settings.png"/>
          <p:cNvPicPr>
            <a:picLocks noChangeAspect="1"/>
          </p:cNvPicPr>
          <p:nvPr/>
        </p:nvPicPr>
        <p:blipFill>
          <a:blip r:embed="rId6"/>
          <a:stretch>
            <a:fillRect/>
          </a:stretch>
        </p:blipFill>
        <p:spPr>
          <a:xfrm>
            <a:off x="9418320" y="1371600"/>
            <a:ext cx="2260540" cy="48920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19</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4FD8F0"/>
                </a:solidFill>
                <a:latin typeface="Calibri" pitchFamily="34" charset="0"/>
                <a:ea typeface="Calibri" pitchFamily="34" charset="-122"/>
                <a:cs typeface="Calibri" pitchFamily="34" charset="-120"/>
              </a:rPr>
              <a:t>PLATFORM &amp; AI 4/4   </a:t>
            </a:r>
            <a:r>
              <a:rPr lang="en-US" sz="1100" b="1" kern="0" spc="200" dirty="0">
                <a:solidFill>
                  <a:srgbClr val="9DBAC3"/>
                </a:solidFill>
                <a:latin typeface="Calibri" pitchFamily="34" charset="0"/>
                <a:ea typeface="Calibri" pitchFamily="34" charset="-122"/>
                <a:cs typeface="Calibri" pitchFamily="34" charset="-120"/>
              </a:rPr>
              <a:t>|   PRESENTER: TUNDJI WILLIAMS-FULWOOD</a:t>
            </a:r>
            <a:endParaRPr lang="en-US" sz="1100" dirty="0"/>
          </a:p>
        </p:txBody>
      </p:sp>
      <p:sp>
        <p:nvSpPr>
          <p:cNvPr id="5" name="Text 3"/>
          <p:cNvSpPr/>
          <p:nvPr/>
        </p:nvSpPr>
        <p:spPr>
          <a:xfrm>
            <a:off x="548640" y="566928"/>
            <a:ext cx="859536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Motivation that cannot hurt you, money that cannot drift</a:t>
            </a:r>
            <a:endParaRPr lang="en-US" sz="2600" dirty="0"/>
          </a:p>
        </p:txBody>
      </p:sp>
      <p:sp>
        <p:nvSpPr>
          <p:cNvPr id="6" name="Shape 4"/>
          <p:cNvSpPr/>
          <p:nvPr/>
        </p:nvSpPr>
        <p:spPr>
          <a:xfrm>
            <a:off x="566928" y="1545336"/>
            <a:ext cx="457200" cy="457200"/>
          </a:xfrm>
          <a:prstGeom prst="ellipse">
            <a:avLst/>
          </a:prstGeom>
          <a:solidFill>
            <a:srgbClr val="123441"/>
          </a:solidFill>
          <a:ln w="9525">
            <a:solidFill>
              <a:srgbClr val="1E4A57"/>
            </a:solidFill>
            <a:prstDash val="solid"/>
          </a:ln>
        </p:spPr>
        <p:txBody>
          <a:bodyPr/>
          <a:lstStyle/>
          <a:p>
            <a:endParaRPr lang="en-AU"/>
          </a:p>
        </p:txBody>
      </p:sp>
      <p:pic>
        <p:nvPicPr>
          <p:cNvPr id="7" name="Image 0" descr="C:\Users\lumin\AppData\Local\Temp\claude\C--Users-lumin-Desktop-aquazerofit\2e3b7983-e45b-4e1c-8fdf-0a5635a22264\scratchpad\assets\icon_star_gold.png"/>
          <p:cNvPicPr>
            <a:picLocks noChangeAspect="1"/>
          </p:cNvPicPr>
          <p:nvPr/>
        </p:nvPicPr>
        <p:blipFill>
          <a:blip r:embed="rId4"/>
          <a:stretch>
            <a:fillRect/>
          </a:stretch>
        </p:blipFill>
        <p:spPr>
          <a:xfrm>
            <a:off x="676656" y="1664208"/>
            <a:ext cx="237744" cy="237744"/>
          </a:xfrm>
          <a:prstGeom prst="rect">
            <a:avLst/>
          </a:prstGeom>
        </p:spPr>
      </p:pic>
      <p:sp>
        <p:nvSpPr>
          <p:cNvPr id="8" name="Text 5"/>
          <p:cNvSpPr/>
          <p:nvPr/>
        </p:nvSpPr>
        <p:spPr>
          <a:xfrm>
            <a:off x="1188720" y="1490472"/>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XP for behaviour, never outcomes</a:t>
            </a:r>
            <a:endParaRPr lang="en-US" sz="1350" dirty="0"/>
          </a:p>
        </p:txBody>
      </p:sp>
      <p:sp>
        <p:nvSpPr>
          <p:cNvPr id="9" name="Text 6"/>
          <p:cNvSpPr/>
          <p:nvPr/>
        </p:nvSpPr>
        <p:spPr>
          <a:xfrm>
            <a:off x="1188720" y="1764792"/>
            <a:ext cx="7818120" cy="68580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Logging, training, hydrating and resting earn experience. Nothing scores a calorie deficit or a kilogram lost; that is a safety decision, not a design preference. Capped per lane and at 150 XP a day.</a:t>
            </a:r>
            <a:endParaRPr lang="en-US" sz="1100" dirty="0"/>
          </a:p>
        </p:txBody>
      </p:sp>
      <p:sp>
        <p:nvSpPr>
          <p:cNvPr id="10" name="Shape 7"/>
          <p:cNvSpPr/>
          <p:nvPr/>
        </p:nvSpPr>
        <p:spPr>
          <a:xfrm>
            <a:off x="566928" y="2523744"/>
            <a:ext cx="457200" cy="457200"/>
          </a:xfrm>
          <a:prstGeom prst="ellipse">
            <a:avLst/>
          </a:prstGeom>
          <a:solidFill>
            <a:srgbClr val="123441"/>
          </a:solidFill>
          <a:ln w="9525">
            <a:solidFill>
              <a:srgbClr val="1E4A57"/>
            </a:solidFill>
            <a:prstDash val="solid"/>
          </a:ln>
        </p:spPr>
        <p:txBody>
          <a:bodyPr/>
          <a:lstStyle/>
          <a:p>
            <a:endParaRPr lang="en-AU"/>
          </a:p>
        </p:txBody>
      </p:sp>
      <p:pic>
        <p:nvPicPr>
          <p:cNvPr id="11" name="Image 1" descr="C:\Users\lumin\AppData\Local\Temp\claude\C--Users-lumin-Desktop-aquazerofit\2e3b7983-e45b-4e1c-8fdf-0a5635a22264\scratchpad\assets\icon_heartbeat_mint.png"/>
          <p:cNvPicPr>
            <a:picLocks noChangeAspect="1"/>
          </p:cNvPicPr>
          <p:nvPr/>
        </p:nvPicPr>
        <p:blipFill>
          <a:blip r:embed="rId5"/>
          <a:stretch>
            <a:fillRect/>
          </a:stretch>
        </p:blipFill>
        <p:spPr>
          <a:xfrm>
            <a:off x="676656" y="2642616"/>
            <a:ext cx="237744" cy="237744"/>
          </a:xfrm>
          <a:prstGeom prst="rect">
            <a:avLst/>
          </a:prstGeom>
        </p:spPr>
      </p:pic>
      <p:sp>
        <p:nvSpPr>
          <p:cNvPr id="12" name="Text 8"/>
          <p:cNvSpPr/>
          <p:nvPr/>
        </p:nvSpPr>
        <p:spPr>
          <a:xfrm>
            <a:off x="1188720" y="2468880"/>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Consistency, not punishing streaks</a:t>
            </a:r>
            <a:endParaRPr lang="en-US" sz="1350" dirty="0"/>
          </a:p>
        </p:txBody>
      </p:sp>
      <p:sp>
        <p:nvSpPr>
          <p:cNvPr id="13" name="Text 9"/>
          <p:cNvSpPr/>
          <p:nvPr/>
        </p:nvSpPr>
        <p:spPr>
          <a:xfrm>
            <a:off x="1188720" y="2743200"/>
            <a:ext cx="7818120" cy="68580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A 28-day window with a grace day replaces the reset-to-zero streak. The figure cannot count down, and a badge once earned is never revoked.</a:t>
            </a:r>
            <a:endParaRPr lang="en-US" sz="1100" dirty="0"/>
          </a:p>
        </p:txBody>
      </p:sp>
      <p:sp>
        <p:nvSpPr>
          <p:cNvPr id="14" name="Shape 10"/>
          <p:cNvSpPr/>
          <p:nvPr/>
        </p:nvSpPr>
        <p:spPr>
          <a:xfrm>
            <a:off x="566928" y="3502152"/>
            <a:ext cx="457200" cy="457200"/>
          </a:xfrm>
          <a:prstGeom prst="ellipse">
            <a:avLst/>
          </a:prstGeom>
          <a:solidFill>
            <a:srgbClr val="123441"/>
          </a:solidFill>
          <a:ln w="9525">
            <a:solidFill>
              <a:srgbClr val="1E4A57"/>
            </a:solidFill>
            <a:prstDash val="solid"/>
          </a:ln>
        </p:spPr>
        <p:txBody>
          <a:bodyPr/>
          <a:lstStyle/>
          <a:p>
            <a:endParaRPr lang="en-AU"/>
          </a:p>
        </p:txBody>
      </p:sp>
      <p:pic>
        <p:nvPicPr>
          <p:cNvPr id="15" name="Image 2" descr="C:\Users\lumin\AppData\Local\Temp\claude\C--Users-lumin-Desktop-aquazerofit\2e3b7983-e45b-4e1c-8fdf-0a5635a22264\scratchpad\assets\icon_users_cyan.png"/>
          <p:cNvPicPr>
            <a:picLocks noChangeAspect="1"/>
          </p:cNvPicPr>
          <p:nvPr/>
        </p:nvPicPr>
        <p:blipFill>
          <a:blip r:embed="rId6"/>
          <a:stretch>
            <a:fillRect/>
          </a:stretch>
        </p:blipFill>
        <p:spPr>
          <a:xfrm>
            <a:off x="676656" y="3621024"/>
            <a:ext cx="237744" cy="237744"/>
          </a:xfrm>
          <a:prstGeom prst="rect">
            <a:avLst/>
          </a:prstGeom>
        </p:spPr>
      </p:pic>
      <p:sp>
        <p:nvSpPr>
          <p:cNvPr id="16" name="Text 11"/>
          <p:cNvSpPr/>
          <p:nvPr/>
        </p:nvSpPr>
        <p:spPr>
          <a:xfrm>
            <a:off x="1188720" y="3447288"/>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Nine coach personas, honestly gated</a:t>
            </a:r>
            <a:endParaRPr lang="en-US" sz="1350" dirty="0"/>
          </a:p>
        </p:txBody>
      </p:sp>
      <p:sp>
        <p:nvSpPr>
          <p:cNvPr id="17" name="Text 12"/>
          <p:cNvSpPr/>
          <p:nvPr/>
        </p:nvSpPr>
        <p:spPr>
          <a:xfrm>
            <a:off x="1188720" y="3721608"/>
            <a:ext cx="7818120" cy="68580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Tournament fighters as coaching voices, unlocked by level. Telegram Stars is only a shortcut, and the server (never the client) decides every entitlement and price.</a:t>
            </a:r>
            <a:endParaRPr lang="en-US" sz="1100" dirty="0"/>
          </a:p>
        </p:txBody>
      </p:sp>
      <p:sp>
        <p:nvSpPr>
          <p:cNvPr id="18" name="Shape 13"/>
          <p:cNvSpPr/>
          <p:nvPr/>
        </p:nvSpPr>
        <p:spPr>
          <a:xfrm>
            <a:off x="566928" y="4480560"/>
            <a:ext cx="457200" cy="457200"/>
          </a:xfrm>
          <a:prstGeom prst="ellipse">
            <a:avLst/>
          </a:prstGeom>
          <a:solidFill>
            <a:srgbClr val="123441"/>
          </a:solidFill>
          <a:ln w="9525">
            <a:solidFill>
              <a:srgbClr val="1E4A57"/>
            </a:solidFill>
            <a:prstDash val="solid"/>
          </a:ln>
        </p:spPr>
        <p:txBody>
          <a:bodyPr/>
          <a:lstStyle/>
          <a:p>
            <a:endParaRPr lang="en-AU"/>
          </a:p>
        </p:txBody>
      </p:sp>
      <p:pic>
        <p:nvPicPr>
          <p:cNvPr id="19" name="Image 3" descr="C:\Users\lumin\AppData\Local\Temp\claude\C--Users-lumin-Desktop-aquazerofit\2e3b7983-e45b-4e1c-8fdf-0a5635a22264\scratchpad\assets\icon_coins_gold.png"/>
          <p:cNvPicPr>
            <a:picLocks noChangeAspect="1"/>
          </p:cNvPicPr>
          <p:nvPr/>
        </p:nvPicPr>
        <p:blipFill>
          <a:blip r:embed="rId7"/>
          <a:stretch>
            <a:fillRect/>
          </a:stretch>
        </p:blipFill>
        <p:spPr>
          <a:xfrm>
            <a:off x="676656" y="4599432"/>
            <a:ext cx="237744" cy="237744"/>
          </a:xfrm>
          <a:prstGeom prst="rect">
            <a:avLst/>
          </a:prstGeom>
        </p:spPr>
      </p:pic>
      <p:sp>
        <p:nvSpPr>
          <p:cNvPr id="20" name="Text 14"/>
          <p:cNvSpPr/>
          <p:nvPr/>
        </p:nvSpPr>
        <p:spPr>
          <a:xfrm>
            <a:off x="1188720" y="4425696"/>
            <a:ext cx="781812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An append-only credit ledger</a:t>
            </a:r>
            <a:endParaRPr lang="en-US" sz="1350" dirty="0"/>
          </a:p>
        </p:txBody>
      </p:sp>
      <p:sp>
        <p:nvSpPr>
          <p:cNvPr id="21" name="Text 15"/>
          <p:cNvSpPr/>
          <p:nvPr/>
        </p:nvSpPr>
        <p:spPr>
          <a:xfrm>
            <a:off x="1188720" y="4700016"/>
            <a:ext cx="7818120" cy="68580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AI usage is metered by transactions (reserve, commit, release) and the balance is computed from history. A counter can drift and cannot be audited; a ledger can.</a:t>
            </a:r>
            <a:endParaRPr lang="en-US" sz="1100" dirty="0"/>
          </a:p>
        </p:txBody>
      </p:sp>
      <p:sp>
        <p:nvSpPr>
          <p:cNvPr id="22" name="Shape 16"/>
          <p:cNvSpPr/>
          <p:nvPr/>
        </p:nvSpPr>
        <p:spPr>
          <a:xfrm>
            <a:off x="548640"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3" name="Text 17"/>
          <p:cNvSpPr/>
          <p:nvPr/>
        </p:nvSpPr>
        <p:spPr>
          <a:xfrm>
            <a:off x="548640" y="5596128"/>
            <a:ext cx="2002536" cy="329184"/>
          </a:xfrm>
          <a:prstGeom prst="rect">
            <a:avLst/>
          </a:prstGeom>
          <a:noFill/>
          <a:ln/>
        </p:spPr>
        <p:txBody>
          <a:bodyPr wrap="square" lIns="0" tIns="0" rIns="0" bIns="0" rtlCol="0" anchor="ctr"/>
          <a:lstStyle/>
          <a:p>
            <a:pPr marL="0" indent="0" algn="ctr">
              <a:buNone/>
            </a:pPr>
            <a:r>
              <a:rPr lang="en-US" sz="1500" b="1" dirty="0">
                <a:solidFill>
                  <a:srgbClr val="FFC94D"/>
                </a:solidFill>
                <a:latin typeface="Calibri" pitchFamily="34" charset="0"/>
                <a:ea typeface="Calibri" pitchFamily="34" charset="-122"/>
                <a:cs typeface="Calibri" pitchFamily="34" charset="-120"/>
              </a:rPr>
              <a:t>150</a:t>
            </a:r>
            <a:endParaRPr lang="en-US" sz="1500" dirty="0"/>
          </a:p>
        </p:txBody>
      </p:sp>
      <p:sp>
        <p:nvSpPr>
          <p:cNvPr id="24" name="Text 18"/>
          <p:cNvSpPr/>
          <p:nvPr/>
        </p:nvSpPr>
        <p:spPr>
          <a:xfrm>
            <a:off x="621792"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max XP per day</a:t>
            </a:r>
            <a:endParaRPr lang="en-US" sz="870" dirty="0"/>
          </a:p>
        </p:txBody>
      </p:sp>
      <p:sp>
        <p:nvSpPr>
          <p:cNvPr id="25" name="Shape 19"/>
          <p:cNvSpPr/>
          <p:nvPr/>
        </p:nvSpPr>
        <p:spPr>
          <a:xfrm>
            <a:off x="2715768"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6" name="Text 20"/>
          <p:cNvSpPr/>
          <p:nvPr/>
        </p:nvSpPr>
        <p:spPr>
          <a:xfrm>
            <a:off x="2715768" y="5596128"/>
            <a:ext cx="2002536" cy="329184"/>
          </a:xfrm>
          <a:prstGeom prst="rect">
            <a:avLst/>
          </a:prstGeom>
          <a:noFill/>
          <a:ln/>
        </p:spPr>
        <p:txBody>
          <a:bodyPr wrap="square" lIns="0" tIns="0" rIns="0" bIns="0" rtlCol="0" anchor="ctr"/>
          <a:lstStyle/>
          <a:p>
            <a:pPr marL="0" indent="0" algn="ctr">
              <a:buNone/>
            </a:pPr>
            <a:r>
              <a:rPr lang="en-US" sz="1500" b="1" dirty="0">
                <a:solidFill>
                  <a:srgbClr val="3DE8B0"/>
                </a:solidFill>
                <a:latin typeface="Calibri" pitchFamily="34" charset="0"/>
                <a:ea typeface="Calibri" pitchFamily="34" charset="-122"/>
                <a:cs typeface="Calibri" pitchFamily="34" charset="-120"/>
              </a:rPr>
              <a:t>28 + 1</a:t>
            </a:r>
            <a:endParaRPr lang="en-US" sz="1500" dirty="0"/>
          </a:p>
        </p:txBody>
      </p:sp>
      <p:sp>
        <p:nvSpPr>
          <p:cNvPr id="27" name="Text 21"/>
          <p:cNvSpPr/>
          <p:nvPr/>
        </p:nvSpPr>
        <p:spPr>
          <a:xfrm>
            <a:off x="2788920"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consistency window + grace day</a:t>
            </a:r>
            <a:endParaRPr lang="en-US" sz="870" dirty="0"/>
          </a:p>
        </p:txBody>
      </p:sp>
      <p:sp>
        <p:nvSpPr>
          <p:cNvPr id="28" name="Shape 22"/>
          <p:cNvSpPr/>
          <p:nvPr/>
        </p:nvSpPr>
        <p:spPr>
          <a:xfrm>
            <a:off x="4882896"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29" name="Text 23"/>
          <p:cNvSpPr/>
          <p:nvPr/>
        </p:nvSpPr>
        <p:spPr>
          <a:xfrm>
            <a:off x="4882896" y="5596128"/>
            <a:ext cx="2002536" cy="329184"/>
          </a:xfrm>
          <a:prstGeom prst="rect">
            <a:avLst/>
          </a:prstGeom>
          <a:noFill/>
          <a:ln/>
        </p:spPr>
        <p:txBody>
          <a:bodyPr wrap="square" lIns="0" tIns="0" rIns="0" bIns="0" rtlCol="0" anchor="ctr"/>
          <a:lstStyle/>
          <a:p>
            <a:pPr marL="0" indent="0" algn="ctr">
              <a:buNone/>
            </a:pPr>
            <a:r>
              <a:rPr lang="en-US" sz="1500" b="1" dirty="0">
                <a:solidFill>
                  <a:srgbClr val="4FD8F0"/>
                </a:solidFill>
                <a:latin typeface="Calibri" pitchFamily="34" charset="0"/>
                <a:ea typeface="Calibri" pitchFamily="34" charset="-122"/>
                <a:cs typeface="Calibri" pitchFamily="34" charset="-120"/>
              </a:rPr>
              <a:t>9</a:t>
            </a:r>
            <a:endParaRPr lang="en-US" sz="1500" dirty="0"/>
          </a:p>
        </p:txBody>
      </p:sp>
      <p:sp>
        <p:nvSpPr>
          <p:cNvPr id="30" name="Text 24"/>
          <p:cNvSpPr/>
          <p:nvPr/>
        </p:nvSpPr>
        <p:spPr>
          <a:xfrm>
            <a:off x="4956048"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coach personas</a:t>
            </a:r>
            <a:endParaRPr lang="en-US" sz="870" dirty="0"/>
          </a:p>
        </p:txBody>
      </p:sp>
      <p:sp>
        <p:nvSpPr>
          <p:cNvPr id="31" name="Shape 25"/>
          <p:cNvSpPr/>
          <p:nvPr/>
        </p:nvSpPr>
        <p:spPr>
          <a:xfrm>
            <a:off x="7050024" y="5541264"/>
            <a:ext cx="2002536" cy="713232"/>
          </a:xfrm>
          <a:prstGeom prst="roundRect">
            <a:avLst>
              <a:gd name="adj" fmla="val 10256"/>
            </a:avLst>
          </a:prstGeom>
          <a:solidFill>
            <a:srgbClr val="0E2A34"/>
          </a:solidFill>
          <a:ln w="9525">
            <a:solidFill>
              <a:srgbClr val="1E4A57"/>
            </a:solidFill>
            <a:prstDash val="solid"/>
          </a:ln>
        </p:spPr>
        <p:txBody>
          <a:bodyPr/>
          <a:lstStyle/>
          <a:p>
            <a:endParaRPr lang="en-AU"/>
          </a:p>
        </p:txBody>
      </p:sp>
      <p:sp>
        <p:nvSpPr>
          <p:cNvPr id="32" name="Text 26"/>
          <p:cNvSpPr/>
          <p:nvPr/>
        </p:nvSpPr>
        <p:spPr>
          <a:xfrm>
            <a:off x="7050024" y="5596128"/>
            <a:ext cx="2002536" cy="329184"/>
          </a:xfrm>
          <a:prstGeom prst="rect">
            <a:avLst/>
          </a:prstGeom>
          <a:noFill/>
          <a:ln/>
        </p:spPr>
        <p:txBody>
          <a:bodyPr wrap="square" lIns="0" tIns="0" rIns="0" bIns="0" rtlCol="0" anchor="ctr"/>
          <a:lstStyle/>
          <a:p>
            <a:pPr marL="0" indent="0" algn="ctr">
              <a:buNone/>
            </a:pPr>
            <a:r>
              <a:rPr lang="en-US" sz="1500" b="1" dirty="0">
                <a:solidFill>
                  <a:srgbClr val="FF8A70"/>
                </a:solidFill>
                <a:latin typeface="Calibri" pitchFamily="34" charset="0"/>
                <a:ea typeface="Calibri" pitchFamily="34" charset="-122"/>
                <a:cs typeface="Calibri" pitchFamily="34" charset="-120"/>
              </a:rPr>
              <a:t>50</a:t>
            </a:r>
            <a:endParaRPr lang="en-US" sz="1500" dirty="0"/>
          </a:p>
        </p:txBody>
      </p:sp>
      <p:sp>
        <p:nvSpPr>
          <p:cNvPr id="33" name="Text 27"/>
          <p:cNvSpPr/>
          <p:nvPr/>
        </p:nvSpPr>
        <p:spPr>
          <a:xfrm>
            <a:off x="7123176" y="5925312"/>
            <a:ext cx="1856232" cy="274320"/>
          </a:xfrm>
          <a:prstGeom prst="rect">
            <a:avLst/>
          </a:prstGeom>
          <a:noFill/>
          <a:ln/>
        </p:spPr>
        <p:txBody>
          <a:bodyPr wrap="square" lIns="0" tIns="0" rIns="0" bIns="0" rtlCol="0" anchor="ctr"/>
          <a:lstStyle/>
          <a:p>
            <a:pPr marL="0" indent="0" algn="ctr">
              <a:buNone/>
            </a:pPr>
            <a:r>
              <a:rPr lang="en-US" sz="870" dirty="0">
                <a:solidFill>
                  <a:srgbClr val="9DBAC3"/>
                </a:solidFill>
                <a:latin typeface="Calibri" pitchFamily="34" charset="0"/>
                <a:ea typeface="Calibri" pitchFamily="34" charset="-122"/>
                <a:cs typeface="Calibri" pitchFamily="34" charset="-120"/>
              </a:rPr>
              <a:t>free AI credits daily</a:t>
            </a:r>
            <a:endParaRPr lang="en-US" sz="870" dirty="0"/>
          </a:p>
        </p:txBody>
      </p:sp>
      <p:sp>
        <p:nvSpPr>
          <p:cNvPr id="34" name="Shape 28"/>
          <p:cNvSpPr/>
          <p:nvPr/>
        </p:nvSpPr>
        <p:spPr>
          <a:xfrm>
            <a:off x="9354312" y="1307592"/>
            <a:ext cx="2388556" cy="5020056"/>
          </a:xfrm>
          <a:prstGeom prst="roundRect">
            <a:avLst>
              <a:gd name="adj" fmla="val 4594"/>
            </a:avLst>
          </a:prstGeom>
          <a:solidFill>
            <a:srgbClr val="062028"/>
          </a:solidFill>
          <a:ln w="12700">
            <a:solidFill>
              <a:srgbClr val="1E4A57"/>
            </a:solidFill>
            <a:prstDash val="solid"/>
          </a:ln>
        </p:spPr>
        <p:txBody>
          <a:bodyPr/>
          <a:lstStyle/>
          <a:p>
            <a:endParaRPr lang="en-AU"/>
          </a:p>
        </p:txBody>
      </p:sp>
      <p:pic>
        <p:nvPicPr>
          <p:cNvPr id="35" name="Image 4" descr="C:\Users\lumin\Desktop\aquazerofit\docs\screenshots\07-coach.png"/>
          <p:cNvPicPr>
            <a:picLocks noChangeAspect="1"/>
          </p:cNvPicPr>
          <p:nvPr/>
        </p:nvPicPr>
        <p:blipFill>
          <a:blip r:embed="rId8"/>
          <a:stretch>
            <a:fillRect/>
          </a:stretch>
        </p:blipFill>
        <p:spPr>
          <a:xfrm>
            <a:off x="9418320" y="1371600"/>
            <a:ext cx="2260540" cy="48920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20</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4FD8F0"/>
                </a:solidFill>
                <a:latin typeface="Calibri" pitchFamily="34" charset="0"/>
                <a:ea typeface="Calibri" pitchFamily="34" charset="-122"/>
                <a:cs typeface="Calibri" pitchFamily="34" charset="-120"/>
              </a:rPr>
              <a:t>PLATFORM &amp; AI · UNDER THE HOOD   </a:t>
            </a:r>
            <a:r>
              <a:rPr lang="en-US" sz="1100" b="1" kern="0" spc="200" dirty="0">
                <a:solidFill>
                  <a:srgbClr val="9DBAC3"/>
                </a:solidFill>
                <a:latin typeface="Calibri" pitchFamily="34" charset="0"/>
                <a:ea typeface="Calibri" pitchFamily="34" charset="-122"/>
                <a:cs typeface="Calibri" pitchFamily="34" charset="-120"/>
              </a:rPr>
              <a:t>|   PRESENTER: TUNDJI WILLIAMS-FULWOOD</a:t>
            </a:r>
            <a:endParaRPr lang="en-US" sz="1100" dirty="0"/>
          </a:p>
        </p:txBody>
      </p:sp>
      <p:sp>
        <p:nvSpPr>
          <p:cNvPr id="5" name="Text 3"/>
          <p:cNvSpPr/>
          <p:nvPr/>
        </p:nvSpPr>
        <p:spPr>
          <a:xfrm>
            <a:off x="548640" y="566928"/>
            <a:ext cx="1106424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The gateway’s last line, and the classifier’s first</a:t>
            </a:r>
            <a:endParaRPr lang="en-US" sz="2600" dirty="0"/>
          </a:p>
        </p:txBody>
      </p:sp>
      <p:sp>
        <p:nvSpPr>
          <p:cNvPr id="6" name="Shape 4"/>
          <p:cNvSpPr/>
          <p:nvPr/>
        </p:nvSpPr>
        <p:spPr>
          <a:xfrm>
            <a:off x="548640" y="1463040"/>
            <a:ext cx="5532120" cy="4846320"/>
          </a:xfrm>
          <a:prstGeom prst="roundRect">
            <a:avLst>
              <a:gd name="adj" fmla="val 1698"/>
            </a:avLst>
          </a:prstGeom>
          <a:solidFill>
            <a:srgbClr val="04141B"/>
          </a:solidFill>
          <a:ln w="12700">
            <a:solidFill>
              <a:srgbClr val="1E4A57"/>
            </a:solidFill>
            <a:prstDash val="solid"/>
          </a:ln>
        </p:spPr>
        <p:txBody>
          <a:bodyPr/>
          <a:lstStyle/>
          <a:p>
            <a:endParaRPr lang="en-AU"/>
          </a:p>
        </p:txBody>
      </p:sp>
      <p:sp>
        <p:nvSpPr>
          <p:cNvPr id="7" name="Shape 5"/>
          <p:cNvSpPr/>
          <p:nvPr/>
        </p:nvSpPr>
        <p:spPr>
          <a:xfrm>
            <a:off x="749808" y="1645920"/>
            <a:ext cx="109728" cy="109728"/>
          </a:xfrm>
          <a:prstGeom prst="ellipse">
            <a:avLst/>
          </a:prstGeom>
          <a:solidFill>
            <a:srgbClr val="4FD8F0"/>
          </a:solidFill>
          <a:ln/>
        </p:spPr>
        <p:txBody>
          <a:bodyPr/>
          <a:lstStyle/>
          <a:p>
            <a:endParaRPr lang="en-AU"/>
          </a:p>
        </p:txBody>
      </p:sp>
      <p:sp>
        <p:nvSpPr>
          <p:cNvPr id="8" name="Text 6"/>
          <p:cNvSpPr/>
          <p:nvPr/>
        </p:nvSpPr>
        <p:spPr>
          <a:xfrm>
            <a:off x="950976" y="1554480"/>
            <a:ext cx="4983480" cy="292608"/>
          </a:xfrm>
          <a:prstGeom prst="rect">
            <a:avLst/>
          </a:prstGeom>
          <a:noFill/>
          <a:ln/>
        </p:spPr>
        <p:txBody>
          <a:bodyPr wrap="square" lIns="0" tIns="0" rIns="0" bIns="0" rtlCol="0" anchor="ctr"/>
          <a:lstStyle/>
          <a:p>
            <a:pPr marL="0" indent="0">
              <a:buNone/>
            </a:pPr>
            <a:r>
              <a:rPr lang="en-US" sz="900" dirty="0">
                <a:solidFill>
                  <a:srgbClr val="9DBAC3"/>
                </a:solidFill>
                <a:latin typeface="Courier New" pitchFamily="34" charset="0"/>
                <a:ea typeface="Courier New" pitchFamily="34" charset="-122"/>
                <a:cs typeface="Courier New" pitchFamily="34" charset="-120"/>
              </a:rPr>
              <a:t>apps/api/src/modules/ai/gateway.ts</a:t>
            </a:r>
            <a:endParaRPr lang="en-US" sz="900" dirty="0"/>
          </a:p>
        </p:txBody>
      </p:sp>
      <p:sp>
        <p:nvSpPr>
          <p:cNvPr id="9" name="Text 7"/>
          <p:cNvSpPr/>
          <p:nvPr/>
        </p:nvSpPr>
        <p:spPr>
          <a:xfrm>
            <a:off x="786384" y="1920240"/>
            <a:ext cx="5074920" cy="3712464"/>
          </a:xfrm>
          <a:prstGeom prst="rect">
            <a:avLst/>
          </a:prstGeom>
          <a:noFill/>
          <a:ln/>
        </p:spPr>
        <p:txBody>
          <a:bodyPr wrap="square" lIns="0" tIns="0" rIns="0" bIns="0" rtlCol="0" anchor="t"/>
          <a:lstStyle/>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outer: </a:t>
            </a:r>
            <a:r>
              <a:rPr lang="en-US" sz="950" b="1" dirty="0">
                <a:solidFill>
                  <a:srgbClr val="4FD8F0"/>
                </a:solidFill>
                <a:latin typeface="Courier New" pitchFamily="34" charset="0"/>
                <a:ea typeface="Courier New" pitchFamily="34" charset="-122"/>
                <a:cs typeface="Courier New" pitchFamily="34" charset="-120"/>
              </a:rPr>
              <a:t>for</a:t>
            </a: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const</a:t>
            </a:r>
            <a:r>
              <a:rPr lang="en-US" sz="950" dirty="0">
                <a:solidFill>
                  <a:srgbClr val="D9EAEF"/>
                </a:solidFill>
                <a:latin typeface="Courier New" pitchFamily="34" charset="0"/>
                <a:ea typeface="Courier New" pitchFamily="34" charset="-122"/>
                <a:cs typeface="Courier New" pitchFamily="34" charset="-120"/>
              </a:rPr>
              <a:t> provider </a:t>
            </a:r>
            <a:r>
              <a:rPr lang="en-US" sz="950" b="1" dirty="0">
                <a:solidFill>
                  <a:srgbClr val="4FD8F0"/>
                </a:solidFill>
                <a:latin typeface="Courier New" pitchFamily="34" charset="0"/>
                <a:ea typeface="Courier New" pitchFamily="34" charset="-122"/>
                <a:cs typeface="Courier New" pitchFamily="34" charset="-120"/>
              </a:rPr>
              <a:t>of</a:t>
            </a:r>
            <a:r>
              <a:rPr lang="en-US" sz="950" dirty="0">
                <a:solidFill>
                  <a:srgbClr val="D9EAEF"/>
                </a:solidFill>
                <a:latin typeface="Courier New" pitchFamily="34" charset="0"/>
                <a:ea typeface="Courier New" pitchFamily="34" charset="-122"/>
                <a:cs typeface="Courier New" pitchFamily="34" charset="-120"/>
              </a:rPr>
              <a:t> PROVIDERS)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const</a:t>
            </a:r>
            <a:r>
              <a:rPr lang="en-US" sz="950" dirty="0">
                <a:solidFill>
                  <a:srgbClr val="D9EAEF"/>
                </a:solidFill>
                <a:latin typeface="Courier New" pitchFamily="34" charset="0"/>
                <a:ea typeface="Courier New" pitchFamily="34" charset="-122"/>
                <a:cs typeface="Courier New" pitchFamily="34" charset="-120"/>
              </a:rPr>
              <a:t> credentialed = !!process.env[provider.keyEnv];</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if</a:t>
            </a:r>
            <a:r>
              <a:rPr lang="en-US" sz="950" dirty="0">
                <a:solidFill>
                  <a:srgbClr val="D9EAEF"/>
                </a:solidFill>
                <a:latin typeface="Courier New" pitchFamily="34" charset="0"/>
                <a:ea typeface="Courier New" pitchFamily="34" charset="-122"/>
                <a:cs typeface="Courier New" pitchFamily="34" charset="-120"/>
              </a:rPr>
              <a:t> (circuitIsOpen(provider.name)) </a:t>
            </a:r>
            <a:r>
              <a:rPr lang="en-US" sz="950" b="1" dirty="0">
                <a:solidFill>
                  <a:srgbClr val="4FD8F0"/>
                </a:solidFill>
                <a:latin typeface="Courier New" pitchFamily="34" charset="0"/>
                <a:ea typeface="Courier New" pitchFamily="34" charset="-122"/>
                <a:cs typeface="Courier New" pitchFamily="34" charset="-120"/>
              </a:rPr>
              <a:t>continue</a:t>
            </a:r>
            <a:r>
              <a:rPr lang="en-US" sz="950" dirty="0">
                <a:solidFill>
                  <a:srgbClr val="D9EAEF"/>
                </a:solidFill>
                <a:latin typeface="Courier New" pitchFamily="34" charset="0"/>
                <a:ea typeface="Courier New" pitchFamily="34" charset="-122"/>
                <a:cs typeface="Courier New" pitchFamily="34" charset="-120"/>
              </a:rPr>
              <a:t>;</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                     </a:t>
            </a:r>
            <a:r>
              <a:rPr lang="en-US" sz="950" dirty="0">
                <a:solidFill>
                  <a:srgbClr val="7A98A1"/>
                </a:solidFill>
                <a:latin typeface="Courier New" pitchFamily="34" charset="0"/>
                <a:ea typeface="Courier New" pitchFamily="34" charset="-122"/>
                <a:cs typeface="Courier New" pitchFamily="34" charset="-120"/>
              </a:rPr>
              <a:t>// retries w/ jittered backoff,</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dirty="0">
                <a:solidFill>
                  <a:srgbClr val="7A98A1"/>
                </a:solidFill>
                <a:latin typeface="Courier New" pitchFamily="34" charset="0"/>
                <a:ea typeface="Courier New" pitchFamily="34" charset="-122"/>
                <a:cs typeface="Courier New" pitchFamily="34" charset="-120"/>
              </a:rPr>
              <a:t>// one 12 s deadline overall</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Deterministic offline engine, the product must work</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with zero keys. It is never retried and never timed out:</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the eval runner and test suite depend on its output</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being byte-identical.</a:t>
            </a:r>
            <a:endParaRPr lang="en-US" sz="950" dirty="0"/>
          </a:p>
          <a:p>
            <a:pPr marL="0" indent="0">
              <a:lnSpc>
                <a:spcPct val="112000"/>
              </a:lnSpc>
              <a:buNone/>
            </a:pPr>
            <a:r>
              <a:rPr lang="en-US" sz="950" b="1" dirty="0">
                <a:solidFill>
                  <a:srgbClr val="4FD8F0"/>
                </a:solidFill>
                <a:latin typeface="Courier New" pitchFamily="34" charset="0"/>
                <a:ea typeface="Courier New" pitchFamily="34" charset="-122"/>
                <a:cs typeface="Courier New" pitchFamily="34" charset="-120"/>
              </a:rPr>
              <a:t>const</a:t>
            </a:r>
            <a:r>
              <a:rPr lang="en-US" sz="950" dirty="0">
                <a:solidFill>
                  <a:srgbClr val="D9EAEF"/>
                </a:solidFill>
                <a:latin typeface="Courier New" pitchFamily="34" charset="0"/>
                <a:ea typeface="Courier New" pitchFamily="34" charset="-122"/>
                <a:cs typeface="Courier New" pitchFamily="34" charset="-120"/>
              </a:rPr>
              <a:t> degraded = realProviderInPlay;</a:t>
            </a:r>
            <a:endParaRPr lang="en-US" sz="950" dirty="0"/>
          </a:p>
          <a:p>
            <a:pPr marL="0" indent="0">
              <a:lnSpc>
                <a:spcPct val="112000"/>
              </a:lnSpc>
              <a:buNone/>
            </a:pPr>
            <a:r>
              <a:rPr lang="en-US" sz="950" b="1" dirty="0">
                <a:solidFill>
                  <a:srgbClr val="4FD8F0"/>
                </a:solidFill>
                <a:latin typeface="Courier New" pitchFamily="34" charset="0"/>
                <a:ea typeface="Courier New" pitchFamily="34" charset="-122"/>
                <a:cs typeface="Courier New" pitchFamily="34" charset="-120"/>
              </a:rPr>
              <a:t>const</a:t>
            </a:r>
            <a:r>
              <a:rPr lang="en-US" sz="950" dirty="0">
                <a:solidFill>
                  <a:srgbClr val="D9EAEF"/>
                </a:solidFill>
                <a:latin typeface="Courier New" pitchFamily="34" charset="0"/>
                <a:ea typeface="Courier New" pitchFamily="34" charset="-122"/>
                <a:cs typeface="Courier New" pitchFamily="34" charset="-120"/>
              </a:rPr>
              <a:t> degradedReason = degraded</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 deadlineExceeded ? </a:t>
            </a:r>
            <a:r>
              <a:rPr lang="en-US" sz="950" dirty="0">
                <a:solidFill>
                  <a:srgbClr val="3DE8B0"/>
                </a:solidFill>
                <a:latin typeface="Courier New" pitchFamily="34" charset="0"/>
                <a:ea typeface="Courier New" pitchFamily="34" charset="-122"/>
                <a:cs typeface="Courier New" pitchFamily="34" charset="-120"/>
              </a:rPr>
              <a:t>'deadline_exceeded'</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 </a:t>
            </a:r>
            <a:r>
              <a:rPr lang="en-US" sz="950" dirty="0">
                <a:solidFill>
                  <a:srgbClr val="3DE8B0"/>
                </a:solidFill>
                <a:latin typeface="Courier New" pitchFamily="34" charset="0"/>
                <a:ea typeface="Courier New" pitchFamily="34" charset="-122"/>
                <a:cs typeface="Courier New" pitchFamily="34" charset="-120"/>
              </a:rPr>
              <a:t>'provider_failure'</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 </a:t>
            </a:r>
            <a:r>
              <a:rPr lang="en-US" sz="950" dirty="0">
                <a:solidFill>
                  <a:srgbClr val="FFC94D"/>
                </a:solidFill>
                <a:latin typeface="Courier New" pitchFamily="34" charset="0"/>
                <a:ea typeface="Courier New" pitchFamily="34" charset="-122"/>
                <a:cs typeface="Courier New" pitchFamily="34" charset="-120"/>
              </a:rPr>
              <a:t>undefined</a:t>
            </a:r>
            <a:r>
              <a:rPr lang="en-US" sz="950" dirty="0">
                <a:solidFill>
                  <a:srgbClr val="D9EAEF"/>
                </a:solidFill>
                <a:latin typeface="Courier New" pitchFamily="34" charset="0"/>
                <a:ea typeface="Courier New" pitchFamily="34" charset="-122"/>
                <a:cs typeface="Courier New" pitchFamily="34" charset="-120"/>
              </a:rPr>
              <a:t>;   </a:t>
            </a:r>
            <a:r>
              <a:rPr lang="en-US" sz="950" dirty="0">
                <a:solidFill>
                  <a:srgbClr val="7A98A1"/>
                </a:solidFill>
                <a:latin typeface="Courier New" pitchFamily="34" charset="0"/>
                <a:ea typeface="Courier New" pitchFamily="34" charset="-122"/>
                <a:cs typeface="Courier New" pitchFamily="34" charset="-120"/>
              </a:rPr>
              <a:t>// degraded ⇒ credit released</a:t>
            </a:r>
            <a:endParaRPr lang="en-US" sz="950" dirty="0"/>
          </a:p>
        </p:txBody>
      </p:sp>
      <p:sp>
        <p:nvSpPr>
          <p:cNvPr id="10" name="Text 8"/>
          <p:cNvSpPr/>
          <p:nvPr/>
        </p:nvSpPr>
        <p:spPr>
          <a:xfrm>
            <a:off x="786384" y="5705856"/>
            <a:ext cx="5074920" cy="512064"/>
          </a:xfrm>
          <a:prstGeom prst="rect">
            <a:avLst/>
          </a:prstGeom>
          <a:noFill/>
          <a:ln/>
        </p:spPr>
        <p:txBody>
          <a:bodyPr wrap="square" lIns="0" tIns="0" rIns="0" bIns="0" rtlCol="0" anchor="t"/>
          <a:lstStyle/>
          <a:p>
            <a:pPr marL="0" indent="0">
              <a:buNone/>
            </a:pPr>
            <a:r>
              <a:rPr lang="en-US" sz="750" b="1" kern="0" spc="150" dirty="0">
                <a:solidFill>
                  <a:srgbClr val="4FD8F0"/>
                </a:solidFill>
                <a:latin typeface="Calibri" pitchFamily="34" charset="0"/>
                <a:ea typeface="Calibri" pitchFamily="34" charset="-122"/>
                <a:cs typeface="Calibri" pitchFamily="34" charset="-120"/>
              </a:rPr>
              <a:t>WHY IT MATTERS   </a:t>
            </a:r>
            <a:r>
              <a:rPr lang="en-US" sz="950" dirty="0">
                <a:solidFill>
                  <a:srgbClr val="9DBAC3"/>
                </a:solidFill>
                <a:latin typeface="Calibri" pitchFamily="34" charset="0"/>
                <a:ea typeface="Calibri" pitchFamily="34" charset="-122"/>
                <a:cs typeface="Calibri" pitchFamily="34" charset="-120"/>
              </a:rPr>
              <a:t>Application code never names a vendor. Unplug every API key and this loop falls through to an engine that always answers, at no charge.</a:t>
            </a:r>
            <a:endParaRPr lang="en-US" sz="750" dirty="0"/>
          </a:p>
        </p:txBody>
      </p:sp>
      <p:sp>
        <p:nvSpPr>
          <p:cNvPr id="11" name="Shape 9"/>
          <p:cNvSpPr/>
          <p:nvPr/>
        </p:nvSpPr>
        <p:spPr>
          <a:xfrm>
            <a:off x="6309360" y="1463040"/>
            <a:ext cx="5349240" cy="4846320"/>
          </a:xfrm>
          <a:prstGeom prst="roundRect">
            <a:avLst>
              <a:gd name="adj" fmla="val 1698"/>
            </a:avLst>
          </a:prstGeom>
          <a:solidFill>
            <a:srgbClr val="04141B"/>
          </a:solidFill>
          <a:ln w="12700">
            <a:solidFill>
              <a:srgbClr val="1E4A57"/>
            </a:solidFill>
            <a:prstDash val="solid"/>
          </a:ln>
        </p:spPr>
        <p:txBody>
          <a:bodyPr/>
          <a:lstStyle/>
          <a:p>
            <a:endParaRPr lang="en-AU"/>
          </a:p>
        </p:txBody>
      </p:sp>
      <p:sp>
        <p:nvSpPr>
          <p:cNvPr id="12" name="Shape 10"/>
          <p:cNvSpPr/>
          <p:nvPr/>
        </p:nvSpPr>
        <p:spPr>
          <a:xfrm>
            <a:off x="6510528" y="1645920"/>
            <a:ext cx="109728" cy="109728"/>
          </a:xfrm>
          <a:prstGeom prst="ellipse">
            <a:avLst/>
          </a:prstGeom>
          <a:solidFill>
            <a:srgbClr val="4FD8F0"/>
          </a:solidFill>
          <a:ln/>
        </p:spPr>
        <p:txBody>
          <a:bodyPr/>
          <a:lstStyle/>
          <a:p>
            <a:endParaRPr lang="en-AU"/>
          </a:p>
        </p:txBody>
      </p:sp>
      <p:sp>
        <p:nvSpPr>
          <p:cNvPr id="13" name="Text 11"/>
          <p:cNvSpPr/>
          <p:nvPr/>
        </p:nvSpPr>
        <p:spPr>
          <a:xfrm>
            <a:off x="6711696" y="1554480"/>
            <a:ext cx="4800600" cy="292608"/>
          </a:xfrm>
          <a:prstGeom prst="rect">
            <a:avLst/>
          </a:prstGeom>
          <a:noFill/>
          <a:ln/>
        </p:spPr>
        <p:txBody>
          <a:bodyPr wrap="square" lIns="0" tIns="0" rIns="0" bIns="0" rtlCol="0" anchor="ctr"/>
          <a:lstStyle/>
          <a:p>
            <a:pPr marL="0" indent="0">
              <a:buNone/>
            </a:pPr>
            <a:r>
              <a:rPr lang="en-US" sz="900" dirty="0">
                <a:solidFill>
                  <a:srgbClr val="9DBAC3"/>
                </a:solidFill>
                <a:latin typeface="Courier New" pitchFamily="34" charset="0"/>
                <a:ea typeface="Courier New" pitchFamily="34" charset="-122"/>
                <a:cs typeface="Courier New" pitchFamily="34" charset="-120"/>
              </a:rPr>
              <a:t>apps/api/src/modules/ai/guardrails.ts</a:t>
            </a:r>
            <a:endParaRPr lang="en-US" sz="900" dirty="0"/>
          </a:p>
        </p:txBody>
      </p:sp>
      <p:sp>
        <p:nvSpPr>
          <p:cNvPr id="14" name="Text 12"/>
          <p:cNvSpPr/>
          <p:nvPr/>
        </p:nvSpPr>
        <p:spPr>
          <a:xfrm>
            <a:off x="6547104" y="1920240"/>
            <a:ext cx="4892040" cy="3712464"/>
          </a:xfrm>
          <a:prstGeom prst="rect">
            <a:avLst/>
          </a:prstGeom>
          <a:noFill/>
          <a:ln/>
        </p:spPr>
        <p:txBody>
          <a:bodyPr wrap="square" lIns="0" tIns="0" rIns="0" bIns="0" rtlCol="0" anchor="t"/>
          <a:lstStyle/>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Pure classifier, no I/O, usable from tests and eval</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runners. Priority: crisis &gt; medical &gt; extremeDiet. */</a:t>
            </a:r>
            <a:endParaRPr lang="en-US" sz="950" dirty="0"/>
          </a:p>
          <a:p>
            <a:pPr marL="0" indent="0">
              <a:lnSpc>
                <a:spcPct val="112000"/>
              </a:lnSpc>
              <a:buNone/>
            </a:pPr>
            <a:r>
              <a:rPr lang="en-US" sz="950" b="1" dirty="0">
                <a:solidFill>
                  <a:srgbClr val="4FD8F0"/>
                </a:solidFill>
                <a:latin typeface="Courier New" pitchFamily="34" charset="0"/>
                <a:ea typeface="Courier New" pitchFamily="34" charset="-122"/>
                <a:cs typeface="Courier New" pitchFamily="34" charset="-120"/>
              </a:rPr>
              <a:t>const</a:t>
            </a:r>
            <a:r>
              <a:rPr lang="en-US" sz="950" dirty="0">
                <a:solidFill>
                  <a:srgbClr val="D9EAEF"/>
                </a:solidFill>
                <a:latin typeface="Courier New" pitchFamily="34" charset="0"/>
                <a:ea typeface="Courier New" pitchFamily="34" charset="-122"/>
                <a:cs typeface="Courier New" pitchFamily="34" charset="-120"/>
              </a:rPr>
              <a:t> crisis = findMatch(text, CRISIS_PATTERNS);</a:t>
            </a:r>
            <a:endParaRPr lang="en-US" sz="950" dirty="0"/>
          </a:p>
          <a:p>
            <a:pPr marL="0" indent="0">
              <a:lnSpc>
                <a:spcPct val="112000"/>
              </a:lnSpc>
              <a:buNone/>
            </a:pPr>
            <a:r>
              <a:rPr lang="en-US" sz="950" b="1" dirty="0">
                <a:solidFill>
                  <a:srgbClr val="4FD8F0"/>
                </a:solidFill>
                <a:latin typeface="Courier New" pitchFamily="34" charset="0"/>
                <a:ea typeface="Courier New" pitchFamily="34" charset="-122"/>
                <a:cs typeface="Courier New" pitchFamily="34" charset="-120"/>
              </a:rPr>
              <a:t>if</a:t>
            </a:r>
            <a:r>
              <a:rPr lang="en-US" sz="950" dirty="0">
                <a:solidFill>
                  <a:srgbClr val="D9EAEF"/>
                </a:solidFill>
                <a:latin typeface="Courier New" pitchFamily="34" charset="0"/>
                <a:ea typeface="Courier New" pitchFamily="34" charset="-122"/>
                <a:cs typeface="Courier New" pitchFamily="34" charset="-120"/>
              </a:rPr>
              <a:t> (crisis) </a:t>
            </a:r>
            <a:r>
              <a:rPr lang="en-US" sz="950" b="1" dirty="0">
                <a:solidFill>
                  <a:srgbClr val="4FD8F0"/>
                </a:solidFill>
                <a:latin typeface="Courier New" pitchFamily="34" charset="0"/>
                <a:ea typeface="Courier New" pitchFamily="34" charset="-122"/>
                <a:cs typeface="Courier New" pitchFamily="34" charset="-120"/>
              </a:rPr>
              <a:t>return</a:t>
            </a:r>
            <a:r>
              <a:rPr lang="en-US" sz="950" dirty="0">
                <a:solidFill>
                  <a:srgbClr val="D9EAEF"/>
                </a:solidFill>
                <a:latin typeface="Courier New" pitchFamily="34" charset="0"/>
                <a:ea typeface="Courier New" pitchFamily="34" charset="-122"/>
                <a:cs typeface="Courier New" pitchFamily="34" charset="-120"/>
              </a:rPr>
              <a:t> { category: </a:t>
            </a:r>
            <a:r>
              <a:rPr lang="en-US" sz="950" dirty="0">
                <a:solidFill>
                  <a:srgbClr val="3DE8B0"/>
                </a:solidFill>
                <a:latin typeface="Courier New" pitchFamily="34" charset="0"/>
                <a:ea typeface="Courier New" pitchFamily="34" charset="-122"/>
                <a:cs typeface="Courier New" pitchFamily="34" charset="-120"/>
              </a:rPr>
              <a:t>'crisis'</a:t>
            </a:r>
            <a:r>
              <a:rPr lang="en-US" sz="950" dirty="0">
                <a:solidFill>
                  <a:srgbClr val="D9EAEF"/>
                </a:solidFill>
                <a:latin typeface="Courier New" pitchFamily="34" charset="0"/>
                <a:ea typeface="Courier New" pitchFamily="34" charset="-122"/>
                <a:cs typeface="Courier New" pitchFamily="34" charset="-120"/>
              </a:rPr>
              <a:t>, ...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b="1" dirty="0">
                <a:solidFill>
                  <a:srgbClr val="4FD8F0"/>
                </a:solidFill>
                <a:latin typeface="Courier New" pitchFamily="34" charset="0"/>
                <a:ea typeface="Courier New" pitchFamily="34" charset="-122"/>
                <a:cs typeface="Courier New" pitchFamily="34" charset="-120"/>
              </a:rPr>
              <a:t>const</a:t>
            </a:r>
            <a:r>
              <a:rPr lang="en-US" sz="950" dirty="0">
                <a:solidFill>
                  <a:srgbClr val="D9EAEF"/>
                </a:solidFill>
                <a:latin typeface="Courier New" pitchFamily="34" charset="0"/>
                <a:ea typeface="Courier New" pitchFamily="34" charset="-122"/>
                <a:cs typeface="Courier New" pitchFamily="34" charset="-120"/>
              </a:rPr>
              <a:t> medical = findMatch(text, MEDICAL_PATTERNS);</a:t>
            </a:r>
            <a:endParaRPr lang="en-US" sz="950" dirty="0"/>
          </a:p>
          <a:p>
            <a:pPr marL="0" indent="0">
              <a:lnSpc>
                <a:spcPct val="112000"/>
              </a:lnSpc>
              <a:buNone/>
            </a:pPr>
            <a:r>
              <a:rPr lang="en-US" sz="950" b="1" dirty="0">
                <a:solidFill>
                  <a:srgbClr val="4FD8F0"/>
                </a:solidFill>
                <a:latin typeface="Courier New" pitchFamily="34" charset="0"/>
                <a:ea typeface="Courier New" pitchFamily="34" charset="-122"/>
                <a:cs typeface="Courier New" pitchFamily="34" charset="-120"/>
              </a:rPr>
              <a:t>if</a:t>
            </a:r>
            <a:r>
              <a:rPr lang="en-US" sz="950" dirty="0">
                <a:solidFill>
                  <a:srgbClr val="D9EAEF"/>
                </a:solidFill>
                <a:latin typeface="Courier New" pitchFamily="34" charset="0"/>
                <a:ea typeface="Courier New" pitchFamily="34" charset="-122"/>
                <a:cs typeface="Courier New" pitchFamily="34" charset="-120"/>
              </a:rPr>
              <a:t> (medical) </a:t>
            </a:r>
            <a:r>
              <a:rPr lang="en-US" sz="950" b="1" dirty="0">
                <a:solidFill>
                  <a:srgbClr val="4FD8F0"/>
                </a:solidFill>
                <a:latin typeface="Courier New" pitchFamily="34" charset="0"/>
                <a:ea typeface="Courier New" pitchFamily="34" charset="-122"/>
                <a:cs typeface="Courier New" pitchFamily="34" charset="-120"/>
              </a:rPr>
              <a:t>return</a:t>
            </a:r>
            <a:r>
              <a:rPr lang="en-US" sz="950" dirty="0">
                <a:solidFill>
                  <a:srgbClr val="D9EAEF"/>
                </a:solidFill>
                <a:latin typeface="Courier New" pitchFamily="34" charset="0"/>
                <a:ea typeface="Courier New" pitchFamily="34" charset="-122"/>
                <a:cs typeface="Courier New" pitchFamily="34" charset="-120"/>
              </a:rPr>
              <a:t> { category: </a:t>
            </a:r>
            <a:r>
              <a:rPr lang="en-US" sz="950" dirty="0">
                <a:solidFill>
                  <a:srgbClr val="3DE8B0"/>
                </a:solidFill>
                <a:latin typeface="Courier New" pitchFamily="34" charset="0"/>
                <a:ea typeface="Courier New" pitchFamily="34" charset="-122"/>
                <a:cs typeface="Courier New" pitchFamily="34" charset="-120"/>
              </a:rPr>
              <a:t>'medical'</a:t>
            </a:r>
            <a:r>
              <a:rPr lang="en-US" sz="950" dirty="0">
                <a:solidFill>
                  <a:srgbClr val="D9EAEF"/>
                </a:solidFill>
                <a:latin typeface="Courier New" pitchFamily="34" charset="0"/>
                <a:ea typeface="Courier New" pitchFamily="34" charset="-122"/>
                <a:cs typeface="Courier New" pitchFamily="34" charset="-120"/>
              </a:rPr>
              <a:t>, ...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b="1" dirty="0">
                <a:solidFill>
                  <a:srgbClr val="4FD8F0"/>
                </a:solidFill>
                <a:latin typeface="Courier New" pitchFamily="34" charset="0"/>
                <a:ea typeface="Courier New" pitchFamily="34" charset="-122"/>
                <a:cs typeface="Courier New" pitchFamily="34" charset="-120"/>
              </a:rPr>
              <a:t>if</a:t>
            </a:r>
            <a:r>
              <a:rPr lang="en-US" sz="950" dirty="0">
                <a:solidFill>
                  <a:srgbClr val="D9EAEF"/>
                </a:solidFill>
                <a:latin typeface="Courier New" pitchFamily="34" charset="0"/>
                <a:ea typeface="Courier New" pitchFamily="34" charset="-122"/>
                <a:cs typeface="Courier New" pitchFamily="34" charset="-120"/>
              </a:rPr>
              <a:t> (hasSubFloorTarget(text)) {   </a:t>
            </a:r>
            <a:r>
              <a:rPr lang="en-US" sz="950" dirty="0">
                <a:solidFill>
                  <a:srgbClr val="7A98A1"/>
                </a:solidFill>
                <a:latin typeface="Courier New" pitchFamily="34" charset="0"/>
                <a:ea typeface="Courier New" pitchFamily="34" charset="-122"/>
                <a:cs typeface="Courier New" pitchFamily="34" charset="-120"/>
              </a:rPr>
              <a:t>// "600 kcal a day"</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return</a:t>
            </a:r>
            <a:r>
              <a:rPr lang="en-US" sz="950" dirty="0">
                <a:solidFill>
                  <a:srgbClr val="D9EAEF"/>
                </a:solidFill>
                <a:latin typeface="Courier New" pitchFamily="34" charset="0"/>
                <a:ea typeface="Courier New" pitchFamily="34" charset="-122"/>
                <a:cs typeface="Courier New" pitchFamily="34" charset="-120"/>
              </a:rPr>
              <a:t> { category: </a:t>
            </a:r>
            <a:r>
              <a:rPr lang="en-US" sz="950" dirty="0">
                <a:solidFill>
                  <a:srgbClr val="3DE8B0"/>
                </a:solidFill>
                <a:latin typeface="Courier New" pitchFamily="34" charset="0"/>
                <a:ea typeface="Courier New" pitchFamily="34" charset="-122"/>
                <a:cs typeface="Courier New" pitchFamily="34" charset="-120"/>
              </a:rPr>
              <a:t>'extremeDiet'</a:t>
            </a:r>
            <a:r>
              <a:rPr lang="en-US" sz="950" dirty="0">
                <a:solidFill>
                  <a:srgbClr val="D9EAEF"/>
                </a:solidFill>
                <a:latin typeface="Courier New" pitchFamily="34" charset="0"/>
                <a:ea typeface="Courier New" pitchFamily="34" charset="-122"/>
                <a:cs typeface="Courier New" pitchFamily="34" charset="-120"/>
              </a:rPr>
              <a:t>, ...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A pure instruction-override attempt with no unsafe</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payload is still refused: the assistant never</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renegotiates its scope.</a:t>
            </a:r>
            <a:endParaRPr lang="en-US" sz="950" dirty="0"/>
          </a:p>
          <a:p>
            <a:pPr marL="0" indent="0">
              <a:lnSpc>
                <a:spcPct val="112000"/>
              </a:lnSpc>
              <a:buNone/>
            </a:pPr>
            <a:r>
              <a:rPr lang="en-US" sz="950" b="1" dirty="0">
                <a:solidFill>
                  <a:srgbClr val="4FD8F0"/>
                </a:solidFill>
                <a:latin typeface="Courier New" pitchFamily="34" charset="0"/>
                <a:ea typeface="Courier New" pitchFamily="34" charset="-122"/>
                <a:cs typeface="Courier New" pitchFamily="34" charset="-120"/>
              </a:rPr>
              <a:t>if</a:t>
            </a:r>
            <a:r>
              <a:rPr lang="en-US" sz="950" dirty="0">
                <a:solidFill>
                  <a:srgbClr val="D9EAEF"/>
                </a:solidFill>
                <a:latin typeface="Courier New" pitchFamily="34" charset="0"/>
                <a:ea typeface="Courier New" pitchFamily="34" charset="-122"/>
                <a:cs typeface="Courier New" pitchFamily="34" charset="-120"/>
              </a:rPr>
              <a:t> (jailbreak) </a:t>
            </a:r>
            <a:r>
              <a:rPr lang="en-US" sz="950" b="1" dirty="0">
                <a:solidFill>
                  <a:srgbClr val="4FD8F0"/>
                </a:solidFill>
                <a:latin typeface="Courier New" pitchFamily="34" charset="0"/>
                <a:ea typeface="Courier New" pitchFamily="34" charset="-122"/>
                <a:cs typeface="Courier New" pitchFamily="34" charset="-120"/>
              </a:rPr>
              <a:t>return</a:t>
            </a:r>
            <a:r>
              <a:rPr lang="en-US" sz="950" dirty="0">
                <a:solidFill>
                  <a:srgbClr val="D9EAEF"/>
                </a:solidFill>
                <a:latin typeface="Courier New" pitchFamily="34" charset="0"/>
                <a:ea typeface="Courier New" pitchFamily="34" charset="-122"/>
                <a:cs typeface="Courier New" pitchFamily="34" charset="-120"/>
              </a:rPr>
              <a:t> { category: </a:t>
            </a:r>
            <a:r>
              <a:rPr lang="en-US" sz="950" dirty="0">
                <a:solidFill>
                  <a:srgbClr val="3DE8B0"/>
                </a:solidFill>
                <a:latin typeface="Courier New" pitchFamily="34" charset="0"/>
                <a:ea typeface="Courier New" pitchFamily="34" charset="-122"/>
                <a:cs typeface="Courier New" pitchFamily="34" charset="-120"/>
              </a:rPr>
              <a:t>'outOfScope'</a:t>
            </a:r>
            <a:r>
              <a:rPr lang="en-US" sz="950" dirty="0">
                <a:solidFill>
                  <a:srgbClr val="D9EAEF"/>
                </a:solidFill>
                <a:latin typeface="Courier New" pitchFamily="34" charset="0"/>
                <a:ea typeface="Courier New" pitchFamily="34" charset="-122"/>
                <a:cs typeface="Courier New" pitchFamily="34" charset="-120"/>
              </a:rPr>
              <a:t>, ... };</a:t>
            </a:r>
            <a:endParaRPr lang="en-US" sz="950" dirty="0"/>
          </a:p>
        </p:txBody>
      </p:sp>
      <p:sp>
        <p:nvSpPr>
          <p:cNvPr id="15" name="Text 13"/>
          <p:cNvSpPr/>
          <p:nvPr/>
        </p:nvSpPr>
        <p:spPr>
          <a:xfrm>
            <a:off x="6547104" y="5705856"/>
            <a:ext cx="4892040" cy="512064"/>
          </a:xfrm>
          <a:prstGeom prst="rect">
            <a:avLst/>
          </a:prstGeom>
          <a:noFill/>
          <a:ln/>
        </p:spPr>
        <p:txBody>
          <a:bodyPr wrap="square" lIns="0" tIns="0" rIns="0" bIns="0" rtlCol="0" anchor="t"/>
          <a:lstStyle/>
          <a:p>
            <a:pPr marL="0" indent="0">
              <a:buNone/>
            </a:pPr>
            <a:r>
              <a:rPr lang="en-US" sz="750" b="1" kern="0" spc="150" dirty="0">
                <a:solidFill>
                  <a:srgbClr val="4FD8F0"/>
                </a:solidFill>
                <a:latin typeface="Calibri" pitchFamily="34" charset="0"/>
                <a:ea typeface="Calibri" pitchFamily="34" charset="-122"/>
                <a:cs typeface="Calibri" pitchFamily="34" charset="-120"/>
              </a:rPr>
              <a:t>WHY IT MATTERS   </a:t>
            </a:r>
            <a:r>
              <a:rPr lang="en-US" sz="950" dirty="0">
                <a:solidFill>
                  <a:srgbClr val="9DBAC3"/>
                </a:solidFill>
                <a:latin typeface="Calibri" pitchFamily="34" charset="0"/>
                <a:ea typeface="Calibri" pitchFamily="34" charset="-122"/>
                <a:cs typeface="Calibri" pitchFamily="34" charset="-120"/>
              </a:rPr>
              <a:t>The priority order IS the code order: crisis returns first, so nothing can pre-empt it. This function runs before any credit is spent on a model.</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21</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4FD8F0"/>
                </a:solidFill>
                <a:latin typeface="Calibri" pitchFamily="34" charset="0"/>
                <a:ea typeface="Calibri" pitchFamily="34" charset="-122"/>
                <a:cs typeface="Calibri" pitchFamily="34" charset="-120"/>
              </a:rPr>
              <a:t>ENGINEERING QUALITY   </a:t>
            </a:r>
            <a:r>
              <a:rPr lang="en-US" sz="1100" b="1" kern="0" spc="200" dirty="0">
                <a:solidFill>
                  <a:srgbClr val="9DBAC3"/>
                </a:solidFill>
                <a:latin typeface="Calibri" pitchFamily="34" charset="0"/>
                <a:ea typeface="Calibri" pitchFamily="34" charset="-122"/>
                <a:cs typeface="Calibri" pitchFamily="34" charset="-120"/>
              </a:rPr>
              <a:t>|   PRESENTER: TUNDJI WILLIAMS-FULWOOD</a:t>
            </a:r>
            <a:endParaRPr lang="en-US" sz="1100" dirty="0"/>
          </a:p>
        </p:txBody>
      </p:sp>
      <p:sp>
        <p:nvSpPr>
          <p:cNvPr id="5" name="Text 3"/>
          <p:cNvSpPr/>
          <p:nvPr/>
        </p:nvSpPr>
        <p:spPr>
          <a:xfrm>
            <a:off x="548640" y="566928"/>
            <a:ext cx="1106424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How we know all of this is true</a:t>
            </a:r>
            <a:endParaRPr lang="en-US" sz="2600" dirty="0"/>
          </a:p>
        </p:txBody>
      </p:sp>
      <p:sp>
        <p:nvSpPr>
          <p:cNvPr id="6" name="Shape 4"/>
          <p:cNvSpPr/>
          <p:nvPr/>
        </p:nvSpPr>
        <p:spPr>
          <a:xfrm>
            <a:off x="548640" y="1517904"/>
            <a:ext cx="2697480" cy="1417320"/>
          </a:xfrm>
          <a:prstGeom prst="roundRect">
            <a:avLst>
              <a:gd name="adj" fmla="val 6452"/>
            </a:avLst>
          </a:prstGeom>
          <a:solidFill>
            <a:srgbClr val="0E2A34"/>
          </a:solidFill>
          <a:ln w="12700">
            <a:solidFill>
              <a:srgbClr val="1E4A57"/>
            </a:solidFill>
            <a:prstDash val="solid"/>
          </a:ln>
        </p:spPr>
        <p:txBody>
          <a:bodyPr/>
          <a:lstStyle/>
          <a:p>
            <a:endParaRPr lang="en-AU"/>
          </a:p>
        </p:txBody>
      </p:sp>
      <p:sp>
        <p:nvSpPr>
          <p:cNvPr id="7" name="Text 5"/>
          <p:cNvSpPr/>
          <p:nvPr/>
        </p:nvSpPr>
        <p:spPr>
          <a:xfrm>
            <a:off x="548640" y="1664208"/>
            <a:ext cx="2697480" cy="603504"/>
          </a:xfrm>
          <a:prstGeom prst="rect">
            <a:avLst/>
          </a:prstGeom>
          <a:noFill/>
          <a:ln/>
        </p:spPr>
        <p:txBody>
          <a:bodyPr wrap="square" lIns="0" tIns="0" rIns="0" bIns="0" rtlCol="0" anchor="ctr"/>
          <a:lstStyle/>
          <a:p>
            <a:pPr marL="0" indent="0" algn="ctr">
              <a:buNone/>
            </a:pPr>
            <a:r>
              <a:rPr lang="en-US" sz="3000" b="1" dirty="0">
                <a:solidFill>
                  <a:srgbClr val="4FD8F0"/>
                </a:solidFill>
                <a:latin typeface="Calibri" pitchFamily="34" charset="0"/>
                <a:ea typeface="Calibri" pitchFamily="34" charset="-122"/>
                <a:cs typeface="Calibri" pitchFamily="34" charset="-120"/>
              </a:rPr>
              <a:t>806</a:t>
            </a:r>
            <a:endParaRPr lang="en-US" sz="3000" dirty="0"/>
          </a:p>
        </p:txBody>
      </p:sp>
      <p:sp>
        <p:nvSpPr>
          <p:cNvPr id="8" name="Text 6"/>
          <p:cNvSpPr/>
          <p:nvPr/>
        </p:nvSpPr>
        <p:spPr>
          <a:xfrm>
            <a:off x="685800" y="2286000"/>
            <a:ext cx="2423160" cy="502920"/>
          </a:xfrm>
          <a:prstGeom prst="rect">
            <a:avLst/>
          </a:prstGeom>
          <a:noFill/>
          <a:ln/>
        </p:spPr>
        <p:txBody>
          <a:bodyPr wrap="square" lIns="0" tIns="0" rIns="0" bIns="0" rtlCol="0" anchor="ctr"/>
          <a:lstStyle/>
          <a:p>
            <a:pPr marL="0" indent="0" algn="ctr">
              <a:buNone/>
            </a:pPr>
            <a:r>
              <a:rPr lang="en-US" sz="1050" dirty="0">
                <a:solidFill>
                  <a:srgbClr val="9DBAC3"/>
                </a:solidFill>
                <a:latin typeface="Calibri" pitchFamily="34" charset="0"/>
                <a:ea typeface="Calibri" pitchFamily="34" charset="-122"/>
                <a:cs typeface="Calibri" pitchFamily="34" charset="-120"/>
              </a:rPr>
              <a:t>automated tests, all passing</a:t>
            </a:r>
            <a:endParaRPr lang="en-US" sz="1050" dirty="0"/>
          </a:p>
        </p:txBody>
      </p:sp>
      <p:sp>
        <p:nvSpPr>
          <p:cNvPr id="9" name="Shape 7"/>
          <p:cNvSpPr/>
          <p:nvPr/>
        </p:nvSpPr>
        <p:spPr>
          <a:xfrm>
            <a:off x="3410712" y="1517904"/>
            <a:ext cx="2697480" cy="1417320"/>
          </a:xfrm>
          <a:prstGeom prst="roundRect">
            <a:avLst>
              <a:gd name="adj" fmla="val 6452"/>
            </a:avLst>
          </a:prstGeom>
          <a:solidFill>
            <a:srgbClr val="0E2A34"/>
          </a:solidFill>
          <a:ln w="12700">
            <a:solidFill>
              <a:srgbClr val="1E4A57"/>
            </a:solidFill>
            <a:prstDash val="solid"/>
          </a:ln>
        </p:spPr>
        <p:txBody>
          <a:bodyPr/>
          <a:lstStyle/>
          <a:p>
            <a:endParaRPr lang="en-AU"/>
          </a:p>
        </p:txBody>
      </p:sp>
      <p:sp>
        <p:nvSpPr>
          <p:cNvPr id="10" name="Text 8"/>
          <p:cNvSpPr/>
          <p:nvPr/>
        </p:nvSpPr>
        <p:spPr>
          <a:xfrm>
            <a:off x="3410712" y="1664208"/>
            <a:ext cx="2697480" cy="603504"/>
          </a:xfrm>
          <a:prstGeom prst="rect">
            <a:avLst/>
          </a:prstGeom>
          <a:noFill/>
          <a:ln/>
        </p:spPr>
        <p:txBody>
          <a:bodyPr wrap="square" lIns="0" tIns="0" rIns="0" bIns="0" rtlCol="0" anchor="ctr"/>
          <a:lstStyle/>
          <a:p>
            <a:pPr marL="0" indent="0" algn="ctr">
              <a:buNone/>
            </a:pPr>
            <a:r>
              <a:rPr lang="en-US" sz="3000" b="1" dirty="0">
                <a:solidFill>
                  <a:srgbClr val="3DE8B0"/>
                </a:solidFill>
                <a:latin typeface="Calibri" pitchFamily="34" charset="0"/>
                <a:ea typeface="Calibri" pitchFamily="34" charset="-122"/>
                <a:cs typeface="Calibri" pitchFamily="34" charset="-120"/>
              </a:rPr>
              <a:t>650 + 156</a:t>
            </a:r>
            <a:endParaRPr lang="en-US" sz="3000" dirty="0"/>
          </a:p>
        </p:txBody>
      </p:sp>
      <p:sp>
        <p:nvSpPr>
          <p:cNvPr id="11" name="Text 9"/>
          <p:cNvSpPr/>
          <p:nvPr/>
        </p:nvSpPr>
        <p:spPr>
          <a:xfrm>
            <a:off x="3547872" y="2286000"/>
            <a:ext cx="2423160" cy="502920"/>
          </a:xfrm>
          <a:prstGeom prst="rect">
            <a:avLst/>
          </a:prstGeom>
          <a:noFill/>
          <a:ln/>
        </p:spPr>
        <p:txBody>
          <a:bodyPr wrap="square" lIns="0" tIns="0" rIns="0" bIns="0" rtlCol="0" anchor="ctr"/>
          <a:lstStyle/>
          <a:p>
            <a:pPr marL="0" indent="0" algn="ctr">
              <a:buNone/>
            </a:pPr>
            <a:r>
              <a:rPr lang="en-US" sz="1050" dirty="0">
                <a:solidFill>
                  <a:srgbClr val="9DBAC3"/>
                </a:solidFill>
                <a:latin typeface="Calibri" pitchFamily="34" charset="0"/>
                <a:ea typeface="Calibri" pitchFamily="34" charset="-122"/>
                <a:cs typeface="Calibri" pitchFamily="34" charset="-120"/>
              </a:rPr>
              <a:t>API tests (54 files) + web tests (24 files)</a:t>
            </a:r>
            <a:endParaRPr lang="en-US" sz="1050" dirty="0"/>
          </a:p>
        </p:txBody>
      </p:sp>
      <p:sp>
        <p:nvSpPr>
          <p:cNvPr id="12" name="Shape 10"/>
          <p:cNvSpPr/>
          <p:nvPr/>
        </p:nvSpPr>
        <p:spPr>
          <a:xfrm>
            <a:off x="6272784" y="1517904"/>
            <a:ext cx="2697480" cy="1417320"/>
          </a:xfrm>
          <a:prstGeom prst="roundRect">
            <a:avLst>
              <a:gd name="adj" fmla="val 6452"/>
            </a:avLst>
          </a:prstGeom>
          <a:solidFill>
            <a:srgbClr val="0E2A34"/>
          </a:solidFill>
          <a:ln w="12700">
            <a:solidFill>
              <a:srgbClr val="1E4A57"/>
            </a:solidFill>
            <a:prstDash val="solid"/>
          </a:ln>
        </p:spPr>
        <p:txBody>
          <a:bodyPr/>
          <a:lstStyle/>
          <a:p>
            <a:endParaRPr lang="en-AU"/>
          </a:p>
        </p:txBody>
      </p:sp>
      <p:sp>
        <p:nvSpPr>
          <p:cNvPr id="13" name="Text 11"/>
          <p:cNvSpPr/>
          <p:nvPr/>
        </p:nvSpPr>
        <p:spPr>
          <a:xfrm>
            <a:off x="6272784" y="1664208"/>
            <a:ext cx="2697480" cy="603504"/>
          </a:xfrm>
          <a:prstGeom prst="rect">
            <a:avLst/>
          </a:prstGeom>
          <a:noFill/>
          <a:ln/>
        </p:spPr>
        <p:txBody>
          <a:bodyPr wrap="square" lIns="0" tIns="0" rIns="0" bIns="0" rtlCol="0" anchor="ctr"/>
          <a:lstStyle/>
          <a:p>
            <a:pPr marL="0" indent="0" algn="ctr">
              <a:buNone/>
            </a:pPr>
            <a:r>
              <a:rPr lang="en-US" sz="3000" b="1" dirty="0">
                <a:solidFill>
                  <a:srgbClr val="FFC94D"/>
                </a:solidFill>
                <a:latin typeface="Calibri" pitchFamily="34" charset="0"/>
                <a:ea typeface="Calibri" pitchFamily="34" charset="-122"/>
                <a:cs typeface="Calibri" pitchFamily="34" charset="-120"/>
              </a:rPr>
              <a:t>12</a:t>
            </a:r>
            <a:endParaRPr lang="en-US" sz="3000" dirty="0"/>
          </a:p>
        </p:txBody>
      </p:sp>
      <p:sp>
        <p:nvSpPr>
          <p:cNvPr id="14" name="Text 12"/>
          <p:cNvSpPr/>
          <p:nvPr/>
        </p:nvSpPr>
        <p:spPr>
          <a:xfrm>
            <a:off x="6409944" y="2286000"/>
            <a:ext cx="2423160" cy="502920"/>
          </a:xfrm>
          <a:prstGeom prst="rect">
            <a:avLst/>
          </a:prstGeom>
          <a:noFill/>
          <a:ln/>
        </p:spPr>
        <p:txBody>
          <a:bodyPr wrap="square" lIns="0" tIns="0" rIns="0" bIns="0" rtlCol="0" anchor="ctr"/>
          <a:lstStyle/>
          <a:p>
            <a:pPr marL="0" indent="0" algn="ctr">
              <a:buNone/>
            </a:pPr>
            <a:r>
              <a:rPr lang="en-US" sz="1050" dirty="0">
                <a:solidFill>
                  <a:srgbClr val="9DBAC3"/>
                </a:solidFill>
                <a:latin typeface="Calibri" pitchFamily="34" charset="0"/>
                <a:ea typeface="Calibri" pitchFamily="34" charset="-122"/>
                <a:cs typeface="Calibri" pitchFamily="34" charset="-120"/>
              </a:rPr>
              <a:t>versioned prompt files</a:t>
            </a:r>
            <a:endParaRPr lang="en-US" sz="1050" dirty="0"/>
          </a:p>
        </p:txBody>
      </p:sp>
      <p:sp>
        <p:nvSpPr>
          <p:cNvPr id="15" name="Shape 13"/>
          <p:cNvSpPr/>
          <p:nvPr/>
        </p:nvSpPr>
        <p:spPr>
          <a:xfrm>
            <a:off x="9134856" y="1517904"/>
            <a:ext cx="2697480" cy="1417320"/>
          </a:xfrm>
          <a:prstGeom prst="roundRect">
            <a:avLst>
              <a:gd name="adj" fmla="val 6452"/>
            </a:avLst>
          </a:prstGeom>
          <a:solidFill>
            <a:srgbClr val="0E2A34"/>
          </a:solidFill>
          <a:ln w="12700">
            <a:solidFill>
              <a:srgbClr val="1E4A57"/>
            </a:solidFill>
            <a:prstDash val="solid"/>
          </a:ln>
        </p:spPr>
        <p:txBody>
          <a:bodyPr/>
          <a:lstStyle/>
          <a:p>
            <a:endParaRPr lang="en-AU"/>
          </a:p>
        </p:txBody>
      </p:sp>
      <p:sp>
        <p:nvSpPr>
          <p:cNvPr id="16" name="Text 14"/>
          <p:cNvSpPr/>
          <p:nvPr/>
        </p:nvSpPr>
        <p:spPr>
          <a:xfrm>
            <a:off x="9134856" y="1664208"/>
            <a:ext cx="2697480" cy="603504"/>
          </a:xfrm>
          <a:prstGeom prst="rect">
            <a:avLst/>
          </a:prstGeom>
          <a:noFill/>
          <a:ln/>
        </p:spPr>
        <p:txBody>
          <a:bodyPr wrap="square" lIns="0" tIns="0" rIns="0" bIns="0" rtlCol="0" anchor="ctr"/>
          <a:lstStyle/>
          <a:p>
            <a:pPr marL="0" indent="0" algn="ctr">
              <a:buNone/>
            </a:pPr>
            <a:r>
              <a:rPr lang="en-US" sz="3000" b="1" dirty="0">
                <a:solidFill>
                  <a:srgbClr val="FF8A70"/>
                </a:solidFill>
                <a:latin typeface="Calibri" pitchFamily="34" charset="0"/>
                <a:ea typeface="Calibri" pitchFamily="34" charset="-122"/>
                <a:cs typeface="Calibri" pitchFamily="34" charset="-120"/>
              </a:rPr>
              <a:t>70</a:t>
            </a:r>
            <a:endParaRPr lang="en-US" sz="3000" dirty="0"/>
          </a:p>
        </p:txBody>
      </p:sp>
      <p:sp>
        <p:nvSpPr>
          <p:cNvPr id="17" name="Text 15"/>
          <p:cNvSpPr/>
          <p:nvPr/>
        </p:nvSpPr>
        <p:spPr>
          <a:xfrm>
            <a:off x="9272016" y="2286000"/>
            <a:ext cx="2423160" cy="502920"/>
          </a:xfrm>
          <a:prstGeom prst="rect">
            <a:avLst/>
          </a:prstGeom>
          <a:noFill/>
          <a:ln/>
        </p:spPr>
        <p:txBody>
          <a:bodyPr wrap="square" lIns="0" tIns="0" rIns="0" bIns="0" rtlCol="0" anchor="ctr"/>
          <a:lstStyle/>
          <a:p>
            <a:pPr marL="0" indent="0" algn="ctr">
              <a:buNone/>
            </a:pPr>
            <a:r>
              <a:rPr lang="en-US" sz="1050" dirty="0">
                <a:solidFill>
                  <a:srgbClr val="9DBAC3"/>
                </a:solidFill>
                <a:latin typeface="Calibri" pitchFamily="34" charset="0"/>
                <a:ea typeface="Calibri" pitchFamily="34" charset="-122"/>
                <a:cs typeface="Calibri" pitchFamily="34" charset="-120"/>
              </a:rPr>
              <a:t>safety evaluation cases across 3 sets, gate passing</a:t>
            </a:r>
            <a:endParaRPr lang="en-US" sz="1050" dirty="0"/>
          </a:p>
        </p:txBody>
      </p:sp>
      <p:sp>
        <p:nvSpPr>
          <p:cNvPr id="18" name="Shape 16"/>
          <p:cNvSpPr/>
          <p:nvPr/>
        </p:nvSpPr>
        <p:spPr>
          <a:xfrm>
            <a:off x="566928" y="3337560"/>
            <a:ext cx="457200" cy="457200"/>
          </a:xfrm>
          <a:prstGeom prst="ellipse">
            <a:avLst/>
          </a:prstGeom>
          <a:solidFill>
            <a:srgbClr val="123441"/>
          </a:solidFill>
          <a:ln w="9525">
            <a:solidFill>
              <a:srgbClr val="1E4A57"/>
            </a:solidFill>
            <a:prstDash val="solid"/>
          </a:ln>
        </p:spPr>
        <p:txBody>
          <a:bodyPr/>
          <a:lstStyle/>
          <a:p>
            <a:endParaRPr lang="en-AU"/>
          </a:p>
        </p:txBody>
      </p:sp>
      <p:pic>
        <p:nvPicPr>
          <p:cNvPr id="19" name="Image 0" descr="C:\Users\lumin\AppData\Local\Temp\claude\C--Users-lumin-Desktop-aquazerofit\2e3b7983-e45b-4e1c-8fdf-0a5635a22264\scratchpad\assets\icon_flask_mint.png"/>
          <p:cNvPicPr>
            <a:picLocks noChangeAspect="1"/>
          </p:cNvPicPr>
          <p:nvPr/>
        </p:nvPicPr>
        <p:blipFill>
          <a:blip r:embed="rId4"/>
          <a:stretch>
            <a:fillRect/>
          </a:stretch>
        </p:blipFill>
        <p:spPr>
          <a:xfrm>
            <a:off x="676656" y="3456432"/>
            <a:ext cx="237744" cy="237744"/>
          </a:xfrm>
          <a:prstGeom prst="rect">
            <a:avLst/>
          </a:prstGeom>
        </p:spPr>
      </p:pic>
      <p:sp>
        <p:nvSpPr>
          <p:cNvPr id="20" name="Text 17"/>
          <p:cNvSpPr/>
          <p:nvPr/>
        </p:nvSpPr>
        <p:spPr>
          <a:xfrm>
            <a:off x="1188720" y="3282696"/>
            <a:ext cx="1060704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Tests that defend decisions, not just lines</a:t>
            </a:r>
            <a:endParaRPr lang="en-US" sz="1350" dirty="0"/>
          </a:p>
        </p:txBody>
      </p:sp>
      <p:sp>
        <p:nvSpPr>
          <p:cNvPr id="21" name="Text 18"/>
          <p:cNvSpPr/>
          <p:nvPr/>
        </p:nvSpPr>
        <p:spPr>
          <a:xfrm>
            <a:off x="1188720" y="3557016"/>
            <a:ext cx="1060704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A test fails if anyone merges the coach persona into the rules prompt, if a refresh token stops revoking its family, or if a safety evaluation set regresses. The pipeline is gated on all of it.</a:t>
            </a:r>
            <a:endParaRPr lang="en-US" sz="1100" dirty="0"/>
          </a:p>
        </p:txBody>
      </p:sp>
      <p:sp>
        <p:nvSpPr>
          <p:cNvPr id="22" name="Shape 19"/>
          <p:cNvSpPr/>
          <p:nvPr/>
        </p:nvSpPr>
        <p:spPr>
          <a:xfrm>
            <a:off x="566928" y="4270248"/>
            <a:ext cx="457200" cy="457200"/>
          </a:xfrm>
          <a:prstGeom prst="ellipse">
            <a:avLst/>
          </a:prstGeom>
          <a:solidFill>
            <a:srgbClr val="123441"/>
          </a:solidFill>
          <a:ln w="9525">
            <a:solidFill>
              <a:srgbClr val="1E4A57"/>
            </a:solidFill>
            <a:prstDash val="solid"/>
          </a:ln>
        </p:spPr>
        <p:txBody>
          <a:bodyPr/>
          <a:lstStyle/>
          <a:p>
            <a:endParaRPr lang="en-AU"/>
          </a:p>
        </p:txBody>
      </p:sp>
      <p:pic>
        <p:nvPicPr>
          <p:cNvPr id="23" name="Image 1" descr="C:\Users\lumin\AppData\Local\Temp\claude\C--Users-lumin-Desktop-aquazerofit\2e3b7983-e45b-4e1c-8fdf-0a5635a22264\scratchpad\assets\icon_server_cyan.png"/>
          <p:cNvPicPr>
            <a:picLocks noChangeAspect="1"/>
          </p:cNvPicPr>
          <p:nvPr/>
        </p:nvPicPr>
        <p:blipFill>
          <a:blip r:embed="rId5"/>
          <a:stretch>
            <a:fillRect/>
          </a:stretch>
        </p:blipFill>
        <p:spPr>
          <a:xfrm>
            <a:off x="676656" y="4389120"/>
            <a:ext cx="237744" cy="237744"/>
          </a:xfrm>
          <a:prstGeom prst="rect">
            <a:avLst/>
          </a:prstGeom>
        </p:spPr>
      </p:pic>
      <p:sp>
        <p:nvSpPr>
          <p:cNvPr id="24" name="Text 20"/>
          <p:cNvSpPr/>
          <p:nvPr/>
        </p:nvSpPr>
        <p:spPr>
          <a:xfrm>
            <a:off x="1188720" y="4215384"/>
            <a:ext cx="1060704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A service that refuses to boot broken</a:t>
            </a:r>
            <a:endParaRPr lang="en-US" sz="1350" dirty="0"/>
          </a:p>
        </p:txBody>
      </p:sp>
      <p:sp>
        <p:nvSpPr>
          <p:cNvPr id="25" name="Text 21"/>
          <p:cNvSpPr/>
          <p:nvPr/>
        </p:nvSpPr>
        <p:spPr>
          <a:xfrm>
            <a:off x="1188720" y="4489704"/>
            <a:ext cx="1060704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In production it will not start without real secrets, HTTPS-only origins and a working mail transport, so misconfiguration becomes a loud failure, never a silent one.</a:t>
            </a:r>
            <a:endParaRPr lang="en-US" sz="1100" dirty="0"/>
          </a:p>
        </p:txBody>
      </p:sp>
      <p:sp>
        <p:nvSpPr>
          <p:cNvPr id="26" name="Shape 22"/>
          <p:cNvSpPr/>
          <p:nvPr/>
        </p:nvSpPr>
        <p:spPr>
          <a:xfrm>
            <a:off x="566928" y="5202936"/>
            <a:ext cx="457200" cy="457200"/>
          </a:xfrm>
          <a:prstGeom prst="ellipse">
            <a:avLst/>
          </a:prstGeom>
          <a:solidFill>
            <a:srgbClr val="123441"/>
          </a:solidFill>
          <a:ln w="9525">
            <a:solidFill>
              <a:srgbClr val="1E4A57"/>
            </a:solidFill>
            <a:prstDash val="solid"/>
          </a:ln>
        </p:spPr>
        <p:txBody>
          <a:bodyPr/>
          <a:lstStyle/>
          <a:p>
            <a:endParaRPr lang="en-AU"/>
          </a:p>
        </p:txBody>
      </p:sp>
      <p:pic>
        <p:nvPicPr>
          <p:cNvPr id="27" name="Image 2" descr="C:\Users\lumin\AppData\Local\Temp\claude\C--Users-lumin-Desktop-aquazerofit\2e3b7983-e45b-4e1c-8fdf-0a5635a22264\scratchpad\assets\icon_eye_gold.png"/>
          <p:cNvPicPr>
            <a:picLocks noChangeAspect="1"/>
          </p:cNvPicPr>
          <p:nvPr/>
        </p:nvPicPr>
        <p:blipFill>
          <a:blip r:embed="rId6"/>
          <a:stretch>
            <a:fillRect/>
          </a:stretch>
        </p:blipFill>
        <p:spPr>
          <a:xfrm>
            <a:off x="676656" y="5321808"/>
            <a:ext cx="237744" cy="237744"/>
          </a:xfrm>
          <a:prstGeom prst="rect">
            <a:avLst/>
          </a:prstGeom>
        </p:spPr>
      </p:pic>
      <p:sp>
        <p:nvSpPr>
          <p:cNvPr id="28" name="Text 23"/>
          <p:cNvSpPr/>
          <p:nvPr/>
        </p:nvSpPr>
        <p:spPr>
          <a:xfrm>
            <a:off x="1188720" y="5148072"/>
            <a:ext cx="1060704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Honest about limits</a:t>
            </a:r>
            <a:endParaRPr lang="en-US" sz="1350" dirty="0"/>
          </a:p>
        </p:txBody>
      </p:sp>
      <p:sp>
        <p:nvSpPr>
          <p:cNvPr id="29" name="Text 24"/>
          <p:cNvSpPr/>
          <p:nvPr/>
        </p:nvSpPr>
        <p:spPr>
          <a:xfrm>
            <a:off x="1188720" y="5422392"/>
            <a:ext cx="10607040" cy="566928"/>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Single-instance scaling and the pure-JS password hash are recorded as deliberate trade-offs with a stated hardening path, decided early, not discovered late.</a:t>
            </a:r>
            <a:endParaRPr lang="en-US" sz="1100" dirty="0"/>
          </a:p>
        </p:txBody>
      </p:sp>
      <p:sp>
        <p:nvSpPr>
          <p:cNvPr id="30" name="Text 25"/>
          <p:cNvSpPr/>
          <p:nvPr/>
        </p:nvSpPr>
        <p:spPr>
          <a:xfrm>
            <a:off x="566928" y="6144768"/>
            <a:ext cx="7315200" cy="274320"/>
          </a:xfrm>
          <a:prstGeom prst="rect">
            <a:avLst/>
          </a:prstGeom>
          <a:noFill/>
          <a:ln/>
        </p:spPr>
        <p:txBody>
          <a:bodyPr wrap="square" lIns="0" tIns="0" rIns="0" bIns="0" rtlCol="0" anchor="ctr"/>
          <a:lstStyle/>
          <a:p>
            <a:pPr marL="0" indent="0">
              <a:buNone/>
            </a:pPr>
            <a:r>
              <a:rPr lang="en-US" sz="1100" dirty="0">
                <a:solidFill>
                  <a:srgbClr val="6E939D"/>
                </a:solidFill>
                <a:latin typeface="Courier New" pitchFamily="34" charset="0"/>
                <a:ea typeface="Courier New" pitchFamily="34" charset="-122"/>
                <a:cs typeface="Courier New" pitchFamily="34" charset="-120"/>
              </a:rPr>
              <a:t>Run it yourself:  npm run verify</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22</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FFC94D"/>
                </a:solidFill>
                <a:latin typeface="Calibri" pitchFamily="34" charset="0"/>
                <a:ea typeface="Calibri" pitchFamily="34" charset="-122"/>
                <a:cs typeface="Calibri" pitchFamily="34" charset="-120"/>
              </a:rPr>
              <a:t>LIVE DEMONSTRATION   </a:t>
            </a:r>
            <a:r>
              <a:rPr lang="en-US" sz="1100" b="1" kern="0" spc="200" dirty="0">
                <a:solidFill>
                  <a:srgbClr val="9DBAC3"/>
                </a:solidFill>
                <a:latin typeface="Calibri" pitchFamily="34" charset="0"/>
                <a:ea typeface="Calibri" pitchFamily="34" charset="-122"/>
                <a:cs typeface="Calibri" pitchFamily="34" charset="-120"/>
              </a:rPr>
              <a:t>|   PRESENTER: WHOLE TEAM</a:t>
            </a:r>
            <a:endParaRPr lang="en-US" sz="1100" dirty="0"/>
          </a:p>
        </p:txBody>
      </p:sp>
      <p:sp>
        <p:nvSpPr>
          <p:cNvPr id="5" name="Text 3"/>
          <p:cNvSpPr/>
          <p:nvPr/>
        </p:nvSpPr>
        <p:spPr>
          <a:xfrm>
            <a:off x="548640" y="566928"/>
            <a:ext cx="1106424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Three minutes, seven screens, each one proves something</a:t>
            </a:r>
            <a:endParaRPr lang="en-US" sz="2600" dirty="0"/>
          </a:p>
        </p:txBody>
      </p:sp>
      <p:sp>
        <p:nvSpPr>
          <p:cNvPr id="6" name="Shape 4"/>
          <p:cNvSpPr/>
          <p:nvPr/>
        </p:nvSpPr>
        <p:spPr>
          <a:xfrm>
            <a:off x="566928" y="1563624"/>
            <a:ext cx="402336" cy="402336"/>
          </a:xfrm>
          <a:prstGeom prst="ellipse">
            <a:avLst/>
          </a:prstGeom>
          <a:solidFill>
            <a:srgbClr val="123441"/>
          </a:solidFill>
          <a:ln w="15875">
            <a:solidFill>
              <a:srgbClr val="4FD8F0"/>
            </a:solidFill>
            <a:prstDash val="solid"/>
          </a:ln>
        </p:spPr>
        <p:txBody>
          <a:bodyPr/>
          <a:lstStyle/>
          <a:p>
            <a:endParaRPr lang="en-AU"/>
          </a:p>
        </p:txBody>
      </p:sp>
      <p:sp>
        <p:nvSpPr>
          <p:cNvPr id="7" name="Text 5"/>
          <p:cNvSpPr/>
          <p:nvPr/>
        </p:nvSpPr>
        <p:spPr>
          <a:xfrm>
            <a:off x="566928" y="1563624"/>
            <a:ext cx="402336" cy="402336"/>
          </a:xfrm>
          <a:prstGeom prst="rect">
            <a:avLst/>
          </a:prstGeom>
          <a:noFill/>
          <a:ln/>
        </p:spPr>
        <p:txBody>
          <a:bodyPr wrap="square" lIns="0" tIns="0" rIns="0" bIns="0" rtlCol="0" anchor="ctr"/>
          <a:lstStyle/>
          <a:p>
            <a:pPr marL="0" indent="0" algn="ctr">
              <a:buNone/>
            </a:pPr>
            <a:r>
              <a:rPr lang="en-US" sz="1300" b="1" dirty="0">
                <a:solidFill>
                  <a:srgbClr val="4FD8F0"/>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70432" y="1517904"/>
            <a:ext cx="4663440" cy="512064"/>
          </a:xfrm>
          <a:prstGeom prst="rect">
            <a:avLst/>
          </a:prstGeom>
          <a:noFill/>
          <a:ln/>
        </p:spPr>
        <p:txBody>
          <a:bodyPr wrap="square" lIns="0" tIns="0" rIns="0" bIns="0" rtlCol="0" anchor="ctr"/>
          <a:lstStyle/>
          <a:p>
            <a:pPr marL="0" indent="0">
              <a:buNone/>
            </a:pPr>
            <a:r>
              <a:rPr lang="en-US" sz="1250" b="1" dirty="0">
                <a:solidFill>
                  <a:srgbClr val="EAF6F9"/>
                </a:solidFill>
                <a:latin typeface="Calibri" pitchFamily="34" charset="0"/>
                <a:ea typeface="Calibri" pitchFamily="34" charset="-122"/>
                <a:cs typeface="Calibri" pitchFamily="34" charset="-120"/>
              </a:rPr>
              <a:t>Dashboard with the calorie ring</a:t>
            </a:r>
            <a:endParaRPr lang="en-US" sz="1250" dirty="0"/>
          </a:p>
        </p:txBody>
      </p:sp>
      <p:sp>
        <p:nvSpPr>
          <p:cNvPr id="9" name="Text 7"/>
          <p:cNvSpPr/>
          <p:nvPr/>
        </p:nvSpPr>
        <p:spPr>
          <a:xfrm>
            <a:off x="5989320" y="1517904"/>
            <a:ext cx="5623560" cy="512064"/>
          </a:xfrm>
          <a:prstGeom prst="rect">
            <a:avLst/>
          </a:prstGeom>
          <a:noFill/>
          <a:ln/>
        </p:spPr>
        <p:txBody>
          <a:bodyPr wrap="square" lIns="0" tIns="0" rIns="0" bIns="0" rtlCol="0" anchor="ctr"/>
          <a:lstStyle/>
          <a:p>
            <a:pPr marL="0" indent="0">
              <a:buNone/>
            </a:pPr>
            <a:r>
              <a:rPr lang="en-US" sz="1100" dirty="0">
                <a:solidFill>
                  <a:srgbClr val="9DBAC3"/>
                </a:solidFill>
                <a:latin typeface="Calibri" pitchFamily="34" charset="0"/>
                <a:ea typeface="Calibri" pitchFamily="34" charset="-122"/>
                <a:cs typeface="Calibri" pitchFamily="34" charset="-120"/>
              </a:rPr>
              <a:t>Targets are personalised and today’s arithmetic is live</a:t>
            </a:r>
            <a:endParaRPr lang="en-US" sz="1100" dirty="0"/>
          </a:p>
        </p:txBody>
      </p:sp>
      <p:sp>
        <p:nvSpPr>
          <p:cNvPr id="10" name="Shape 8"/>
          <p:cNvSpPr/>
          <p:nvPr/>
        </p:nvSpPr>
        <p:spPr>
          <a:xfrm>
            <a:off x="566928" y="2221992"/>
            <a:ext cx="402336" cy="402336"/>
          </a:xfrm>
          <a:prstGeom prst="ellipse">
            <a:avLst/>
          </a:prstGeom>
          <a:solidFill>
            <a:srgbClr val="123441"/>
          </a:solidFill>
          <a:ln w="15875">
            <a:solidFill>
              <a:srgbClr val="4FD8F0"/>
            </a:solidFill>
            <a:prstDash val="solid"/>
          </a:ln>
        </p:spPr>
        <p:txBody>
          <a:bodyPr/>
          <a:lstStyle/>
          <a:p>
            <a:endParaRPr lang="en-AU"/>
          </a:p>
        </p:txBody>
      </p:sp>
      <p:sp>
        <p:nvSpPr>
          <p:cNvPr id="11" name="Text 9"/>
          <p:cNvSpPr/>
          <p:nvPr/>
        </p:nvSpPr>
        <p:spPr>
          <a:xfrm>
            <a:off x="566928" y="2221992"/>
            <a:ext cx="402336" cy="402336"/>
          </a:xfrm>
          <a:prstGeom prst="rect">
            <a:avLst/>
          </a:prstGeom>
          <a:noFill/>
          <a:ln/>
        </p:spPr>
        <p:txBody>
          <a:bodyPr wrap="square" lIns="0" tIns="0" rIns="0" bIns="0" rtlCol="0" anchor="ctr"/>
          <a:lstStyle/>
          <a:p>
            <a:pPr marL="0" indent="0" algn="ctr">
              <a:buNone/>
            </a:pPr>
            <a:r>
              <a:rPr lang="en-US" sz="1300" b="1" dirty="0">
                <a:solidFill>
                  <a:srgbClr val="4FD8F0"/>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70432" y="2176272"/>
            <a:ext cx="4663440" cy="512064"/>
          </a:xfrm>
          <a:prstGeom prst="rect">
            <a:avLst/>
          </a:prstGeom>
          <a:noFill/>
          <a:ln/>
        </p:spPr>
        <p:txBody>
          <a:bodyPr wrap="square" lIns="0" tIns="0" rIns="0" bIns="0" rtlCol="0" anchor="ctr"/>
          <a:lstStyle/>
          <a:p>
            <a:pPr marL="0" indent="0">
              <a:buNone/>
            </a:pPr>
            <a:r>
              <a:rPr lang="en-US" sz="1250" b="1" dirty="0">
                <a:solidFill>
                  <a:srgbClr val="EAF6F9"/>
                </a:solidFill>
                <a:latin typeface="Calibri" pitchFamily="34" charset="0"/>
                <a:ea typeface="Calibri" pitchFamily="34" charset="-122"/>
                <a:cs typeface="Calibri" pitchFamily="34" charset="-120"/>
              </a:rPr>
              <a:t>Photograph a meal, then pause on the draft</a:t>
            </a:r>
            <a:endParaRPr lang="en-US" sz="1250" dirty="0"/>
          </a:p>
        </p:txBody>
      </p:sp>
      <p:sp>
        <p:nvSpPr>
          <p:cNvPr id="13" name="Text 11"/>
          <p:cNvSpPr/>
          <p:nvPr/>
        </p:nvSpPr>
        <p:spPr>
          <a:xfrm>
            <a:off x="5989320" y="2176272"/>
            <a:ext cx="5623560" cy="512064"/>
          </a:xfrm>
          <a:prstGeom prst="rect">
            <a:avLst/>
          </a:prstGeom>
          <a:noFill/>
          <a:ln/>
        </p:spPr>
        <p:txBody>
          <a:bodyPr wrap="square" lIns="0" tIns="0" rIns="0" bIns="0" rtlCol="0" anchor="ctr"/>
          <a:lstStyle/>
          <a:p>
            <a:pPr marL="0" indent="0">
              <a:buNone/>
            </a:pPr>
            <a:r>
              <a:rPr lang="en-US" sz="1100" dirty="0">
                <a:solidFill>
                  <a:srgbClr val="9DBAC3"/>
                </a:solidFill>
                <a:latin typeface="Calibri" pitchFamily="34" charset="0"/>
                <a:ea typeface="Calibri" pitchFamily="34" charset="-122"/>
                <a:cs typeface="Calibri" pitchFamily="34" charset="-120"/>
              </a:rPr>
              <a:t>Nothing is saved yet; the calories on screen were computed by the app, not the model</a:t>
            </a:r>
            <a:endParaRPr lang="en-US" sz="1100" dirty="0"/>
          </a:p>
        </p:txBody>
      </p:sp>
      <p:sp>
        <p:nvSpPr>
          <p:cNvPr id="14" name="Shape 12"/>
          <p:cNvSpPr/>
          <p:nvPr/>
        </p:nvSpPr>
        <p:spPr>
          <a:xfrm>
            <a:off x="566928" y="2880360"/>
            <a:ext cx="402336" cy="402336"/>
          </a:xfrm>
          <a:prstGeom prst="ellipse">
            <a:avLst/>
          </a:prstGeom>
          <a:solidFill>
            <a:srgbClr val="123441"/>
          </a:solidFill>
          <a:ln w="15875">
            <a:solidFill>
              <a:srgbClr val="4FD8F0"/>
            </a:solidFill>
            <a:prstDash val="solid"/>
          </a:ln>
        </p:spPr>
        <p:txBody>
          <a:bodyPr/>
          <a:lstStyle/>
          <a:p>
            <a:endParaRPr lang="en-AU"/>
          </a:p>
        </p:txBody>
      </p:sp>
      <p:sp>
        <p:nvSpPr>
          <p:cNvPr id="15" name="Text 13"/>
          <p:cNvSpPr/>
          <p:nvPr/>
        </p:nvSpPr>
        <p:spPr>
          <a:xfrm>
            <a:off x="566928" y="2880360"/>
            <a:ext cx="402336" cy="402336"/>
          </a:xfrm>
          <a:prstGeom prst="rect">
            <a:avLst/>
          </a:prstGeom>
          <a:noFill/>
          <a:ln/>
        </p:spPr>
        <p:txBody>
          <a:bodyPr wrap="square" lIns="0" tIns="0" rIns="0" bIns="0" rtlCol="0" anchor="ctr"/>
          <a:lstStyle/>
          <a:p>
            <a:pPr marL="0" indent="0" algn="ctr">
              <a:buNone/>
            </a:pPr>
            <a:r>
              <a:rPr lang="en-US" sz="1300" b="1" dirty="0">
                <a:solidFill>
                  <a:srgbClr val="4FD8F0"/>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70432" y="2834640"/>
            <a:ext cx="4663440" cy="512064"/>
          </a:xfrm>
          <a:prstGeom prst="rect">
            <a:avLst/>
          </a:prstGeom>
          <a:noFill/>
          <a:ln/>
        </p:spPr>
        <p:txBody>
          <a:bodyPr wrap="square" lIns="0" tIns="0" rIns="0" bIns="0" rtlCol="0" anchor="ctr"/>
          <a:lstStyle/>
          <a:p>
            <a:pPr marL="0" indent="0">
              <a:buNone/>
            </a:pPr>
            <a:r>
              <a:rPr lang="en-US" sz="1250" b="1" dirty="0">
                <a:solidFill>
                  <a:srgbClr val="EAF6F9"/>
                </a:solidFill>
                <a:latin typeface="Calibri" pitchFamily="34" charset="0"/>
                <a:ea typeface="Calibri" pitchFamily="34" charset="-122"/>
                <a:cs typeface="Calibri" pitchFamily="34" charset="-120"/>
              </a:rPr>
              <a:t>Adjust a portion, then confirm</a:t>
            </a:r>
            <a:endParaRPr lang="en-US" sz="1250" dirty="0"/>
          </a:p>
        </p:txBody>
      </p:sp>
      <p:sp>
        <p:nvSpPr>
          <p:cNvPr id="17" name="Text 15"/>
          <p:cNvSpPr/>
          <p:nvPr/>
        </p:nvSpPr>
        <p:spPr>
          <a:xfrm>
            <a:off x="5989320" y="2834640"/>
            <a:ext cx="5623560" cy="512064"/>
          </a:xfrm>
          <a:prstGeom prst="rect">
            <a:avLst/>
          </a:prstGeom>
          <a:noFill/>
          <a:ln/>
        </p:spPr>
        <p:txBody>
          <a:bodyPr wrap="square" lIns="0" tIns="0" rIns="0" bIns="0" rtlCol="0" anchor="ctr"/>
          <a:lstStyle/>
          <a:p>
            <a:pPr marL="0" indent="0">
              <a:buNone/>
            </a:pPr>
            <a:r>
              <a:rPr lang="en-US" sz="1100" dirty="0">
                <a:solidFill>
                  <a:srgbClr val="9DBAC3"/>
                </a:solidFill>
                <a:latin typeface="Calibri" pitchFamily="34" charset="0"/>
                <a:ea typeface="Calibri" pitchFamily="34" charset="-122"/>
                <a:cs typeface="Calibri" pitchFamily="34" charset="-120"/>
              </a:rPr>
              <a:t>The user controls what enters their record</a:t>
            </a:r>
            <a:endParaRPr lang="en-US" sz="1100" dirty="0"/>
          </a:p>
        </p:txBody>
      </p:sp>
      <p:sp>
        <p:nvSpPr>
          <p:cNvPr id="18" name="Shape 16"/>
          <p:cNvSpPr/>
          <p:nvPr/>
        </p:nvSpPr>
        <p:spPr>
          <a:xfrm>
            <a:off x="566928" y="3538728"/>
            <a:ext cx="402336" cy="402336"/>
          </a:xfrm>
          <a:prstGeom prst="ellipse">
            <a:avLst/>
          </a:prstGeom>
          <a:solidFill>
            <a:srgbClr val="123441"/>
          </a:solidFill>
          <a:ln w="15875">
            <a:solidFill>
              <a:srgbClr val="4FD8F0"/>
            </a:solidFill>
            <a:prstDash val="solid"/>
          </a:ln>
        </p:spPr>
        <p:txBody>
          <a:bodyPr/>
          <a:lstStyle/>
          <a:p>
            <a:endParaRPr lang="en-AU"/>
          </a:p>
        </p:txBody>
      </p:sp>
      <p:sp>
        <p:nvSpPr>
          <p:cNvPr id="19" name="Text 17"/>
          <p:cNvSpPr/>
          <p:nvPr/>
        </p:nvSpPr>
        <p:spPr>
          <a:xfrm>
            <a:off x="566928" y="3538728"/>
            <a:ext cx="402336" cy="402336"/>
          </a:xfrm>
          <a:prstGeom prst="rect">
            <a:avLst/>
          </a:prstGeom>
          <a:noFill/>
          <a:ln/>
        </p:spPr>
        <p:txBody>
          <a:bodyPr wrap="square" lIns="0" tIns="0" rIns="0" bIns="0" rtlCol="0" anchor="ctr"/>
          <a:lstStyle/>
          <a:p>
            <a:pPr marL="0" indent="0" algn="ctr">
              <a:buNone/>
            </a:pPr>
            <a:r>
              <a:rPr lang="en-US" sz="1300" b="1" dirty="0">
                <a:solidFill>
                  <a:srgbClr val="4FD8F0"/>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170432" y="3493008"/>
            <a:ext cx="4663440" cy="512064"/>
          </a:xfrm>
          <a:prstGeom prst="rect">
            <a:avLst/>
          </a:prstGeom>
          <a:noFill/>
          <a:ln/>
        </p:spPr>
        <p:txBody>
          <a:bodyPr wrap="square" lIns="0" tIns="0" rIns="0" bIns="0" rtlCol="0" anchor="ctr"/>
          <a:lstStyle/>
          <a:p>
            <a:pPr marL="0" indent="0">
              <a:buNone/>
            </a:pPr>
            <a:r>
              <a:rPr lang="en-US" sz="1250" b="1" dirty="0">
                <a:solidFill>
                  <a:srgbClr val="EAF6F9"/>
                </a:solidFill>
                <a:latin typeface="Calibri" pitchFamily="34" charset="0"/>
                <a:ea typeface="Calibri" pitchFamily="34" charset="-122"/>
                <a:cs typeface="Calibri" pitchFamily="34" charset="-120"/>
              </a:rPr>
              <a:t>Today’s workout: one set + the rest timer</a:t>
            </a:r>
            <a:endParaRPr lang="en-US" sz="1250" dirty="0"/>
          </a:p>
        </p:txBody>
      </p:sp>
      <p:sp>
        <p:nvSpPr>
          <p:cNvPr id="21" name="Text 19"/>
          <p:cNvSpPr/>
          <p:nvPr/>
        </p:nvSpPr>
        <p:spPr>
          <a:xfrm>
            <a:off x="5989320" y="3493008"/>
            <a:ext cx="5623560" cy="512064"/>
          </a:xfrm>
          <a:prstGeom prst="rect">
            <a:avLst/>
          </a:prstGeom>
          <a:noFill/>
          <a:ln/>
        </p:spPr>
        <p:txBody>
          <a:bodyPr wrap="square" lIns="0" tIns="0" rIns="0" bIns="0" rtlCol="0" anchor="ctr"/>
          <a:lstStyle/>
          <a:p>
            <a:pPr marL="0" indent="0">
              <a:buNone/>
            </a:pPr>
            <a:r>
              <a:rPr lang="en-US" sz="1100" dirty="0">
                <a:solidFill>
                  <a:srgbClr val="9DBAC3"/>
                </a:solidFill>
                <a:latin typeface="Calibri" pitchFamily="34" charset="0"/>
                <a:ea typeface="Calibri" pitchFamily="34" charset="-122"/>
                <a:cs typeface="Calibri" pitchFamily="34" charset="-120"/>
              </a:rPr>
              <a:t>The plan resolves per day and records what you actually did</a:t>
            </a:r>
            <a:endParaRPr lang="en-US" sz="1100" dirty="0"/>
          </a:p>
        </p:txBody>
      </p:sp>
      <p:sp>
        <p:nvSpPr>
          <p:cNvPr id="22" name="Shape 20"/>
          <p:cNvSpPr/>
          <p:nvPr/>
        </p:nvSpPr>
        <p:spPr>
          <a:xfrm>
            <a:off x="566928" y="4197096"/>
            <a:ext cx="402336" cy="402336"/>
          </a:xfrm>
          <a:prstGeom prst="ellipse">
            <a:avLst/>
          </a:prstGeom>
          <a:solidFill>
            <a:srgbClr val="123441"/>
          </a:solidFill>
          <a:ln w="15875">
            <a:solidFill>
              <a:srgbClr val="4FD8F0"/>
            </a:solidFill>
            <a:prstDash val="solid"/>
          </a:ln>
        </p:spPr>
        <p:txBody>
          <a:bodyPr/>
          <a:lstStyle/>
          <a:p>
            <a:endParaRPr lang="en-AU"/>
          </a:p>
        </p:txBody>
      </p:sp>
      <p:sp>
        <p:nvSpPr>
          <p:cNvPr id="23" name="Text 21"/>
          <p:cNvSpPr/>
          <p:nvPr/>
        </p:nvSpPr>
        <p:spPr>
          <a:xfrm>
            <a:off x="566928" y="4197096"/>
            <a:ext cx="402336" cy="402336"/>
          </a:xfrm>
          <a:prstGeom prst="rect">
            <a:avLst/>
          </a:prstGeom>
          <a:noFill/>
          <a:ln/>
        </p:spPr>
        <p:txBody>
          <a:bodyPr wrap="square" lIns="0" tIns="0" rIns="0" bIns="0" rtlCol="0" anchor="ctr"/>
          <a:lstStyle/>
          <a:p>
            <a:pPr marL="0" indent="0" algn="ctr">
              <a:buNone/>
            </a:pPr>
            <a:r>
              <a:rPr lang="en-US" sz="1300" b="1" dirty="0">
                <a:solidFill>
                  <a:srgbClr val="4FD8F0"/>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70432" y="4151376"/>
            <a:ext cx="4663440" cy="512064"/>
          </a:xfrm>
          <a:prstGeom prst="rect">
            <a:avLst/>
          </a:prstGeom>
          <a:noFill/>
          <a:ln/>
        </p:spPr>
        <p:txBody>
          <a:bodyPr wrap="square" lIns="0" tIns="0" rIns="0" bIns="0" rtlCol="0" anchor="ctr"/>
          <a:lstStyle/>
          <a:p>
            <a:pPr marL="0" indent="0">
              <a:buNone/>
            </a:pPr>
            <a:r>
              <a:rPr lang="en-US" sz="1250" b="1" dirty="0">
                <a:solidFill>
                  <a:srgbClr val="EAF6F9"/>
                </a:solidFill>
                <a:latin typeface="Calibri" pitchFamily="34" charset="0"/>
                <a:ea typeface="Calibri" pitchFamily="34" charset="-122"/>
                <a:cs typeface="Calibri" pitchFamily="34" charset="-120"/>
              </a:rPr>
              <a:t>Ask the coach about today</a:t>
            </a:r>
            <a:endParaRPr lang="en-US" sz="1250" dirty="0"/>
          </a:p>
        </p:txBody>
      </p:sp>
      <p:sp>
        <p:nvSpPr>
          <p:cNvPr id="25" name="Text 23"/>
          <p:cNvSpPr/>
          <p:nvPr/>
        </p:nvSpPr>
        <p:spPr>
          <a:xfrm>
            <a:off x="5989320" y="4151376"/>
            <a:ext cx="5623560" cy="512064"/>
          </a:xfrm>
          <a:prstGeom prst="rect">
            <a:avLst/>
          </a:prstGeom>
          <a:noFill/>
          <a:ln/>
        </p:spPr>
        <p:txBody>
          <a:bodyPr wrap="square" lIns="0" tIns="0" rIns="0" bIns="0" rtlCol="0" anchor="ctr"/>
          <a:lstStyle/>
          <a:p>
            <a:pPr marL="0" indent="0">
              <a:buNone/>
            </a:pPr>
            <a:r>
              <a:rPr lang="en-US" sz="1100" dirty="0">
                <a:solidFill>
                  <a:srgbClr val="9DBAC3"/>
                </a:solidFill>
                <a:latin typeface="Calibri" pitchFamily="34" charset="0"/>
                <a:ea typeface="Calibri" pitchFamily="34" charset="-122"/>
                <a:cs typeface="Calibri" pitchFamily="34" charset="-120"/>
              </a:rPr>
              <a:t>Grounding: the answer contains the user’s real numbers</a:t>
            </a:r>
            <a:endParaRPr lang="en-US" sz="1100" dirty="0"/>
          </a:p>
        </p:txBody>
      </p:sp>
      <p:sp>
        <p:nvSpPr>
          <p:cNvPr id="26" name="Shape 24"/>
          <p:cNvSpPr/>
          <p:nvPr/>
        </p:nvSpPr>
        <p:spPr>
          <a:xfrm>
            <a:off x="566928" y="4855464"/>
            <a:ext cx="402336" cy="402336"/>
          </a:xfrm>
          <a:prstGeom prst="ellipse">
            <a:avLst/>
          </a:prstGeom>
          <a:solidFill>
            <a:srgbClr val="123441"/>
          </a:solidFill>
          <a:ln w="15875">
            <a:solidFill>
              <a:srgbClr val="FF7B7B"/>
            </a:solidFill>
            <a:prstDash val="solid"/>
          </a:ln>
        </p:spPr>
        <p:txBody>
          <a:bodyPr/>
          <a:lstStyle/>
          <a:p>
            <a:endParaRPr lang="en-AU"/>
          </a:p>
        </p:txBody>
      </p:sp>
      <p:sp>
        <p:nvSpPr>
          <p:cNvPr id="27" name="Text 25"/>
          <p:cNvSpPr/>
          <p:nvPr/>
        </p:nvSpPr>
        <p:spPr>
          <a:xfrm>
            <a:off x="566928" y="4855464"/>
            <a:ext cx="402336" cy="402336"/>
          </a:xfrm>
          <a:prstGeom prst="rect">
            <a:avLst/>
          </a:prstGeom>
          <a:noFill/>
          <a:ln/>
        </p:spPr>
        <p:txBody>
          <a:bodyPr wrap="square" lIns="0" tIns="0" rIns="0" bIns="0" rtlCol="0" anchor="ctr"/>
          <a:lstStyle/>
          <a:p>
            <a:pPr marL="0" indent="0" algn="ctr">
              <a:buNone/>
            </a:pPr>
            <a:r>
              <a:rPr lang="en-US" sz="1300" b="1" dirty="0">
                <a:solidFill>
                  <a:srgbClr val="FF7B7B"/>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1170432" y="4809744"/>
            <a:ext cx="4663440" cy="512064"/>
          </a:xfrm>
          <a:prstGeom prst="rect">
            <a:avLst/>
          </a:prstGeom>
          <a:noFill/>
          <a:ln/>
        </p:spPr>
        <p:txBody>
          <a:bodyPr wrap="square" lIns="0" tIns="0" rIns="0" bIns="0" rtlCol="0" anchor="ctr"/>
          <a:lstStyle/>
          <a:p>
            <a:pPr marL="0" indent="0">
              <a:buNone/>
            </a:pPr>
            <a:r>
              <a:rPr lang="en-US" sz="1250" b="1" dirty="0">
                <a:solidFill>
                  <a:srgbClr val="EAF6F9"/>
                </a:solidFill>
                <a:latin typeface="Calibri" pitchFamily="34" charset="0"/>
                <a:ea typeface="Calibri" pitchFamily="34" charset="-122"/>
                <a:cs typeface="Calibri" pitchFamily="34" charset="-120"/>
              </a:rPr>
              <a:t>Ask the coach something medical</a:t>
            </a:r>
            <a:endParaRPr lang="en-US" sz="1250" dirty="0"/>
          </a:p>
        </p:txBody>
      </p:sp>
      <p:sp>
        <p:nvSpPr>
          <p:cNvPr id="29" name="Text 27"/>
          <p:cNvSpPr/>
          <p:nvPr/>
        </p:nvSpPr>
        <p:spPr>
          <a:xfrm>
            <a:off x="5989320" y="4809744"/>
            <a:ext cx="5623560" cy="512064"/>
          </a:xfrm>
          <a:prstGeom prst="rect">
            <a:avLst/>
          </a:prstGeom>
          <a:noFill/>
          <a:ln/>
        </p:spPr>
        <p:txBody>
          <a:bodyPr wrap="square" lIns="0" tIns="0" rIns="0" bIns="0" rtlCol="0" anchor="ctr"/>
          <a:lstStyle/>
          <a:p>
            <a:pPr marL="0" indent="0">
              <a:buNone/>
            </a:pPr>
            <a:r>
              <a:rPr lang="en-US" sz="1100" dirty="0">
                <a:solidFill>
                  <a:srgbClr val="9DBAC3"/>
                </a:solidFill>
                <a:latin typeface="Calibri" pitchFamily="34" charset="0"/>
                <a:ea typeface="Calibri" pitchFamily="34" charset="-122"/>
                <a:cs typeface="Calibri" pitchFamily="34" charset="-120"/>
              </a:rPr>
              <a:t>The safety boundary, live: a warm refusal and a signpost to real help</a:t>
            </a:r>
            <a:endParaRPr lang="en-US" sz="1100" dirty="0"/>
          </a:p>
        </p:txBody>
      </p:sp>
      <p:sp>
        <p:nvSpPr>
          <p:cNvPr id="30" name="Shape 28"/>
          <p:cNvSpPr/>
          <p:nvPr/>
        </p:nvSpPr>
        <p:spPr>
          <a:xfrm>
            <a:off x="566928" y="5513832"/>
            <a:ext cx="402336" cy="402336"/>
          </a:xfrm>
          <a:prstGeom prst="ellipse">
            <a:avLst/>
          </a:prstGeom>
          <a:solidFill>
            <a:srgbClr val="123441"/>
          </a:solidFill>
          <a:ln w="15875">
            <a:solidFill>
              <a:srgbClr val="4FD8F0"/>
            </a:solidFill>
            <a:prstDash val="solid"/>
          </a:ln>
        </p:spPr>
        <p:txBody>
          <a:bodyPr/>
          <a:lstStyle/>
          <a:p>
            <a:endParaRPr lang="en-AU"/>
          </a:p>
        </p:txBody>
      </p:sp>
      <p:sp>
        <p:nvSpPr>
          <p:cNvPr id="31" name="Text 29"/>
          <p:cNvSpPr/>
          <p:nvPr/>
        </p:nvSpPr>
        <p:spPr>
          <a:xfrm>
            <a:off x="566928" y="5513832"/>
            <a:ext cx="402336" cy="402336"/>
          </a:xfrm>
          <a:prstGeom prst="rect">
            <a:avLst/>
          </a:prstGeom>
          <a:noFill/>
          <a:ln/>
        </p:spPr>
        <p:txBody>
          <a:bodyPr wrap="square" lIns="0" tIns="0" rIns="0" bIns="0" rtlCol="0" anchor="ctr"/>
          <a:lstStyle/>
          <a:p>
            <a:pPr marL="0" indent="0" algn="ctr">
              <a:buNone/>
            </a:pPr>
            <a:r>
              <a:rPr lang="en-US" sz="1300" b="1" dirty="0">
                <a:solidFill>
                  <a:srgbClr val="4FD8F0"/>
                </a:solidFill>
                <a:latin typeface="Calibri" pitchFamily="34" charset="0"/>
                <a:ea typeface="Calibri" pitchFamily="34" charset="-122"/>
                <a:cs typeface="Calibri" pitchFamily="34" charset="-120"/>
              </a:rPr>
              <a:t>7</a:t>
            </a:r>
            <a:endParaRPr lang="en-US" sz="1300" dirty="0"/>
          </a:p>
        </p:txBody>
      </p:sp>
      <p:sp>
        <p:nvSpPr>
          <p:cNvPr id="32" name="Text 30"/>
          <p:cNvSpPr/>
          <p:nvPr/>
        </p:nvSpPr>
        <p:spPr>
          <a:xfrm>
            <a:off x="1170432" y="5468112"/>
            <a:ext cx="4663440" cy="512064"/>
          </a:xfrm>
          <a:prstGeom prst="rect">
            <a:avLst/>
          </a:prstGeom>
          <a:noFill/>
          <a:ln/>
        </p:spPr>
        <p:txBody>
          <a:bodyPr wrap="square" lIns="0" tIns="0" rIns="0" bIns="0" rtlCol="0" anchor="ctr"/>
          <a:lstStyle/>
          <a:p>
            <a:pPr marL="0" indent="0">
              <a:buNone/>
            </a:pPr>
            <a:r>
              <a:rPr lang="en-US" sz="1250" b="1" dirty="0">
                <a:solidFill>
                  <a:srgbClr val="EAF6F9"/>
                </a:solidFill>
                <a:latin typeface="Calibri" pitchFamily="34" charset="0"/>
                <a:ea typeface="Calibri" pitchFamily="34" charset="-122"/>
                <a:cs typeface="Calibri" pitchFamily="34" charset="-120"/>
              </a:rPr>
              <a:t>The progress screen</a:t>
            </a:r>
            <a:endParaRPr lang="en-US" sz="1250" dirty="0"/>
          </a:p>
        </p:txBody>
      </p:sp>
      <p:sp>
        <p:nvSpPr>
          <p:cNvPr id="33" name="Text 31"/>
          <p:cNvSpPr/>
          <p:nvPr/>
        </p:nvSpPr>
        <p:spPr>
          <a:xfrm>
            <a:off x="5989320" y="5468112"/>
            <a:ext cx="5623560" cy="512064"/>
          </a:xfrm>
          <a:prstGeom prst="rect">
            <a:avLst/>
          </a:prstGeom>
          <a:noFill/>
          <a:ln/>
        </p:spPr>
        <p:txBody>
          <a:bodyPr wrap="square" lIns="0" tIns="0" rIns="0" bIns="0" rtlCol="0" anchor="ctr"/>
          <a:lstStyle/>
          <a:p>
            <a:pPr marL="0" indent="0">
              <a:buNone/>
            </a:pPr>
            <a:r>
              <a:rPr lang="en-US" sz="1100" dirty="0">
                <a:solidFill>
                  <a:srgbClr val="9DBAC3"/>
                </a:solidFill>
                <a:latin typeface="Calibri" pitchFamily="34" charset="0"/>
                <a:ea typeface="Calibri" pitchFamily="34" charset="-122"/>
                <a:cs typeface="Calibri" pitchFamily="34" charset="-120"/>
              </a:rPr>
              <a:t>What changed and why, a sentence, not just a chart</a:t>
            </a:r>
            <a:endParaRPr lang="en-US" sz="1100" dirty="0"/>
          </a:p>
        </p:txBody>
      </p:sp>
      <p:sp>
        <p:nvSpPr>
          <p:cNvPr id="34" name="Text 32"/>
          <p:cNvSpPr/>
          <p:nvPr/>
        </p:nvSpPr>
        <p:spPr>
          <a:xfrm>
            <a:off x="566928" y="6263640"/>
            <a:ext cx="10972800" cy="274320"/>
          </a:xfrm>
          <a:prstGeom prst="rect">
            <a:avLst/>
          </a:prstGeom>
          <a:noFill/>
          <a:ln/>
        </p:spPr>
        <p:txBody>
          <a:bodyPr wrap="square" lIns="0" tIns="0" rIns="0" bIns="0" rtlCol="0" anchor="ctr"/>
          <a:lstStyle/>
          <a:p>
            <a:pPr marL="0" indent="0">
              <a:buNone/>
            </a:pPr>
            <a:r>
              <a:rPr lang="en-US" sz="1050" dirty="0">
                <a:solidFill>
                  <a:srgbClr val="3DE8B0"/>
                </a:solidFill>
                <a:latin typeface="Calibri" pitchFamily="34" charset="0"/>
                <a:ea typeface="Calibri" pitchFamily="34" charset="-122"/>
                <a:cs typeface="Calibri" pitchFamily="34" charset="-120"/>
              </a:rPr>
              <a:t>If the network fails, nothing changes: the offline engine answers and every journey still completes.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23</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FFC94D"/>
                </a:solidFill>
                <a:latin typeface="Calibri" pitchFamily="34" charset="0"/>
                <a:ea typeface="Calibri" pitchFamily="34" charset="-122"/>
                <a:cs typeface="Calibri" pitchFamily="34" charset="-120"/>
              </a:rPr>
              <a:t>TRY IT YOURSELF   </a:t>
            </a:r>
            <a:r>
              <a:rPr lang="en-US" sz="1100" b="1" kern="0" spc="200" dirty="0">
                <a:solidFill>
                  <a:srgbClr val="9DBAC3"/>
                </a:solidFill>
                <a:latin typeface="Calibri" pitchFamily="34" charset="0"/>
                <a:ea typeface="Calibri" pitchFamily="34" charset="-122"/>
                <a:cs typeface="Calibri" pitchFamily="34" charset="-120"/>
              </a:rPr>
              <a:t>|   PRESENTER: WHOLE TEAM</a:t>
            </a:r>
            <a:endParaRPr lang="en-US" sz="1100" dirty="0"/>
          </a:p>
        </p:txBody>
      </p:sp>
      <p:sp>
        <p:nvSpPr>
          <p:cNvPr id="5" name="Text 3"/>
          <p:cNvSpPr/>
          <p:nvPr/>
        </p:nvSpPr>
        <p:spPr>
          <a:xfrm>
            <a:off x="548640" y="566928"/>
            <a:ext cx="1106424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Open AquaZeroFit on your phone right now</a:t>
            </a:r>
            <a:endParaRPr lang="en-US" sz="2600" dirty="0"/>
          </a:p>
        </p:txBody>
      </p:sp>
      <p:sp>
        <p:nvSpPr>
          <p:cNvPr id="6" name="Shape 4"/>
          <p:cNvSpPr/>
          <p:nvPr/>
        </p:nvSpPr>
        <p:spPr>
          <a:xfrm>
            <a:off x="548640" y="1481328"/>
            <a:ext cx="4114800" cy="4715510"/>
          </a:xfrm>
          <a:prstGeom prst="roundRect">
            <a:avLst>
              <a:gd name="adj" fmla="val 3111"/>
            </a:avLst>
          </a:prstGeom>
          <a:solidFill>
            <a:srgbClr val="FFFFFF"/>
          </a:solidFill>
          <a:ln w="12700">
            <a:solidFill>
              <a:srgbClr val="1E4A57"/>
            </a:solidFill>
            <a:prstDash val="solid"/>
          </a:ln>
        </p:spPr>
        <p:txBody>
          <a:bodyPr/>
          <a:lstStyle/>
          <a:p>
            <a:endParaRPr lang="en-AU"/>
          </a:p>
        </p:txBody>
      </p:sp>
      <p:pic>
        <p:nvPicPr>
          <p:cNvPr id="7" name="Image 0" descr="C:/Users/lumin/Desktop/aquazerofit/docs/screenshots/telegram-qr.jpg"/>
          <p:cNvPicPr>
            <a:picLocks noChangeAspect="1"/>
          </p:cNvPicPr>
          <p:nvPr/>
        </p:nvPicPr>
        <p:blipFill>
          <a:blip r:embed="rId4"/>
          <a:stretch>
            <a:fillRect/>
          </a:stretch>
        </p:blipFill>
        <p:spPr>
          <a:xfrm>
            <a:off x="640080" y="1572768"/>
            <a:ext cx="3931920" cy="4532630"/>
          </a:xfrm>
          <a:prstGeom prst="rect">
            <a:avLst/>
          </a:prstGeom>
        </p:spPr>
      </p:pic>
      <p:sp>
        <p:nvSpPr>
          <p:cNvPr id="8" name="Shape 5"/>
          <p:cNvSpPr/>
          <p:nvPr/>
        </p:nvSpPr>
        <p:spPr>
          <a:xfrm>
            <a:off x="5074920" y="1600200"/>
            <a:ext cx="457200" cy="457200"/>
          </a:xfrm>
          <a:prstGeom prst="ellipse">
            <a:avLst/>
          </a:prstGeom>
          <a:solidFill>
            <a:srgbClr val="123441"/>
          </a:solidFill>
          <a:ln w="9525">
            <a:solidFill>
              <a:srgbClr val="1E4A57"/>
            </a:solidFill>
            <a:prstDash val="solid"/>
          </a:ln>
        </p:spPr>
        <p:txBody>
          <a:bodyPr/>
          <a:lstStyle/>
          <a:p>
            <a:endParaRPr lang="en-AU"/>
          </a:p>
        </p:txBody>
      </p:sp>
      <p:pic>
        <p:nvPicPr>
          <p:cNvPr id="9" name="Image 1" descr="C:\Users\lumin\AppData\Local\Temp\claude\C--Users-lumin-Desktop-aquazerofit\2e3b7983-e45b-4e1c-8fdf-0a5635a22264\scratchpad\assets\icon_telegram_cyan.png"/>
          <p:cNvPicPr>
            <a:picLocks noChangeAspect="1"/>
          </p:cNvPicPr>
          <p:nvPr/>
        </p:nvPicPr>
        <p:blipFill>
          <a:blip r:embed="rId5"/>
          <a:stretch>
            <a:fillRect/>
          </a:stretch>
        </p:blipFill>
        <p:spPr>
          <a:xfrm>
            <a:off x="5184648" y="1719072"/>
            <a:ext cx="237744" cy="237744"/>
          </a:xfrm>
          <a:prstGeom prst="rect">
            <a:avLst/>
          </a:prstGeom>
        </p:spPr>
      </p:pic>
      <p:sp>
        <p:nvSpPr>
          <p:cNvPr id="10" name="Text 6"/>
          <p:cNvSpPr/>
          <p:nvPr/>
        </p:nvSpPr>
        <p:spPr>
          <a:xfrm>
            <a:off x="5696712" y="1545336"/>
            <a:ext cx="603504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Scan the code with your camera</a:t>
            </a:r>
            <a:endParaRPr lang="en-US" sz="1350" dirty="0"/>
          </a:p>
        </p:txBody>
      </p:sp>
      <p:sp>
        <p:nvSpPr>
          <p:cNvPr id="11" name="Text 7"/>
          <p:cNvSpPr/>
          <p:nvPr/>
        </p:nvSpPr>
        <p:spPr>
          <a:xfrm>
            <a:off x="5696712" y="1819656"/>
            <a:ext cx="6035040" cy="64008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It opens a Telegram chat with the AquaZeroFit bot. No app store, no download.</a:t>
            </a:r>
            <a:endParaRPr lang="en-US" sz="1100" dirty="0"/>
          </a:p>
        </p:txBody>
      </p:sp>
      <p:sp>
        <p:nvSpPr>
          <p:cNvPr id="12" name="Shape 8"/>
          <p:cNvSpPr/>
          <p:nvPr/>
        </p:nvSpPr>
        <p:spPr>
          <a:xfrm>
            <a:off x="5074920" y="2624328"/>
            <a:ext cx="457200" cy="457200"/>
          </a:xfrm>
          <a:prstGeom prst="ellipse">
            <a:avLst/>
          </a:prstGeom>
          <a:solidFill>
            <a:srgbClr val="123441"/>
          </a:solidFill>
          <a:ln w="9525">
            <a:solidFill>
              <a:srgbClr val="1E4A57"/>
            </a:solidFill>
            <a:prstDash val="solid"/>
          </a:ln>
        </p:spPr>
        <p:txBody>
          <a:bodyPr/>
          <a:lstStyle/>
          <a:p>
            <a:endParaRPr lang="en-AU"/>
          </a:p>
        </p:txBody>
      </p:sp>
      <p:pic>
        <p:nvPicPr>
          <p:cNvPr id="13" name="Image 2" descr="C:\Users\lumin\AppData\Local\Temp\claude\C--Users-lumin-Desktop-aquazerofit\2e3b7983-e45b-4e1c-8fdf-0a5635a22264\scratchpad\assets\icon_bolt_gold.png"/>
          <p:cNvPicPr>
            <a:picLocks noChangeAspect="1"/>
          </p:cNvPicPr>
          <p:nvPr/>
        </p:nvPicPr>
        <p:blipFill>
          <a:blip r:embed="rId6"/>
          <a:stretch>
            <a:fillRect/>
          </a:stretch>
        </p:blipFill>
        <p:spPr>
          <a:xfrm>
            <a:off x="5184648" y="2743200"/>
            <a:ext cx="237744" cy="237744"/>
          </a:xfrm>
          <a:prstGeom prst="rect">
            <a:avLst/>
          </a:prstGeom>
        </p:spPr>
      </p:pic>
      <p:sp>
        <p:nvSpPr>
          <p:cNvPr id="14" name="Text 9"/>
          <p:cNvSpPr/>
          <p:nvPr/>
        </p:nvSpPr>
        <p:spPr>
          <a:xfrm>
            <a:off x="5696712" y="2569464"/>
            <a:ext cx="603504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Tap Start</a:t>
            </a:r>
            <a:endParaRPr lang="en-US" sz="1350" dirty="0"/>
          </a:p>
        </p:txBody>
      </p:sp>
      <p:sp>
        <p:nvSpPr>
          <p:cNvPr id="15" name="Text 10"/>
          <p:cNvSpPr/>
          <p:nvPr/>
        </p:nvSpPr>
        <p:spPr>
          <a:xfrm>
            <a:off x="5696712" y="2843784"/>
            <a:ext cx="6035040" cy="64008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The Mini App launches inside Telegram and signs you in with your Telegram identity, verified on our server.</a:t>
            </a:r>
            <a:endParaRPr lang="en-US" sz="1100" dirty="0"/>
          </a:p>
        </p:txBody>
      </p:sp>
      <p:sp>
        <p:nvSpPr>
          <p:cNvPr id="16" name="Shape 11"/>
          <p:cNvSpPr/>
          <p:nvPr/>
        </p:nvSpPr>
        <p:spPr>
          <a:xfrm>
            <a:off x="5074920" y="3648456"/>
            <a:ext cx="457200" cy="457200"/>
          </a:xfrm>
          <a:prstGeom prst="ellipse">
            <a:avLst/>
          </a:prstGeom>
          <a:solidFill>
            <a:srgbClr val="123441"/>
          </a:solidFill>
          <a:ln w="9525">
            <a:solidFill>
              <a:srgbClr val="1E4A57"/>
            </a:solidFill>
            <a:prstDash val="solid"/>
          </a:ln>
        </p:spPr>
        <p:txBody>
          <a:bodyPr/>
          <a:lstStyle/>
          <a:p>
            <a:endParaRPr lang="en-AU"/>
          </a:p>
        </p:txBody>
      </p:sp>
      <p:pic>
        <p:nvPicPr>
          <p:cNvPr id="17" name="Image 3" descr="C:\Users\lumin\AppData\Local\Temp\claude\C--Users-lumin-Desktop-aquazerofit\2e3b7983-e45b-4e1c-8fdf-0a5635a22264\scratchpad\assets\icon_seedling_mint.png"/>
          <p:cNvPicPr>
            <a:picLocks noChangeAspect="1"/>
          </p:cNvPicPr>
          <p:nvPr/>
        </p:nvPicPr>
        <p:blipFill>
          <a:blip r:embed="rId7"/>
          <a:stretch>
            <a:fillRect/>
          </a:stretch>
        </p:blipFill>
        <p:spPr>
          <a:xfrm>
            <a:off x="5184648" y="3767328"/>
            <a:ext cx="237744" cy="237744"/>
          </a:xfrm>
          <a:prstGeom prst="rect">
            <a:avLst/>
          </a:prstGeom>
        </p:spPr>
      </p:pic>
      <p:sp>
        <p:nvSpPr>
          <p:cNvPr id="18" name="Text 12"/>
          <p:cNvSpPr/>
          <p:nvPr/>
        </p:nvSpPr>
        <p:spPr>
          <a:xfrm>
            <a:off x="5696712" y="3593592"/>
            <a:ext cx="603504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Set up your profile once</a:t>
            </a:r>
            <a:endParaRPr lang="en-US" sz="1350" dirty="0"/>
          </a:p>
        </p:txBody>
      </p:sp>
      <p:sp>
        <p:nvSpPr>
          <p:cNvPr id="19" name="Text 13"/>
          <p:cNvSpPr/>
          <p:nvPr/>
        </p:nvSpPr>
        <p:spPr>
          <a:xfrm>
            <a:off x="5696712" y="3867912"/>
            <a:ext cx="6035040" cy="64008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Enter height, weight, age and goal. Your calorie, macro and hydration targets are computed on the spot.</a:t>
            </a:r>
            <a:endParaRPr lang="en-US" sz="1100" dirty="0"/>
          </a:p>
        </p:txBody>
      </p:sp>
      <p:sp>
        <p:nvSpPr>
          <p:cNvPr id="20" name="Shape 14"/>
          <p:cNvSpPr/>
          <p:nvPr/>
        </p:nvSpPr>
        <p:spPr>
          <a:xfrm>
            <a:off x="5074920" y="4672584"/>
            <a:ext cx="457200" cy="457200"/>
          </a:xfrm>
          <a:prstGeom prst="ellipse">
            <a:avLst/>
          </a:prstGeom>
          <a:solidFill>
            <a:srgbClr val="123441"/>
          </a:solidFill>
          <a:ln w="9525">
            <a:solidFill>
              <a:srgbClr val="1E4A57"/>
            </a:solidFill>
            <a:prstDash val="solid"/>
          </a:ln>
        </p:spPr>
        <p:txBody>
          <a:bodyPr/>
          <a:lstStyle/>
          <a:p>
            <a:endParaRPr lang="en-AU"/>
          </a:p>
        </p:txBody>
      </p:sp>
      <p:pic>
        <p:nvPicPr>
          <p:cNvPr id="21" name="Image 4" descr="C:\Users\lumin\AppData\Local\Temp\claude\C--Users-lumin-Desktop-aquazerofit\2e3b7983-e45b-4e1c-8fdf-0a5635a22264\scratchpad\assets\icon_globe_cyan.png"/>
          <p:cNvPicPr>
            <a:picLocks noChangeAspect="1"/>
          </p:cNvPicPr>
          <p:nvPr/>
        </p:nvPicPr>
        <p:blipFill>
          <a:blip r:embed="rId8"/>
          <a:stretch>
            <a:fillRect/>
          </a:stretch>
        </p:blipFill>
        <p:spPr>
          <a:xfrm>
            <a:off x="5184648" y="4791456"/>
            <a:ext cx="237744" cy="237744"/>
          </a:xfrm>
          <a:prstGeom prst="rect">
            <a:avLst/>
          </a:prstGeom>
        </p:spPr>
      </p:pic>
      <p:sp>
        <p:nvSpPr>
          <p:cNvPr id="22" name="Text 15"/>
          <p:cNvSpPr/>
          <p:nvPr/>
        </p:nvSpPr>
        <p:spPr>
          <a:xfrm>
            <a:off x="5696712" y="4617720"/>
            <a:ext cx="6035040" cy="292608"/>
          </a:xfrm>
          <a:prstGeom prst="rect">
            <a:avLst/>
          </a:prstGeom>
          <a:noFill/>
          <a:ln/>
        </p:spPr>
        <p:txBody>
          <a:bodyPr wrap="square" lIns="0" tIns="0" rIns="0" bIns="0" rtlCol="0" anchor="ctr"/>
          <a:lstStyle/>
          <a:p>
            <a:pPr marL="0" indent="0">
              <a:buNone/>
            </a:pPr>
            <a:r>
              <a:rPr lang="en-US" sz="1350" b="1" dirty="0">
                <a:solidFill>
                  <a:srgbClr val="EAF6F9"/>
                </a:solidFill>
                <a:latin typeface="Calibri" pitchFamily="34" charset="0"/>
                <a:ea typeface="Calibri" pitchFamily="34" charset="-122"/>
                <a:cs typeface="Calibri" pitchFamily="34" charset="-120"/>
              </a:rPr>
              <a:t>Prefer a browser?</a:t>
            </a:r>
            <a:endParaRPr lang="en-US" sz="1350" dirty="0"/>
          </a:p>
        </p:txBody>
      </p:sp>
      <p:sp>
        <p:nvSpPr>
          <p:cNvPr id="23" name="Text 16"/>
          <p:cNvSpPr/>
          <p:nvPr/>
        </p:nvSpPr>
        <p:spPr>
          <a:xfrm>
            <a:off x="5696712" y="4892040"/>
            <a:ext cx="6035040" cy="640080"/>
          </a:xfrm>
          <a:prstGeom prst="rect">
            <a:avLst/>
          </a:prstGeom>
          <a:noFill/>
          <a:ln/>
        </p:spPr>
        <p:txBody>
          <a:bodyPr wrap="square" lIns="0" tIns="0" rIns="0" bIns="0" rtlCol="0" anchor="ctr"/>
          <a:lstStyle/>
          <a:p>
            <a:pPr marL="0" indent="0">
              <a:lnSpc>
                <a:spcPct val="105000"/>
              </a:lnSpc>
              <a:buNone/>
            </a:pPr>
            <a:r>
              <a:rPr lang="en-US" sz="1100" dirty="0">
                <a:solidFill>
                  <a:srgbClr val="9DBAC3"/>
                </a:solidFill>
                <a:latin typeface="Calibri" pitchFamily="34" charset="0"/>
                <a:ea typeface="Calibri" pitchFamily="34" charset="-122"/>
                <a:cs typeface="Calibri" pitchFamily="34" charset="-120"/>
              </a:rPr>
              <a:t>The same product runs as a website from the same codebase, so anyone can review it without Telegram.</a:t>
            </a:r>
            <a:endParaRPr lang="en-US" sz="1100" dirty="0"/>
          </a:p>
        </p:txBody>
      </p:sp>
      <p:sp>
        <p:nvSpPr>
          <p:cNvPr id="24" name="Text 17"/>
          <p:cNvSpPr/>
          <p:nvPr/>
        </p:nvSpPr>
        <p:spPr>
          <a:xfrm>
            <a:off x="5074920" y="5742432"/>
            <a:ext cx="6492240" cy="365760"/>
          </a:xfrm>
          <a:prstGeom prst="rect">
            <a:avLst/>
          </a:prstGeom>
          <a:noFill/>
          <a:ln/>
        </p:spPr>
        <p:txBody>
          <a:bodyPr wrap="square" lIns="0" tIns="0" rIns="0" bIns="0" rtlCol="0" anchor="ctr"/>
          <a:lstStyle/>
          <a:p>
            <a:pPr marL="0" indent="0">
              <a:buNone/>
            </a:pPr>
            <a:r>
              <a:rPr lang="en-US" sz="1150" dirty="0">
                <a:solidFill>
                  <a:srgbClr val="3DE8B0"/>
                </a:solidFill>
                <a:latin typeface="Calibri" pitchFamily="34" charset="0"/>
                <a:ea typeface="Calibri" pitchFamily="34" charset="-122"/>
                <a:cs typeface="Calibri" pitchFamily="34" charset="-120"/>
              </a:rPr>
              <a:t>Assessors are welcome to scan during Q&amp;A. Every feature shown today is live in this build.</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24</a:t>
            </a:r>
            <a:endParaRPr lang="en-US" sz="850" dirty="0"/>
          </a:p>
        </p:txBody>
      </p:sp>
      <p:pic>
        <p:nvPicPr>
          <p:cNvPr id="4" name="Image 0" descr="C:/Users/lumin/Desktop/aquazerofit/design/brand/AquaZeroFit(single_Logo).png"/>
          <p:cNvPicPr>
            <a:picLocks noChangeAspect="1"/>
          </p:cNvPicPr>
          <p:nvPr/>
        </p:nvPicPr>
        <p:blipFill>
          <a:blip r:embed="rId4"/>
          <a:stretch>
            <a:fillRect/>
          </a:stretch>
        </p:blipFill>
        <p:spPr>
          <a:xfrm>
            <a:off x="658368" y="457200"/>
            <a:ext cx="713232" cy="740664"/>
          </a:xfrm>
          <a:prstGeom prst="rect">
            <a:avLst/>
          </a:prstGeom>
        </p:spPr>
      </p:pic>
      <p:sp>
        <p:nvSpPr>
          <p:cNvPr id="5" name="Text 2"/>
          <p:cNvSpPr/>
          <p:nvPr/>
        </p:nvSpPr>
        <p:spPr>
          <a:xfrm>
            <a:off x="1554480" y="530352"/>
            <a:ext cx="10058400" cy="603504"/>
          </a:xfrm>
          <a:prstGeom prst="rect">
            <a:avLst/>
          </a:prstGeom>
          <a:noFill/>
          <a:ln/>
        </p:spPr>
        <p:txBody>
          <a:bodyPr wrap="square" lIns="0" tIns="0" rIns="0" bIns="0" rtlCol="0" anchor="ctr"/>
          <a:lstStyle/>
          <a:p>
            <a:pPr marL="0" indent="0">
              <a:buNone/>
            </a:pPr>
            <a:r>
              <a:rPr lang="en-US" sz="3000" b="1" dirty="0">
                <a:solidFill>
                  <a:srgbClr val="EAF6F9"/>
                </a:solidFill>
                <a:latin typeface="Calibri" pitchFamily="34" charset="0"/>
                <a:ea typeface="Calibri" pitchFamily="34" charset="-122"/>
                <a:cs typeface="Calibri" pitchFamily="34" charset="-120"/>
              </a:rPr>
              <a:t>Questions: ask the person who built it</a:t>
            </a:r>
            <a:endParaRPr lang="en-US" sz="3000" dirty="0"/>
          </a:p>
        </p:txBody>
      </p:sp>
      <p:sp>
        <p:nvSpPr>
          <p:cNvPr id="6" name="Shape 3"/>
          <p:cNvSpPr/>
          <p:nvPr/>
        </p:nvSpPr>
        <p:spPr>
          <a:xfrm>
            <a:off x="548640" y="1481328"/>
            <a:ext cx="3639312" cy="2743200"/>
          </a:xfrm>
          <a:prstGeom prst="roundRect">
            <a:avLst>
              <a:gd name="adj" fmla="val 3333"/>
            </a:avLst>
          </a:prstGeom>
          <a:solidFill>
            <a:srgbClr val="0E2A34"/>
          </a:solidFill>
          <a:ln w="12700">
            <a:solidFill>
              <a:srgbClr val="3DE8B0"/>
            </a:solidFill>
            <a:prstDash val="solid"/>
          </a:ln>
        </p:spPr>
        <p:txBody>
          <a:bodyPr/>
          <a:lstStyle/>
          <a:p>
            <a:endParaRPr lang="en-AU"/>
          </a:p>
        </p:txBody>
      </p:sp>
      <p:sp>
        <p:nvSpPr>
          <p:cNvPr id="7" name="Shape 4"/>
          <p:cNvSpPr/>
          <p:nvPr/>
        </p:nvSpPr>
        <p:spPr>
          <a:xfrm>
            <a:off x="777240" y="1700784"/>
            <a:ext cx="512064" cy="512064"/>
          </a:xfrm>
          <a:prstGeom prst="ellipse">
            <a:avLst/>
          </a:prstGeom>
          <a:solidFill>
            <a:srgbClr val="123441"/>
          </a:solidFill>
          <a:ln w="15875">
            <a:solidFill>
              <a:srgbClr val="3DE8B0"/>
            </a:solidFill>
            <a:prstDash val="solid"/>
          </a:ln>
        </p:spPr>
        <p:txBody>
          <a:bodyPr/>
          <a:lstStyle/>
          <a:p>
            <a:endParaRPr lang="en-AU"/>
          </a:p>
        </p:txBody>
      </p:sp>
      <p:sp>
        <p:nvSpPr>
          <p:cNvPr id="8" name="Text 5"/>
          <p:cNvSpPr/>
          <p:nvPr/>
        </p:nvSpPr>
        <p:spPr>
          <a:xfrm>
            <a:off x="777240" y="1700784"/>
            <a:ext cx="512064" cy="512064"/>
          </a:xfrm>
          <a:prstGeom prst="rect">
            <a:avLst/>
          </a:prstGeom>
          <a:noFill/>
          <a:ln/>
        </p:spPr>
        <p:txBody>
          <a:bodyPr wrap="square" lIns="0" tIns="0" rIns="0" bIns="0" rtlCol="0" anchor="ctr"/>
          <a:lstStyle/>
          <a:p>
            <a:pPr marL="0" indent="0" algn="ctr">
              <a:buNone/>
            </a:pPr>
            <a:r>
              <a:rPr lang="en-US" sz="1400" b="1" dirty="0">
                <a:solidFill>
                  <a:srgbClr val="3DE8B0"/>
                </a:solidFill>
                <a:latin typeface="Calibri" pitchFamily="34" charset="0"/>
                <a:ea typeface="Calibri" pitchFamily="34" charset="-122"/>
                <a:cs typeface="Calibri" pitchFamily="34" charset="-120"/>
              </a:rPr>
              <a:t>VH</a:t>
            </a:r>
            <a:endParaRPr lang="en-US" sz="1400" dirty="0"/>
          </a:p>
        </p:txBody>
      </p:sp>
      <p:sp>
        <p:nvSpPr>
          <p:cNvPr id="9" name="Text 6"/>
          <p:cNvSpPr/>
          <p:nvPr/>
        </p:nvSpPr>
        <p:spPr>
          <a:xfrm>
            <a:off x="1426464" y="1682496"/>
            <a:ext cx="2633472" cy="274320"/>
          </a:xfrm>
          <a:prstGeom prst="rect">
            <a:avLst/>
          </a:prstGeom>
          <a:noFill/>
          <a:ln/>
        </p:spPr>
        <p:txBody>
          <a:bodyPr wrap="square" lIns="0" tIns="0" rIns="0" bIns="0" rtlCol="0" anchor="ctr"/>
          <a:lstStyle/>
          <a:p>
            <a:pPr marL="0" indent="0">
              <a:buNone/>
            </a:pPr>
            <a:r>
              <a:rPr lang="en-US" sz="1100" b="1" dirty="0">
                <a:solidFill>
                  <a:srgbClr val="EAF6F9"/>
                </a:solidFill>
                <a:latin typeface="Calibri" pitchFamily="34" charset="0"/>
                <a:ea typeface="Calibri" pitchFamily="34" charset="-122"/>
                <a:cs typeface="Calibri" pitchFamily="34" charset="-120"/>
              </a:rPr>
              <a:t>VICTOR HONG  </a:t>
            </a:r>
            <a:r>
              <a:rPr lang="en-US" sz="900" b="1" dirty="0">
                <a:solidFill>
                  <a:srgbClr val="3DE8B0"/>
                </a:solidFill>
                <a:latin typeface="Calibri" pitchFamily="34" charset="0"/>
                <a:ea typeface="Calibri" pitchFamily="34" charset="-122"/>
                <a:cs typeface="Calibri" pitchFamily="34" charset="-120"/>
              </a:rPr>
              <a:t>s4685483</a:t>
            </a:r>
            <a:endParaRPr lang="en-US" sz="1100" dirty="0"/>
          </a:p>
        </p:txBody>
      </p:sp>
      <p:sp>
        <p:nvSpPr>
          <p:cNvPr id="10" name="Text 7"/>
          <p:cNvSpPr/>
          <p:nvPr/>
        </p:nvSpPr>
        <p:spPr>
          <a:xfrm>
            <a:off x="1426464" y="1938528"/>
            <a:ext cx="2633472" cy="365760"/>
          </a:xfrm>
          <a:prstGeom prst="rect">
            <a:avLst/>
          </a:prstGeom>
          <a:noFill/>
          <a:ln/>
        </p:spPr>
        <p:txBody>
          <a:bodyPr wrap="square" lIns="0" tIns="0" rIns="0" bIns="0" rtlCol="0" anchor="ctr"/>
          <a:lstStyle/>
          <a:p>
            <a:pPr marL="0" indent="0">
              <a:buNone/>
            </a:pPr>
            <a:r>
              <a:rPr lang="en-US" sz="950" b="1" dirty="0">
                <a:solidFill>
                  <a:srgbClr val="3DE8B0"/>
                </a:solidFill>
                <a:latin typeface="Calibri" pitchFamily="34" charset="0"/>
                <a:ea typeface="Calibri" pitchFamily="34" charset="-122"/>
                <a:cs typeface="Calibri" pitchFamily="34" charset="-120"/>
              </a:rPr>
              <a:t>Nutrition &amp; Dietary System</a:t>
            </a:r>
            <a:endParaRPr lang="en-US" sz="950" dirty="0"/>
          </a:p>
        </p:txBody>
      </p:sp>
      <p:sp>
        <p:nvSpPr>
          <p:cNvPr id="11" name="Text 8"/>
          <p:cNvSpPr/>
          <p:nvPr/>
        </p:nvSpPr>
        <p:spPr>
          <a:xfrm>
            <a:off x="822960" y="2441448"/>
            <a:ext cx="3136392" cy="1645920"/>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9DBAC3"/>
                </a:solidFill>
                <a:latin typeface="Calibri" pitchFamily="34" charset="0"/>
                <a:ea typeface="Calibri" pitchFamily="34" charset="-122"/>
                <a:cs typeface="Calibri" pitchFamily="34" charset="-120"/>
              </a:rPr>
              <a:t>Calorie &amp; macro engine, the 1,200 kcal floor</a:t>
            </a:r>
            <a:endParaRPr lang="en-US" sz="1050" dirty="0"/>
          </a:p>
          <a:p>
            <a:pPr marL="127000" indent="-127000">
              <a:spcAft>
                <a:spcPts val="600"/>
              </a:spcAft>
              <a:buSzPct val="100000"/>
              <a:buChar char="•"/>
            </a:pPr>
            <a:r>
              <a:rPr lang="en-US" sz="1050" dirty="0">
                <a:solidFill>
                  <a:srgbClr val="9DBAC3"/>
                </a:solidFill>
                <a:latin typeface="Calibri" pitchFamily="34" charset="0"/>
                <a:ea typeface="Calibri" pitchFamily="34" charset="-122"/>
                <a:cs typeface="Calibri" pitchFamily="34" charset="-120"/>
              </a:rPr>
              <a:t>Photo pipeline &amp; the confirmation gate</a:t>
            </a:r>
            <a:endParaRPr lang="en-US" sz="1050" dirty="0"/>
          </a:p>
          <a:p>
            <a:pPr marL="127000" indent="-127000">
              <a:spcAft>
                <a:spcPts val="600"/>
              </a:spcAft>
              <a:buSzPct val="100000"/>
              <a:buChar char="•"/>
            </a:pPr>
            <a:r>
              <a:rPr lang="en-US" sz="1050" dirty="0">
                <a:solidFill>
                  <a:srgbClr val="9DBAC3"/>
                </a:solidFill>
                <a:latin typeface="Calibri" pitchFamily="34" charset="0"/>
                <a:ea typeface="Calibri" pitchFamily="34" charset="-122"/>
                <a:cs typeface="Calibri" pitchFamily="34" charset="-120"/>
              </a:rPr>
              <a:t>Barcodes, allergens, recipes, export</a:t>
            </a:r>
            <a:endParaRPr lang="en-US" sz="1050" dirty="0"/>
          </a:p>
        </p:txBody>
      </p:sp>
      <p:sp>
        <p:nvSpPr>
          <p:cNvPr id="12" name="Shape 9"/>
          <p:cNvSpPr/>
          <p:nvPr/>
        </p:nvSpPr>
        <p:spPr>
          <a:xfrm>
            <a:off x="4370832" y="1481328"/>
            <a:ext cx="3639312" cy="2743200"/>
          </a:xfrm>
          <a:prstGeom prst="roundRect">
            <a:avLst>
              <a:gd name="adj" fmla="val 3333"/>
            </a:avLst>
          </a:prstGeom>
          <a:solidFill>
            <a:srgbClr val="0E2A34"/>
          </a:solidFill>
          <a:ln w="12700">
            <a:solidFill>
              <a:srgbClr val="FF8A70"/>
            </a:solidFill>
            <a:prstDash val="solid"/>
          </a:ln>
        </p:spPr>
        <p:txBody>
          <a:bodyPr/>
          <a:lstStyle/>
          <a:p>
            <a:endParaRPr lang="en-AU"/>
          </a:p>
        </p:txBody>
      </p:sp>
      <p:sp>
        <p:nvSpPr>
          <p:cNvPr id="13" name="Shape 10"/>
          <p:cNvSpPr/>
          <p:nvPr/>
        </p:nvSpPr>
        <p:spPr>
          <a:xfrm>
            <a:off x="4599432" y="1700784"/>
            <a:ext cx="512064" cy="512064"/>
          </a:xfrm>
          <a:prstGeom prst="ellipse">
            <a:avLst/>
          </a:prstGeom>
          <a:solidFill>
            <a:srgbClr val="123441"/>
          </a:solidFill>
          <a:ln w="15875">
            <a:solidFill>
              <a:srgbClr val="FF8A70"/>
            </a:solidFill>
            <a:prstDash val="solid"/>
          </a:ln>
        </p:spPr>
        <p:txBody>
          <a:bodyPr/>
          <a:lstStyle/>
          <a:p>
            <a:endParaRPr lang="en-AU"/>
          </a:p>
        </p:txBody>
      </p:sp>
      <p:sp>
        <p:nvSpPr>
          <p:cNvPr id="14" name="Text 11"/>
          <p:cNvSpPr/>
          <p:nvPr/>
        </p:nvSpPr>
        <p:spPr>
          <a:xfrm>
            <a:off x="4599432" y="1700784"/>
            <a:ext cx="512064" cy="512064"/>
          </a:xfrm>
          <a:prstGeom prst="rect">
            <a:avLst/>
          </a:prstGeom>
          <a:noFill/>
          <a:ln/>
        </p:spPr>
        <p:txBody>
          <a:bodyPr wrap="square" lIns="0" tIns="0" rIns="0" bIns="0" rtlCol="0" anchor="ctr"/>
          <a:lstStyle/>
          <a:p>
            <a:pPr marL="0" indent="0" algn="ctr">
              <a:buNone/>
            </a:pPr>
            <a:r>
              <a:rPr lang="en-US" sz="1400" b="1" dirty="0">
                <a:solidFill>
                  <a:srgbClr val="FF8A70"/>
                </a:solidFill>
                <a:latin typeface="Calibri" pitchFamily="34" charset="0"/>
                <a:ea typeface="Calibri" pitchFamily="34" charset="-122"/>
                <a:cs typeface="Calibri" pitchFamily="34" charset="-120"/>
              </a:rPr>
              <a:t>EL</a:t>
            </a:r>
            <a:endParaRPr lang="en-US" sz="1400" dirty="0"/>
          </a:p>
        </p:txBody>
      </p:sp>
      <p:sp>
        <p:nvSpPr>
          <p:cNvPr id="15" name="Text 12"/>
          <p:cNvSpPr/>
          <p:nvPr/>
        </p:nvSpPr>
        <p:spPr>
          <a:xfrm>
            <a:off x="5248656" y="1682496"/>
            <a:ext cx="2633472" cy="274320"/>
          </a:xfrm>
          <a:prstGeom prst="rect">
            <a:avLst/>
          </a:prstGeom>
          <a:noFill/>
          <a:ln/>
        </p:spPr>
        <p:txBody>
          <a:bodyPr wrap="square" lIns="0" tIns="0" rIns="0" bIns="0" rtlCol="0" anchor="ctr"/>
          <a:lstStyle/>
          <a:p>
            <a:pPr marL="0" indent="0">
              <a:buNone/>
            </a:pPr>
            <a:r>
              <a:rPr lang="en-US" sz="1100" b="1" dirty="0">
                <a:solidFill>
                  <a:srgbClr val="EAF6F9"/>
                </a:solidFill>
                <a:latin typeface="Calibri" pitchFamily="34" charset="0"/>
                <a:ea typeface="Calibri" pitchFamily="34" charset="-122"/>
                <a:cs typeface="Calibri" pitchFamily="34" charset="-120"/>
              </a:rPr>
              <a:t>ERIC LA  </a:t>
            </a:r>
            <a:r>
              <a:rPr lang="en-US" sz="900" b="1" dirty="0">
                <a:solidFill>
                  <a:srgbClr val="FF8A70"/>
                </a:solidFill>
                <a:latin typeface="Calibri" pitchFamily="34" charset="0"/>
                <a:ea typeface="Calibri" pitchFamily="34" charset="-122"/>
                <a:cs typeface="Calibri" pitchFamily="34" charset="-120"/>
              </a:rPr>
              <a:t>s8147350</a:t>
            </a:r>
            <a:endParaRPr lang="en-US" sz="1100" dirty="0"/>
          </a:p>
        </p:txBody>
      </p:sp>
      <p:sp>
        <p:nvSpPr>
          <p:cNvPr id="16" name="Text 13"/>
          <p:cNvSpPr/>
          <p:nvPr/>
        </p:nvSpPr>
        <p:spPr>
          <a:xfrm>
            <a:off x="5248656" y="1938528"/>
            <a:ext cx="2633472" cy="365760"/>
          </a:xfrm>
          <a:prstGeom prst="rect">
            <a:avLst/>
          </a:prstGeom>
          <a:noFill/>
          <a:ln/>
        </p:spPr>
        <p:txBody>
          <a:bodyPr wrap="square" lIns="0" tIns="0" rIns="0" bIns="0" rtlCol="0" anchor="ctr"/>
          <a:lstStyle/>
          <a:p>
            <a:pPr marL="0" indent="0">
              <a:buNone/>
            </a:pPr>
            <a:r>
              <a:rPr lang="en-US" sz="950" b="1" dirty="0">
                <a:solidFill>
                  <a:srgbClr val="FF8A70"/>
                </a:solidFill>
                <a:latin typeface="Calibri" pitchFamily="34" charset="0"/>
                <a:ea typeface="Calibri" pitchFamily="34" charset="-122"/>
                <a:cs typeface="Calibri" pitchFamily="34" charset="-120"/>
              </a:rPr>
              <a:t>Training &amp; Workout System</a:t>
            </a:r>
            <a:endParaRPr lang="en-US" sz="950" dirty="0"/>
          </a:p>
        </p:txBody>
      </p:sp>
      <p:sp>
        <p:nvSpPr>
          <p:cNvPr id="17" name="Text 14"/>
          <p:cNvSpPr/>
          <p:nvPr/>
        </p:nvSpPr>
        <p:spPr>
          <a:xfrm>
            <a:off x="4645152" y="2441448"/>
            <a:ext cx="3136392" cy="1645920"/>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9DBAC3"/>
                </a:solidFill>
                <a:latin typeface="Calibri" pitchFamily="34" charset="0"/>
                <a:ea typeface="Calibri" pitchFamily="34" charset="-122"/>
                <a:cs typeface="Calibri" pitchFamily="34" charset="-120"/>
              </a:rPr>
              <a:t>Exercise corpus &amp; licence governance</a:t>
            </a:r>
            <a:endParaRPr lang="en-US" sz="1050" dirty="0"/>
          </a:p>
          <a:p>
            <a:pPr marL="127000" indent="-127000">
              <a:spcAft>
                <a:spcPts val="600"/>
              </a:spcAft>
              <a:buSzPct val="100000"/>
              <a:buChar char="•"/>
            </a:pPr>
            <a:r>
              <a:rPr lang="en-US" sz="1050" dirty="0">
                <a:solidFill>
                  <a:srgbClr val="9DBAC3"/>
                </a:solidFill>
                <a:latin typeface="Calibri" pitchFamily="34" charset="0"/>
                <a:ea typeface="Calibri" pitchFamily="34" charset="-122"/>
                <a:cs typeface="Calibri" pitchFamily="34" charset="-120"/>
              </a:rPr>
              <a:t>Plan generator &amp; progression-as-data</a:t>
            </a:r>
            <a:endParaRPr lang="en-US" sz="1050" dirty="0"/>
          </a:p>
          <a:p>
            <a:pPr marL="127000" indent="-127000">
              <a:spcAft>
                <a:spcPts val="600"/>
              </a:spcAft>
              <a:buSzPct val="100000"/>
              <a:buChar char="•"/>
            </a:pPr>
            <a:r>
              <a:rPr lang="en-US" sz="1050" dirty="0">
                <a:solidFill>
                  <a:srgbClr val="9DBAC3"/>
                </a:solidFill>
                <a:latin typeface="Calibri" pitchFamily="34" charset="0"/>
                <a:ea typeface="Calibri" pitchFamily="34" charset="-122"/>
                <a:cs typeface="Calibri" pitchFamily="34" charset="-120"/>
              </a:rPr>
              <a:t>Readiness, session logger, analytics</a:t>
            </a:r>
            <a:endParaRPr lang="en-US" sz="1050" dirty="0"/>
          </a:p>
        </p:txBody>
      </p:sp>
      <p:sp>
        <p:nvSpPr>
          <p:cNvPr id="18" name="Shape 15"/>
          <p:cNvSpPr/>
          <p:nvPr/>
        </p:nvSpPr>
        <p:spPr>
          <a:xfrm>
            <a:off x="8193024" y="1481328"/>
            <a:ext cx="3639312" cy="2743200"/>
          </a:xfrm>
          <a:prstGeom prst="roundRect">
            <a:avLst>
              <a:gd name="adj" fmla="val 3333"/>
            </a:avLst>
          </a:prstGeom>
          <a:solidFill>
            <a:srgbClr val="0E2A34"/>
          </a:solidFill>
          <a:ln w="12700">
            <a:solidFill>
              <a:srgbClr val="4FD8F0"/>
            </a:solidFill>
            <a:prstDash val="solid"/>
          </a:ln>
        </p:spPr>
        <p:txBody>
          <a:bodyPr/>
          <a:lstStyle/>
          <a:p>
            <a:endParaRPr lang="en-AU"/>
          </a:p>
        </p:txBody>
      </p:sp>
      <p:sp>
        <p:nvSpPr>
          <p:cNvPr id="19" name="Shape 16"/>
          <p:cNvSpPr/>
          <p:nvPr/>
        </p:nvSpPr>
        <p:spPr>
          <a:xfrm>
            <a:off x="8421624" y="1700784"/>
            <a:ext cx="512064" cy="512064"/>
          </a:xfrm>
          <a:prstGeom prst="ellipse">
            <a:avLst/>
          </a:prstGeom>
          <a:solidFill>
            <a:srgbClr val="123441"/>
          </a:solidFill>
          <a:ln w="15875">
            <a:solidFill>
              <a:srgbClr val="4FD8F0"/>
            </a:solidFill>
            <a:prstDash val="solid"/>
          </a:ln>
        </p:spPr>
        <p:txBody>
          <a:bodyPr/>
          <a:lstStyle/>
          <a:p>
            <a:endParaRPr lang="en-AU"/>
          </a:p>
        </p:txBody>
      </p:sp>
      <p:sp>
        <p:nvSpPr>
          <p:cNvPr id="20" name="Text 17"/>
          <p:cNvSpPr/>
          <p:nvPr/>
        </p:nvSpPr>
        <p:spPr>
          <a:xfrm>
            <a:off x="8421624" y="1700784"/>
            <a:ext cx="512064" cy="512064"/>
          </a:xfrm>
          <a:prstGeom prst="rect">
            <a:avLst/>
          </a:prstGeom>
          <a:noFill/>
          <a:ln/>
        </p:spPr>
        <p:txBody>
          <a:bodyPr wrap="square" lIns="0" tIns="0" rIns="0" bIns="0" rtlCol="0" anchor="ctr"/>
          <a:lstStyle/>
          <a:p>
            <a:pPr marL="0" indent="0" algn="ctr">
              <a:buNone/>
            </a:pPr>
            <a:r>
              <a:rPr lang="en-US" sz="1400" b="1" dirty="0">
                <a:solidFill>
                  <a:srgbClr val="4FD8F0"/>
                </a:solidFill>
                <a:latin typeface="Calibri" pitchFamily="34" charset="0"/>
                <a:ea typeface="Calibri" pitchFamily="34" charset="-122"/>
                <a:cs typeface="Calibri" pitchFamily="34" charset="-120"/>
              </a:rPr>
              <a:t>TW</a:t>
            </a:r>
            <a:endParaRPr lang="en-US" sz="1400" dirty="0"/>
          </a:p>
        </p:txBody>
      </p:sp>
      <p:sp>
        <p:nvSpPr>
          <p:cNvPr id="21" name="Text 18"/>
          <p:cNvSpPr/>
          <p:nvPr/>
        </p:nvSpPr>
        <p:spPr>
          <a:xfrm>
            <a:off x="9070848" y="1682496"/>
            <a:ext cx="2633472" cy="274320"/>
          </a:xfrm>
          <a:prstGeom prst="rect">
            <a:avLst/>
          </a:prstGeom>
          <a:noFill/>
          <a:ln/>
        </p:spPr>
        <p:txBody>
          <a:bodyPr wrap="square" lIns="0" tIns="0" rIns="0" bIns="0" rtlCol="0" anchor="ctr"/>
          <a:lstStyle/>
          <a:p>
            <a:pPr marL="0" indent="0">
              <a:buNone/>
            </a:pPr>
            <a:r>
              <a:rPr lang="en-US" sz="1100" b="1" dirty="0">
                <a:solidFill>
                  <a:srgbClr val="EAF6F9"/>
                </a:solidFill>
                <a:latin typeface="Calibri" pitchFamily="34" charset="0"/>
                <a:ea typeface="Calibri" pitchFamily="34" charset="-122"/>
                <a:cs typeface="Calibri" pitchFamily="34" charset="-120"/>
              </a:rPr>
              <a:t>TUNDJI WILLIAMS-FULWOOD  </a:t>
            </a:r>
            <a:r>
              <a:rPr lang="en-US" sz="900" b="1" dirty="0">
                <a:solidFill>
                  <a:srgbClr val="4FD8F0"/>
                </a:solidFill>
                <a:latin typeface="Calibri" pitchFamily="34" charset="0"/>
                <a:ea typeface="Calibri" pitchFamily="34" charset="-122"/>
                <a:cs typeface="Calibri" pitchFamily="34" charset="-120"/>
              </a:rPr>
              <a:t>s8138393</a:t>
            </a:r>
            <a:endParaRPr lang="en-US" sz="1100" dirty="0"/>
          </a:p>
        </p:txBody>
      </p:sp>
      <p:sp>
        <p:nvSpPr>
          <p:cNvPr id="22" name="Text 19"/>
          <p:cNvSpPr/>
          <p:nvPr/>
        </p:nvSpPr>
        <p:spPr>
          <a:xfrm>
            <a:off x="9070848" y="1938528"/>
            <a:ext cx="2633472" cy="365760"/>
          </a:xfrm>
          <a:prstGeom prst="rect">
            <a:avLst/>
          </a:prstGeom>
          <a:noFill/>
          <a:ln/>
        </p:spPr>
        <p:txBody>
          <a:bodyPr wrap="square" lIns="0" tIns="0" rIns="0" bIns="0" rtlCol="0" anchor="ctr"/>
          <a:lstStyle/>
          <a:p>
            <a:pPr marL="0" indent="0">
              <a:buNone/>
            </a:pPr>
            <a:r>
              <a:rPr lang="en-US" sz="950" b="1" dirty="0">
                <a:solidFill>
                  <a:srgbClr val="4FD8F0"/>
                </a:solidFill>
                <a:latin typeface="Calibri" pitchFamily="34" charset="0"/>
                <a:ea typeface="Calibri" pitchFamily="34" charset="-122"/>
                <a:cs typeface="Calibri" pitchFamily="34" charset="-120"/>
              </a:rPr>
              <a:t>Platform, AI, Safety &amp; Operations</a:t>
            </a:r>
            <a:endParaRPr lang="en-US" sz="950" dirty="0"/>
          </a:p>
        </p:txBody>
      </p:sp>
      <p:sp>
        <p:nvSpPr>
          <p:cNvPr id="23" name="Text 20"/>
          <p:cNvSpPr/>
          <p:nvPr/>
        </p:nvSpPr>
        <p:spPr>
          <a:xfrm>
            <a:off x="8467344" y="2441448"/>
            <a:ext cx="3136392" cy="1645920"/>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9DBAC3"/>
                </a:solidFill>
                <a:latin typeface="Calibri" pitchFamily="34" charset="0"/>
                <a:ea typeface="Calibri" pitchFamily="34" charset="-122"/>
                <a:cs typeface="Calibri" pitchFamily="34" charset="-120"/>
              </a:rPr>
              <a:t>AI Gateway, guardrails, offline fallback</a:t>
            </a:r>
            <a:endParaRPr lang="en-US" sz="1050" dirty="0"/>
          </a:p>
          <a:p>
            <a:pPr marL="127000" indent="-127000">
              <a:spcAft>
                <a:spcPts val="600"/>
              </a:spcAft>
              <a:buSzPct val="100000"/>
              <a:buChar char="•"/>
            </a:pPr>
            <a:r>
              <a:rPr lang="en-US" sz="1050" dirty="0">
                <a:solidFill>
                  <a:srgbClr val="9DBAC3"/>
                </a:solidFill>
                <a:latin typeface="Calibri" pitchFamily="34" charset="0"/>
                <a:ea typeface="Calibri" pitchFamily="34" charset="-122"/>
                <a:cs typeface="Calibri" pitchFamily="34" charset="-120"/>
              </a:rPr>
              <a:t>Auth, privacy, consent &amp; deletion</a:t>
            </a:r>
            <a:endParaRPr lang="en-US" sz="1050" dirty="0"/>
          </a:p>
          <a:p>
            <a:pPr marL="127000" indent="-127000">
              <a:spcAft>
                <a:spcPts val="600"/>
              </a:spcAft>
              <a:buSzPct val="100000"/>
              <a:buChar char="•"/>
            </a:pPr>
            <a:r>
              <a:rPr lang="en-US" sz="1050" dirty="0">
                <a:solidFill>
                  <a:srgbClr val="9DBAC3"/>
                </a:solidFill>
                <a:latin typeface="Calibri" pitchFamily="34" charset="0"/>
                <a:ea typeface="Calibri" pitchFamily="34" charset="-122"/>
                <a:cs typeface="Calibri" pitchFamily="34" charset="-120"/>
              </a:rPr>
              <a:t>Gamification, payments, testing, ops</a:t>
            </a:r>
            <a:endParaRPr lang="en-US" sz="1050" dirty="0"/>
          </a:p>
        </p:txBody>
      </p:sp>
      <p:sp>
        <p:nvSpPr>
          <p:cNvPr id="24" name="Text 21"/>
          <p:cNvSpPr/>
          <p:nvPr/>
        </p:nvSpPr>
        <p:spPr>
          <a:xfrm>
            <a:off x="566928" y="4526280"/>
            <a:ext cx="5486400" cy="256032"/>
          </a:xfrm>
          <a:prstGeom prst="rect">
            <a:avLst/>
          </a:prstGeom>
          <a:noFill/>
          <a:ln/>
        </p:spPr>
        <p:txBody>
          <a:bodyPr wrap="square" lIns="0" tIns="0" rIns="0" bIns="0" rtlCol="0" anchor="ctr"/>
          <a:lstStyle/>
          <a:p>
            <a:pPr marL="0" indent="0">
              <a:buNone/>
            </a:pPr>
            <a:r>
              <a:rPr lang="en-US" sz="1000" b="1" kern="0" spc="200" dirty="0">
                <a:solidFill>
                  <a:srgbClr val="6E939D"/>
                </a:solidFill>
                <a:latin typeface="Calibri" pitchFamily="34" charset="0"/>
                <a:ea typeface="Calibri" pitchFamily="34" charset="-122"/>
                <a:cs typeface="Calibri" pitchFamily="34" charset="-120"/>
              </a:rPr>
              <a:t>BUILT ON THE SHOULDERS OF</a:t>
            </a:r>
            <a:endParaRPr lang="en-US" sz="1000" dirty="0"/>
          </a:p>
        </p:txBody>
      </p:sp>
      <p:sp>
        <p:nvSpPr>
          <p:cNvPr id="25" name="Text 22"/>
          <p:cNvSpPr/>
          <p:nvPr/>
        </p:nvSpPr>
        <p:spPr>
          <a:xfrm>
            <a:off x="566928" y="4828032"/>
            <a:ext cx="10972800" cy="274320"/>
          </a:xfrm>
          <a:prstGeom prst="rect">
            <a:avLst/>
          </a:prstGeom>
          <a:noFill/>
          <a:ln/>
        </p:spPr>
        <p:txBody>
          <a:bodyPr wrap="square" lIns="0" tIns="0" rIns="0" bIns="0" rtlCol="0" anchor="ctr"/>
          <a:lstStyle/>
          <a:p>
            <a:pPr marL="0" indent="0">
              <a:buNone/>
            </a:pPr>
            <a:r>
              <a:rPr lang="en-US" sz="1050" b="1" dirty="0">
                <a:solidFill>
                  <a:srgbClr val="EAF6F9"/>
                </a:solidFill>
                <a:latin typeface="Calibri" pitchFamily="34" charset="0"/>
                <a:ea typeface="Calibri" pitchFamily="34" charset="-122"/>
                <a:cs typeface="Calibri" pitchFamily="34" charset="-120"/>
              </a:rPr>
              <a:t>Data:  </a:t>
            </a:r>
            <a:r>
              <a:rPr lang="en-US" sz="1050" dirty="0">
                <a:solidFill>
                  <a:srgbClr val="9DBAC3"/>
                </a:solidFill>
                <a:latin typeface="Calibri" pitchFamily="34" charset="0"/>
                <a:ea typeface="Calibri" pitchFamily="34" charset="-122"/>
                <a:cs typeface="Calibri" pitchFamily="34" charset="-120"/>
              </a:rPr>
              <a:t>wger exercise database (CC BY-SA 4.0, attribution rendered in-app)  ·  Open Food Facts (ODbL)  ·  USDA FoodData Central (CC0)</a:t>
            </a:r>
            <a:endParaRPr lang="en-US" sz="1050" dirty="0"/>
          </a:p>
        </p:txBody>
      </p:sp>
      <p:sp>
        <p:nvSpPr>
          <p:cNvPr id="26" name="Text 23"/>
          <p:cNvSpPr/>
          <p:nvPr/>
        </p:nvSpPr>
        <p:spPr>
          <a:xfrm>
            <a:off x="566928" y="5102352"/>
            <a:ext cx="10972800" cy="274320"/>
          </a:xfrm>
          <a:prstGeom prst="rect">
            <a:avLst/>
          </a:prstGeom>
          <a:noFill/>
          <a:ln/>
        </p:spPr>
        <p:txBody>
          <a:bodyPr wrap="square" lIns="0" tIns="0" rIns="0" bIns="0" rtlCol="0" anchor="ctr"/>
          <a:lstStyle/>
          <a:p>
            <a:pPr marL="0" indent="0">
              <a:buNone/>
            </a:pPr>
            <a:r>
              <a:rPr lang="en-US" sz="1050" b="1" dirty="0">
                <a:solidFill>
                  <a:srgbClr val="EAF6F9"/>
                </a:solidFill>
                <a:latin typeface="Calibri" pitchFamily="34" charset="0"/>
                <a:ea typeface="Calibri" pitchFamily="34" charset="-122"/>
                <a:cs typeface="Calibri" pitchFamily="34" charset="-120"/>
              </a:rPr>
              <a:t>Platform:  </a:t>
            </a:r>
            <a:r>
              <a:rPr lang="en-US" sz="1050" dirty="0">
                <a:solidFill>
                  <a:srgbClr val="9DBAC3"/>
                </a:solidFill>
                <a:latin typeface="Calibri" pitchFamily="34" charset="0"/>
                <a:ea typeface="Calibri" pitchFamily="34" charset="-122"/>
                <a:cs typeface="Calibri" pitchFamily="34" charset="-120"/>
              </a:rPr>
              <a:t>Telegram Bot &amp; Mini App platform  ·  React 18  ·  Node.js + Express  ·  TypeScript  ·  zod  ·  Tailwind CSS  ·  TanStack Query  ·  Vitest  ·  sharp</a:t>
            </a:r>
            <a:endParaRPr lang="en-US" sz="1050" dirty="0"/>
          </a:p>
        </p:txBody>
      </p:sp>
      <p:sp>
        <p:nvSpPr>
          <p:cNvPr id="27" name="Text 24"/>
          <p:cNvSpPr/>
          <p:nvPr/>
        </p:nvSpPr>
        <p:spPr>
          <a:xfrm>
            <a:off x="566928" y="5376672"/>
            <a:ext cx="10972800" cy="274320"/>
          </a:xfrm>
          <a:prstGeom prst="rect">
            <a:avLst/>
          </a:prstGeom>
          <a:noFill/>
          <a:ln/>
        </p:spPr>
        <p:txBody>
          <a:bodyPr wrap="square" lIns="0" tIns="0" rIns="0" bIns="0" rtlCol="0" anchor="ctr"/>
          <a:lstStyle/>
          <a:p>
            <a:pPr marL="0" indent="0">
              <a:buNone/>
            </a:pPr>
            <a:r>
              <a:rPr lang="en-US" sz="1050" b="1" dirty="0">
                <a:solidFill>
                  <a:srgbClr val="EAF6F9"/>
                </a:solidFill>
                <a:latin typeface="Calibri" pitchFamily="34" charset="0"/>
                <a:ea typeface="Calibri" pitchFamily="34" charset="-122"/>
                <a:cs typeface="Calibri" pitchFamily="34" charset="-120"/>
              </a:rPr>
              <a:t>Project:  </a:t>
            </a:r>
            <a:r>
              <a:rPr lang="en-US" sz="1050" dirty="0">
                <a:solidFill>
                  <a:srgbClr val="9DBAC3"/>
                </a:solidFill>
                <a:latin typeface="Calibri" pitchFamily="34" charset="0"/>
                <a:ea typeface="Calibri" pitchFamily="34" charset="-122"/>
                <a:cs typeface="Calibri" pitchFamily="34" charset="-120"/>
              </a:rPr>
              <a:t>AquaZeroFit v1.0.0  ·  licensed AGPL-3.0-or-later  ·  full licence and attribution register in the repository (ATTRIBUTION.md, THIRD_PARTY_NOTICES.md)</a:t>
            </a:r>
            <a:endParaRPr lang="en-US" sz="1050" dirty="0"/>
          </a:p>
        </p:txBody>
      </p:sp>
      <p:sp>
        <p:nvSpPr>
          <p:cNvPr id="28" name="Text 25"/>
          <p:cNvSpPr/>
          <p:nvPr/>
        </p:nvSpPr>
        <p:spPr>
          <a:xfrm>
            <a:off x="566928" y="5852160"/>
            <a:ext cx="10972800" cy="365760"/>
          </a:xfrm>
          <a:prstGeom prst="rect">
            <a:avLst/>
          </a:prstGeom>
          <a:noFill/>
          <a:ln/>
        </p:spPr>
        <p:txBody>
          <a:bodyPr wrap="square" lIns="0" tIns="0" rIns="0" bIns="0" rtlCol="0" anchor="ctr"/>
          <a:lstStyle/>
          <a:p>
            <a:pPr marL="0" indent="0">
              <a:buNone/>
            </a:pPr>
            <a:r>
              <a:rPr lang="en-US" sz="1600" b="1" dirty="0">
                <a:solidFill>
                  <a:srgbClr val="4FD8F0"/>
                </a:solidFill>
                <a:latin typeface="Calibri" pitchFamily="34" charset="0"/>
                <a:ea typeface="Calibri" pitchFamily="34" charset="-122"/>
                <a:cs typeface="Calibri" pitchFamily="34" charset="-120"/>
              </a:rPr>
              <a:t>Thank you.   Group 15: Babatundji Williams-Fulwood s8138393  ·  Eric La s8147350  ·  Victor Hong s4685483</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25</a:t>
            </a:r>
            <a:endParaRPr lang="en-US" sz="850" dirty="0"/>
          </a:p>
        </p:txBody>
      </p:sp>
      <p:sp>
        <p:nvSpPr>
          <p:cNvPr id="4" name="Text 2"/>
          <p:cNvSpPr/>
          <p:nvPr/>
        </p:nvSpPr>
        <p:spPr>
          <a:xfrm>
            <a:off x="603504" y="2103120"/>
            <a:ext cx="5486400" cy="365760"/>
          </a:xfrm>
          <a:prstGeom prst="rect">
            <a:avLst/>
          </a:prstGeom>
          <a:noFill/>
          <a:ln/>
        </p:spPr>
        <p:txBody>
          <a:bodyPr wrap="square" lIns="0" tIns="0" rIns="0" bIns="0" rtlCol="0" anchor="ctr"/>
          <a:lstStyle/>
          <a:p>
            <a:pPr marL="0" indent="0">
              <a:buNone/>
            </a:pPr>
            <a:r>
              <a:rPr lang="en-US" sz="1400" b="1" kern="0" spc="400" dirty="0">
                <a:solidFill>
                  <a:srgbClr val="FFC94D"/>
                </a:solidFill>
                <a:latin typeface="Calibri" pitchFamily="34" charset="0"/>
                <a:ea typeface="Calibri" pitchFamily="34" charset="-122"/>
                <a:cs typeface="Calibri" pitchFamily="34" charset="-120"/>
              </a:rPr>
              <a:t>APPENDIX</a:t>
            </a:r>
            <a:endParaRPr lang="en-US" sz="1400" dirty="0"/>
          </a:p>
        </p:txBody>
      </p:sp>
      <p:sp>
        <p:nvSpPr>
          <p:cNvPr id="5" name="Text 3"/>
          <p:cNvSpPr/>
          <p:nvPr/>
        </p:nvSpPr>
        <p:spPr>
          <a:xfrm>
            <a:off x="566928" y="2487168"/>
            <a:ext cx="10515600" cy="822960"/>
          </a:xfrm>
          <a:prstGeom prst="rect">
            <a:avLst/>
          </a:prstGeom>
          <a:noFill/>
          <a:ln/>
        </p:spPr>
        <p:txBody>
          <a:bodyPr wrap="square" lIns="0" tIns="0" rIns="0" bIns="0" rtlCol="0" anchor="ctr"/>
          <a:lstStyle/>
          <a:p>
            <a:pPr marL="0" indent="0">
              <a:buNone/>
            </a:pPr>
            <a:r>
              <a:rPr lang="en-US" sz="4000" b="1" dirty="0">
                <a:solidFill>
                  <a:srgbClr val="EAF6F9"/>
                </a:solidFill>
                <a:latin typeface="Calibri" pitchFamily="34" charset="0"/>
                <a:ea typeface="Calibri" pitchFamily="34" charset="-122"/>
                <a:cs typeface="Calibri" pitchFamily="34" charset="-120"/>
              </a:rPr>
              <a:t>Code deep dives for Q&amp;A</a:t>
            </a:r>
            <a:endParaRPr lang="en-US" sz="4000" dirty="0"/>
          </a:p>
        </p:txBody>
      </p:sp>
      <p:sp>
        <p:nvSpPr>
          <p:cNvPr id="6" name="Text 4"/>
          <p:cNvSpPr/>
          <p:nvPr/>
        </p:nvSpPr>
        <p:spPr>
          <a:xfrm>
            <a:off x="603504" y="3429000"/>
            <a:ext cx="9692640" cy="822960"/>
          </a:xfrm>
          <a:prstGeom prst="rect">
            <a:avLst/>
          </a:prstGeom>
          <a:noFill/>
          <a:ln/>
        </p:spPr>
        <p:txBody>
          <a:bodyPr wrap="square" lIns="0" tIns="0" rIns="0" bIns="0" rtlCol="0" anchor="ctr"/>
          <a:lstStyle/>
          <a:p>
            <a:pPr marL="0" indent="0">
              <a:lnSpc>
                <a:spcPct val="115000"/>
              </a:lnSpc>
              <a:buNone/>
            </a:pPr>
            <a:r>
              <a:rPr lang="en-US" sz="1400" dirty="0">
                <a:solidFill>
                  <a:srgbClr val="9DBAC3"/>
                </a:solidFill>
                <a:latin typeface="Calibri" pitchFamily="34" charset="0"/>
                <a:ea typeface="Calibri" pitchFamily="34" charset="-122"/>
                <a:cs typeface="Calibri" pitchFamily="34" charset="-120"/>
              </a:rPr>
              <a:t>Kept out of the ten minutes on purpose. Every listing on the next slides is real shipped code, quoted (and lightly abridged) from the repository. Full listings are documented in sections 9 to 11 of our Software Architecture and Contribution Report (AQF-24).</a:t>
            </a:r>
            <a:endParaRPr lang="en-US" sz="1400" dirty="0"/>
          </a:p>
        </p:txBody>
      </p:sp>
      <p:sp>
        <p:nvSpPr>
          <p:cNvPr id="7" name="Shape 5"/>
          <p:cNvSpPr/>
          <p:nvPr/>
        </p:nvSpPr>
        <p:spPr>
          <a:xfrm>
            <a:off x="640080" y="4645152"/>
            <a:ext cx="128016" cy="128016"/>
          </a:xfrm>
          <a:prstGeom prst="ellipse">
            <a:avLst/>
          </a:prstGeom>
          <a:solidFill>
            <a:srgbClr val="3DE8B0"/>
          </a:solidFill>
          <a:ln/>
        </p:spPr>
        <p:txBody>
          <a:bodyPr/>
          <a:lstStyle/>
          <a:p>
            <a:endParaRPr lang="en-AU"/>
          </a:p>
        </p:txBody>
      </p:sp>
      <p:sp>
        <p:nvSpPr>
          <p:cNvPr id="8" name="Text 6"/>
          <p:cNvSpPr/>
          <p:nvPr/>
        </p:nvSpPr>
        <p:spPr>
          <a:xfrm>
            <a:off x="914400" y="4572000"/>
            <a:ext cx="9601200" cy="365760"/>
          </a:xfrm>
          <a:prstGeom prst="rect">
            <a:avLst/>
          </a:prstGeom>
          <a:noFill/>
          <a:ln/>
        </p:spPr>
        <p:txBody>
          <a:bodyPr wrap="square" lIns="0" tIns="0" rIns="0" bIns="0" rtlCol="0" anchor="ctr"/>
          <a:lstStyle/>
          <a:p>
            <a:pPr marL="0" indent="0">
              <a:buNone/>
            </a:pPr>
            <a:r>
              <a:rPr lang="en-US" sz="1300" b="1" dirty="0">
                <a:solidFill>
                  <a:srgbClr val="EAF6F9"/>
                </a:solidFill>
                <a:latin typeface="Calibri" pitchFamily="34" charset="0"/>
                <a:ea typeface="Calibri" pitchFamily="34" charset="-122"/>
                <a:cs typeface="Calibri" pitchFamily="34" charset="-120"/>
              </a:rPr>
              <a:t>Meal-photo privacy: the re-encode   </a:t>
            </a:r>
            <a:r>
              <a:rPr lang="en-US" sz="1100" dirty="0">
                <a:solidFill>
                  <a:srgbClr val="9DBAC3"/>
                </a:solidFill>
                <a:latin typeface="Calibri" pitchFamily="34" charset="0"/>
                <a:ea typeface="Calibri" pitchFamily="34" charset="-122"/>
                <a:cs typeface="Calibri" pitchFamily="34" charset="-120"/>
              </a:rPr>
              <a:t>Victor Hong</a:t>
            </a:r>
            <a:endParaRPr lang="en-US" sz="1300" dirty="0"/>
          </a:p>
        </p:txBody>
      </p:sp>
      <p:sp>
        <p:nvSpPr>
          <p:cNvPr id="9" name="Shape 7"/>
          <p:cNvSpPr/>
          <p:nvPr/>
        </p:nvSpPr>
        <p:spPr>
          <a:xfrm>
            <a:off x="640080" y="5157216"/>
            <a:ext cx="128016" cy="128016"/>
          </a:xfrm>
          <a:prstGeom prst="ellipse">
            <a:avLst/>
          </a:prstGeom>
          <a:solidFill>
            <a:srgbClr val="4FD8F0"/>
          </a:solidFill>
          <a:ln/>
        </p:spPr>
        <p:txBody>
          <a:bodyPr/>
          <a:lstStyle/>
          <a:p>
            <a:endParaRPr lang="en-AU"/>
          </a:p>
        </p:txBody>
      </p:sp>
      <p:sp>
        <p:nvSpPr>
          <p:cNvPr id="10" name="Text 8"/>
          <p:cNvSpPr/>
          <p:nvPr/>
        </p:nvSpPr>
        <p:spPr>
          <a:xfrm>
            <a:off x="914400" y="5084064"/>
            <a:ext cx="9601200" cy="365760"/>
          </a:xfrm>
          <a:prstGeom prst="rect">
            <a:avLst/>
          </a:prstGeom>
          <a:noFill/>
          <a:ln/>
        </p:spPr>
        <p:txBody>
          <a:bodyPr wrap="square" lIns="0" tIns="0" rIns="0" bIns="0" rtlCol="0" anchor="ctr"/>
          <a:lstStyle/>
          <a:p>
            <a:pPr marL="0" indent="0">
              <a:buNone/>
            </a:pPr>
            <a:r>
              <a:rPr lang="en-US" sz="1300" b="1" dirty="0">
                <a:solidFill>
                  <a:srgbClr val="EAF6F9"/>
                </a:solidFill>
                <a:latin typeface="Calibri" pitchFamily="34" charset="0"/>
                <a:ea typeface="Calibri" pitchFamily="34" charset="-122"/>
                <a:cs typeface="Calibri" pitchFamily="34" charset="-120"/>
              </a:rPr>
              <a:t>Stolen sessions die on replay   </a:t>
            </a:r>
            <a:r>
              <a:rPr lang="en-US" sz="1100" dirty="0">
                <a:solidFill>
                  <a:srgbClr val="9DBAC3"/>
                </a:solidFill>
                <a:latin typeface="Calibri" pitchFamily="34" charset="0"/>
                <a:ea typeface="Calibri" pitchFamily="34" charset="-122"/>
                <a:cs typeface="Calibri" pitchFamily="34" charset="-120"/>
              </a:rPr>
              <a:t>Tundji Williams-Fulwood</a:t>
            </a:r>
            <a:endParaRPr lang="en-US" sz="1300" dirty="0"/>
          </a:p>
        </p:txBody>
      </p:sp>
      <p:sp>
        <p:nvSpPr>
          <p:cNvPr id="11" name="Shape 9"/>
          <p:cNvSpPr/>
          <p:nvPr/>
        </p:nvSpPr>
        <p:spPr>
          <a:xfrm>
            <a:off x="640080" y="5669280"/>
            <a:ext cx="128016" cy="128016"/>
          </a:xfrm>
          <a:prstGeom prst="ellipse">
            <a:avLst/>
          </a:prstGeom>
          <a:solidFill>
            <a:srgbClr val="4FD8F0"/>
          </a:solidFill>
          <a:ln/>
        </p:spPr>
        <p:txBody>
          <a:bodyPr/>
          <a:lstStyle/>
          <a:p>
            <a:endParaRPr lang="en-AU"/>
          </a:p>
        </p:txBody>
      </p:sp>
      <p:sp>
        <p:nvSpPr>
          <p:cNvPr id="12" name="Text 10"/>
          <p:cNvSpPr/>
          <p:nvPr/>
        </p:nvSpPr>
        <p:spPr>
          <a:xfrm>
            <a:off x="914400" y="5596128"/>
            <a:ext cx="9601200" cy="365760"/>
          </a:xfrm>
          <a:prstGeom prst="rect">
            <a:avLst/>
          </a:prstGeom>
          <a:noFill/>
          <a:ln/>
        </p:spPr>
        <p:txBody>
          <a:bodyPr wrap="square" lIns="0" tIns="0" rIns="0" bIns="0" rtlCol="0" anchor="ctr"/>
          <a:lstStyle/>
          <a:p>
            <a:pPr marL="0" indent="0">
              <a:buNone/>
            </a:pPr>
            <a:r>
              <a:rPr lang="en-US" sz="1300" b="1" dirty="0">
                <a:solidFill>
                  <a:srgbClr val="EAF6F9"/>
                </a:solidFill>
                <a:latin typeface="Calibri" pitchFamily="34" charset="0"/>
                <a:ea typeface="Calibri" pitchFamily="34" charset="-122"/>
                <a:cs typeface="Calibri" pitchFamily="34" charset="-120"/>
              </a:rPr>
              <a:t>Balances that cannot drift   </a:t>
            </a:r>
            <a:r>
              <a:rPr lang="en-US" sz="1100" dirty="0">
                <a:solidFill>
                  <a:srgbClr val="9DBAC3"/>
                </a:solidFill>
                <a:latin typeface="Calibri" pitchFamily="34" charset="0"/>
                <a:ea typeface="Calibri" pitchFamily="34" charset="-122"/>
                <a:cs typeface="Calibri" pitchFamily="34" charset="-120"/>
              </a:rPr>
              <a:t>Tundji Williams-Fulwood</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26</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3DE8B0"/>
                </a:solidFill>
                <a:latin typeface="Calibri" pitchFamily="34" charset="0"/>
                <a:ea typeface="Calibri" pitchFamily="34" charset="-122"/>
                <a:cs typeface="Calibri" pitchFamily="34" charset="-120"/>
              </a:rPr>
              <a:t>APPENDIX · NUTRITION   </a:t>
            </a:r>
            <a:r>
              <a:rPr lang="en-US" sz="1100" b="1" kern="0" spc="200" dirty="0">
                <a:solidFill>
                  <a:srgbClr val="9DBAC3"/>
                </a:solidFill>
                <a:latin typeface="Calibri" pitchFamily="34" charset="0"/>
                <a:ea typeface="Calibri" pitchFamily="34" charset="-122"/>
                <a:cs typeface="Calibri" pitchFamily="34" charset="-120"/>
              </a:rPr>
              <a:t>|   PRESENTER: VICTOR HONG</a:t>
            </a:r>
            <a:endParaRPr lang="en-US" sz="1100" dirty="0"/>
          </a:p>
        </p:txBody>
      </p:sp>
      <p:sp>
        <p:nvSpPr>
          <p:cNvPr id="5" name="Text 3"/>
          <p:cNvSpPr/>
          <p:nvPr/>
        </p:nvSpPr>
        <p:spPr>
          <a:xfrm>
            <a:off x="548640" y="566928"/>
            <a:ext cx="1106424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One line that is both the privacy measure and the type check</a:t>
            </a:r>
            <a:endParaRPr lang="en-US" sz="2600" dirty="0"/>
          </a:p>
        </p:txBody>
      </p:sp>
      <p:sp>
        <p:nvSpPr>
          <p:cNvPr id="6" name="Shape 4"/>
          <p:cNvSpPr/>
          <p:nvPr/>
        </p:nvSpPr>
        <p:spPr>
          <a:xfrm>
            <a:off x="548640" y="1463040"/>
            <a:ext cx="11091672" cy="4160520"/>
          </a:xfrm>
          <a:prstGeom prst="roundRect">
            <a:avLst>
              <a:gd name="adj" fmla="val 1978"/>
            </a:avLst>
          </a:prstGeom>
          <a:solidFill>
            <a:srgbClr val="04141B"/>
          </a:solidFill>
          <a:ln w="12700">
            <a:solidFill>
              <a:srgbClr val="1E4A57"/>
            </a:solidFill>
            <a:prstDash val="solid"/>
          </a:ln>
        </p:spPr>
        <p:txBody>
          <a:bodyPr/>
          <a:lstStyle/>
          <a:p>
            <a:endParaRPr lang="en-AU"/>
          </a:p>
        </p:txBody>
      </p:sp>
      <p:sp>
        <p:nvSpPr>
          <p:cNvPr id="7" name="Shape 5"/>
          <p:cNvSpPr/>
          <p:nvPr/>
        </p:nvSpPr>
        <p:spPr>
          <a:xfrm>
            <a:off x="749808" y="1645920"/>
            <a:ext cx="109728" cy="109728"/>
          </a:xfrm>
          <a:prstGeom prst="ellipse">
            <a:avLst/>
          </a:prstGeom>
          <a:solidFill>
            <a:srgbClr val="3DE8B0"/>
          </a:solidFill>
          <a:ln/>
        </p:spPr>
        <p:txBody>
          <a:bodyPr/>
          <a:lstStyle/>
          <a:p>
            <a:endParaRPr lang="en-AU"/>
          </a:p>
        </p:txBody>
      </p:sp>
      <p:sp>
        <p:nvSpPr>
          <p:cNvPr id="8" name="Text 6"/>
          <p:cNvSpPr/>
          <p:nvPr/>
        </p:nvSpPr>
        <p:spPr>
          <a:xfrm>
            <a:off x="950976" y="1554480"/>
            <a:ext cx="10543032" cy="292608"/>
          </a:xfrm>
          <a:prstGeom prst="rect">
            <a:avLst/>
          </a:prstGeom>
          <a:noFill/>
          <a:ln/>
        </p:spPr>
        <p:txBody>
          <a:bodyPr wrap="square" lIns="0" tIns="0" rIns="0" bIns="0" rtlCol="0" anchor="ctr"/>
          <a:lstStyle/>
          <a:p>
            <a:pPr marL="0" indent="0">
              <a:buNone/>
            </a:pPr>
            <a:r>
              <a:rPr lang="en-US" sz="900" dirty="0">
                <a:solidFill>
                  <a:srgbClr val="9DBAC3"/>
                </a:solidFill>
                <a:latin typeface="Courier New" pitchFamily="34" charset="0"/>
                <a:ea typeface="Courier New" pitchFamily="34" charset="-122"/>
                <a:cs typeface="Courier New" pitchFamily="34" charset="-120"/>
              </a:rPr>
              <a:t>apps/api/src/modules/vision/router.ts</a:t>
            </a:r>
            <a:endParaRPr lang="en-US" sz="900" dirty="0"/>
          </a:p>
        </p:txBody>
      </p:sp>
      <p:sp>
        <p:nvSpPr>
          <p:cNvPr id="9" name="Text 7"/>
          <p:cNvSpPr/>
          <p:nvPr/>
        </p:nvSpPr>
        <p:spPr>
          <a:xfrm>
            <a:off x="786384" y="1920240"/>
            <a:ext cx="10634472" cy="3026664"/>
          </a:xfrm>
          <a:prstGeom prst="rect">
            <a:avLst/>
          </a:prstGeom>
          <a:noFill/>
          <a:ln/>
        </p:spPr>
        <p:txBody>
          <a:bodyPr wrap="square" lIns="0" tIns="0" rIns="0" bIns="0" rtlCol="0" anchor="t"/>
          <a:lstStyle/>
          <a:p>
            <a:pPr marL="0" indent="0">
              <a:lnSpc>
                <a:spcPct val="112000"/>
              </a:lnSpc>
              <a:buNone/>
            </a:pPr>
            <a:r>
              <a:rPr lang="en-US" sz="1050" dirty="0">
                <a:solidFill>
                  <a:srgbClr val="7A98A1"/>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7A98A1"/>
                </a:solidFill>
                <a:latin typeface="Courier New" pitchFamily="34" charset="0"/>
                <a:ea typeface="Courier New" pitchFamily="34" charset="-122"/>
                <a:cs typeface="Courier New" pitchFamily="34" charset="-120"/>
              </a:rPr>
              <a:t> * Decode the upload and write a fresh JPEG from the pixels.</a:t>
            </a:r>
            <a:endParaRPr lang="en-US" sz="1050" dirty="0"/>
          </a:p>
          <a:p>
            <a:pPr marL="0" indent="0">
              <a:lnSpc>
                <a:spcPct val="112000"/>
              </a:lnSpc>
              <a:buNone/>
            </a:pPr>
            <a:r>
              <a:rPr lang="en-US" sz="1050" dirty="0">
                <a:solidFill>
                  <a:srgbClr val="7A98A1"/>
                </a:solidFill>
                <a:latin typeface="Courier New" pitchFamily="34" charset="0"/>
                <a:ea typeface="Courier New" pitchFamily="34" charset="-122"/>
                <a:cs typeface="Courier New" pitchFamily="34" charset="-120"/>
              </a:rPr>
              <a:t> *</a:t>
            </a:r>
            <a:endParaRPr lang="en-US" sz="1050" dirty="0"/>
          </a:p>
          <a:p>
            <a:pPr marL="0" indent="0">
              <a:lnSpc>
                <a:spcPct val="112000"/>
              </a:lnSpc>
              <a:buNone/>
            </a:pPr>
            <a:r>
              <a:rPr lang="en-US" sz="1050" dirty="0">
                <a:solidFill>
                  <a:srgbClr val="7A98A1"/>
                </a:solidFill>
                <a:latin typeface="Courier New" pitchFamily="34" charset="0"/>
                <a:ea typeface="Courier New" pitchFamily="34" charset="-122"/>
                <a:cs typeface="Courier New" pitchFamily="34" charset="-120"/>
              </a:rPr>
              <a:t> * Privacy: a phone photo carries EXIF GPS at home-address precision, the capture timestamp and the</a:t>
            </a:r>
            <a:endParaRPr lang="en-US" sz="1050" dirty="0"/>
          </a:p>
          <a:p>
            <a:pPr marL="0" indent="0">
              <a:lnSpc>
                <a:spcPct val="112000"/>
              </a:lnSpc>
              <a:buNone/>
            </a:pPr>
            <a:r>
              <a:rPr lang="en-US" sz="1050" dirty="0">
                <a:solidFill>
                  <a:srgbClr val="7A98A1"/>
                </a:solidFill>
                <a:latin typeface="Courier New" pitchFamily="34" charset="0"/>
                <a:ea typeface="Courier New" pitchFamily="34" charset="-122"/>
                <a:cs typeface="Courier New" pitchFamily="34" charset="-120"/>
              </a:rPr>
              <a:t> * camera serial number. Persisting that verbatim would bolt a location trail onto health-adjacent</a:t>
            </a:r>
            <a:endParaRPr lang="en-US" sz="1050" dirty="0"/>
          </a:p>
          <a:p>
            <a:pPr marL="0" indent="0">
              <a:lnSpc>
                <a:spcPct val="112000"/>
              </a:lnSpc>
              <a:buNone/>
            </a:pPr>
            <a:r>
              <a:rPr lang="en-US" sz="1050" dirty="0">
                <a:solidFill>
                  <a:srgbClr val="7A98A1"/>
                </a:solidFill>
                <a:latin typeface="Courier New" pitchFamily="34" charset="0"/>
                <a:ea typeface="Courier New" pitchFamily="34" charset="-122"/>
                <a:cs typeface="Courier New" pitchFamily="34" charset="-120"/>
              </a:rPr>
              <a:t> * records that only need the picture of the food. Re-encoding rebuilds the file from decoded pixels,</a:t>
            </a:r>
            <a:endParaRPr lang="en-US" sz="1050" dirty="0"/>
          </a:p>
          <a:p>
            <a:pPr marL="0" indent="0">
              <a:lnSpc>
                <a:spcPct val="112000"/>
              </a:lnSpc>
              <a:buNone/>
            </a:pPr>
            <a:r>
              <a:rPr lang="en-US" sz="1050" dirty="0">
                <a:solidFill>
                  <a:srgbClr val="7A98A1"/>
                </a:solidFill>
                <a:latin typeface="Courier New" pitchFamily="34" charset="0"/>
                <a:ea typeface="Courier New" pitchFamily="34" charset="-122"/>
                <a:cs typeface="Courier New" pitchFamily="34" charset="-120"/>
              </a:rPr>
              <a:t> * so every metadata block (EXIF, XMP, IPTC, ICC) is discarded.</a:t>
            </a:r>
            <a:endParaRPr lang="en-US" sz="1050" dirty="0"/>
          </a:p>
          <a:p>
            <a:pPr marL="0" indent="0">
              <a:lnSpc>
                <a:spcPct val="112000"/>
              </a:lnSpc>
              <a:buNone/>
            </a:pPr>
            <a:r>
              <a:rPr lang="en-US" sz="1050" dirty="0">
                <a:solidFill>
                  <a:srgbClr val="7A98A1"/>
                </a:solidFill>
                <a:latin typeface="Courier New" pitchFamily="34" charset="0"/>
                <a:ea typeface="Courier New" pitchFamily="34" charset="-122"/>
                <a:cs typeface="Courier New" pitchFamily="34" charset="-120"/>
              </a:rPr>
              <a:t> *</a:t>
            </a:r>
            <a:endParaRPr lang="en-US" sz="1050" dirty="0"/>
          </a:p>
          <a:p>
            <a:pPr marL="0" indent="0">
              <a:lnSpc>
                <a:spcPct val="112000"/>
              </a:lnSpc>
              <a:buNone/>
            </a:pPr>
            <a:r>
              <a:rPr lang="en-US" sz="1050" dirty="0">
                <a:solidFill>
                  <a:srgbClr val="7A98A1"/>
                </a:solidFill>
                <a:latin typeface="Courier New" pitchFamily="34" charset="0"/>
                <a:ea typeface="Courier New" pitchFamily="34" charset="-122"/>
                <a:cs typeface="Courier New" pitchFamily="34" charset="-120"/>
              </a:rPr>
              <a:t> * Security: this is also the real upload type check, `file.mimetype` is an unverified client claim.</a:t>
            </a:r>
            <a:endParaRPr lang="en-US" sz="1050" dirty="0"/>
          </a:p>
          <a:p>
            <a:pPr marL="0" indent="0">
              <a:lnSpc>
                <a:spcPct val="112000"/>
              </a:lnSpc>
              <a:buNone/>
            </a:pPr>
            <a:r>
              <a:rPr lang="en-US" sz="1050" dirty="0">
                <a:solidFill>
                  <a:srgbClr val="7A98A1"/>
                </a:solidFill>
                <a:latin typeface="Courier New" pitchFamily="34" charset="0"/>
                <a:ea typeface="Courier New" pitchFamily="34" charset="-122"/>
                <a:cs typeface="Courier New" pitchFamily="34" charset="-120"/>
              </a:rPr>
              <a:t> */</a:t>
            </a:r>
            <a:endParaRPr lang="en-US" sz="1050" dirty="0"/>
          </a:p>
          <a:p>
            <a:pPr marL="0" indent="0">
              <a:lnSpc>
                <a:spcPct val="112000"/>
              </a:lnSpc>
              <a:buNone/>
            </a:pPr>
            <a:r>
              <a:rPr lang="en-US" sz="1050" b="1" dirty="0">
                <a:solidFill>
                  <a:srgbClr val="4FD8F0"/>
                </a:solidFill>
                <a:latin typeface="Courier New" pitchFamily="34" charset="0"/>
                <a:ea typeface="Courier New" pitchFamily="34" charset="-122"/>
                <a:cs typeface="Courier New" pitchFamily="34" charset="-120"/>
              </a:rPr>
              <a:t>async function</a:t>
            </a:r>
            <a:r>
              <a:rPr lang="en-US" sz="1050" dirty="0">
                <a:solidFill>
                  <a:srgbClr val="D9EAEF"/>
                </a:solidFill>
                <a:latin typeface="Courier New" pitchFamily="34" charset="0"/>
                <a:ea typeface="Courier New" pitchFamily="34" charset="-122"/>
                <a:cs typeface="Courier New" pitchFamily="34" charset="-120"/>
              </a:rPr>
              <a:t> toStorableJpeg(buffer: Buffer, declaredMime?: string): Promise&lt;Buffer&gt; {</a:t>
            </a:r>
            <a:endParaRPr lang="en-US" sz="1050" dirty="0"/>
          </a:p>
          <a:p>
            <a:pPr marL="0" indent="0">
              <a:lnSpc>
                <a:spcPct val="112000"/>
              </a:lnSpc>
              <a:buNone/>
            </a:pPr>
            <a:r>
              <a:rPr lang="en-US" sz="1050" dirty="0">
                <a:solidFill>
                  <a:srgbClr val="D9EAEF"/>
                </a:solidFill>
                <a:latin typeface="Courier New" pitchFamily="34" charset="0"/>
                <a:ea typeface="Courier New" pitchFamily="34" charset="-122"/>
                <a:cs typeface="Courier New" pitchFamily="34" charset="-120"/>
              </a:rPr>
              <a:t>  </a:t>
            </a:r>
            <a:r>
              <a:rPr lang="en-US" sz="1050" b="1" dirty="0">
                <a:solidFill>
                  <a:srgbClr val="4FD8F0"/>
                </a:solidFill>
                <a:latin typeface="Courier New" pitchFamily="34" charset="0"/>
                <a:ea typeface="Courier New" pitchFamily="34" charset="-122"/>
                <a:cs typeface="Courier New" pitchFamily="34" charset="-120"/>
              </a:rPr>
              <a:t>return await</a:t>
            </a:r>
            <a:r>
              <a:rPr lang="en-US" sz="1050" dirty="0">
                <a:solidFill>
                  <a:srgbClr val="D9EAEF"/>
                </a:solidFill>
                <a:latin typeface="Courier New" pitchFamily="34" charset="0"/>
                <a:ea typeface="Courier New" pitchFamily="34" charset="-122"/>
                <a:cs typeface="Courier New" pitchFamily="34" charset="-120"/>
              </a:rPr>
              <a:t> sharp(buffer).rotate().jpeg({ quality: </a:t>
            </a:r>
            <a:r>
              <a:rPr lang="en-US" sz="1050" dirty="0">
                <a:solidFill>
                  <a:srgbClr val="FFC94D"/>
                </a:solidFill>
                <a:latin typeface="Courier New" pitchFamily="34" charset="0"/>
                <a:ea typeface="Courier New" pitchFamily="34" charset="-122"/>
                <a:cs typeface="Courier New" pitchFamily="34" charset="-120"/>
              </a:rPr>
              <a:t>82</a:t>
            </a:r>
            <a:r>
              <a:rPr lang="en-US" sz="1050" dirty="0">
                <a:solidFill>
                  <a:srgbClr val="D9EAEF"/>
                </a:solidFill>
                <a:latin typeface="Courier New" pitchFamily="34" charset="0"/>
                <a:ea typeface="Courier New" pitchFamily="34" charset="-122"/>
                <a:cs typeface="Courier New" pitchFamily="34" charset="-120"/>
              </a:rPr>
              <a:t> }).toBuffer();</a:t>
            </a:r>
            <a:endParaRPr lang="en-US" sz="1050" dirty="0"/>
          </a:p>
          <a:p>
            <a:pPr marL="0" indent="0">
              <a:lnSpc>
                <a:spcPct val="112000"/>
              </a:lnSpc>
              <a:buNone/>
            </a:pPr>
            <a:r>
              <a:rPr lang="en-US" sz="1050" dirty="0">
                <a:solidFill>
                  <a:srgbClr val="D9EAEF"/>
                </a:solidFill>
                <a:latin typeface="Courier New" pitchFamily="34" charset="0"/>
                <a:ea typeface="Courier New" pitchFamily="34" charset="-122"/>
                <a:cs typeface="Courier New" pitchFamily="34" charset="-120"/>
              </a:rPr>
              <a:t>}</a:t>
            </a:r>
            <a:endParaRPr lang="en-US" sz="1050" dirty="0"/>
          </a:p>
        </p:txBody>
      </p:sp>
      <p:sp>
        <p:nvSpPr>
          <p:cNvPr id="10" name="Text 8"/>
          <p:cNvSpPr/>
          <p:nvPr/>
        </p:nvSpPr>
        <p:spPr>
          <a:xfrm>
            <a:off x="786384" y="5020056"/>
            <a:ext cx="10634472" cy="512064"/>
          </a:xfrm>
          <a:prstGeom prst="rect">
            <a:avLst/>
          </a:prstGeom>
          <a:noFill/>
          <a:ln/>
        </p:spPr>
        <p:txBody>
          <a:bodyPr wrap="square" lIns="0" tIns="0" rIns="0" bIns="0" rtlCol="0" anchor="t"/>
          <a:lstStyle/>
          <a:p>
            <a:pPr marL="0" indent="0">
              <a:buNone/>
            </a:pPr>
            <a:r>
              <a:rPr lang="en-US" sz="750" b="1" kern="0" spc="150" dirty="0">
                <a:solidFill>
                  <a:srgbClr val="3DE8B0"/>
                </a:solidFill>
                <a:latin typeface="Calibri" pitchFamily="34" charset="0"/>
                <a:ea typeface="Calibri" pitchFamily="34" charset="-122"/>
                <a:cs typeface="Calibri" pitchFamily="34" charset="-120"/>
              </a:rPr>
              <a:t>WHY IT MATTERS   </a:t>
            </a:r>
            <a:r>
              <a:rPr lang="en-US" sz="950" dirty="0">
                <a:solidFill>
                  <a:srgbClr val="9DBAC3"/>
                </a:solidFill>
                <a:latin typeface="Calibri" pitchFamily="34" charset="0"/>
                <a:ea typeface="Calibri" pitchFamily="34" charset="-122"/>
                <a:cs typeface="Calibri" pitchFamily="34" charset="-120"/>
              </a:rPr>
              <a:t>If the bytes are not really an image, sharp throws and the upload is rejected. The photo itself is deleted on confirm, or swept within 24 hours.</a:t>
            </a:r>
            <a:endParaRPr lang="en-US" sz="750" dirty="0"/>
          </a:p>
        </p:txBody>
      </p:sp>
      <p:sp>
        <p:nvSpPr>
          <p:cNvPr id="11" name="Text 9"/>
          <p:cNvSpPr/>
          <p:nvPr/>
        </p:nvSpPr>
        <p:spPr>
          <a:xfrm>
            <a:off x="566928" y="5852160"/>
            <a:ext cx="10972800" cy="320040"/>
          </a:xfrm>
          <a:prstGeom prst="rect">
            <a:avLst/>
          </a:prstGeom>
          <a:noFill/>
          <a:ln/>
        </p:spPr>
        <p:txBody>
          <a:bodyPr wrap="square" lIns="0" tIns="0" rIns="0" bIns="0" rtlCol="0" anchor="ctr"/>
          <a:lstStyle/>
          <a:p>
            <a:pPr marL="0" indent="0">
              <a:buNone/>
            </a:pPr>
            <a:r>
              <a:rPr lang="en-US" sz="1150" dirty="0">
                <a:solidFill>
                  <a:srgbClr val="3DE8B0"/>
                </a:solidFill>
                <a:latin typeface="Calibri" pitchFamily="34" charset="0"/>
                <a:ea typeface="Calibri" pitchFamily="34" charset="-122"/>
                <a:cs typeface="Calibri" pitchFamily="34" charset="-120"/>
              </a:rPr>
              <a:t>Likely Q&amp;A pairing:  “How do you protect a user’s photos?”, and the answer is a file path, not a promise.</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27</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4FD8F0"/>
                </a:solidFill>
                <a:latin typeface="Calibri" pitchFamily="34" charset="0"/>
                <a:ea typeface="Calibri" pitchFamily="34" charset="-122"/>
                <a:cs typeface="Calibri" pitchFamily="34" charset="-120"/>
              </a:rPr>
              <a:t>APPENDIX · SECURITY   </a:t>
            </a:r>
            <a:r>
              <a:rPr lang="en-US" sz="1100" b="1" kern="0" spc="200" dirty="0">
                <a:solidFill>
                  <a:srgbClr val="9DBAC3"/>
                </a:solidFill>
                <a:latin typeface="Calibri" pitchFamily="34" charset="0"/>
                <a:ea typeface="Calibri" pitchFamily="34" charset="-122"/>
                <a:cs typeface="Calibri" pitchFamily="34" charset="-120"/>
              </a:rPr>
              <a:t>|   PRESENTER: TUNDJI WILLIAMS-FULWOOD</a:t>
            </a:r>
            <a:endParaRPr lang="en-US" sz="1100" dirty="0"/>
          </a:p>
        </p:txBody>
      </p:sp>
      <p:sp>
        <p:nvSpPr>
          <p:cNvPr id="5" name="Text 3"/>
          <p:cNvSpPr/>
          <p:nvPr/>
        </p:nvSpPr>
        <p:spPr>
          <a:xfrm>
            <a:off x="548640" y="566928"/>
            <a:ext cx="1106424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A stolen session dies the moment it is replayed</a:t>
            </a:r>
            <a:endParaRPr lang="en-US" sz="2600" dirty="0"/>
          </a:p>
        </p:txBody>
      </p:sp>
      <p:sp>
        <p:nvSpPr>
          <p:cNvPr id="6" name="Shape 4"/>
          <p:cNvSpPr/>
          <p:nvPr/>
        </p:nvSpPr>
        <p:spPr>
          <a:xfrm>
            <a:off x="548640" y="1463040"/>
            <a:ext cx="11091672" cy="4160520"/>
          </a:xfrm>
          <a:prstGeom prst="roundRect">
            <a:avLst>
              <a:gd name="adj" fmla="val 1978"/>
            </a:avLst>
          </a:prstGeom>
          <a:solidFill>
            <a:srgbClr val="04141B"/>
          </a:solidFill>
          <a:ln w="12700">
            <a:solidFill>
              <a:srgbClr val="1E4A57"/>
            </a:solidFill>
            <a:prstDash val="solid"/>
          </a:ln>
        </p:spPr>
        <p:txBody>
          <a:bodyPr/>
          <a:lstStyle/>
          <a:p>
            <a:endParaRPr lang="en-AU"/>
          </a:p>
        </p:txBody>
      </p:sp>
      <p:sp>
        <p:nvSpPr>
          <p:cNvPr id="7" name="Shape 5"/>
          <p:cNvSpPr/>
          <p:nvPr/>
        </p:nvSpPr>
        <p:spPr>
          <a:xfrm>
            <a:off x="749808" y="1645920"/>
            <a:ext cx="109728" cy="109728"/>
          </a:xfrm>
          <a:prstGeom prst="ellipse">
            <a:avLst/>
          </a:prstGeom>
          <a:solidFill>
            <a:srgbClr val="4FD8F0"/>
          </a:solidFill>
          <a:ln/>
        </p:spPr>
        <p:txBody>
          <a:bodyPr/>
          <a:lstStyle/>
          <a:p>
            <a:endParaRPr lang="en-AU"/>
          </a:p>
        </p:txBody>
      </p:sp>
      <p:sp>
        <p:nvSpPr>
          <p:cNvPr id="8" name="Text 6"/>
          <p:cNvSpPr/>
          <p:nvPr/>
        </p:nvSpPr>
        <p:spPr>
          <a:xfrm>
            <a:off x="950976" y="1554480"/>
            <a:ext cx="10543032" cy="292608"/>
          </a:xfrm>
          <a:prstGeom prst="rect">
            <a:avLst/>
          </a:prstGeom>
          <a:noFill/>
          <a:ln/>
        </p:spPr>
        <p:txBody>
          <a:bodyPr wrap="square" lIns="0" tIns="0" rIns="0" bIns="0" rtlCol="0" anchor="ctr"/>
          <a:lstStyle/>
          <a:p>
            <a:pPr marL="0" indent="0">
              <a:buNone/>
            </a:pPr>
            <a:r>
              <a:rPr lang="en-US" sz="900" dirty="0">
                <a:solidFill>
                  <a:srgbClr val="9DBAC3"/>
                </a:solidFill>
                <a:latin typeface="Courier New" pitchFamily="34" charset="0"/>
                <a:ea typeface="Courier New" pitchFamily="34" charset="-122"/>
                <a:cs typeface="Courier New" pitchFamily="34" charset="-120"/>
              </a:rPr>
              <a:t>apps/api/src/platform/auth.ts</a:t>
            </a:r>
            <a:endParaRPr lang="en-US" sz="900" dirty="0"/>
          </a:p>
        </p:txBody>
      </p:sp>
      <p:sp>
        <p:nvSpPr>
          <p:cNvPr id="9" name="Text 7"/>
          <p:cNvSpPr/>
          <p:nvPr/>
        </p:nvSpPr>
        <p:spPr>
          <a:xfrm>
            <a:off x="786384" y="1920240"/>
            <a:ext cx="10634472" cy="3026664"/>
          </a:xfrm>
          <a:prstGeom prst="rect">
            <a:avLst/>
          </a:prstGeom>
          <a:noFill/>
          <a:ln/>
        </p:spPr>
        <p:txBody>
          <a:bodyPr wrap="square" lIns="0" tIns="0" rIns="0" bIns="0" rtlCol="0" anchor="t"/>
          <a:lstStyle/>
          <a:p>
            <a:pPr marL="0" indent="0">
              <a:lnSpc>
                <a:spcPct val="112000"/>
              </a:lnSpc>
              <a:buNone/>
            </a:pPr>
            <a:r>
              <a:rPr lang="en-US" sz="1050" dirty="0">
                <a:solidFill>
                  <a:srgbClr val="7A98A1"/>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7A98A1"/>
                </a:solidFill>
                <a:latin typeface="Courier New" pitchFamily="34" charset="0"/>
                <a:ea typeface="Courier New" pitchFamily="34" charset="-122"/>
                <a:cs typeface="Courier New" pitchFamily="34" charset="-120"/>
              </a:rPr>
              <a:t> * Rotate a refresh token: single use. A second presentation of the same token is treated as</a:t>
            </a:r>
            <a:endParaRPr lang="en-US" sz="1050" dirty="0"/>
          </a:p>
          <a:p>
            <a:pPr marL="0" indent="0">
              <a:lnSpc>
                <a:spcPct val="112000"/>
              </a:lnSpc>
              <a:buNone/>
            </a:pPr>
            <a:r>
              <a:rPr lang="en-US" sz="1050" dirty="0">
                <a:solidFill>
                  <a:srgbClr val="7A98A1"/>
                </a:solidFill>
                <a:latin typeface="Courier New" pitchFamily="34" charset="0"/>
                <a:ea typeface="Courier New" pitchFamily="34" charset="-122"/>
                <a:cs typeface="Courier New" pitchFamily="34" charset="-120"/>
              </a:rPr>
              <a:t> * theft, the entire family is revoked (AQF-07 §2.1). Atomic compare-and-swap ensures only one</a:t>
            </a:r>
            <a:endParaRPr lang="en-US" sz="1050" dirty="0"/>
          </a:p>
          <a:p>
            <a:pPr marL="0" indent="0">
              <a:lnSpc>
                <a:spcPct val="112000"/>
              </a:lnSpc>
              <a:buNone/>
            </a:pPr>
            <a:r>
              <a:rPr lang="en-US" sz="1050" dirty="0">
                <a:solidFill>
                  <a:srgbClr val="7A98A1"/>
                </a:solidFill>
                <a:latin typeface="Courier New" pitchFamily="34" charset="0"/>
                <a:ea typeface="Courier New" pitchFamily="34" charset="-122"/>
                <a:cs typeface="Courier New" pitchFamily="34" charset="-120"/>
              </a:rPr>
              <a:t> * concurrent refresh can succeed.</a:t>
            </a:r>
            <a:endParaRPr lang="en-US" sz="1050" dirty="0"/>
          </a:p>
          <a:p>
            <a:pPr marL="0" indent="0">
              <a:lnSpc>
                <a:spcPct val="112000"/>
              </a:lnSpc>
              <a:buNone/>
            </a:pPr>
            <a:r>
              <a:rPr lang="en-US" sz="1050" dirty="0">
                <a:solidFill>
                  <a:srgbClr val="7A98A1"/>
                </a:solidFill>
                <a:latin typeface="Courier New" pitchFamily="34" charset="0"/>
                <a:ea typeface="Courier New" pitchFamily="34" charset="-122"/>
                <a:cs typeface="Courier New" pitchFamily="34" charset="-120"/>
              </a:rPr>
              <a:t> */</a:t>
            </a:r>
            <a:endParaRPr lang="en-US" sz="1050" dirty="0"/>
          </a:p>
          <a:p>
            <a:pPr marL="0" indent="0">
              <a:lnSpc>
                <a:spcPct val="112000"/>
              </a:lnSpc>
              <a:buNone/>
            </a:pPr>
            <a:r>
              <a:rPr lang="en-US" sz="1050" b="1" dirty="0">
                <a:solidFill>
                  <a:srgbClr val="4FD8F0"/>
                </a:solidFill>
                <a:latin typeface="Courier New" pitchFamily="34" charset="0"/>
                <a:ea typeface="Courier New" pitchFamily="34" charset="-122"/>
                <a:cs typeface="Courier New" pitchFamily="34" charset="-120"/>
              </a:rPr>
              <a:t>if</a:t>
            </a:r>
            <a:r>
              <a:rPr lang="en-US" sz="1050" dirty="0">
                <a:solidFill>
                  <a:srgbClr val="D9EAEF"/>
                </a:solidFill>
                <a:latin typeface="Courier New" pitchFamily="34" charset="0"/>
                <a:ea typeface="Courier New" pitchFamily="34" charset="-122"/>
                <a:cs typeface="Courier New" pitchFamily="34" charset="-120"/>
              </a:rPr>
              <a:t> (existing.usedAt !== </a:t>
            </a:r>
            <a:r>
              <a:rPr lang="en-US" sz="1050" dirty="0">
                <a:solidFill>
                  <a:srgbClr val="FFC94D"/>
                </a:solidFill>
                <a:latin typeface="Courier New" pitchFamily="34" charset="0"/>
                <a:ea typeface="Courier New" pitchFamily="34" charset="-122"/>
                <a:cs typeface="Courier New" pitchFamily="34" charset="-120"/>
              </a:rPr>
              <a:t>null</a:t>
            </a:r>
            <a:r>
              <a:rPr lang="en-US" sz="1050" dirty="0">
                <a:solidFill>
                  <a:srgbClr val="D9EAEF"/>
                </a:solidFill>
                <a:latin typeface="Courier New" pitchFamily="34" charset="0"/>
                <a:ea typeface="Courier New" pitchFamily="34" charset="-122"/>
                <a:cs typeface="Courier New" pitchFamily="34" charset="-120"/>
              </a:rPr>
              <a:t> || existing.revokedAt !== </a:t>
            </a:r>
            <a:r>
              <a:rPr lang="en-US" sz="1050" dirty="0">
                <a:solidFill>
                  <a:srgbClr val="FFC94D"/>
                </a:solidFill>
                <a:latin typeface="Courier New" pitchFamily="34" charset="0"/>
                <a:ea typeface="Courier New" pitchFamily="34" charset="-122"/>
                <a:cs typeface="Courier New" pitchFamily="34" charset="-120"/>
              </a:rPr>
              <a:t>null</a:t>
            </a:r>
            <a:r>
              <a:rPr lang="en-US" sz="1050" dirty="0">
                <a:solidFill>
                  <a:srgbClr val="D9EAEF"/>
                </a:solidFill>
                <a:latin typeface="Courier New" pitchFamily="34" charset="0"/>
                <a:ea typeface="Courier New" pitchFamily="34" charset="-122"/>
                <a:cs typeface="Courier New" pitchFamily="34" charset="-120"/>
              </a:rPr>
              <a:t>) {</a:t>
            </a:r>
            <a:endParaRPr lang="en-US" sz="1050" dirty="0"/>
          </a:p>
          <a:p>
            <a:pPr marL="0" indent="0">
              <a:lnSpc>
                <a:spcPct val="112000"/>
              </a:lnSpc>
              <a:buNone/>
            </a:pPr>
            <a:r>
              <a:rPr lang="en-US" sz="1050" dirty="0">
                <a:solidFill>
                  <a:srgbClr val="D9EAEF"/>
                </a:solidFill>
                <a:latin typeface="Courier New" pitchFamily="34" charset="0"/>
                <a:ea typeface="Courier New" pitchFamily="34" charset="-122"/>
                <a:cs typeface="Courier New" pitchFamily="34" charset="-120"/>
              </a:rPr>
              <a:t>  revokeFamily(existing.familyId);</a:t>
            </a:r>
            <a:endParaRPr lang="en-US" sz="1050" dirty="0"/>
          </a:p>
          <a:p>
            <a:pPr marL="0" indent="0">
              <a:lnSpc>
                <a:spcPct val="112000"/>
              </a:lnSpc>
              <a:buNone/>
            </a:pPr>
            <a:r>
              <a:rPr lang="en-US" sz="1050" dirty="0">
                <a:solidFill>
                  <a:srgbClr val="D9EAEF"/>
                </a:solidFill>
                <a:latin typeface="Courier New" pitchFamily="34" charset="0"/>
                <a:ea typeface="Courier New" pitchFamily="34" charset="-122"/>
                <a:cs typeface="Courier New" pitchFamily="34" charset="-120"/>
              </a:rPr>
              <a:t>  </a:t>
            </a:r>
            <a:r>
              <a:rPr lang="en-US" sz="1050" b="1" dirty="0">
                <a:solidFill>
                  <a:srgbClr val="4FD8F0"/>
                </a:solidFill>
                <a:latin typeface="Courier New" pitchFamily="34" charset="0"/>
                <a:ea typeface="Courier New" pitchFamily="34" charset="-122"/>
                <a:cs typeface="Courier New" pitchFamily="34" charset="-120"/>
              </a:rPr>
              <a:t>throw new</a:t>
            </a:r>
            <a:r>
              <a:rPr lang="en-US" sz="1050" dirty="0">
                <a:solidFill>
                  <a:srgbClr val="D9EAEF"/>
                </a:solidFill>
                <a:latin typeface="Courier New" pitchFamily="34" charset="0"/>
                <a:ea typeface="Courier New" pitchFamily="34" charset="-122"/>
                <a:cs typeface="Courier New" pitchFamily="34" charset="-120"/>
              </a:rPr>
              <a:t> AppError(</a:t>
            </a:r>
            <a:r>
              <a:rPr lang="en-US" sz="1050" dirty="0">
                <a:solidFill>
                  <a:srgbClr val="3DE8B0"/>
                </a:solidFill>
                <a:latin typeface="Courier New" pitchFamily="34" charset="0"/>
                <a:ea typeface="Courier New" pitchFamily="34" charset="-122"/>
                <a:cs typeface="Courier New" pitchFamily="34" charset="-120"/>
              </a:rPr>
              <a:t>'AUTH_INVALID'</a:t>
            </a:r>
            <a:r>
              <a:rPr lang="en-US" sz="1050" dirty="0">
                <a:solidFill>
                  <a:srgbClr val="D9EAEF"/>
                </a:solidFill>
                <a:latin typeface="Courier New" pitchFamily="34" charset="0"/>
                <a:ea typeface="Courier New" pitchFamily="34" charset="-122"/>
                <a:cs typeface="Courier New" pitchFamily="34" charset="-120"/>
              </a:rPr>
              <a:t>, </a:t>
            </a:r>
            <a:r>
              <a:rPr lang="en-US" sz="1050" dirty="0">
                <a:solidFill>
                  <a:srgbClr val="3DE8B0"/>
                </a:solidFill>
                <a:latin typeface="Courier New" pitchFamily="34" charset="0"/>
                <a:ea typeface="Courier New" pitchFamily="34" charset="-122"/>
                <a:cs typeface="Courier New" pitchFamily="34" charset="-120"/>
              </a:rPr>
              <a:t>'Refresh token reuse detected; session revoked'</a:t>
            </a:r>
            <a:r>
              <a:rPr lang="en-US" sz="1050" dirty="0">
                <a:solidFill>
                  <a:srgbClr val="D9EAEF"/>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D9EAEF"/>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D9EAEF"/>
                </a:solidFill>
                <a:latin typeface="Courier New" pitchFamily="34" charset="0"/>
                <a:ea typeface="Courier New" pitchFamily="34" charset="-122"/>
                <a:cs typeface="Courier New" pitchFamily="34" charset="-120"/>
              </a:rPr>
              <a:t> </a:t>
            </a:r>
            <a:endParaRPr lang="en-US" sz="1050" dirty="0"/>
          </a:p>
          <a:p>
            <a:pPr marL="0" indent="0">
              <a:lnSpc>
                <a:spcPct val="112000"/>
              </a:lnSpc>
              <a:buNone/>
            </a:pPr>
            <a:r>
              <a:rPr lang="en-US" sz="1050" dirty="0">
                <a:solidFill>
                  <a:srgbClr val="7A98A1"/>
                </a:solidFill>
                <a:latin typeface="Courier New" pitchFamily="34" charset="0"/>
                <a:ea typeface="Courier New" pitchFamily="34" charset="-122"/>
                <a:cs typeface="Courier New" pitchFamily="34" charset="-120"/>
              </a:rPr>
              <a:t>// Atomic CAS: mark token as used only if still unused.</a:t>
            </a:r>
            <a:endParaRPr lang="en-US" sz="1050" dirty="0"/>
          </a:p>
          <a:p>
            <a:pPr marL="0" indent="0">
              <a:lnSpc>
                <a:spcPct val="112000"/>
              </a:lnSpc>
              <a:buNone/>
            </a:pPr>
            <a:r>
              <a:rPr lang="en-US" sz="1050" b="1" dirty="0">
                <a:solidFill>
                  <a:srgbClr val="4FD8F0"/>
                </a:solidFill>
                <a:latin typeface="Courier New" pitchFamily="34" charset="0"/>
                <a:ea typeface="Courier New" pitchFamily="34" charset="-122"/>
                <a:cs typeface="Courier New" pitchFamily="34" charset="-120"/>
              </a:rPr>
              <a:t>const</a:t>
            </a:r>
            <a:r>
              <a:rPr lang="en-US" sz="1050" dirty="0">
                <a:solidFill>
                  <a:srgbClr val="D9EAEF"/>
                </a:solidFill>
                <a:latin typeface="Courier New" pitchFamily="34" charset="0"/>
                <a:ea typeface="Courier New" pitchFamily="34" charset="-122"/>
                <a:cs typeface="Courier New" pitchFamily="34" charset="-120"/>
              </a:rPr>
              <a:t> marked = </a:t>
            </a:r>
            <a:r>
              <a:rPr lang="en-US" sz="1050" b="1" dirty="0">
                <a:solidFill>
                  <a:srgbClr val="4FD8F0"/>
                </a:solidFill>
                <a:latin typeface="Courier New" pitchFamily="34" charset="0"/>
                <a:ea typeface="Courier New" pitchFamily="34" charset="-122"/>
                <a:cs typeface="Courier New" pitchFamily="34" charset="-120"/>
              </a:rPr>
              <a:t>await</a:t>
            </a:r>
            <a:r>
              <a:rPr lang="en-US" sz="1050" dirty="0">
                <a:solidFill>
                  <a:srgbClr val="D9EAEF"/>
                </a:solidFill>
                <a:latin typeface="Courier New" pitchFamily="34" charset="0"/>
                <a:ea typeface="Courier New" pitchFamily="34" charset="-122"/>
                <a:cs typeface="Courier New" pitchFamily="34" charset="-120"/>
              </a:rPr>
              <a:t> store.compareAndSwapRefreshToken(existing.id, tokenHash, </a:t>
            </a:r>
            <a:r>
              <a:rPr lang="en-US" sz="1050" b="1" dirty="0">
                <a:solidFill>
                  <a:srgbClr val="4FD8F0"/>
                </a:solidFill>
                <a:latin typeface="Courier New" pitchFamily="34" charset="0"/>
                <a:ea typeface="Courier New" pitchFamily="34" charset="-122"/>
                <a:cs typeface="Courier New" pitchFamily="34" charset="-120"/>
              </a:rPr>
              <a:t>new</a:t>
            </a:r>
            <a:r>
              <a:rPr lang="en-US" sz="1050" dirty="0">
                <a:solidFill>
                  <a:srgbClr val="D9EAEF"/>
                </a:solidFill>
                <a:latin typeface="Courier New" pitchFamily="34" charset="0"/>
                <a:ea typeface="Courier New" pitchFamily="34" charset="-122"/>
                <a:cs typeface="Courier New" pitchFamily="34" charset="-120"/>
              </a:rPr>
              <a:t> Date().toISOString());</a:t>
            </a:r>
            <a:endParaRPr lang="en-US" sz="1050" dirty="0"/>
          </a:p>
          <a:p>
            <a:pPr marL="0" indent="0">
              <a:lnSpc>
                <a:spcPct val="112000"/>
              </a:lnSpc>
              <a:buNone/>
            </a:pPr>
            <a:r>
              <a:rPr lang="en-US" sz="1050" b="1" dirty="0">
                <a:solidFill>
                  <a:srgbClr val="4FD8F0"/>
                </a:solidFill>
                <a:latin typeface="Courier New" pitchFamily="34" charset="0"/>
                <a:ea typeface="Courier New" pitchFamily="34" charset="-122"/>
                <a:cs typeface="Courier New" pitchFamily="34" charset="-120"/>
              </a:rPr>
              <a:t>if</a:t>
            </a:r>
            <a:r>
              <a:rPr lang="en-US" sz="1050" dirty="0">
                <a:solidFill>
                  <a:srgbClr val="D9EAEF"/>
                </a:solidFill>
                <a:latin typeface="Courier New" pitchFamily="34" charset="0"/>
                <a:ea typeface="Courier New" pitchFamily="34" charset="-122"/>
                <a:cs typeface="Courier New" pitchFamily="34" charset="-120"/>
              </a:rPr>
              <a:t> (!marked) { revokeFamily(existing.familyId); </a:t>
            </a:r>
            <a:r>
              <a:rPr lang="en-US" sz="1050" b="1" dirty="0">
                <a:solidFill>
                  <a:srgbClr val="4FD8F0"/>
                </a:solidFill>
                <a:latin typeface="Courier New" pitchFamily="34" charset="0"/>
                <a:ea typeface="Courier New" pitchFamily="34" charset="-122"/>
                <a:cs typeface="Courier New" pitchFamily="34" charset="-120"/>
              </a:rPr>
              <a:t>throw new</a:t>
            </a:r>
            <a:r>
              <a:rPr lang="en-US" sz="1050" dirty="0">
                <a:solidFill>
                  <a:srgbClr val="D9EAEF"/>
                </a:solidFill>
                <a:latin typeface="Courier New" pitchFamily="34" charset="0"/>
                <a:ea typeface="Courier New" pitchFamily="34" charset="-122"/>
                <a:cs typeface="Courier New" pitchFamily="34" charset="-120"/>
              </a:rPr>
              <a:t> AppError(</a:t>
            </a:r>
            <a:r>
              <a:rPr lang="en-US" sz="1050" dirty="0">
                <a:solidFill>
                  <a:srgbClr val="3DE8B0"/>
                </a:solidFill>
                <a:latin typeface="Courier New" pitchFamily="34" charset="0"/>
                <a:ea typeface="Courier New" pitchFamily="34" charset="-122"/>
                <a:cs typeface="Courier New" pitchFamily="34" charset="-120"/>
              </a:rPr>
              <a:t>'AUTH_INVALID'</a:t>
            </a:r>
            <a:r>
              <a:rPr lang="en-US" sz="1050" dirty="0">
                <a:solidFill>
                  <a:srgbClr val="D9EAEF"/>
                </a:solidFill>
                <a:latin typeface="Courier New" pitchFamily="34" charset="0"/>
                <a:ea typeface="Courier New" pitchFamily="34" charset="-122"/>
                <a:cs typeface="Courier New" pitchFamily="34" charset="-120"/>
              </a:rPr>
              <a:t>, ...); }</a:t>
            </a:r>
            <a:endParaRPr lang="en-US" sz="1050" dirty="0"/>
          </a:p>
        </p:txBody>
      </p:sp>
      <p:sp>
        <p:nvSpPr>
          <p:cNvPr id="10" name="Text 8"/>
          <p:cNvSpPr/>
          <p:nvPr/>
        </p:nvSpPr>
        <p:spPr>
          <a:xfrm>
            <a:off x="786384" y="5020056"/>
            <a:ext cx="10634472" cy="512064"/>
          </a:xfrm>
          <a:prstGeom prst="rect">
            <a:avLst/>
          </a:prstGeom>
          <a:noFill/>
          <a:ln/>
        </p:spPr>
        <p:txBody>
          <a:bodyPr wrap="square" lIns="0" tIns="0" rIns="0" bIns="0" rtlCol="0" anchor="t"/>
          <a:lstStyle/>
          <a:p>
            <a:pPr marL="0" indent="0">
              <a:buNone/>
            </a:pPr>
            <a:r>
              <a:rPr lang="en-US" sz="750" b="1" kern="0" spc="150" dirty="0">
                <a:solidFill>
                  <a:srgbClr val="4FD8F0"/>
                </a:solidFill>
                <a:latin typeface="Calibri" pitchFamily="34" charset="0"/>
                <a:ea typeface="Calibri" pitchFamily="34" charset="-122"/>
                <a:cs typeface="Calibri" pitchFamily="34" charset="-120"/>
              </a:rPr>
              <a:t>WHY IT MATTERS   </a:t>
            </a:r>
            <a:r>
              <a:rPr lang="en-US" sz="950" dirty="0">
                <a:solidFill>
                  <a:srgbClr val="9DBAC3"/>
                </a:solidFill>
                <a:latin typeface="Calibri" pitchFamily="34" charset="0"/>
                <a:ea typeface="Calibri" pitchFamily="34" charset="-122"/>
                <a:cs typeface="Calibri" pitchFamily="34" charset="-120"/>
              </a:rPr>
              <a:t>Attacker and victim hold the same family, so revoking it signs BOTH out, which is exactly the property you want when you cannot tell which one is the thief.</a:t>
            </a:r>
            <a:endParaRPr lang="en-US" sz="750" dirty="0"/>
          </a:p>
        </p:txBody>
      </p:sp>
      <p:sp>
        <p:nvSpPr>
          <p:cNvPr id="11" name="Text 9"/>
          <p:cNvSpPr/>
          <p:nvPr/>
        </p:nvSpPr>
        <p:spPr>
          <a:xfrm>
            <a:off x="566928" y="5852160"/>
            <a:ext cx="10972800" cy="320040"/>
          </a:xfrm>
          <a:prstGeom prst="rect">
            <a:avLst/>
          </a:prstGeom>
          <a:noFill/>
          <a:ln/>
        </p:spPr>
        <p:txBody>
          <a:bodyPr wrap="square" lIns="0" tIns="0" rIns="0" bIns="0" rtlCol="0" anchor="ctr"/>
          <a:lstStyle/>
          <a:p>
            <a:pPr marL="0" indent="0">
              <a:buNone/>
            </a:pPr>
            <a:r>
              <a:rPr lang="en-US" sz="1150" dirty="0">
                <a:solidFill>
                  <a:srgbClr val="4FD8F0"/>
                </a:solidFill>
                <a:latin typeface="Calibri" pitchFamily="34" charset="0"/>
                <a:ea typeface="Calibri" pitchFamily="34" charset="-122"/>
                <a:cs typeface="Calibri" pitchFamily="34" charset="-120"/>
              </a:rPr>
              <a:t>Likely Q&amp;A pairing:  “What happens if someone steals a token?”, tokens are hashed at rest, live 15 minutes, and reuse kills the family.</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519672"/>
            <a:ext cx="5943600" cy="237744"/>
          </a:xfrm>
          <a:prstGeom prst="rect">
            <a:avLst/>
          </a:prstGeom>
          <a:noFill/>
          <a:ln/>
        </p:spPr>
        <p:txBody>
          <a:bodyPr wrap="square" lIns="0" tIns="0" rIns="0" bIns="0" rtlCol="0" anchor="ctr"/>
          <a:lstStyle/>
          <a:p>
            <a:pPr marL="0" indent="0">
              <a:buNone/>
            </a:pPr>
            <a:r>
              <a:rPr lang="en-US" sz="850" dirty="0">
                <a:solidFill>
                  <a:srgbClr val="6E939D"/>
                </a:solidFill>
                <a:latin typeface="Calibri" pitchFamily="34" charset="0"/>
                <a:ea typeface="Calibri" pitchFamily="34" charset="-122"/>
                <a:cs typeface="Calibri" pitchFamily="34" charset="-120"/>
              </a:rPr>
              <a:t>AquaZeroFit  ·  NIT3004 IT Capstone Project 2  ·  Group 1</a:t>
            </a:r>
            <a:endParaRPr lang="en-US" sz="850" dirty="0"/>
          </a:p>
        </p:txBody>
      </p:sp>
      <p:sp>
        <p:nvSpPr>
          <p:cNvPr id="3" name="Text 1"/>
          <p:cNvSpPr/>
          <p:nvPr/>
        </p:nvSpPr>
        <p:spPr>
          <a:xfrm>
            <a:off x="11475720" y="6519672"/>
            <a:ext cx="502920" cy="237744"/>
          </a:xfrm>
          <a:prstGeom prst="rect">
            <a:avLst/>
          </a:prstGeom>
          <a:noFill/>
          <a:ln/>
        </p:spPr>
        <p:txBody>
          <a:bodyPr wrap="square" lIns="0" tIns="0" rIns="0" bIns="0" rtlCol="0" anchor="ctr"/>
          <a:lstStyle/>
          <a:p>
            <a:pPr marL="0" indent="0" algn="r">
              <a:buNone/>
            </a:pPr>
            <a:r>
              <a:rPr lang="en-US" sz="850" dirty="0">
                <a:solidFill>
                  <a:srgbClr val="6E939D"/>
                </a:solidFill>
                <a:latin typeface="Calibri" pitchFamily="34" charset="0"/>
                <a:ea typeface="Calibri" pitchFamily="34" charset="-122"/>
                <a:cs typeface="Calibri" pitchFamily="34" charset="-120"/>
              </a:rPr>
              <a:t>28</a:t>
            </a:r>
            <a:endParaRPr lang="en-US" sz="850" dirty="0"/>
          </a:p>
        </p:txBody>
      </p:sp>
      <p:sp>
        <p:nvSpPr>
          <p:cNvPr id="4" name="Text 2"/>
          <p:cNvSpPr/>
          <p:nvPr/>
        </p:nvSpPr>
        <p:spPr>
          <a:xfrm>
            <a:off x="566928" y="310896"/>
            <a:ext cx="10972800" cy="274320"/>
          </a:xfrm>
          <a:prstGeom prst="rect">
            <a:avLst/>
          </a:prstGeom>
          <a:noFill/>
          <a:ln/>
        </p:spPr>
        <p:txBody>
          <a:bodyPr wrap="square" lIns="0" tIns="0" rIns="0" bIns="0" rtlCol="0" anchor="ctr"/>
          <a:lstStyle/>
          <a:p>
            <a:pPr marL="0" indent="0">
              <a:buNone/>
            </a:pPr>
            <a:r>
              <a:rPr lang="en-US" sz="1100" b="1" kern="0" spc="200" dirty="0">
                <a:solidFill>
                  <a:srgbClr val="4FD8F0"/>
                </a:solidFill>
                <a:latin typeface="Calibri" pitchFamily="34" charset="0"/>
                <a:ea typeface="Calibri" pitchFamily="34" charset="-122"/>
                <a:cs typeface="Calibri" pitchFamily="34" charset="-120"/>
              </a:rPr>
              <a:t>APPENDIX · PLATFORM   </a:t>
            </a:r>
            <a:r>
              <a:rPr lang="en-US" sz="1100" b="1" kern="0" spc="200" dirty="0">
                <a:solidFill>
                  <a:srgbClr val="9DBAC3"/>
                </a:solidFill>
                <a:latin typeface="Calibri" pitchFamily="34" charset="0"/>
                <a:ea typeface="Calibri" pitchFamily="34" charset="-122"/>
                <a:cs typeface="Calibri" pitchFamily="34" charset="-120"/>
              </a:rPr>
              <a:t>|   PRESENTER: TUNDJI WILLIAMS-FULWOOD</a:t>
            </a:r>
            <a:endParaRPr lang="en-US" sz="1100" dirty="0"/>
          </a:p>
        </p:txBody>
      </p:sp>
      <p:sp>
        <p:nvSpPr>
          <p:cNvPr id="5" name="Text 3"/>
          <p:cNvSpPr/>
          <p:nvPr/>
        </p:nvSpPr>
        <p:spPr>
          <a:xfrm>
            <a:off x="548640" y="566928"/>
            <a:ext cx="11064240" cy="713232"/>
          </a:xfrm>
          <a:prstGeom prst="rect">
            <a:avLst/>
          </a:prstGeom>
          <a:noFill/>
          <a:ln/>
        </p:spPr>
        <p:txBody>
          <a:bodyPr wrap="square" lIns="0" tIns="0" rIns="0" bIns="0" rtlCol="0" anchor="ctr"/>
          <a:lstStyle/>
          <a:p>
            <a:pPr marL="0" indent="0">
              <a:buNone/>
            </a:pPr>
            <a:r>
              <a:rPr lang="en-US" sz="2600" b="1" dirty="0">
                <a:solidFill>
                  <a:srgbClr val="EAF6F9"/>
                </a:solidFill>
                <a:latin typeface="Calibri" pitchFamily="34" charset="0"/>
                <a:ea typeface="Calibri" pitchFamily="34" charset="-122"/>
                <a:cs typeface="Calibri" pitchFamily="34" charset="-120"/>
              </a:rPr>
              <a:t>Balances that cannot drift, and an SDK that earns its load</a:t>
            </a:r>
            <a:endParaRPr lang="en-US" sz="2600" dirty="0"/>
          </a:p>
        </p:txBody>
      </p:sp>
      <p:sp>
        <p:nvSpPr>
          <p:cNvPr id="6" name="Shape 4"/>
          <p:cNvSpPr/>
          <p:nvPr/>
        </p:nvSpPr>
        <p:spPr>
          <a:xfrm>
            <a:off x="548640" y="1463040"/>
            <a:ext cx="5532120" cy="4572000"/>
          </a:xfrm>
          <a:prstGeom prst="roundRect">
            <a:avLst>
              <a:gd name="adj" fmla="val 1800"/>
            </a:avLst>
          </a:prstGeom>
          <a:solidFill>
            <a:srgbClr val="04141B"/>
          </a:solidFill>
          <a:ln w="12700">
            <a:solidFill>
              <a:srgbClr val="1E4A57"/>
            </a:solidFill>
            <a:prstDash val="solid"/>
          </a:ln>
        </p:spPr>
        <p:txBody>
          <a:bodyPr/>
          <a:lstStyle/>
          <a:p>
            <a:endParaRPr lang="en-AU"/>
          </a:p>
        </p:txBody>
      </p:sp>
      <p:sp>
        <p:nvSpPr>
          <p:cNvPr id="7" name="Shape 5"/>
          <p:cNvSpPr/>
          <p:nvPr/>
        </p:nvSpPr>
        <p:spPr>
          <a:xfrm>
            <a:off x="749808" y="1645920"/>
            <a:ext cx="109728" cy="109728"/>
          </a:xfrm>
          <a:prstGeom prst="ellipse">
            <a:avLst/>
          </a:prstGeom>
          <a:solidFill>
            <a:srgbClr val="4FD8F0"/>
          </a:solidFill>
          <a:ln/>
        </p:spPr>
        <p:txBody>
          <a:bodyPr/>
          <a:lstStyle/>
          <a:p>
            <a:endParaRPr lang="en-AU"/>
          </a:p>
        </p:txBody>
      </p:sp>
      <p:sp>
        <p:nvSpPr>
          <p:cNvPr id="8" name="Text 6"/>
          <p:cNvSpPr/>
          <p:nvPr/>
        </p:nvSpPr>
        <p:spPr>
          <a:xfrm>
            <a:off x="950976" y="1554480"/>
            <a:ext cx="4983480" cy="292608"/>
          </a:xfrm>
          <a:prstGeom prst="rect">
            <a:avLst/>
          </a:prstGeom>
          <a:noFill/>
          <a:ln/>
        </p:spPr>
        <p:txBody>
          <a:bodyPr wrap="square" lIns="0" tIns="0" rIns="0" bIns="0" rtlCol="0" anchor="ctr"/>
          <a:lstStyle/>
          <a:p>
            <a:pPr marL="0" indent="0">
              <a:buNone/>
            </a:pPr>
            <a:r>
              <a:rPr lang="en-US" sz="900" dirty="0">
                <a:solidFill>
                  <a:srgbClr val="9DBAC3"/>
                </a:solidFill>
                <a:latin typeface="Courier New" pitchFamily="34" charset="0"/>
                <a:ea typeface="Courier New" pitchFamily="34" charset="-122"/>
                <a:cs typeface="Courier New" pitchFamily="34" charset="-120"/>
              </a:rPr>
              <a:t>apps/api/src/modules/ai/creditLedger.ts</a:t>
            </a:r>
            <a:endParaRPr lang="en-US" sz="900" dirty="0"/>
          </a:p>
        </p:txBody>
      </p:sp>
      <p:sp>
        <p:nvSpPr>
          <p:cNvPr id="9" name="Text 7"/>
          <p:cNvSpPr/>
          <p:nvPr/>
        </p:nvSpPr>
        <p:spPr>
          <a:xfrm>
            <a:off x="786384" y="1920240"/>
            <a:ext cx="5074920" cy="3438144"/>
          </a:xfrm>
          <a:prstGeom prst="rect">
            <a:avLst/>
          </a:prstGeom>
          <a:noFill/>
          <a:ln/>
        </p:spPr>
        <p:txBody>
          <a:bodyPr wrap="square" lIns="0" tIns="0" rIns="0" bIns="0" rtlCol="0" anchor="t"/>
          <a:lstStyle/>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Append-only credit ledger. Every movement is a</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CreditTransaction document; balance is a plain fold</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(sum of amounts) over the user’s transactions:</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grant / purchase  → +amount</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reserve           → −cost  (hold deducted now)</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release           → +cost  (cancels a hold)</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Balance = fold. No cached counters, ever. */</a:t>
            </a:r>
            <a:endParaRPr lang="en-US" sz="950" dirty="0"/>
          </a:p>
          <a:p>
            <a:pPr marL="0" indent="0">
              <a:lnSpc>
                <a:spcPct val="112000"/>
              </a:lnSpc>
              <a:buNone/>
            </a:pPr>
            <a:r>
              <a:rPr lang="en-US" sz="950" b="1" dirty="0">
                <a:solidFill>
                  <a:srgbClr val="4FD8F0"/>
                </a:solidFill>
                <a:latin typeface="Courier New" pitchFamily="34" charset="0"/>
                <a:ea typeface="Courier New" pitchFamily="34" charset="-122"/>
                <a:cs typeface="Courier New" pitchFamily="34" charset="-120"/>
              </a:rPr>
              <a:t>async</a:t>
            </a:r>
            <a:r>
              <a:rPr lang="en-US" sz="950" dirty="0">
                <a:solidFill>
                  <a:srgbClr val="D9EAEF"/>
                </a:solidFill>
                <a:latin typeface="Courier New" pitchFamily="34" charset="0"/>
                <a:ea typeface="Courier New" pitchFamily="34" charset="-122"/>
                <a:cs typeface="Courier New" pitchFamily="34" charset="-120"/>
              </a:rPr>
              <a:t> balance(userId: string): Promise&lt;number&gt;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const</a:t>
            </a:r>
            <a:r>
              <a:rPr lang="en-US" sz="950" dirty="0">
                <a:solidFill>
                  <a:srgbClr val="D9EAEF"/>
                </a:solidFill>
                <a:latin typeface="Courier New" pitchFamily="34" charset="0"/>
                <a:ea typeface="Courier New" pitchFamily="34" charset="-122"/>
                <a:cs typeface="Courier New" pitchFamily="34" charset="-120"/>
              </a:rPr>
              <a:t> txs = </a:t>
            </a:r>
            <a:r>
              <a:rPr lang="en-US" sz="950" b="1" dirty="0">
                <a:solidFill>
                  <a:srgbClr val="4FD8F0"/>
                </a:solidFill>
                <a:latin typeface="Courier New" pitchFamily="34" charset="0"/>
                <a:ea typeface="Courier New" pitchFamily="34" charset="-122"/>
                <a:cs typeface="Courier New" pitchFamily="34" charset="-120"/>
              </a:rPr>
              <a:t>await</a:t>
            </a:r>
            <a:r>
              <a:rPr lang="en-US" sz="950" dirty="0">
                <a:solidFill>
                  <a:srgbClr val="D9EAEF"/>
                </a:solidFill>
                <a:latin typeface="Courier New" pitchFamily="34" charset="0"/>
                <a:ea typeface="Courier New" pitchFamily="34" charset="-122"/>
                <a:cs typeface="Courier New" pitchFamily="34" charset="-120"/>
              </a:rPr>
              <a:t> userTxs(userId);</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return</a:t>
            </a:r>
            <a:r>
              <a:rPr lang="en-US" sz="950" dirty="0">
                <a:solidFill>
                  <a:srgbClr val="D9EAEF"/>
                </a:solidFill>
                <a:latin typeface="Courier New" pitchFamily="34" charset="0"/>
                <a:ea typeface="Courier New" pitchFamily="34" charset="-122"/>
                <a:cs typeface="Courier New" pitchFamily="34" charset="-120"/>
              </a:rPr>
              <a:t> txs.reduce((sum, t) =&gt;</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sum + (</a:t>
            </a:r>
            <a:r>
              <a:rPr lang="en-US" sz="950" b="1" dirty="0">
                <a:solidFill>
                  <a:srgbClr val="4FD8F0"/>
                </a:solidFill>
                <a:latin typeface="Courier New" pitchFamily="34" charset="0"/>
                <a:ea typeface="Courier New" pitchFamily="34" charset="-122"/>
                <a:cs typeface="Courier New" pitchFamily="34" charset="-120"/>
              </a:rPr>
              <a:t>typeof</a:t>
            </a:r>
            <a:r>
              <a:rPr lang="en-US" sz="950" dirty="0">
                <a:solidFill>
                  <a:srgbClr val="D9EAEF"/>
                </a:solidFill>
                <a:latin typeface="Courier New" pitchFamily="34" charset="0"/>
                <a:ea typeface="Courier New" pitchFamily="34" charset="-122"/>
                <a:cs typeface="Courier New" pitchFamily="34" charset="-120"/>
              </a:rPr>
              <a:t> t.amount === </a:t>
            </a:r>
            <a:r>
              <a:rPr lang="en-US" sz="950" dirty="0">
                <a:solidFill>
                  <a:srgbClr val="3DE8B0"/>
                </a:solidFill>
                <a:latin typeface="Courier New" pitchFamily="34" charset="0"/>
                <a:ea typeface="Courier New" pitchFamily="34" charset="-122"/>
                <a:cs typeface="Courier New" pitchFamily="34" charset="-120"/>
              </a:rPr>
              <a:t>'number'</a:t>
            </a:r>
            <a:r>
              <a:rPr lang="en-US" sz="950" dirty="0">
                <a:solidFill>
                  <a:srgbClr val="D9EAEF"/>
                </a:solidFill>
                <a:latin typeface="Courier New" pitchFamily="34" charset="0"/>
                <a:ea typeface="Courier New" pitchFamily="34" charset="-122"/>
                <a:cs typeface="Courier New" pitchFamily="34" charset="-120"/>
              </a:rPr>
              <a:t> ? t.amount : </a:t>
            </a:r>
            <a:r>
              <a:rPr lang="en-US" sz="950" dirty="0">
                <a:solidFill>
                  <a:srgbClr val="FFC94D"/>
                </a:solidFill>
                <a:latin typeface="Courier New" pitchFamily="34" charset="0"/>
                <a:ea typeface="Courier New" pitchFamily="34" charset="-122"/>
                <a:cs typeface="Courier New" pitchFamily="34" charset="-120"/>
              </a:rPr>
              <a:t>0</a:t>
            </a:r>
            <a:r>
              <a:rPr lang="en-US" sz="950" dirty="0">
                <a:solidFill>
                  <a:srgbClr val="D9EAEF"/>
                </a:solidFill>
                <a:latin typeface="Courier New" pitchFamily="34" charset="0"/>
                <a:ea typeface="Courier New" pitchFamily="34" charset="-122"/>
                <a:cs typeface="Courier New" pitchFamily="34" charset="-120"/>
              </a:rPr>
              <a:t>), </a:t>
            </a:r>
            <a:r>
              <a:rPr lang="en-US" sz="950" dirty="0">
                <a:solidFill>
                  <a:srgbClr val="FFC94D"/>
                </a:solidFill>
                <a:latin typeface="Courier New" pitchFamily="34" charset="0"/>
                <a:ea typeface="Courier New" pitchFamily="34" charset="-122"/>
                <a:cs typeface="Courier New" pitchFamily="34" charset="-120"/>
              </a:rPr>
              <a:t>0</a:t>
            </a:r>
            <a:r>
              <a:rPr lang="en-US" sz="950" dirty="0">
                <a:solidFill>
                  <a:srgbClr val="D9EAEF"/>
                </a:solidFill>
                <a:latin typeface="Courier New" pitchFamily="34" charset="0"/>
                <a:ea typeface="Courier New" pitchFamily="34" charset="-122"/>
                <a:cs typeface="Courier New" pitchFamily="34" charset="-120"/>
              </a:rPr>
              <a:t>);</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a:t>
            </a:r>
            <a:endParaRPr lang="en-US" sz="950" dirty="0"/>
          </a:p>
        </p:txBody>
      </p:sp>
      <p:sp>
        <p:nvSpPr>
          <p:cNvPr id="10" name="Text 8"/>
          <p:cNvSpPr/>
          <p:nvPr/>
        </p:nvSpPr>
        <p:spPr>
          <a:xfrm>
            <a:off x="786384" y="5431536"/>
            <a:ext cx="5074920" cy="512064"/>
          </a:xfrm>
          <a:prstGeom prst="rect">
            <a:avLst/>
          </a:prstGeom>
          <a:noFill/>
          <a:ln/>
        </p:spPr>
        <p:txBody>
          <a:bodyPr wrap="square" lIns="0" tIns="0" rIns="0" bIns="0" rtlCol="0" anchor="t"/>
          <a:lstStyle/>
          <a:p>
            <a:pPr marL="0" indent="0">
              <a:buNone/>
            </a:pPr>
            <a:r>
              <a:rPr lang="en-US" sz="750" b="1" kern="0" spc="150" dirty="0">
                <a:solidFill>
                  <a:srgbClr val="4FD8F0"/>
                </a:solidFill>
                <a:latin typeface="Calibri" pitchFamily="34" charset="0"/>
                <a:ea typeface="Calibri" pitchFamily="34" charset="-122"/>
                <a:cs typeface="Calibri" pitchFamily="34" charset="-120"/>
              </a:rPr>
              <a:t>WHY IT MATTERS   </a:t>
            </a:r>
            <a:r>
              <a:rPr lang="en-US" sz="950" dirty="0">
                <a:solidFill>
                  <a:srgbClr val="9DBAC3"/>
                </a:solidFill>
                <a:latin typeface="Calibri" pitchFamily="34" charset="0"/>
                <a:ea typeface="Calibri" pitchFamily="34" charset="-122"/>
                <a:cs typeface="Calibri" pitchFamily="34" charset="-120"/>
              </a:rPr>
              <a:t>A crashed job returns its hold; an auditor can replay history to any balance. Experience points obey the same contract.</a:t>
            </a:r>
            <a:endParaRPr lang="en-US" sz="750" dirty="0"/>
          </a:p>
        </p:txBody>
      </p:sp>
      <p:sp>
        <p:nvSpPr>
          <p:cNvPr id="11" name="Shape 9"/>
          <p:cNvSpPr/>
          <p:nvPr/>
        </p:nvSpPr>
        <p:spPr>
          <a:xfrm>
            <a:off x="6309360" y="1463040"/>
            <a:ext cx="5349240" cy="4572000"/>
          </a:xfrm>
          <a:prstGeom prst="roundRect">
            <a:avLst>
              <a:gd name="adj" fmla="val 1800"/>
            </a:avLst>
          </a:prstGeom>
          <a:solidFill>
            <a:srgbClr val="04141B"/>
          </a:solidFill>
          <a:ln w="12700">
            <a:solidFill>
              <a:srgbClr val="1E4A57"/>
            </a:solidFill>
            <a:prstDash val="solid"/>
          </a:ln>
        </p:spPr>
        <p:txBody>
          <a:bodyPr/>
          <a:lstStyle/>
          <a:p>
            <a:endParaRPr lang="en-AU"/>
          </a:p>
        </p:txBody>
      </p:sp>
      <p:sp>
        <p:nvSpPr>
          <p:cNvPr id="12" name="Shape 10"/>
          <p:cNvSpPr/>
          <p:nvPr/>
        </p:nvSpPr>
        <p:spPr>
          <a:xfrm>
            <a:off x="6510528" y="1645920"/>
            <a:ext cx="109728" cy="109728"/>
          </a:xfrm>
          <a:prstGeom prst="ellipse">
            <a:avLst/>
          </a:prstGeom>
          <a:solidFill>
            <a:srgbClr val="4FD8F0"/>
          </a:solidFill>
          <a:ln/>
        </p:spPr>
        <p:txBody>
          <a:bodyPr/>
          <a:lstStyle/>
          <a:p>
            <a:endParaRPr lang="en-AU"/>
          </a:p>
        </p:txBody>
      </p:sp>
      <p:sp>
        <p:nvSpPr>
          <p:cNvPr id="13" name="Text 11"/>
          <p:cNvSpPr/>
          <p:nvPr/>
        </p:nvSpPr>
        <p:spPr>
          <a:xfrm>
            <a:off x="6711696" y="1554480"/>
            <a:ext cx="4800600" cy="292608"/>
          </a:xfrm>
          <a:prstGeom prst="rect">
            <a:avLst/>
          </a:prstGeom>
          <a:noFill/>
          <a:ln/>
        </p:spPr>
        <p:txBody>
          <a:bodyPr wrap="square" lIns="0" tIns="0" rIns="0" bIns="0" rtlCol="0" anchor="ctr"/>
          <a:lstStyle/>
          <a:p>
            <a:pPr marL="0" indent="0">
              <a:buNone/>
            </a:pPr>
            <a:r>
              <a:rPr lang="en-US" sz="900" dirty="0">
                <a:solidFill>
                  <a:srgbClr val="9DBAC3"/>
                </a:solidFill>
                <a:latin typeface="Courier New" pitchFamily="34" charset="0"/>
                <a:ea typeface="Courier New" pitchFamily="34" charset="-122"/>
                <a:cs typeface="Courier New" pitchFamily="34" charset="-120"/>
              </a:rPr>
              <a:t>apps/web/src/lib/telegram.ts</a:t>
            </a:r>
            <a:endParaRPr lang="en-US" sz="900" dirty="0"/>
          </a:p>
        </p:txBody>
      </p:sp>
      <p:sp>
        <p:nvSpPr>
          <p:cNvPr id="14" name="Text 12"/>
          <p:cNvSpPr/>
          <p:nvPr/>
        </p:nvSpPr>
        <p:spPr>
          <a:xfrm>
            <a:off x="6547104" y="1920240"/>
            <a:ext cx="4892040" cy="3438144"/>
          </a:xfrm>
          <a:prstGeom prst="rect">
            <a:avLst/>
          </a:prstGeom>
          <a:noFill/>
          <a:ln/>
        </p:spPr>
        <p:txBody>
          <a:bodyPr wrap="square" lIns="0" tIns="0" rIns="0" bIns="0" rtlCol="0" anchor="t"/>
          <a:lstStyle/>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Does this page load look like a Telegram Mini App</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launch? Answered WITHOUT the SDK, so it can decide</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 whether to fetch it at all.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export </a:t>
            </a:r>
            <a:r>
              <a:rPr lang="en-US" sz="950" b="1" dirty="0">
                <a:solidFill>
                  <a:srgbClr val="4FD8F0"/>
                </a:solidFill>
                <a:latin typeface="Courier New" pitchFamily="34" charset="0"/>
                <a:ea typeface="Courier New" pitchFamily="34" charset="-122"/>
                <a:cs typeface="Courier New" pitchFamily="34" charset="-120"/>
              </a:rPr>
              <a:t>function</a:t>
            </a:r>
            <a:r>
              <a:rPr lang="en-US" sz="950" dirty="0">
                <a:solidFill>
                  <a:srgbClr val="D9EAEF"/>
                </a:solidFill>
                <a:latin typeface="Courier New" pitchFamily="34" charset="0"/>
                <a:ea typeface="Courier New" pitchFamily="34" charset="-122"/>
                <a:cs typeface="Courier New" pitchFamily="34" charset="-120"/>
              </a:rPr>
              <a:t> looksLikeTelegramLaunch(): boolean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if</a:t>
            </a:r>
            <a:r>
              <a:rPr lang="en-US" sz="950" dirty="0">
                <a:solidFill>
                  <a:srgbClr val="D9EAEF"/>
                </a:solidFill>
                <a:latin typeface="Courier New" pitchFamily="34" charset="0"/>
                <a:ea typeface="Courier New" pitchFamily="34" charset="-122"/>
                <a:cs typeface="Courier New" pitchFamily="34" charset="-120"/>
              </a:rPr>
              <a:t> (getWebApp()?.initData) </a:t>
            </a:r>
            <a:r>
              <a:rPr lang="en-US" sz="950" b="1" dirty="0">
                <a:solidFill>
                  <a:srgbClr val="4FD8F0"/>
                </a:solidFill>
                <a:latin typeface="Courier New" pitchFamily="34" charset="0"/>
                <a:ea typeface="Courier New" pitchFamily="34" charset="-122"/>
                <a:cs typeface="Courier New" pitchFamily="34" charset="-120"/>
              </a:rPr>
              <a:t>return</a:t>
            </a:r>
            <a:r>
              <a:rPr lang="en-US" sz="950" dirty="0">
                <a:solidFill>
                  <a:srgbClr val="D9EAEF"/>
                </a:solidFill>
                <a:latin typeface="Courier New" pitchFamily="34" charset="0"/>
                <a:ea typeface="Courier New" pitchFamily="34" charset="-122"/>
                <a:cs typeface="Courier New" pitchFamily="34" charset="-120"/>
              </a:rPr>
              <a:t> </a:t>
            </a:r>
            <a:r>
              <a:rPr lang="en-US" sz="950" dirty="0">
                <a:solidFill>
                  <a:srgbClr val="FFC94D"/>
                </a:solidFill>
                <a:latin typeface="Courier New" pitchFamily="34" charset="0"/>
                <a:ea typeface="Courier New" pitchFamily="34" charset="-122"/>
                <a:cs typeface="Courier New" pitchFamily="34" charset="-120"/>
              </a:rPr>
              <a:t>true</a:t>
            </a:r>
            <a:r>
              <a:rPr lang="en-US" sz="950" dirty="0">
                <a:solidFill>
                  <a:srgbClr val="D9EAEF"/>
                </a:solidFill>
                <a:latin typeface="Courier New" pitchFamily="34" charset="0"/>
                <a:ea typeface="Courier New" pitchFamily="34" charset="-122"/>
                <a:cs typeface="Courier New" pitchFamily="34" charset="-120"/>
              </a:rPr>
              <a:t>;</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const</a:t>
            </a:r>
            <a:r>
              <a:rPr lang="en-US" sz="950" dirty="0">
                <a:solidFill>
                  <a:srgbClr val="D9EAEF"/>
                </a:solidFill>
                <a:latin typeface="Courier New" pitchFamily="34" charset="0"/>
                <a:ea typeface="Courier New" pitchFamily="34" charset="-122"/>
                <a:cs typeface="Courier New" pitchFamily="34" charset="-120"/>
              </a:rPr>
              <a:t> surface = `${location.hash}${location.search}`;</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if</a:t>
            </a:r>
            <a:r>
              <a:rPr lang="en-US" sz="950" dirty="0">
                <a:solidFill>
                  <a:srgbClr val="D9EAEF"/>
                </a:solidFill>
                <a:latin typeface="Courier New" pitchFamily="34" charset="0"/>
                <a:ea typeface="Courier New" pitchFamily="34" charset="-122"/>
                <a:cs typeface="Courier New" pitchFamily="34" charset="-120"/>
              </a:rPr>
              <a:t> (/[#&amp;?]tgWebApp(Data|Version|Platform)=/.test(surface))</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r>
              <a:rPr lang="en-US" sz="950" b="1" dirty="0">
                <a:solidFill>
                  <a:srgbClr val="4FD8F0"/>
                </a:solidFill>
                <a:latin typeface="Courier New" pitchFamily="34" charset="0"/>
                <a:ea typeface="Courier New" pitchFamily="34" charset="-122"/>
                <a:cs typeface="Courier New" pitchFamily="34" charset="-120"/>
              </a:rPr>
              <a:t>return</a:t>
            </a:r>
            <a:r>
              <a:rPr lang="en-US" sz="950" dirty="0">
                <a:solidFill>
                  <a:srgbClr val="D9EAEF"/>
                </a:solidFill>
                <a:latin typeface="Courier New" pitchFamily="34" charset="0"/>
                <a:ea typeface="Courier New" pitchFamily="34" charset="-122"/>
                <a:cs typeface="Courier New" pitchFamily="34" charset="-120"/>
              </a:rPr>
              <a:t> </a:t>
            </a:r>
            <a:r>
              <a:rPr lang="en-US" sz="950" dirty="0">
                <a:solidFill>
                  <a:srgbClr val="FFC94D"/>
                </a:solidFill>
                <a:latin typeface="Courier New" pitchFamily="34" charset="0"/>
                <a:ea typeface="Courier New" pitchFamily="34" charset="-122"/>
                <a:cs typeface="Courier New" pitchFamily="34" charset="-120"/>
              </a:rPr>
              <a:t>true</a:t>
            </a:r>
            <a:r>
              <a:rPr lang="en-US" sz="950" dirty="0">
                <a:solidFill>
                  <a:srgbClr val="D9EAEF"/>
                </a:solidFill>
                <a:latin typeface="Courier New" pitchFamily="34" charset="0"/>
                <a:ea typeface="Courier New" pitchFamily="34" charset="-122"/>
                <a:cs typeface="Courier New" pitchFamily="34" charset="-120"/>
              </a:rPr>
              <a:t>;</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a:t>
            </a:r>
            <a:endParaRPr lang="en-US" sz="950" dirty="0"/>
          </a:p>
          <a:p>
            <a:pPr marL="0" indent="0">
              <a:lnSpc>
                <a:spcPct val="112000"/>
              </a:lnSpc>
              <a:buNone/>
            </a:pPr>
            <a:r>
              <a:rPr lang="en-US" sz="950" dirty="0">
                <a:solidFill>
                  <a:srgbClr val="D9EAEF"/>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The SDK used to be a blocking &lt;script&gt; fetched from</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telegram.org on every page load, stalling the marketing</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site for exactly the corporate networks that block</a:t>
            </a:r>
            <a:endParaRPr lang="en-US" sz="950" dirty="0"/>
          </a:p>
          <a:p>
            <a:pPr marL="0" indent="0">
              <a:lnSpc>
                <a:spcPct val="112000"/>
              </a:lnSpc>
              <a:buNone/>
            </a:pPr>
            <a:r>
              <a:rPr lang="en-US" sz="950" dirty="0">
                <a:solidFill>
                  <a:srgbClr val="7A98A1"/>
                </a:solidFill>
                <a:latin typeface="Courier New" pitchFamily="34" charset="0"/>
                <a:ea typeface="Courier New" pitchFamily="34" charset="-122"/>
                <a:cs typeface="Courier New" pitchFamily="34" charset="-120"/>
              </a:rPr>
              <a:t>// telegram.org, whose users need the browser fallback most.</a:t>
            </a:r>
            <a:endParaRPr lang="en-US" sz="950" dirty="0"/>
          </a:p>
        </p:txBody>
      </p:sp>
      <p:sp>
        <p:nvSpPr>
          <p:cNvPr id="15" name="Text 13"/>
          <p:cNvSpPr/>
          <p:nvPr/>
        </p:nvSpPr>
        <p:spPr>
          <a:xfrm>
            <a:off x="6547104" y="5431536"/>
            <a:ext cx="4892040" cy="512064"/>
          </a:xfrm>
          <a:prstGeom prst="rect">
            <a:avLst/>
          </a:prstGeom>
          <a:noFill/>
          <a:ln/>
        </p:spPr>
        <p:txBody>
          <a:bodyPr wrap="square" lIns="0" tIns="0" rIns="0" bIns="0" rtlCol="0" anchor="t"/>
          <a:lstStyle/>
          <a:p>
            <a:pPr marL="0" indent="0">
              <a:buNone/>
            </a:pPr>
            <a:r>
              <a:rPr lang="en-US" sz="750" b="1" kern="0" spc="150" dirty="0">
                <a:solidFill>
                  <a:srgbClr val="4FD8F0"/>
                </a:solidFill>
                <a:latin typeface="Calibri" pitchFamily="34" charset="0"/>
                <a:ea typeface="Calibri" pitchFamily="34" charset="-122"/>
                <a:cs typeface="Calibri" pitchFamily="34" charset="-120"/>
              </a:rPr>
              <a:t>WHY IT MATTERS   </a:t>
            </a:r>
            <a:r>
              <a:rPr lang="en-US" sz="950" dirty="0">
                <a:solidFill>
                  <a:srgbClr val="9DBAC3"/>
                </a:solidFill>
                <a:latin typeface="Calibri" pitchFamily="34" charset="0"/>
                <a:ea typeface="Calibri" pitchFamily="34" charset="-122"/>
                <a:cs typeface="Calibri" pitchFamily="34" charset="-120"/>
              </a:rPr>
              <a:t>The comment records the cost that drove the design. That is what a decision register looks like inside the code.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7422</Words>
  <Application>Microsoft Office PowerPoint</Application>
  <PresentationFormat>Widescreen</PresentationFormat>
  <Paragraphs>699</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AquaZeroFit, NIT3004 Capstone Presentation</dc:title>
  <dc:subject>PptxGenJS Presentation</dc:subject>
  <dc:creator>Group 15, AquaZeroFit</dc:creator>
  <cp:lastModifiedBy>Babatundji Williams-Fulwood</cp:lastModifiedBy>
  <cp:revision>2</cp:revision>
  <dcterms:created xsi:type="dcterms:W3CDTF">2026-08-17T05:39:18Z</dcterms:created>
  <dcterms:modified xsi:type="dcterms:W3CDTF">2026-08-17T05:44:07Z</dcterms:modified>
</cp:coreProperties>
</file>