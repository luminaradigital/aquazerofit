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F0F2"/>
                </a:solidFill>
                <a:latin typeface="Arial"/>
              </a:defRPr>
            </a:pPr>
            <a:r>
              <a:rPr sz="1200" b="0" i="0" u="none" strike="noStrike">
                <a:solidFill>
                  <a:srgbClr val="E8F0F2"/>
                </a:solidFill>
                <a:latin typeface="Arial"/>
              </a:rPr>
              <a:t>Passing tests by suite (September 2026)</a:t>
            </a:r>
          </a:p>
        </c:rich>
      </c:tx>
      <c:layout/>
      <c:overlay val="0"/>
    </c:title>
    <c:autoTitleDeleted val="0"/>
    <c:plotArea>
      <c:layout/>
      <c:barChart>
        <c:barDir val="col"/>
        <c:grouping val="clustered"/>
        <c:varyColors val="0"/>
        <c:ser>
          <c:idx val="0"/>
          <c:order val="0"/>
          <c:tx>
            <c:strRef>
              <c:f>Sheet1!$B$1</c:f>
              <c:strCache>
                <c:ptCount val="1"/>
                <c:pt idx="0">
                  <c:v>Automated tests</c:v>
                </c:pt>
              </c:strCache>
            </c:strRef>
          </c:tx>
          <c:spPr>
            <a:solidFill>
              <a:srgbClr val="2FD9F4"/>
            </a:solidFill>
            <a:effectLst/>
          </c:spPr>
          <c:invertIfNegative val="0"/>
          <c:dLbls>
            <c:numFmt formatCode="#,##0" sourceLinked="0"/>
            <c:txPr>
              <a:bodyPr/>
              <a:lstStyle/>
              <a:p>
                <a:pPr>
                  <a:defRPr b="0" i="0" strike="noStrike" sz="1100" u="none">
                    <a:solidFill>
                      <a:srgbClr val="E8F0F2"/>
                    </a:solidFill>
                    <a:latin typeface="Arial"/>
                  </a:defRPr>
                </a:pPr>
              </a:p>
            </c:txPr>
            <c:showLegendKey val="0"/>
            <c:showVal val="1"/>
            <c:showCatName val="0"/>
            <c:showSerName val="0"/>
            <c:showPercent val="0"/>
            <c:showBubbleSize val="0"/>
            <c:showLeaderLines val="0"/>
          </c:dLbls>
          <c:cat>
            <c:multiLvlStrRef>
              <c:f>Sheet1!$A$2:$A$5</c:f>
              <c:multiLvlStrCache>
                <c:ptCount val="4"/>
                <c:lvl>
                  <c:pt idx="0">
                    <c:v>Android JVM unit</c:v>
                  </c:pt>
                  <c:pt idx="1">
                    <c:v>Android instrumented</c:v>
                  </c:pt>
                  <c:pt idx="2">
                    <c:v>API (vitest)</c:v>
                  </c:pt>
                  <c:pt idx="3">
                    <c:v>Web (vitest)</c:v>
                  </c:pt>
                </c:lvl>
              </c:multiLvlStrCache>
            </c:multiLvlStrRef>
          </c:cat>
          <c:val>
            <c:numRef>
              <c:f>Sheet1!$B$2:$B$5</c:f>
              <c:numCache>
                <c:formatCode>General</c:formatCode>
                <c:ptCount val="4"/>
                <c:pt idx="0">
                  <c:v>518</c:v>
                </c:pt>
                <c:pt idx="1">
                  <c:v>55</c:v>
                </c:pt>
                <c:pt idx="2">
                  <c:v>614</c:v>
                </c:pt>
                <c:pt idx="3">
                  <c:v>156</c:v>
                </c:pt>
              </c:numCache>
            </c:numRef>
          </c:val>
        </c:ser>
        <c:dLbls>
          <c:numFmt formatCode="#,##0" sourceLinked="0"/>
          <c:txPr>
            <a:bodyPr/>
            <a:lstStyle/>
            <a:p>
              <a:pPr>
                <a:defRPr b="0" i="0" strike="noStrike" sz="1100" u="none">
                  <a:solidFill>
                    <a:srgbClr val="E8F0F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DB2BA"/>
                </a:solidFill>
                <a:latin typeface="Arial"/>
              </a:defRPr>
            </a:pPr>
            <a:endParaRPr lang="en-US"/>
          </a:p>
        </c:txPr>
        <c:crossAx val="2094734552"/>
        <c:crosses val="autoZero"/>
        <c:auto val="1"/>
        <c:lblAlgn val="ctr"/>
        <c:noMultiLvlLbl val="1"/>
      </c:catAx>
      <c:valAx>
        <c:axId val="2094734552"/>
        <c:scaling>
          <c:orientation val="minMax"/>
          <c:max val="700"/>
        </c:scaling>
        <c:delete val="0"/>
        <c:axPos val="l"/>
        <c:majorGridlines>
          <c:spPr>
            <a:ln w="6350" cap="flat">
              <a:solidFill>
                <a:srgbClr val="26384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DB2BA"/>
                </a:solidFill>
                <a:latin typeface="Arial"/>
              </a:defRPr>
            </a:pPr>
            <a:endParaRPr lang="en-US"/>
          </a:p>
        </c:txPr>
        <c:crossAx val="2094734554"/>
        <c:crosses val="autoZero"/>
        <c:crossBetween val="between"/>
      </c:valAx>
      <c:spPr>
        <a:solidFill>
          <a:srgbClr val="0E161A"/>
        </a:solidFill>
        <a:ln>
          <a:noFill/>
        </a:ln>
        <a:effectLst/>
      </c:spPr>
    </c:plotArea>
    <c:plotVisOnly val="1"/>
    <c:dispBlanksAs val="span"/>
  </c:chart>
  <c:spPr>
    <a:solidFill>
      <a:srgbClr val="0E161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F0F2"/>
                </a:solidFill>
                <a:latin typeface="Arial"/>
              </a:defRPr>
            </a:pPr>
            <a:r>
              <a:rPr sz="1200" b="0" i="0" u="none" strike="noStrike">
                <a:solidFill>
                  <a:srgbClr val="E8F0F2"/>
                </a:solidFill>
                <a:latin typeface="Arial"/>
              </a:rPr>
              <a:t>82 percent smaller after R8 and resource shrinking</a:t>
            </a:r>
          </a:p>
        </c:rich>
      </c:tx>
      <c:layout/>
      <c:overlay val="0"/>
    </c:title>
    <c:autoTitleDeleted val="0"/>
    <c:plotArea>
      <c:layout/>
      <c:barChart>
        <c:barDir val="col"/>
        <c:grouping val="clustered"/>
        <c:varyColors val="0"/>
        <c:ser>
          <c:idx val="0"/>
          <c:order val="0"/>
          <c:tx>
            <c:strRef>
              <c:f>Sheet1!$B$1</c:f>
              <c:strCache>
                <c:ptCount val="1"/>
                <c:pt idx="0">
                  <c:v>APK size (MB)</c:v>
                </c:pt>
              </c:strCache>
            </c:strRef>
          </c:tx>
          <c:spPr>
            <a:solidFill>
              <a:srgbClr val="2FD9F4"/>
            </a:solidFill>
            <a:effectLst/>
          </c:spPr>
          <c:invertIfNegative val="0"/>
          <c:dLbls>
            <c:numFmt formatCode="0.0" sourceLinked="0"/>
            <c:txPr>
              <a:bodyPr/>
              <a:lstStyle/>
              <a:p>
                <a:pPr>
                  <a:defRPr b="0" i="0" strike="noStrike" sz="1100" u="none">
                    <a:solidFill>
                      <a:srgbClr val="E8F0F2"/>
                    </a:solidFill>
                    <a:latin typeface="Arial"/>
                  </a:defRPr>
                </a:pPr>
              </a:p>
            </c:txPr>
            <c:showLegendKey val="0"/>
            <c:showVal val="1"/>
            <c:showCatName val="0"/>
            <c:showSerName val="0"/>
            <c:showPercent val="0"/>
            <c:showBubbleSize val="0"/>
            <c:showLeaderLines val="0"/>
          </c:dLbls>
          <c:cat>
            <c:multiLvlStrRef>
              <c:f>Sheet1!$A$2:$A$3</c:f>
              <c:multiLvlStrCache>
                <c:ptCount val="2"/>
                <c:lvl>
                  <c:pt idx="0">
                    <c:v>Debug APK</c:v>
                  </c:pt>
                  <c:pt idx="1">
                    <c:v>Release APK, R8 minified</c:v>
                  </c:pt>
                </c:lvl>
              </c:multiLvlStrCache>
            </c:multiLvlStrRef>
          </c:cat>
          <c:val>
            <c:numRef>
              <c:f>Sheet1!$B$2:$B$3</c:f>
              <c:numCache>
                <c:formatCode>General</c:formatCode>
                <c:ptCount val="2"/>
                <c:pt idx="0">
                  <c:v>32</c:v>
                </c:pt>
                <c:pt idx="1">
                  <c:v>5.9</c:v>
                </c:pt>
              </c:numCache>
            </c:numRef>
          </c:val>
        </c:ser>
        <c:dLbls>
          <c:numFmt formatCode="0.0" sourceLinked="0"/>
          <c:txPr>
            <a:bodyPr/>
            <a:lstStyle/>
            <a:p>
              <a:pPr>
                <a:defRPr b="0" i="0" strike="noStrike" sz="1100" u="none">
                  <a:solidFill>
                    <a:srgbClr val="E8F0F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DB2BA"/>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26384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DB2BA"/>
                </a:solidFill>
                <a:latin typeface="Arial"/>
              </a:defRPr>
            </a:pPr>
            <a:endParaRPr lang="en-US"/>
          </a:p>
        </c:txPr>
        <c:crossAx val="2094734554"/>
        <c:crosses val="autoZero"/>
        <c:crossBetween val="between"/>
      </c:valAx>
      <c:spPr>
        <a:solidFill>
          <a:srgbClr val="0E161A"/>
        </a:solidFill>
        <a:ln>
          <a:noFill/>
        </a:ln>
        <a:effectLst/>
      </c:spPr>
    </c:plotArea>
    <c:plotVisOnly val="1"/>
    <c:dispBlanksAs val="span"/>
  </c:chart>
  <c:spPr>
    <a:solidFill>
      <a:srgbClr val="0E161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Introduce yourself, the unit and the app in one breath: AquaZeroFit is a native Android wellness app that photographs meals, sets calorie targets you can check by hand, runs guided home workouts and includes a safety-bounded AI coach. Everything on the screen to the right was captured from the real app on an emulator,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reading paths: the first half is for any audience, the second half is for engineers. Tell the room they can leave with the first half and still understand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rule out loud: models identify, interpret and explain; code calculates, filters and enforces. Then read the four numbers. 21 screens, about fifty thousand lines of Kotlin, 573 automated Android tests, and a 5.9 megabyte release binary. All four are measured from the repository at the commit named on the reference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product as a response to four concrete failures rather than a feature list. The screenshot on the right is the confirmation step after a meal photo: the app says in plain words that nothing is logged until you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bottom navigation left to right. The loop is daily: log food and water, do the session, watch the trend, ask the coach. Every tab reads from the local Room database, so switching tabs is instant even with no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hero flow. Point at the confidence chips: seventy-seven percent high confidence on the beetroot is the model's honesty made visible. Then stress that the number next to it was computed by code, not by the model. The photo itself is deleted; only the confirmed log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market: barcode scanning is a paid feature in some of the most downloaded loggers. Here it is on-device, free, and the data source is credited on the sheet. The allergen warning in the third screenshot is a deterministic filter, not a model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marker asks where a number comes from, this slide is the answer. Read the chain: Mifflin-St Jeor, activity factor, bounded weekly change, protein by goal, fat floor, water by weight. Mention that only Mifflin-St Jeor is implemented; there is no body-fat input, so no Katch-McArdle.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readiness chip is deliberately explainable: tap Why and it lists rhythm, training and check-ins. The session screen is a real capture mid-workout. Explain that the foreground service type is health, which is the type Google documents for exercise trackers, and that the service fails safe if the prerequisite permission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Attribution is normally a footnote. Here it is rendered on the card because the data licence requires it and because it is a trust signal. Mention that the wger project is itself AGPL and that no wger code is vendored: the integration is data plus an independent reimplementation.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to land: the coach is grounded in real logged data, and the safety boundary is enforced by code before any model runs. If asked about jailbreaks, the answer is that the classifier is pattern-matching in TypeScript and runs on both input and output; a model cannot renegotiate it. Do not quote the persona count as twenty-eight in marketing; nineteen have 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adaptive engine is the feature that competes with subscription-only trackers. It is pure arithmetic in Kotlin under core/common with a full JVM test. Describe the meal plan honestly: it is a day of suggestions, one per slot, not a multi-day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documented harm in habit apps is the punishment shown for a missed day. Explain the consistency model: a rolling window, a grace day, and a best figure that never decreases. The rank-up screenshot is real; the persona is Akin.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and specific. MacroFactor's adaptive model is excellent and is credited as such; the difference is that AquaZeroFit adds guided training, an AI coach with coded guardrails, a free tier that keeps every feature, and open source. MyFitnessPal moved barcode scanning behind its paid tier in 2022. Hevy and Strong are strength loggers with no nutrition. Noom is coaching-led and subscription-only.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Warn non-technical listeners that the next fifteen slides are for developers, and that the conclusion returns to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three clients, one API, storage and AI behind it. Emphasise that the Android app is a peer of the web client, not a WebView, and that it is the only client with a local database because it is the only one used where there is no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row. Point out three things: it is Compose only with no XML, Navigation 3 rather than the older Navigation component, and Room 3 with exported schemas so migrations are testable. Everything is pinned in a version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Google's guide to app architecture: UI layer, domain logic in pure Kotlin, data layer underneath. The unusual discipline is the grep-enforced rule that features never import each other; that is what makes the future module split mechanical rather than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Android recommendation for UI state, applied strictly. The detail worth saying aloud is the string resource id rule: because ViewModels never format text, they never need a Context, and that is what keeps five hundred tests on the JVM instead of on an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The interesting engineering is step five: the server fingerprints the user, the path and the key, not the body, so the client must never reuse a key with a different payload, and the code comments say so. Instrumented tests cover the outbox state machine on a real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three-client split is load-bearing. Tell the deadlock story briefly: shared dispatcher, five concurrent 401s, refresh starved. Then the vault: the token is encrypted with a key that never leaves hardware, and the interface is faked in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counted from the source tree. The talking point is discipline: interfaces exist only where a fake is needed, and the single service-locator style access is documented and justified by a platform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justifies building native rather than wrapping the website. Pick three to say aloud: Health Connect with consent re-checked on every read, the widget that works with no network, and Play Billing verified on the server so a leaked token cannot entitle another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for an Android unit: the point is that the app targets a frozen versioned contract, so the client can be tested against fakes and the API can evolve behind it. The store abstraction is why the whole stack runs locally with no database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sentence: every AI feature works with zero API keys because the deterministic mock is the last link in the chain, and a mock answer is flagged degraded and never billed. Then the classifier: crisis has the highest priority so a distress signal always wins over a food question in the same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list of permissions not requested; that is where reviewers relax. Then photos: stripped, private, deleted. The advertising id removal is verified in the manifest merger report of the signed build, which is the kind of evidence Play reviewers respond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honest framing: one thousand three hundred and forty-three passing tests, not a coverage percentage. Then the four gates, which are exactly what CI runs. The anecdote about the build cache is worth thirty seconds: it is why the README tells you to count result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stories: the silent unsigned build, and the constant versionCode. Both were real defects found before they reached Play, and both are now impossible by construction. The size chart is the R8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plainly what is done and what is not. The console is prepared and the listing saved; the bundle upload and the closed-testing period are the remaining policy steps for a new developer account. That honesty is worth more than an implied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tooling. AI-assisted review and the Android CLI were used as instruments; the architecture, the code and the decisions are the author's, and every claim in this deck was checked against the source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outcome to a slide range so the marker can find the evidence. Outcome four is where this project is strongest; spend the most time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Markers reward candour. Each limit here is documented in the repository as an accepted trade-off with a first hardening step, which is different from a gap discovered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rule one more time, then the four words: trustworthy, resilient, safe by construction, open. Invite questions and point to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Bracketed numbers throughout the deck resolve here. Repository claims cite the commit named in reference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Bracketed numbers throughout the deck resolve here. Repository claims cite the commit named in reference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for non-technical markers. Not intended to be presented; leave it for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image" Target="../media/image-27-3.png"/><Relationship Id="rId5" Type="http://schemas.openxmlformats.org/officeDocument/2006/relationships/image" Target="../media/image-27-4.png"/><Relationship Id="rId6" Type="http://schemas.openxmlformats.org/officeDocument/2006/relationships/image" Target="../media/image-27-5.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8-1.png"/><Relationship Id="rId3" Type="http://schemas.openxmlformats.org/officeDocument/2006/relationships/image" Target="../media/image-28-2.png"/><Relationship Id="rId4" Type="http://schemas.openxmlformats.org/officeDocument/2006/relationships/image" Target="../media/image-28-3.png"/><Relationship Id="rId5" Type="http://schemas.openxmlformats.org/officeDocument/2006/relationships/image" Target="../media/image-28-4.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13"/>
        </a:solidFill>
      </p:bgPr>
    </p:bg>
    <p:spTree>
      <p:nvGrpSpPr>
        <p:cNvPr id="1" name=""/>
        <p:cNvGrpSpPr/>
        <p:nvPr/>
      </p:nvGrpSpPr>
      <p:grpSpPr>
        <a:xfrm>
          <a:off x="0" y="0"/>
          <a:ext cx="0" cy="0"/>
          <a:chOff x="0" y="0"/>
          <a:chExt cx="0" cy="0"/>
        </a:xfrm>
      </p:grpSpPr>
      <p:sp>
        <p:nvSpPr>
          <p:cNvPr id="2" name="Shape 0"/>
          <p:cNvSpPr/>
          <p:nvPr/>
        </p:nvSpPr>
        <p:spPr>
          <a:xfrm>
            <a:off x="7498080" y="-1097280"/>
            <a:ext cx="6858000" cy="6858000"/>
          </a:xfrm>
          <a:prstGeom prst="ellipse">
            <a:avLst/>
          </a:prstGeom>
          <a:solidFill>
            <a:srgbClr val="12303A"/>
          </a:solidFill>
          <a:ln w="12700">
            <a:solidFill>
              <a:srgbClr val="12303A"/>
            </a:solidFill>
            <a:prstDash val="solid"/>
          </a:ln>
        </p:spPr>
      </p:sp>
      <p:pic>
        <p:nvPicPr>
          <p:cNvPr id="3" name="Image 0" descr="C:\Users\lumin\AppData\Local\Temp\azf-deck\img\logo.png">    </p:cNvPr>
          <p:cNvPicPr>
            <a:picLocks noChangeAspect="1"/>
          </p:cNvPicPr>
          <p:nvPr/>
        </p:nvPicPr>
        <p:blipFill>
          <a:blip r:embed="rId1"/>
          <a:stretch>
            <a:fillRect/>
          </a:stretch>
        </p:blipFill>
        <p:spPr>
          <a:xfrm>
            <a:off x="640080" y="548640"/>
            <a:ext cx="960120" cy="1005840"/>
          </a:xfrm>
          <a:prstGeom prst="rect">
            <a:avLst/>
          </a:prstGeom>
        </p:spPr>
      </p:pic>
      <p:sp>
        <p:nvSpPr>
          <p:cNvPr id="4" name="Text 1"/>
          <p:cNvSpPr txBox="1"/>
          <p:nvPr/>
        </p:nvSpPr>
        <p:spPr>
          <a:xfrm>
            <a:off x="640080" y="1874520"/>
            <a:ext cx="7315200" cy="237744"/>
          </a:xfrm>
          <a:prstGeom prst="rect">
            <a:avLst/>
          </a:prstGeom>
          <a:noFill/>
          <a:ln/>
        </p:spPr>
        <p:txBody>
          <a:bodyPr wrap="square" lIns="0" tIns="0" rIns="0" bIns="0" rtlCol="0" anchor="ctr"/>
          <a:lstStyle/>
          <a:p>
            <a:pPr algn="l" indent="0" marL="0">
              <a:buNone/>
            </a:pPr>
            <a:r>
              <a:rPr lang="en-US" sz="950" b="1" spc="150" kern="0" dirty="0">
                <a:solidFill>
                  <a:srgbClr val="2FD9F4"/>
                </a:solidFill>
                <a:latin typeface="Arial" pitchFamily="34" charset="0"/>
                <a:ea typeface="Arial" pitchFamily="34" charset="-122"/>
                <a:cs typeface="Arial" pitchFamily="34" charset="-120"/>
              </a:rPr>
              <a:t>DEMONSTRATION, TECHNICAL PAPER AND WHITE PAPER IN ONE DECK</a:t>
            </a:r>
            <a:endParaRPr lang="en-US" sz="950" dirty="0"/>
          </a:p>
        </p:txBody>
      </p:sp>
      <p:sp>
        <p:nvSpPr>
          <p:cNvPr id="5" name="Text 2"/>
          <p:cNvSpPr txBox="1"/>
          <p:nvPr/>
        </p:nvSpPr>
        <p:spPr>
          <a:xfrm>
            <a:off x="640080" y="2148840"/>
            <a:ext cx="8686800" cy="96012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AquaZeroFit for Android</a:t>
            </a:r>
            <a:endParaRPr lang="en-US" sz="4800" dirty="0"/>
          </a:p>
        </p:txBody>
      </p:sp>
      <p:sp>
        <p:nvSpPr>
          <p:cNvPr id="6" name="Text 3"/>
          <p:cNvSpPr txBox="1"/>
          <p:nvPr/>
        </p:nvSpPr>
        <p:spPr>
          <a:xfrm>
            <a:off x="640080" y="3154680"/>
            <a:ext cx="7863840" cy="868680"/>
          </a:xfrm>
          <a:prstGeom prst="rect">
            <a:avLst/>
          </a:prstGeom>
          <a:noFill/>
          <a:ln/>
        </p:spPr>
        <p:txBody>
          <a:bodyPr wrap="square" lIns="0" tIns="0" rIns="0" bIns="0" rtlCol="0" anchor="ctr"/>
          <a:lstStyle/>
          <a:p>
            <a:pPr indent="0" marL="0">
              <a:buNone/>
            </a:pPr>
            <a:r>
              <a:rPr lang="en-US" sz="1700" dirty="0">
                <a:solidFill>
                  <a:srgbClr val="E8F0F2"/>
                </a:solidFill>
                <a:latin typeface="Arial" pitchFamily="34" charset="0"/>
                <a:ea typeface="Arial" pitchFamily="34" charset="-122"/>
                <a:cs typeface="Arial" pitchFamily="34" charset="-120"/>
              </a:rPr>
              <a:t>A native Kotlin and Jetpack Compose client for Google Play, built offline-first around one rule: models identify, code calculates.</a:t>
            </a:r>
            <a:endParaRPr lang="en-US" sz="1700" dirty="0"/>
          </a:p>
        </p:txBody>
      </p:sp>
      <p:sp>
        <p:nvSpPr>
          <p:cNvPr id="7" name="Shape 4"/>
          <p:cNvSpPr/>
          <p:nvPr/>
        </p:nvSpPr>
        <p:spPr>
          <a:xfrm>
            <a:off x="640080" y="4343400"/>
            <a:ext cx="5577840" cy="1600200"/>
          </a:xfrm>
          <a:prstGeom prst="roundRect">
            <a:avLst>
              <a:gd name="adj" fmla="val 6857"/>
            </a:avLst>
          </a:prstGeom>
          <a:solidFill>
            <a:srgbClr val="16232A">
              <a:alpha val="90000"/>
            </a:srgbClr>
          </a:solidFill>
          <a:ln w="9525">
            <a:solidFill>
              <a:srgbClr val="263841"/>
            </a:solidFill>
            <a:prstDash val="solid"/>
          </a:ln>
        </p:spPr>
      </p:sp>
      <p:sp>
        <p:nvSpPr>
          <p:cNvPr id="8" name="Text 5"/>
          <p:cNvSpPr txBox="1"/>
          <p:nvPr/>
        </p:nvSpPr>
        <p:spPr>
          <a:xfrm>
            <a:off x="868680" y="4480560"/>
            <a:ext cx="5212080" cy="320040"/>
          </a:xfrm>
          <a:prstGeom prst="rect">
            <a:avLst/>
          </a:prstGeom>
          <a:noFill/>
          <a:ln/>
        </p:spPr>
        <p:txBody>
          <a:bodyPr wrap="square" lIns="0" tIns="0" rIns="0" bIns="0"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Babatundji Williams-Fulwood</a:t>
            </a:r>
            <a:endParaRPr lang="en-US" sz="1500" dirty="0"/>
          </a:p>
        </p:txBody>
      </p:sp>
      <p:sp>
        <p:nvSpPr>
          <p:cNvPr id="9" name="Text 6"/>
          <p:cNvSpPr txBox="1"/>
          <p:nvPr/>
        </p:nvSpPr>
        <p:spPr>
          <a:xfrm>
            <a:off x="868680" y="4800600"/>
            <a:ext cx="5212080" cy="274320"/>
          </a:xfrm>
          <a:prstGeom prst="rect">
            <a:avLst/>
          </a:prstGeom>
          <a:noFill/>
          <a:ln/>
        </p:spPr>
        <p:txBody>
          <a:bodyPr wrap="square" lIns="0" tIns="0" rIns="0" bIns="0" rtlCol="0" anchor="t"/>
          <a:lstStyle/>
          <a:p>
            <a:pPr algn="l" indent="0" marL="0">
              <a:buNone/>
            </a:pPr>
            <a:r>
              <a:rPr lang="en-US" sz="1200" dirty="0">
                <a:solidFill>
                  <a:srgbClr val="2FD9F4"/>
                </a:solidFill>
                <a:latin typeface="Arial" pitchFamily="34" charset="0"/>
                <a:ea typeface="Arial" pitchFamily="34" charset="-122"/>
                <a:cs typeface="Arial" pitchFamily="34" charset="-120"/>
              </a:rPr>
              <a:t>Student ID s8138393</a:t>
            </a:r>
            <a:endParaRPr lang="en-US" sz="1200" dirty="0"/>
          </a:p>
        </p:txBody>
      </p:sp>
      <p:sp>
        <p:nvSpPr>
          <p:cNvPr id="10" name="Text 7"/>
          <p:cNvSpPr txBox="1"/>
          <p:nvPr/>
        </p:nvSpPr>
        <p:spPr>
          <a:xfrm>
            <a:off x="868680" y="5093208"/>
            <a:ext cx="5212080" cy="274320"/>
          </a:xfrm>
          <a:prstGeom prst="rect">
            <a:avLst/>
          </a:prstGeom>
          <a:noFill/>
          <a:ln/>
        </p:spPr>
        <p:txBody>
          <a:bodyPr wrap="square" lIns="0" tIns="0" rIns="0" bIns="0" rtlCol="0" anchor="t"/>
          <a:lstStyle/>
          <a:p>
            <a:pPr algn="l" indent="0" marL="0">
              <a:buNone/>
            </a:pPr>
            <a:r>
              <a:rPr lang="en-US" sz="1100" dirty="0">
                <a:solidFill>
                  <a:srgbClr val="9DB2BA"/>
                </a:solidFill>
                <a:latin typeface="Arial" pitchFamily="34" charset="0"/>
                <a:ea typeface="Arial" pitchFamily="34" charset="-122"/>
                <a:cs typeface="Arial" pitchFamily="34" charset="-120"/>
              </a:rPr>
              <a:t>NIT3213 Mobile Application Development, Victoria University, Melbourne [1]</a:t>
            </a:r>
            <a:endParaRPr lang="en-US" sz="1100" dirty="0"/>
          </a:p>
        </p:txBody>
      </p:sp>
      <p:sp>
        <p:nvSpPr>
          <p:cNvPr id="11" name="Text 8"/>
          <p:cNvSpPr txBox="1"/>
          <p:nvPr/>
        </p:nvSpPr>
        <p:spPr>
          <a:xfrm>
            <a:off x="868680" y="5367528"/>
            <a:ext cx="5212080" cy="274320"/>
          </a:xfrm>
          <a:prstGeom prst="rect">
            <a:avLst/>
          </a:prstGeom>
          <a:noFill/>
          <a:ln/>
        </p:spPr>
        <p:txBody>
          <a:bodyPr wrap="square" lIns="0" tIns="0" rIns="0" bIns="0" rtlCol="0" anchor="t"/>
          <a:lstStyle/>
          <a:p>
            <a:pPr algn="l" indent="0" marL="0">
              <a:buNone/>
            </a:pPr>
            <a:r>
              <a:rPr lang="en-US" sz="1100" dirty="0">
                <a:solidFill>
                  <a:srgbClr val="9DB2BA"/>
                </a:solidFill>
                <a:latin typeface="Arial" pitchFamily="34" charset="0"/>
                <a:ea typeface="Arial" pitchFamily="34" charset="-122"/>
                <a:cs typeface="Arial" pitchFamily="34" charset="-120"/>
              </a:rPr>
              <a:t>App demonstration presentation, September 2026</a:t>
            </a:r>
            <a:endParaRPr lang="en-US" sz="1100" dirty="0"/>
          </a:p>
        </p:txBody>
      </p:sp>
      <p:sp>
        <p:nvSpPr>
          <p:cNvPr id="12" name="Shape 9"/>
          <p:cNvSpPr/>
          <p:nvPr/>
        </p:nvSpPr>
        <p:spPr>
          <a:xfrm>
            <a:off x="9125712" y="621792"/>
            <a:ext cx="2572207" cy="5614416"/>
          </a:xfrm>
          <a:prstGeom prst="roundRect">
            <a:avLst>
              <a:gd name="adj" fmla="val 639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3" name="Image 1" descr="C:\Users\lumin\AppData\Local\Temp\azf-shots\h_home.png">    </p:cNvPr>
          <p:cNvPicPr>
            <a:picLocks noChangeAspect="1"/>
          </p:cNvPicPr>
          <p:nvPr/>
        </p:nvPicPr>
        <p:blipFill>
          <a:blip r:embed="rId2"/>
          <a:stretch>
            <a:fillRect/>
          </a:stretch>
        </p:blipFill>
        <p:spPr>
          <a:xfrm>
            <a:off x="9189720" y="685800"/>
            <a:ext cx="2444191" cy="5486400"/>
          </a:xfrm>
          <a:prstGeom prst="rect">
            <a:avLst/>
          </a:prstGeom>
        </p:spPr>
      </p:pic>
      <p:sp>
        <p:nvSpPr>
          <p:cNvPr id="14" name="Text 10"/>
          <p:cNvSpPr txBox="1"/>
          <p:nvPr/>
        </p:nvSpPr>
        <p:spPr>
          <a:xfrm>
            <a:off x="9079992" y="6281928"/>
            <a:ext cx="2663647"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Home tab, captured on a Pixel emulator running the debug build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AGENDA</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Table of contents</a:t>
            </a:r>
            <a:endParaRPr lang="en-US" sz="2800" dirty="0"/>
          </a:p>
        </p:txBody>
      </p:sp>
      <p:sp>
        <p:nvSpPr>
          <p:cNvPr id="6" name="Text 4"/>
          <p:cNvSpPr txBox="1"/>
          <p:nvPr/>
        </p:nvSpPr>
        <p:spPr>
          <a:xfrm>
            <a:off x="640080" y="1280160"/>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1143000" y="1280160"/>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Executive summary</a:t>
            </a:r>
            <a:endParaRPr lang="en-US" sz="1200" dirty="0"/>
          </a:p>
        </p:txBody>
      </p:sp>
      <p:sp>
        <p:nvSpPr>
          <p:cNvPr id="8" name="Text 6"/>
          <p:cNvSpPr txBox="1"/>
          <p:nvPr/>
        </p:nvSpPr>
        <p:spPr>
          <a:xfrm>
            <a:off x="5349240" y="1280160"/>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3</a:t>
            </a:r>
            <a:endParaRPr lang="en-US" sz="1100" dirty="0"/>
          </a:p>
        </p:txBody>
      </p:sp>
      <p:sp>
        <p:nvSpPr>
          <p:cNvPr id="9" name="Text 7"/>
          <p:cNvSpPr txBox="1"/>
          <p:nvPr/>
        </p:nvSpPr>
        <p:spPr>
          <a:xfrm>
            <a:off x="640080" y="1609344"/>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02</a:t>
            </a:r>
            <a:endParaRPr lang="en-US" sz="1100" dirty="0"/>
          </a:p>
        </p:txBody>
      </p:sp>
      <p:sp>
        <p:nvSpPr>
          <p:cNvPr id="10" name="Text 8"/>
          <p:cNvSpPr txBox="1"/>
          <p:nvPr/>
        </p:nvSpPr>
        <p:spPr>
          <a:xfrm>
            <a:off x="1143000" y="1609344"/>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The problem with fitness apps today</a:t>
            </a:r>
            <a:endParaRPr lang="en-US" sz="1200" dirty="0"/>
          </a:p>
        </p:txBody>
      </p:sp>
      <p:sp>
        <p:nvSpPr>
          <p:cNvPr id="11" name="Text 9"/>
          <p:cNvSpPr txBox="1"/>
          <p:nvPr/>
        </p:nvSpPr>
        <p:spPr>
          <a:xfrm>
            <a:off x="5349240" y="1609344"/>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4</a:t>
            </a:r>
            <a:endParaRPr lang="en-US" sz="1100" dirty="0"/>
          </a:p>
        </p:txBody>
      </p:sp>
      <p:sp>
        <p:nvSpPr>
          <p:cNvPr id="12" name="Text 10"/>
          <p:cNvSpPr txBox="1"/>
          <p:nvPr/>
        </p:nvSpPr>
        <p:spPr>
          <a:xfrm>
            <a:off x="640080" y="1938528"/>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03</a:t>
            </a:r>
            <a:endParaRPr lang="en-US" sz="1100" dirty="0"/>
          </a:p>
        </p:txBody>
      </p:sp>
      <p:sp>
        <p:nvSpPr>
          <p:cNvPr id="13" name="Text 11"/>
          <p:cNvSpPr txBox="1"/>
          <p:nvPr/>
        </p:nvSpPr>
        <p:spPr>
          <a:xfrm>
            <a:off x="1143000" y="1938528"/>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Product tour: five tabs</a:t>
            </a:r>
            <a:endParaRPr lang="en-US" sz="1200" dirty="0"/>
          </a:p>
        </p:txBody>
      </p:sp>
      <p:sp>
        <p:nvSpPr>
          <p:cNvPr id="14" name="Text 12"/>
          <p:cNvSpPr txBox="1"/>
          <p:nvPr/>
        </p:nvSpPr>
        <p:spPr>
          <a:xfrm>
            <a:off x="5349240" y="1938528"/>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5</a:t>
            </a:r>
            <a:endParaRPr lang="en-US" sz="1100" dirty="0"/>
          </a:p>
        </p:txBody>
      </p:sp>
      <p:sp>
        <p:nvSpPr>
          <p:cNvPr id="15" name="Text 13"/>
          <p:cNvSpPr txBox="1"/>
          <p:nvPr/>
        </p:nvSpPr>
        <p:spPr>
          <a:xfrm>
            <a:off x="640080" y="2267712"/>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04</a:t>
            </a:r>
            <a:endParaRPr lang="en-US" sz="1100" dirty="0"/>
          </a:p>
        </p:txBody>
      </p:sp>
      <p:sp>
        <p:nvSpPr>
          <p:cNvPr id="16" name="Text 14"/>
          <p:cNvSpPr txBox="1"/>
          <p:nvPr/>
        </p:nvSpPr>
        <p:spPr>
          <a:xfrm>
            <a:off x="1143000" y="2267712"/>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Photograph a meal, confirm first</a:t>
            </a:r>
            <a:endParaRPr lang="en-US" sz="1200" dirty="0"/>
          </a:p>
        </p:txBody>
      </p:sp>
      <p:sp>
        <p:nvSpPr>
          <p:cNvPr id="17" name="Text 15"/>
          <p:cNvSpPr txBox="1"/>
          <p:nvPr/>
        </p:nvSpPr>
        <p:spPr>
          <a:xfrm>
            <a:off x="5349240" y="2267712"/>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6</a:t>
            </a:r>
            <a:endParaRPr lang="en-US" sz="1100" dirty="0"/>
          </a:p>
        </p:txBody>
      </p:sp>
      <p:sp>
        <p:nvSpPr>
          <p:cNvPr id="18" name="Text 16"/>
          <p:cNvSpPr txBox="1"/>
          <p:nvPr/>
        </p:nvSpPr>
        <p:spPr>
          <a:xfrm>
            <a:off x="640080" y="2596896"/>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05</a:t>
            </a:r>
            <a:endParaRPr lang="en-US" sz="1100" dirty="0"/>
          </a:p>
        </p:txBody>
      </p:sp>
      <p:sp>
        <p:nvSpPr>
          <p:cNvPr id="19" name="Text 17"/>
          <p:cNvSpPr txBox="1"/>
          <p:nvPr/>
        </p:nvSpPr>
        <p:spPr>
          <a:xfrm>
            <a:off x="1143000" y="2596896"/>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Four ways to log, plus barcodes</a:t>
            </a:r>
            <a:endParaRPr lang="en-US" sz="1200" dirty="0"/>
          </a:p>
        </p:txBody>
      </p:sp>
      <p:sp>
        <p:nvSpPr>
          <p:cNvPr id="20" name="Text 18"/>
          <p:cNvSpPr txBox="1"/>
          <p:nvPr/>
        </p:nvSpPr>
        <p:spPr>
          <a:xfrm>
            <a:off x="5349240" y="2596896"/>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7</a:t>
            </a:r>
            <a:endParaRPr lang="en-US" sz="1100" dirty="0"/>
          </a:p>
        </p:txBody>
      </p:sp>
      <p:sp>
        <p:nvSpPr>
          <p:cNvPr id="21" name="Text 19"/>
          <p:cNvSpPr txBox="1"/>
          <p:nvPr/>
        </p:nvSpPr>
        <p:spPr>
          <a:xfrm>
            <a:off x="640080" y="2926080"/>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06</a:t>
            </a:r>
            <a:endParaRPr lang="en-US" sz="1100" dirty="0"/>
          </a:p>
        </p:txBody>
      </p:sp>
      <p:sp>
        <p:nvSpPr>
          <p:cNvPr id="22" name="Text 20"/>
          <p:cNvSpPr txBox="1"/>
          <p:nvPr/>
        </p:nvSpPr>
        <p:spPr>
          <a:xfrm>
            <a:off x="1143000" y="2926080"/>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Targets you can check yourself</a:t>
            </a:r>
            <a:endParaRPr lang="en-US" sz="1200" dirty="0"/>
          </a:p>
        </p:txBody>
      </p:sp>
      <p:sp>
        <p:nvSpPr>
          <p:cNvPr id="23" name="Text 21"/>
          <p:cNvSpPr txBox="1"/>
          <p:nvPr/>
        </p:nvSpPr>
        <p:spPr>
          <a:xfrm>
            <a:off x="5349240" y="2926080"/>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8</a:t>
            </a:r>
            <a:endParaRPr lang="en-US" sz="1100" dirty="0"/>
          </a:p>
        </p:txBody>
      </p:sp>
      <p:sp>
        <p:nvSpPr>
          <p:cNvPr id="24" name="Text 22"/>
          <p:cNvSpPr txBox="1"/>
          <p:nvPr/>
        </p:nvSpPr>
        <p:spPr>
          <a:xfrm>
            <a:off x="640080" y="3255264"/>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07</a:t>
            </a:r>
            <a:endParaRPr lang="en-US" sz="1100" dirty="0"/>
          </a:p>
        </p:txBody>
      </p:sp>
      <p:sp>
        <p:nvSpPr>
          <p:cNvPr id="25" name="Text 23"/>
          <p:cNvSpPr txBox="1"/>
          <p:nvPr/>
        </p:nvSpPr>
        <p:spPr>
          <a:xfrm>
            <a:off x="1143000" y="3255264"/>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Training: readiness and guided sessions</a:t>
            </a:r>
            <a:endParaRPr lang="en-US" sz="1200" dirty="0"/>
          </a:p>
        </p:txBody>
      </p:sp>
      <p:sp>
        <p:nvSpPr>
          <p:cNvPr id="26" name="Text 24"/>
          <p:cNvSpPr txBox="1"/>
          <p:nvPr/>
        </p:nvSpPr>
        <p:spPr>
          <a:xfrm>
            <a:off x="5349240" y="3255264"/>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9</a:t>
            </a:r>
            <a:endParaRPr lang="en-US" sz="1100" dirty="0"/>
          </a:p>
        </p:txBody>
      </p:sp>
      <p:sp>
        <p:nvSpPr>
          <p:cNvPr id="27" name="Text 25"/>
          <p:cNvSpPr txBox="1"/>
          <p:nvPr/>
        </p:nvSpPr>
        <p:spPr>
          <a:xfrm>
            <a:off x="640080" y="3584448"/>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08</a:t>
            </a:r>
            <a:endParaRPr lang="en-US" sz="1100" dirty="0"/>
          </a:p>
        </p:txBody>
      </p:sp>
      <p:sp>
        <p:nvSpPr>
          <p:cNvPr id="28" name="Text 26"/>
          <p:cNvSpPr txBox="1"/>
          <p:nvPr/>
        </p:nvSpPr>
        <p:spPr>
          <a:xfrm>
            <a:off x="1143000" y="3584448"/>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Exercise library with licence attribution</a:t>
            </a:r>
            <a:endParaRPr lang="en-US" sz="1200" dirty="0"/>
          </a:p>
        </p:txBody>
      </p:sp>
      <p:sp>
        <p:nvSpPr>
          <p:cNvPr id="29" name="Text 27"/>
          <p:cNvSpPr txBox="1"/>
          <p:nvPr/>
        </p:nvSpPr>
        <p:spPr>
          <a:xfrm>
            <a:off x="5349240" y="3584448"/>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10</a:t>
            </a:r>
            <a:endParaRPr lang="en-US" sz="1100" dirty="0"/>
          </a:p>
        </p:txBody>
      </p:sp>
      <p:sp>
        <p:nvSpPr>
          <p:cNvPr id="30" name="Text 28"/>
          <p:cNvSpPr txBox="1"/>
          <p:nvPr/>
        </p:nvSpPr>
        <p:spPr>
          <a:xfrm>
            <a:off x="640080" y="3913632"/>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09</a:t>
            </a:r>
            <a:endParaRPr lang="en-US" sz="1100" dirty="0"/>
          </a:p>
        </p:txBody>
      </p:sp>
      <p:sp>
        <p:nvSpPr>
          <p:cNvPr id="31" name="Text 29"/>
          <p:cNvSpPr txBox="1"/>
          <p:nvPr/>
        </p:nvSpPr>
        <p:spPr>
          <a:xfrm>
            <a:off x="1143000" y="3913632"/>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Aqua Coach and the persona roster</a:t>
            </a:r>
            <a:endParaRPr lang="en-US" sz="1200" dirty="0"/>
          </a:p>
        </p:txBody>
      </p:sp>
      <p:sp>
        <p:nvSpPr>
          <p:cNvPr id="32" name="Text 30"/>
          <p:cNvSpPr txBox="1"/>
          <p:nvPr/>
        </p:nvSpPr>
        <p:spPr>
          <a:xfrm>
            <a:off x="5349240" y="3913632"/>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11</a:t>
            </a:r>
            <a:endParaRPr lang="en-US" sz="1100" dirty="0"/>
          </a:p>
        </p:txBody>
      </p:sp>
      <p:sp>
        <p:nvSpPr>
          <p:cNvPr id="33" name="Text 31"/>
          <p:cNvSpPr txBox="1"/>
          <p:nvPr/>
        </p:nvSpPr>
        <p:spPr>
          <a:xfrm>
            <a:off x="640080" y="4242816"/>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10</a:t>
            </a:r>
            <a:endParaRPr lang="en-US" sz="1100" dirty="0"/>
          </a:p>
        </p:txBody>
      </p:sp>
      <p:sp>
        <p:nvSpPr>
          <p:cNvPr id="34" name="Text 32"/>
          <p:cNvSpPr txBox="1"/>
          <p:nvPr/>
        </p:nvSpPr>
        <p:spPr>
          <a:xfrm>
            <a:off x="1143000" y="4242816"/>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Progress and the adaptive engine</a:t>
            </a:r>
            <a:endParaRPr lang="en-US" sz="1200" dirty="0"/>
          </a:p>
        </p:txBody>
      </p:sp>
      <p:sp>
        <p:nvSpPr>
          <p:cNvPr id="35" name="Text 33"/>
          <p:cNvSpPr txBox="1"/>
          <p:nvPr/>
        </p:nvSpPr>
        <p:spPr>
          <a:xfrm>
            <a:off x="5349240" y="4242816"/>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12</a:t>
            </a:r>
            <a:endParaRPr lang="en-US" sz="1100" dirty="0"/>
          </a:p>
        </p:txBody>
      </p:sp>
      <p:sp>
        <p:nvSpPr>
          <p:cNvPr id="36" name="Text 34"/>
          <p:cNvSpPr txBox="1"/>
          <p:nvPr/>
        </p:nvSpPr>
        <p:spPr>
          <a:xfrm>
            <a:off x="640080" y="4572000"/>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11</a:t>
            </a:r>
            <a:endParaRPr lang="en-US" sz="1100" dirty="0"/>
          </a:p>
        </p:txBody>
      </p:sp>
      <p:sp>
        <p:nvSpPr>
          <p:cNvPr id="37" name="Text 35"/>
          <p:cNvSpPr txBox="1"/>
          <p:nvPr/>
        </p:nvSpPr>
        <p:spPr>
          <a:xfrm>
            <a:off x="1143000" y="4572000"/>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Motivation that never punishes</a:t>
            </a:r>
            <a:endParaRPr lang="en-US" sz="1200" dirty="0"/>
          </a:p>
        </p:txBody>
      </p:sp>
      <p:sp>
        <p:nvSpPr>
          <p:cNvPr id="38" name="Text 36"/>
          <p:cNvSpPr txBox="1"/>
          <p:nvPr/>
        </p:nvSpPr>
        <p:spPr>
          <a:xfrm>
            <a:off x="5349240" y="4572000"/>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13</a:t>
            </a:r>
            <a:endParaRPr lang="en-US" sz="1100" dirty="0"/>
          </a:p>
        </p:txBody>
      </p:sp>
      <p:sp>
        <p:nvSpPr>
          <p:cNvPr id="39" name="Text 37"/>
          <p:cNvSpPr txBox="1"/>
          <p:nvPr/>
        </p:nvSpPr>
        <p:spPr>
          <a:xfrm>
            <a:off x="640080" y="4901184"/>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12</a:t>
            </a:r>
            <a:endParaRPr lang="en-US" sz="1100" dirty="0"/>
          </a:p>
        </p:txBody>
      </p:sp>
      <p:sp>
        <p:nvSpPr>
          <p:cNvPr id="40" name="Text 38"/>
          <p:cNvSpPr txBox="1"/>
          <p:nvPr/>
        </p:nvSpPr>
        <p:spPr>
          <a:xfrm>
            <a:off x="1143000" y="4901184"/>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Why it beats the field</a:t>
            </a:r>
            <a:endParaRPr lang="en-US" sz="1200" dirty="0"/>
          </a:p>
        </p:txBody>
      </p:sp>
      <p:sp>
        <p:nvSpPr>
          <p:cNvPr id="41" name="Text 39"/>
          <p:cNvSpPr txBox="1"/>
          <p:nvPr/>
        </p:nvSpPr>
        <p:spPr>
          <a:xfrm>
            <a:off x="5349240" y="4901184"/>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14</a:t>
            </a:r>
            <a:endParaRPr lang="en-US" sz="1100" dirty="0"/>
          </a:p>
        </p:txBody>
      </p:sp>
      <p:sp>
        <p:nvSpPr>
          <p:cNvPr id="42" name="Text 40"/>
          <p:cNvSpPr txBox="1"/>
          <p:nvPr/>
        </p:nvSpPr>
        <p:spPr>
          <a:xfrm>
            <a:off x="6355080" y="1280160"/>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13</a:t>
            </a:r>
            <a:endParaRPr lang="en-US" sz="1100" dirty="0"/>
          </a:p>
        </p:txBody>
      </p:sp>
      <p:sp>
        <p:nvSpPr>
          <p:cNvPr id="43" name="Text 41"/>
          <p:cNvSpPr txBox="1"/>
          <p:nvPr/>
        </p:nvSpPr>
        <p:spPr>
          <a:xfrm>
            <a:off x="6858000" y="1280160"/>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Technical architecture (section)</a:t>
            </a:r>
            <a:endParaRPr lang="en-US" sz="1200" dirty="0"/>
          </a:p>
        </p:txBody>
      </p:sp>
      <p:sp>
        <p:nvSpPr>
          <p:cNvPr id="44" name="Text 42"/>
          <p:cNvSpPr txBox="1"/>
          <p:nvPr/>
        </p:nvSpPr>
        <p:spPr>
          <a:xfrm>
            <a:off x="11064240" y="1280160"/>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15</a:t>
            </a:r>
            <a:endParaRPr lang="en-US" sz="1100" dirty="0"/>
          </a:p>
        </p:txBody>
      </p:sp>
      <p:sp>
        <p:nvSpPr>
          <p:cNvPr id="45" name="Text 43"/>
          <p:cNvSpPr txBox="1"/>
          <p:nvPr/>
        </p:nvSpPr>
        <p:spPr>
          <a:xfrm>
            <a:off x="6355080" y="1609344"/>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14</a:t>
            </a:r>
            <a:endParaRPr lang="en-US" sz="1100" dirty="0"/>
          </a:p>
        </p:txBody>
      </p:sp>
      <p:sp>
        <p:nvSpPr>
          <p:cNvPr id="46" name="Text 44"/>
          <p:cNvSpPr txBox="1"/>
          <p:nvPr/>
        </p:nvSpPr>
        <p:spPr>
          <a:xfrm>
            <a:off x="6858000" y="1609344"/>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System context</a:t>
            </a:r>
            <a:endParaRPr lang="en-US" sz="1200" dirty="0"/>
          </a:p>
        </p:txBody>
      </p:sp>
      <p:sp>
        <p:nvSpPr>
          <p:cNvPr id="47" name="Text 45"/>
          <p:cNvSpPr txBox="1"/>
          <p:nvPr/>
        </p:nvSpPr>
        <p:spPr>
          <a:xfrm>
            <a:off x="11064240" y="1609344"/>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16</a:t>
            </a:r>
            <a:endParaRPr lang="en-US" sz="1100" dirty="0"/>
          </a:p>
        </p:txBody>
      </p:sp>
      <p:sp>
        <p:nvSpPr>
          <p:cNvPr id="48" name="Text 46"/>
          <p:cNvSpPr txBox="1"/>
          <p:nvPr/>
        </p:nvSpPr>
        <p:spPr>
          <a:xfrm>
            <a:off x="6355080" y="1938528"/>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15</a:t>
            </a:r>
            <a:endParaRPr lang="en-US" sz="1100" dirty="0"/>
          </a:p>
        </p:txBody>
      </p:sp>
      <p:sp>
        <p:nvSpPr>
          <p:cNvPr id="49" name="Text 47"/>
          <p:cNvSpPr txBox="1"/>
          <p:nvPr/>
        </p:nvSpPr>
        <p:spPr>
          <a:xfrm>
            <a:off x="6858000" y="1938528"/>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Android technology stack</a:t>
            </a:r>
            <a:endParaRPr lang="en-US" sz="1200" dirty="0"/>
          </a:p>
        </p:txBody>
      </p:sp>
      <p:sp>
        <p:nvSpPr>
          <p:cNvPr id="50" name="Text 48"/>
          <p:cNvSpPr txBox="1"/>
          <p:nvPr/>
        </p:nvSpPr>
        <p:spPr>
          <a:xfrm>
            <a:off x="11064240" y="1938528"/>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17</a:t>
            </a:r>
            <a:endParaRPr lang="en-US" sz="1100" dirty="0"/>
          </a:p>
        </p:txBody>
      </p:sp>
      <p:sp>
        <p:nvSpPr>
          <p:cNvPr id="51" name="Text 49"/>
          <p:cNvSpPr txBox="1"/>
          <p:nvPr/>
        </p:nvSpPr>
        <p:spPr>
          <a:xfrm>
            <a:off x="6355080" y="2267712"/>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16</a:t>
            </a:r>
            <a:endParaRPr lang="en-US" sz="1100" dirty="0"/>
          </a:p>
        </p:txBody>
      </p:sp>
      <p:sp>
        <p:nvSpPr>
          <p:cNvPr id="52" name="Text 50"/>
          <p:cNvSpPr txBox="1"/>
          <p:nvPr/>
        </p:nvSpPr>
        <p:spPr>
          <a:xfrm>
            <a:off x="6858000" y="2267712"/>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Layered architecture</a:t>
            </a:r>
            <a:endParaRPr lang="en-US" sz="1200" dirty="0"/>
          </a:p>
        </p:txBody>
      </p:sp>
      <p:sp>
        <p:nvSpPr>
          <p:cNvPr id="53" name="Text 51"/>
          <p:cNvSpPr txBox="1"/>
          <p:nvPr/>
        </p:nvSpPr>
        <p:spPr>
          <a:xfrm>
            <a:off x="11064240" y="2267712"/>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18</a:t>
            </a:r>
            <a:endParaRPr lang="en-US" sz="1100" dirty="0"/>
          </a:p>
        </p:txBody>
      </p:sp>
      <p:sp>
        <p:nvSpPr>
          <p:cNvPr id="54" name="Text 52"/>
          <p:cNvSpPr txBox="1"/>
          <p:nvPr/>
        </p:nvSpPr>
        <p:spPr>
          <a:xfrm>
            <a:off x="6355080" y="2596896"/>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17</a:t>
            </a:r>
            <a:endParaRPr lang="en-US" sz="1100" dirty="0"/>
          </a:p>
        </p:txBody>
      </p:sp>
      <p:sp>
        <p:nvSpPr>
          <p:cNvPr id="55" name="Text 53"/>
          <p:cNvSpPr txBox="1"/>
          <p:nvPr/>
        </p:nvSpPr>
        <p:spPr>
          <a:xfrm>
            <a:off x="6858000" y="2596896"/>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Unidirectional data flow</a:t>
            </a:r>
            <a:endParaRPr lang="en-US" sz="1200" dirty="0"/>
          </a:p>
        </p:txBody>
      </p:sp>
      <p:sp>
        <p:nvSpPr>
          <p:cNvPr id="56" name="Text 54"/>
          <p:cNvSpPr txBox="1"/>
          <p:nvPr/>
        </p:nvSpPr>
        <p:spPr>
          <a:xfrm>
            <a:off x="11064240" y="2596896"/>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19</a:t>
            </a:r>
            <a:endParaRPr lang="en-US" sz="1100" dirty="0"/>
          </a:p>
        </p:txBody>
      </p:sp>
      <p:sp>
        <p:nvSpPr>
          <p:cNvPr id="57" name="Text 55"/>
          <p:cNvSpPr txBox="1"/>
          <p:nvPr/>
        </p:nvSpPr>
        <p:spPr>
          <a:xfrm>
            <a:off x="6355080" y="2926080"/>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18</a:t>
            </a:r>
            <a:endParaRPr lang="en-US" sz="1100" dirty="0"/>
          </a:p>
        </p:txBody>
      </p:sp>
      <p:sp>
        <p:nvSpPr>
          <p:cNvPr id="58" name="Text 56"/>
          <p:cNvSpPr txBox="1"/>
          <p:nvPr/>
        </p:nvSpPr>
        <p:spPr>
          <a:xfrm>
            <a:off x="6858000" y="2926080"/>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Offline-first outbox</a:t>
            </a:r>
            <a:endParaRPr lang="en-US" sz="1200" dirty="0"/>
          </a:p>
        </p:txBody>
      </p:sp>
      <p:sp>
        <p:nvSpPr>
          <p:cNvPr id="59" name="Text 57"/>
          <p:cNvSpPr txBox="1"/>
          <p:nvPr/>
        </p:nvSpPr>
        <p:spPr>
          <a:xfrm>
            <a:off x="11064240" y="2926080"/>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20</a:t>
            </a:r>
            <a:endParaRPr lang="en-US" sz="1100" dirty="0"/>
          </a:p>
        </p:txBody>
      </p:sp>
      <p:sp>
        <p:nvSpPr>
          <p:cNvPr id="60" name="Text 58"/>
          <p:cNvSpPr txBox="1"/>
          <p:nvPr/>
        </p:nvSpPr>
        <p:spPr>
          <a:xfrm>
            <a:off x="6355080" y="3255264"/>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19</a:t>
            </a:r>
            <a:endParaRPr lang="en-US" sz="1100" dirty="0"/>
          </a:p>
        </p:txBody>
      </p:sp>
      <p:sp>
        <p:nvSpPr>
          <p:cNvPr id="61" name="Text 59"/>
          <p:cNvSpPr txBox="1"/>
          <p:nvPr/>
        </p:nvSpPr>
        <p:spPr>
          <a:xfrm>
            <a:off x="6858000" y="3255264"/>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Networking, tokens and the Keystore vault</a:t>
            </a:r>
            <a:endParaRPr lang="en-US" sz="1200" dirty="0"/>
          </a:p>
        </p:txBody>
      </p:sp>
      <p:sp>
        <p:nvSpPr>
          <p:cNvPr id="62" name="Text 60"/>
          <p:cNvSpPr txBox="1"/>
          <p:nvPr/>
        </p:nvSpPr>
        <p:spPr>
          <a:xfrm>
            <a:off x="11064240" y="3255264"/>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21</a:t>
            </a:r>
            <a:endParaRPr lang="en-US" sz="1100" dirty="0"/>
          </a:p>
        </p:txBody>
      </p:sp>
      <p:sp>
        <p:nvSpPr>
          <p:cNvPr id="63" name="Text 61"/>
          <p:cNvSpPr txBox="1"/>
          <p:nvPr/>
        </p:nvSpPr>
        <p:spPr>
          <a:xfrm>
            <a:off x="6355080" y="3584448"/>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20</a:t>
            </a:r>
            <a:endParaRPr lang="en-US" sz="1100" dirty="0"/>
          </a:p>
        </p:txBody>
      </p:sp>
      <p:sp>
        <p:nvSpPr>
          <p:cNvPr id="64" name="Text 62"/>
          <p:cNvSpPr txBox="1"/>
          <p:nvPr/>
        </p:nvSpPr>
        <p:spPr>
          <a:xfrm>
            <a:off x="6858000" y="3584448"/>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Dependency injection with Hilt</a:t>
            </a:r>
            <a:endParaRPr lang="en-US" sz="1200" dirty="0"/>
          </a:p>
        </p:txBody>
      </p:sp>
      <p:sp>
        <p:nvSpPr>
          <p:cNvPr id="65" name="Text 63"/>
          <p:cNvSpPr txBox="1"/>
          <p:nvPr/>
        </p:nvSpPr>
        <p:spPr>
          <a:xfrm>
            <a:off x="11064240" y="3584448"/>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22</a:t>
            </a:r>
            <a:endParaRPr lang="en-US" sz="1100" dirty="0"/>
          </a:p>
        </p:txBody>
      </p:sp>
      <p:sp>
        <p:nvSpPr>
          <p:cNvPr id="66" name="Text 64"/>
          <p:cNvSpPr txBox="1"/>
          <p:nvPr/>
        </p:nvSpPr>
        <p:spPr>
          <a:xfrm>
            <a:off x="6355080" y="3913632"/>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21</a:t>
            </a:r>
            <a:endParaRPr lang="en-US" sz="1100" dirty="0"/>
          </a:p>
        </p:txBody>
      </p:sp>
      <p:sp>
        <p:nvSpPr>
          <p:cNvPr id="67" name="Text 65"/>
          <p:cNvSpPr txBox="1"/>
          <p:nvPr/>
        </p:nvSpPr>
        <p:spPr>
          <a:xfrm>
            <a:off x="6858000" y="3913632"/>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Native capabilities</a:t>
            </a:r>
            <a:endParaRPr lang="en-US" sz="1200" dirty="0"/>
          </a:p>
        </p:txBody>
      </p:sp>
      <p:sp>
        <p:nvSpPr>
          <p:cNvPr id="68" name="Text 66"/>
          <p:cNvSpPr txBox="1"/>
          <p:nvPr/>
        </p:nvSpPr>
        <p:spPr>
          <a:xfrm>
            <a:off x="11064240" y="3913632"/>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23</a:t>
            </a:r>
            <a:endParaRPr lang="en-US" sz="1100" dirty="0"/>
          </a:p>
        </p:txBody>
      </p:sp>
      <p:sp>
        <p:nvSpPr>
          <p:cNvPr id="69" name="Text 67"/>
          <p:cNvSpPr txBox="1"/>
          <p:nvPr/>
        </p:nvSpPr>
        <p:spPr>
          <a:xfrm>
            <a:off x="6355080" y="4242816"/>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22</a:t>
            </a:r>
            <a:endParaRPr lang="en-US" sz="1100" dirty="0"/>
          </a:p>
        </p:txBody>
      </p:sp>
      <p:sp>
        <p:nvSpPr>
          <p:cNvPr id="70" name="Text 68"/>
          <p:cNvSpPr txBox="1"/>
          <p:nvPr/>
        </p:nvSpPr>
        <p:spPr>
          <a:xfrm>
            <a:off x="6858000" y="4242816"/>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Backend and AI gateway</a:t>
            </a:r>
            <a:endParaRPr lang="en-US" sz="1200" dirty="0"/>
          </a:p>
        </p:txBody>
      </p:sp>
      <p:sp>
        <p:nvSpPr>
          <p:cNvPr id="71" name="Text 69"/>
          <p:cNvSpPr txBox="1"/>
          <p:nvPr/>
        </p:nvSpPr>
        <p:spPr>
          <a:xfrm>
            <a:off x="11064240" y="4242816"/>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24 to 25</a:t>
            </a:r>
            <a:endParaRPr lang="en-US" sz="1100" dirty="0"/>
          </a:p>
        </p:txBody>
      </p:sp>
      <p:sp>
        <p:nvSpPr>
          <p:cNvPr id="72" name="Text 70"/>
          <p:cNvSpPr txBox="1"/>
          <p:nvPr/>
        </p:nvSpPr>
        <p:spPr>
          <a:xfrm>
            <a:off x="6355080" y="4572000"/>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23</a:t>
            </a:r>
            <a:endParaRPr lang="en-US" sz="1100" dirty="0"/>
          </a:p>
        </p:txBody>
      </p:sp>
      <p:sp>
        <p:nvSpPr>
          <p:cNvPr id="73" name="Text 71"/>
          <p:cNvSpPr txBox="1"/>
          <p:nvPr/>
        </p:nvSpPr>
        <p:spPr>
          <a:xfrm>
            <a:off x="6858000" y="4572000"/>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Security, privacy and permissions</a:t>
            </a:r>
            <a:endParaRPr lang="en-US" sz="1200" dirty="0"/>
          </a:p>
        </p:txBody>
      </p:sp>
      <p:sp>
        <p:nvSpPr>
          <p:cNvPr id="74" name="Text 72"/>
          <p:cNvSpPr txBox="1"/>
          <p:nvPr/>
        </p:nvSpPr>
        <p:spPr>
          <a:xfrm>
            <a:off x="11064240" y="4572000"/>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26</a:t>
            </a:r>
            <a:endParaRPr lang="en-US" sz="1100" dirty="0"/>
          </a:p>
        </p:txBody>
      </p:sp>
      <p:sp>
        <p:nvSpPr>
          <p:cNvPr id="75" name="Text 73"/>
          <p:cNvSpPr txBox="1"/>
          <p:nvPr/>
        </p:nvSpPr>
        <p:spPr>
          <a:xfrm>
            <a:off x="6355080" y="4901184"/>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24</a:t>
            </a:r>
            <a:endParaRPr lang="en-US" sz="1100" dirty="0"/>
          </a:p>
        </p:txBody>
      </p:sp>
      <p:sp>
        <p:nvSpPr>
          <p:cNvPr id="76" name="Text 74"/>
          <p:cNvSpPr txBox="1"/>
          <p:nvPr/>
        </p:nvSpPr>
        <p:spPr>
          <a:xfrm>
            <a:off x="6858000" y="4901184"/>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Quality, release and Google Play</a:t>
            </a:r>
            <a:endParaRPr lang="en-US" sz="1200" dirty="0"/>
          </a:p>
        </p:txBody>
      </p:sp>
      <p:sp>
        <p:nvSpPr>
          <p:cNvPr id="77" name="Text 75"/>
          <p:cNvSpPr txBox="1"/>
          <p:nvPr/>
        </p:nvSpPr>
        <p:spPr>
          <a:xfrm>
            <a:off x="11064240" y="4901184"/>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27 to 29</a:t>
            </a:r>
            <a:endParaRPr lang="en-US" sz="1100" dirty="0"/>
          </a:p>
        </p:txBody>
      </p:sp>
      <p:sp>
        <p:nvSpPr>
          <p:cNvPr id="78" name="Text 76"/>
          <p:cNvSpPr txBox="1"/>
          <p:nvPr/>
        </p:nvSpPr>
        <p:spPr>
          <a:xfrm>
            <a:off x="6355080" y="5230368"/>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25</a:t>
            </a:r>
            <a:endParaRPr lang="en-US" sz="1100" dirty="0"/>
          </a:p>
        </p:txBody>
      </p:sp>
      <p:sp>
        <p:nvSpPr>
          <p:cNvPr id="79" name="Text 77"/>
          <p:cNvSpPr txBox="1"/>
          <p:nvPr/>
        </p:nvSpPr>
        <p:spPr>
          <a:xfrm>
            <a:off x="6858000" y="5230368"/>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How it was built, outcomes, limits</a:t>
            </a:r>
            <a:endParaRPr lang="en-US" sz="1200" dirty="0"/>
          </a:p>
        </p:txBody>
      </p:sp>
      <p:sp>
        <p:nvSpPr>
          <p:cNvPr id="80" name="Text 78"/>
          <p:cNvSpPr txBox="1"/>
          <p:nvPr/>
        </p:nvSpPr>
        <p:spPr>
          <a:xfrm>
            <a:off x="11064240" y="5230368"/>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30 to 32</a:t>
            </a:r>
            <a:endParaRPr lang="en-US" sz="1100" dirty="0"/>
          </a:p>
        </p:txBody>
      </p:sp>
      <p:sp>
        <p:nvSpPr>
          <p:cNvPr id="81" name="Text 79"/>
          <p:cNvSpPr txBox="1"/>
          <p:nvPr/>
        </p:nvSpPr>
        <p:spPr>
          <a:xfrm>
            <a:off x="6355080" y="5559552"/>
            <a:ext cx="457200" cy="310896"/>
          </a:xfrm>
          <a:prstGeom prst="rect">
            <a:avLst/>
          </a:prstGeom>
          <a:noFill/>
          <a:ln/>
        </p:spPr>
        <p:txBody>
          <a:bodyPr wrap="square" lIns="0" tIns="0" rIns="0" bIns="0" rtlCol="0" anchor="ctr"/>
          <a:lstStyle/>
          <a:p>
            <a:pPr indent="0" marL="0">
              <a:buNone/>
            </a:pPr>
            <a:r>
              <a:rPr lang="en-US" sz="1100" b="1" dirty="0">
                <a:solidFill>
                  <a:srgbClr val="2FD9F4"/>
                </a:solidFill>
                <a:latin typeface="Arial" pitchFamily="34" charset="0"/>
                <a:ea typeface="Arial" pitchFamily="34" charset="-122"/>
                <a:cs typeface="Arial" pitchFamily="34" charset="-120"/>
              </a:rPr>
              <a:t>26</a:t>
            </a:r>
            <a:endParaRPr lang="en-US" sz="1100" dirty="0"/>
          </a:p>
        </p:txBody>
      </p:sp>
      <p:sp>
        <p:nvSpPr>
          <p:cNvPr id="82" name="Text 80"/>
          <p:cNvSpPr txBox="1"/>
          <p:nvPr/>
        </p:nvSpPr>
        <p:spPr>
          <a:xfrm>
            <a:off x="6858000" y="5559552"/>
            <a:ext cx="4206240" cy="310896"/>
          </a:xfrm>
          <a:prstGeom prst="rect">
            <a:avLst/>
          </a:prstGeom>
          <a:noFill/>
          <a:ln/>
        </p:spPr>
        <p:txBody>
          <a:bodyPr wrap="square" lIns="0" tIns="0" rIns="0" bIns="0" rtlCol="0" anchor="ctr"/>
          <a:lstStyle/>
          <a:p>
            <a:pPr indent="0" marL="0">
              <a:buNone/>
            </a:pPr>
            <a:r>
              <a:rPr lang="en-US" sz="1200" dirty="0">
                <a:solidFill>
                  <a:srgbClr val="E8F0F2"/>
                </a:solidFill>
                <a:latin typeface="Arial" pitchFamily="34" charset="0"/>
                <a:ea typeface="Arial" pitchFamily="34" charset="-122"/>
                <a:cs typeface="Arial" pitchFamily="34" charset="-120"/>
              </a:rPr>
              <a:t>Conclusion, references, glossary</a:t>
            </a:r>
            <a:endParaRPr lang="en-US" sz="1200" dirty="0"/>
          </a:p>
        </p:txBody>
      </p:sp>
      <p:sp>
        <p:nvSpPr>
          <p:cNvPr id="83" name="Text 81"/>
          <p:cNvSpPr txBox="1"/>
          <p:nvPr/>
        </p:nvSpPr>
        <p:spPr>
          <a:xfrm>
            <a:off x="11064240" y="5559552"/>
            <a:ext cx="731520" cy="310896"/>
          </a:xfrm>
          <a:prstGeom prst="rect">
            <a:avLst/>
          </a:prstGeom>
          <a:noFill/>
          <a:ln/>
        </p:spPr>
        <p:txBody>
          <a:bodyPr wrap="square" lIns="0" tIns="0" rIns="0" bIns="0" rtlCol="0" anchor="ctr"/>
          <a:lstStyle/>
          <a:p>
            <a:pPr algn="r" indent="0" marL="0">
              <a:buNone/>
            </a:pPr>
            <a:r>
              <a:rPr lang="en-US" sz="1100" dirty="0">
                <a:solidFill>
                  <a:srgbClr val="9DB2BA"/>
                </a:solidFill>
                <a:latin typeface="Arial" pitchFamily="34" charset="0"/>
                <a:ea typeface="Arial" pitchFamily="34" charset="-122"/>
                <a:cs typeface="Arial" pitchFamily="34" charset="-120"/>
              </a:rPr>
              <a:t>33 to 36</a:t>
            </a:r>
            <a:endParaRPr lang="en-US" sz="1100" dirty="0"/>
          </a:p>
        </p:txBody>
      </p:sp>
      <p:sp>
        <p:nvSpPr>
          <p:cNvPr id="84" name="Text 82"/>
          <p:cNvSpPr txBox="1"/>
          <p:nvPr/>
        </p:nvSpPr>
        <p:spPr>
          <a:xfrm>
            <a:off x="640080" y="6053328"/>
            <a:ext cx="10972800" cy="274320"/>
          </a:xfrm>
          <a:prstGeom prst="rect">
            <a:avLst/>
          </a:prstGeom>
          <a:noFill/>
          <a:ln/>
        </p:spPr>
        <p:txBody>
          <a:bodyPr wrap="square" lIns="0" tIns="0" rIns="0" bIns="0" rtlCol="0" anchor="t"/>
          <a:lstStyle/>
          <a:p>
            <a:pPr algn="l" indent="0" marL="0">
              <a:buNone/>
            </a:pPr>
            <a:r>
              <a:rPr lang="en-US" sz="1050" i="1" dirty="0">
                <a:solidFill>
                  <a:srgbClr val="9DB2BA"/>
                </a:solidFill>
                <a:latin typeface="Arial" pitchFamily="34" charset="0"/>
                <a:ea typeface="Arial" pitchFamily="34" charset="-122"/>
                <a:cs typeface="Arial" pitchFamily="34" charset="-120"/>
              </a:rPr>
              <a:t>Slides 3 to 14 are written for every reader. Slides 15 to 29 go deeper for developers. Citations appear as bracketed numbers and resolve on the reference slides.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3</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01  EXECUTIVE SUMMARY</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One app, one rule: models identify, code calculates</a:t>
            </a:r>
            <a:endParaRPr lang="en-US" sz="2800" dirty="0"/>
          </a:p>
        </p:txBody>
      </p:sp>
      <p:sp>
        <p:nvSpPr>
          <p:cNvPr id="6" name="Text 4"/>
          <p:cNvSpPr txBox="1"/>
          <p:nvPr/>
        </p:nvSpPr>
        <p:spPr>
          <a:xfrm>
            <a:off x="502920" y="1280160"/>
            <a:ext cx="6949440" cy="1051560"/>
          </a:xfrm>
          <a:prstGeom prst="rect">
            <a:avLst/>
          </a:prstGeom>
          <a:noFill/>
          <a:ln/>
        </p:spPr>
        <p:txBody>
          <a:bodyPr wrap="square" lIns="0" tIns="0" rIns="0" bIns="0" rtlCol="0" anchor="t"/>
          <a:lstStyle/>
          <a:p>
            <a:pPr algn="l" indent="0" marL="0">
              <a:buNone/>
            </a:pPr>
            <a:r>
              <a:rPr lang="en-US" sz="1250" dirty="0">
                <a:solidFill>
                  <a:srgbClr val="E8F0F2"/>
                </a:solidFill>
                <a:latin typeface="Arial" pitchFamily="34" charset="0"/>
                <a:ea typeface="Arial" pitchFamily="34" charset="-122"/>
                <a:cs typeface="Arial" pitchFamily="34" charset="-120"/>
              </a:rPr>
              <a:t>AquaZeroFit is an AI-assisted wellness app under the AquaZero brand [2]. The Android client is a separate native application, not a wrapper around the website, written in Kotlin with Jetpack Compose and shipped through Google Play [3][4]. A user photographs a meal, confirms what the model saw, and every calorie is then multiplied by code from a reference food corpus. The language model never writes a number the user will act on [5].</a:t>
            </a:r>
            <a:endParaRPr lang="en-US" sz="1250" dirty="0"/>
          </a:p>
        </p:txBody>
      </p:sp>
      <p:sp>
        <p:nvSpPr>
          <p:cNvPr id="7" name="Text 5"/>
          <p:cNvSpPr txBox="1"/>
          <p:nvPr/>
        </p:nvSpPr>
        <p:spPr>
          <a:xfrm>
            <a:off x="502920" y="2560320"/>
            <a:ext cx="1645920" cy="685800"/>
          </a:xfrm>
          <a:prstGeom prst="rect">
            <a:avLst/>
          </a:prstGeom>
          <a:noFill/>
          <a:ln/>
        </p:spPr>
        <p:txBody>
          <a:bodyPr wrap="square" lIns="0" tIns="0" rIns="0" bIns="0" rtlCol="0" anchor="b"/>
          <a:lstStyle/>
          <a:p>
            <a:pPr algn="l" indent="0" marL="0">
              <a:buNone/>
            </a:pPr>
            <a:r>
              <a:rPr lang="en-US" sz="3600" b="1" dirty="0">
                <a:solidFill>
                  <a:srgbClr val="2FD9F4"/>
                </a:solidFill>
                <a:latin typeface="Arial" pitchFamily="34" charset="0"/>
                <a:ea typeface="Arial" pitchFamily="34" charset="-122"/>
                <a:cs typeface="Arial" pitchFamily="34" charset="-120"/>
              </a:rPr>
              <a:t>21</a:t>
            </a:r>
            <a:endParaRPr lang="en-US" sz="3600" dirty="0"/>
          </a:p>
        </p:txBody>
      </p:sp>
      <p:sp>
        <p:nvSpPr>
          <p:cNvPr id="8" name="Text 6"/>
          <p:cNvSpPr txBox="1"/>
          <p:nvPr/>
        </p:nvSpPr>
        <p:spPr>
          <a:xfrm>
            <a:off x="502920" y="3273552"/>
            <a:ext cx="1645920" cy="411480"/>
          </a:xfrm>
          <a:prstGeom prst="rect">
            <a:avLst/>
          </a:prstGeom>
          <a:noFill/>
          <a:ln/>
        </p:spPr>
        <p:txBody>
          <a:bodyPr wrap="square" lIns="0" tIns="0" rIns="0" bIns="0" rtlCol="0" anchor="t"/>
          <a:lstStyle/>
          <a:p>
            <a:pPr indent="0" marL="0">
              <a:buNone/>
            </a:pPr>
            <a:r>
              <a:rPr lang="en-US" sz="1050" dirty="0">
                <a:solidFill>
                  <a:srgbClr val="9DB2BA"/>
                </a:solidFill>
                <a:latin typeface="Arial" pitchFamily="34" charset="0"/>
                <a:ea typeface="Arial" pitchFamily="34" charset="-122"/>
                <a:cs typeface="Arial" pitchFamily="34" charset="-120"/>
              </a:rPr>
              <a:t>screens in Compose</a:t>
            </a:r>
            <a:endParaRPr lang="en-US" sz="1050" dirty="0"/>
          </a:p>
        </p:txBody>
      </p:sp>
      <p:sp>
        <p:nvSpPr>
          <p:cNvPr id="9" name="Text 7"/>
          <p:cNvSpPr txBox="1"/>
          <p:nvPr/>
        </p:nvSpPr>
        <p:spPr>
          <a:xfrm>
            <a:off x="2240280" y="2560320"/>
            <a:ext cx="1645920" cy="685800"/>
          </a:xfrm>
          <a:prstGeom prst="rect">
            <a:avLst/>
          </a:prstGeom>
          <a:noFill/>
          <a:ln/>
        </p:spPr>
        <p:txBody>
          <a:bodyPr wrap="square" lIns="0" tIns="0" rIns="0" bIns="0" rtlCol="0" anchor="b"/>
          <a:lstStyle/>
          <a:p>
            <a:pPr algn="l" indent="0" marL="0">
              <a:buNone/>
            </a:pPr>
            <a:r>
              <a:rPr lang="en-US" sz="3600" b="1" dirty="0">
                <a:solidFill>
                  <a:srgbClr val="2FD9F4"/>
                </a:solidFill>
                <a:latin typeface="Arial" pitchFamily="34" charset="0"/>
                <a:ea typeface="Arial" pitchFamily="34" charset="-122"/>
                <a:cs typeface="Arial" pitchFamily="34" charset="-120"/>
              </a:rPr>
              <a:t>50k</a:t>
            </a:r>
            <a:endParaRPr lang="en-US" sz="3600" dirty="0"/>
          </a:p>
        </p:txBody>
      </p:sp>
      <p:sp>
        <p:nvSpPr>
          <p:cNvPr id="10" name="Text 8"/>
          <p:cNvSpPr txBox="1"/>
          <p:nvPr/>
        </p:nvSpPr>
        <p:spPr>
          <a:xfrm>
            <a:off x="2240280" y="3273552"/>
            <a:ext cx="1645920" cy="411480"/>
          </a:xfrm>
          <a:prstGeom prst="rect">
            <a:avLst/>
          </a:prstGeom>
          <a:noFill/>
          <a:ln/>
        </p:spPr>
        <p:txBody>
          <a:bodyPr wrap="square" lIns="0" tIns="0" rIns="0" bIns="0" rtlCol="0" anchor="t"/>
          <a:lstStyle/>
          <a:p>
            <a:pPr indent="0" marL="0">
              <a:buNone/>
            </a:pPr>
            <a:r>
              <a:rPr lang="en-US" sz="1050" dirty="0">
                <a:solidFill>
                  <a:srgbClr val="9DB2BA"/>
                </a:solidFill>
                <a:latin typeface="Arial" pitchFamily="34" charset="0"/>
                <a:ea typeface="Arial" pitchFamily="34" charset="-122"/>
                <a:cs typeface="Arial" pitchFamily="34" charset="-120"/>
              </a:rPr>
              <a:t>lines of production Kotlin</a:t>
            </a:r>
            <a:endParaRPr lang="en-US" sz="1050" dirty="0"/>
          </a:p>
        </p:txBody>
      </p:sp>
      <p:sp>
        <p:nvSpPr>
          <p:cNvPr id="11" name="Text 9"/>
          <p:cNvSpPr txBox="1"/>
          <p:nvPr/>
        </p:nvSpPr>
        <p:spPr>
          <a:xfrm>
            <a:off x="3977640" y="2560320"/>
            <a:ext cx="1737360" cy="685800"/>
          </a:xfrm>
          <a:prstGeom prst="rect">
            <a:avLst/>
          </a:prstGeom>
          <a:noFill/>
          <a:ln/>
        </p:spPr>
        <p:txBody>
          <a:bodyPr wrap="square" lIns="0" tIns="0" rIns="0" bIns="0" rtlCol="0" anchor="b"/>
          <a:lstStyle/>
          <a:p>
            <a:pPr algn="l" indent="0" marL="0">
              <a:buNone/>
            </a:pPr>
            <a:r>
              <a:rPr lang="en-US" sz="3600" b="1" dirty="0">
                <a:solidFill>
                  <a:srgbClr val="2FD9F4"/>
                </a:solidFill>
                <a:latin typeface="Arial" pitchFamily="34" charset="0"/>
                <a:ea typeface="Arial" pitchFamily="34" charset="-122"/>
                <a:cs typeface="Arial" pitchFamily="34" charset="-120"/>
              </a:rPr>
              <a:t>573</a:t>
            </a:r>
            <a:endParaRPr lang="en-US" sz="3600" dirty="0"/>
          </a:p>
        </p:txBody>
      </p:sp>
      <p:sp>
        <p:nvSpPr>
          <p:cNvPr id="12" name="Text 10"/>
          <p:cNvSpPr txBox="1"/>
          <p:nvPr/>
        </p:nvSpPr>
        <p:spPr>
          <a:xfrm>
            <a:off x="3977640" y="3273552"/>
            <a:ext cx="1737360" cy="411480"/>
          </a:xfrm>
          <a:prstGeom prst="rect">
            <a:avLst/>
          </a:prstGeom>
          <a:noFill/>
          <a:ln/>
        </p:spPr>
        <p:txBody>
          <a:bodyPr wrap="square" lIns="0" tIns="0" rIns="0" bIns="0" rtlCol="0" anchor="t"/>
          <a:lstStyle/>
          <a:p>
            <a:pPr indent="0" marL="0">
              <a:buNone/>
            </a:pPr>
            <a:r>
              <a:rPr lang="en-US" sz="1050" dirty="0">
                <a:solidFill>
                  <a:srgbClr val="9DB2BA"/>
                </a:solidFill>
                <a:latin typeface="Arial" pitchFamily="34" charset="0"/>
                <a:ea typeface="Arial" pitchFamily="34" charset="-122"/>
                <a:cs typeface="Arial" pitchFamily="34" charset="-120"/>
              </a:rPr>
              <a:t>Android tests (518 JVM, 55 on device)</a:t>
            </a:r>
            <a:endParaRPr lang="en-US" sz="1050" dirty="0"/>
          </a:p>
        </p:txBody>
      </p:sp>
      <p:sp>
        <p:nvSpPr>
          <p:cNvPr id="13" name="Text 11"/>
          <p:cNvSpPr txBox="1"/>
          <p:nvPr/>
        </p:nvSpPr>
        <p:spPr>
          <a:xfrm>
            <a:off x="5806440" y="2560320"/>
            <a:ext cx="1645920" cy="685800"/>
          </a:xfrm>
          <a:prstGeom prst="rect">
            <a:avLst/>
          </a:prstGeom>
          <a:noFill/>
          <a:ln/>
        </p:spPr>
        <p:txBody>
          <a:bodyPr wrap="square" lIns="0" tIns="0" rIns="0" bIns="0" rtlCol="0" anchor="b"/>
          <a:lstStyle/>
          <a:p>
            <a:pPr algn="l" indent="0" marL="0">
              <a:buNone/>
            </a:pPr>
            <a:r>
              <a:rPr lang="en-US" sz="3600" b="1" dirty="0">
                <a:solidFill>
                  <a:srgbClr val="45DFA4"/>
                </a:solidFill>
                <a:latin typeface="Arial" pitchFamily="34" charset="0"/>
                <a:ea typeface="Arial" pitchFamily="34" charset="-122"/>
                <a:cs typeface="Arial" pitchFamily="34" charset="-120"/>
              </a:rPr>
              <a:t>5.9 MB</a:t>
            </a:r>
            <a:endParaRPr lang="en-US" sz="3600" dirty="0"/>
          </a:p>
        </p:txBody>
      </p:sp>
      <p:sp>
        <p:nvSpPr>
          <p:cNvPr id="14" name="Text 12"/>
          <p:cNvSpPr txBox="1"/>
          <p:nvPr/>
        </p:nvSpPr>
        <p:spPr>
          <a:xfrm>
            <a:off x="5806440" y="3273552"/>
            <a:ext cx="1645920" cy="411480"/>
          </a:xfrm>
          <a:prstGeom prst="rect">
            <a:avLst/>
          </a:prstGeom>
          <a:noFill/>
          <a:ln/>
        </p:spPr>
        <p:txBody>
          <a:bodyPr wrap="square" lIns="0" tIns="0" rIns="0" bIns="0" rtlCol="0" anchor="t"/>
          <a:lstStyle/>
          <a:p>
            <a:pPr indent="0" marL="0">
              <a:buNone/>
            </a:pPr>
            <a:r>
              <a:rPr lang="en-US" sz="1050" dirty="0">
                <a:solidFill>
                  <a:srgbClr val="9DB2BA"/>
                </a:solidFill>
                <a:latin typeface="Arial" pitchFamily="34" charset="0"/>
                <a:ea typeface="Arial" pitchFamily="34" charset="-122"/>
                <a:cs typeface="Arial" pitchFamily="34" charset="-120"/>
              </a:rPr>
              <a:t>signed release APK after R8</a:t>
            </a:r>
            <a:endParaRPr lang="en-US" sz="1050" dirty="0"/>
          </a:p>
        </p:txBody>
      </p:sp>
      <p:sp>
        <p:nvSpPr>
          <p:cNvPr id="15" name="Shape 13"/>
          <p:cNvSpPr/>
          <p:nvPr/>
        </p:nvSpPr>
        <p:spPr>
          <a:xfrm>
            <a:off x="502920" y="3977640"/>
            <a:ext cx="2194560" cy="2148840"/>
          </a:xfrm>
          <a:prstGeom prst="roundRect">
            <a:avLst>
              <a:gd name="adj" fmla="val 5106"/>
            </a:avLst>
          </a:prstGeom>
          <a:solidFill>
            <a:srgbClr val="16232A"/>
          </a:solidFill>
          <a:ln w="9525">
            <a:solidFill>
              <a:srgbClr val="263841"/>
            </a:solidFill>
            <a:prstDash val="solid"/>
          </a:ln>
        </p:spPr>
      </p:sp>
      <p:sp>
        <p:nvSpPr>
          <p:cNvPr id="16" name="Shape 14"/>
          <p:cNvSpPr/>
          <p:nvPr/>
        </p:nvSpPr>
        <p:spPr>
          <a:xfrm>
            <a:off x="685800" y="4160520"/>
            <a:ext cx="457200" cy="457200"/>
          </a:xfrm>
          <a:prstGeom prst="ellipse">
            <a:avLst/>
          </a:prstGeom>
          <a:solidFill>
            <a:srgbClr val="0A1013"/>
          </a:solidFill>
          <a:ln w="6350">
            <a:solidFill>
              <a:srgbClr val="263841"/>
            </a:solidFill>
            <a:prstDash val="solid"/>
          </a:ln>
        </p:spPr>
      </p:sp>
      <p:pic>
        <p:nvPicPr>
          <p:cNvPr id="17" name="Image 0" descr="preencoded.png">    </p:cNvPr>
          <p:cNvPicPr>
            <a:picLocks noChangeAspect="1"/>
          </p:cNvPicPr>
          <p:nvPr/>
        </p:nvPicPr>
        <p:blipFill>
          <a:blip r:embed="rId1"/>
          <a:stretch>
            <a:fillRect/>
          </a:stretch>
        </p:blipFill>
        <p:spPr>
          <a:xfrm>
            <a:off x="777240" y="4251960"/>
            <a:ext cx="274320" cy="274320"/>
          </a:xfrm>
          <a:prstGeom prst="rect">
            <a:avLst/>
          </a:prstGeom>
        </p:spPr>
      </p:pic>
      <p:sp>
        <p:nvSpPr>
          <p:cNvPr id="18" name="Text 15"/>
          <p:cNvSpPr txBox="1"/>
          <p:nvPr/>
        </p:nvSpPr>
        <p:spPr>
          <a:xfrm>
            <a:off x="1280160" y="4142232"/>
            <a:ext cx="12344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Offline-first</a:t>
            </a:r>
            <a:endParaRPr lang="en-US" sz="1300" dirty="0"/>
          </a:p>
        </p:txBody>
      </p:sp>
      <p:sp>
        <p:nvSpPr>
          <p:cNvPr id="19" name="Text 16"/>
          <p:cNvSpPr txBox="1"/>
          <p:nvPr/>
        </p:nvSpPr>
        <p:spPr>
          <a:xfrm>
            <a:off x="685800" y="4636008"/>
            <a:ext cx="1828800" cy="1371600"/>
          </a:xfrm>
          <a:prstGeom prst="rect">
            <a:avLst/>
          </a:prstGeom>
          <a:noFill/>
          <a:ln/>
        </p:spPr>
        <p:txBody>
          <a:bodyPr wrap="square" lIns="0" tIns="0" rIns="0" bIns="0" rtlCol="0" anchor="t"/>
          <a:lstStyle/>
          <a:p>
            <a:pPr indent="0" marL="0">
              <a:spcAft>
                <a:spcPts val="400"/>
              </a:spcAft>
              <a:buNone/>
            </a:pPr>
            <a:r>
              <a:rPr lang="en-US" sz="1050" dirty="0">
                <a:solidFill>
                  <a:srgbClr val="E8F0F2"/>
                </a:solidFill>
                <a:latin typeface="Arial" pitchFamily="34" charset="0"/>
                <a:ea typeface="Arial" pitchFamily="34" charset="-122"/>
                <a:cs typeface="Arial" pitchFamily="34" charset="-120"/>
              </a:rPr>
              <a:t>Room is the source of truth. Logs replay through an outbox with idempotency keys, so a gym with no signal still counts.</a:t>
            </a:r>
            <a:endParaRPr lang="en-US" sz="1050" dirty="0"/>
          </a:p>
        </p:txBody>
      </p:sp>
      <p:sp>
        <p:nvSpPr>
          <p:cNvPr id="20" name="Shape 17"/>
          <p:cNvSpPr/>
          <p:nvPr/>
        </p:nvSpPr>
        <p:spPr>
          <a:xfrm>
            <a:off x="2834640" y="3977640"/>
            <a:ext cx="2194560" cy="2148840"/>
          </a:xfrm>
          <a:prstGeom prst="roundRect">
            <a:avLst>
              <a:gd name="adj" fmla="val 5106"/>
            </a:avLst>
          </a:prstGeom>
          <a:solidFill>
            <a:srgbClr val="16232A"/>
          </a:solidFill>
          <a:ln w="9525">
            <a:solidFill>
              <a:srgbClr val="263841"/>
            </a:solidFill>
            <a:prstDash val="solid"/>
          </a:ln>
        </p:spPr>
      </p:sp>
      <p:sp>
        <p:nvSpPr>
          <p:cNvPr id="21" name="Shape 18"/>
          <p:cNvSpPr/>
          <p:nvPr/>
        </p:nvSpPr>
        <p:spPr>
          <a:xfrm>
            <a:off x="3017520" y="4160520"/>
            <a:ext cx="457200" cy="457200"/>
          </a:xfrm>
          <a:prstGeom prst="ellipse">
            <a:avLst/>
          </a:prstGeom>
          <a:solidFill>
            <a:srgbClr val="0A1013"/>
          </a:solidFill>
          <a:ln w="6350">
            <a:solidFill>
              <a:srgbClr val="263841"/>
            </a:solidFill>
            <a:prstDash val="solid"/>
          </a:ln>
        </p:spPr>
      </p:sp>
      <p:pic>
        <p:nvPicPr>
          <p:cNvPr id="22" name="Image 1" descr="preencoded.png">    </p:cNvPr>
          <p:cNvPicPr>
            <a:picLocks noChangeAspect="1"/>
          </p:cNvPicPr>
          <p:nvPr/>
        </p:nvPicPr>
        <p:blipFill>
          <a:blip r:embed="rId2"/>
          <a:stretch>
            <a:fillRect/>
          </a:stretch>
        </p:blipFill>
        <p:spPr>
          <a:xfrm>
            <a:off x="3108960" y="4251960"/>
            <a:ext cx="274320" cy="274320"/>
          </a:xfrm>
          <a:prstGeom prst="rect">
            <a:avLst/>
          </a:prstGeom>
        </p:spPr>
      </p:pic>
      <p:sp>
        <p:nvSpPr>
          <p:cNvPr id="23" name="Text 19"/>
          <p:cNvSpPr txBox="1"/>
          <p:nvPr/>
        </p:nvSpPr>
        <p:spPr>
          <a:xfrm>
            <a:off x="3611880" y="4142232"/>
            <a:ext cx="12344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Safety in code</a:t>
            </a:r>
            <a:endParaRPr lang="en-US" sz="1300" dirty="0"/>
          </a:p>
        </p:txBody>
      </p:sp>
      <p:sp>
        <p:nvSpPr>
          <p:cNvPr id="24" name="Text 20"/>
          <p:cNvSpPr txBox="1"/>
          <p:nvPr/>
        </p:nvSpPr>
        <p:spPr>
          <a:xfrm>
            <a:off x="3017520" y="4636008"/>
            <a:ext cx="1828800" cy="1371600"/>
          </a:xfrm>
          <a:prstGeom prst="rect">
            <a:avLst/>
          </a:prstGeom>
          <a:noFill/>
          <a:ln/>
        </p:spPr>
        <p:txBody>
          <a:bodyPr wrap="square" lIns="0" tIns="0" rIns="0" bIns="0" rtlCol="0" anchor="t"/>
          <a:lstStyle/>
          <a:p>
            <a:pPr indent="0" marL="0">
              <a:spcAft>
                <a:spcPts val="400"/>
              </a:spcAft>
              <a:buNone/>
            </a:pPr>
            <a:r>
              <a:rPr lang="en-US" sz="1050" dirty="0">
                <a:solidFill>
                  <a:srgbClr val="E8F0F2"/>
                </a:solidFill>
                <a:latin typeface="Arial" pitchFamily="34" charset="0"/>
                <a:ea typeface="Arial" pitchFamily="34" charset="-122"/>
                <a:cs typeface="Arial" pitchFamily="34" charset="-120"/>
              </a:rPr>
              <a:t>Calorie floors, allergen exclusion and crisis signposting are enforced by deterministic code, never by a model.</a:t>
            </a:r>
            <a:endParaRPr lang="en-US" sz="1050" dirty="0"/>
          </a:p>
        </p:txBody>
      </p:sp>
      <p:sp>
        <p:nvSpPr>
          <p:cNvPr id="25" name="Shape 21"/>
          <p:cNvSpPr/>
          <p:nvPr/>
        </p:nvSpPr>
        <p:spPr>
          <a:xfrm>
            <a:off x="5166360" y="3977640"/>
            <a:ext cx="2194560" cy="2148840"/>
          </a:xfrm>
          <a:prstGeom prst="roundRect">
            <a:avLst>
              <a:gd name="adj" fmla="val 5106"/>
            </a:avLst>
          </a:prstGeom>
          <a:solidFill>
            <a:srgbClr val="16232A"/>
          </a:solidFill>
          <a:ln w="9525">
            <a:solidFill>
              <a:srgbClr val="263841"/>
            </a:solidFill>
            <a:prstDash val="solid"/>
          </a:ln>
        </p:spPr>
      </p:sp>
      <p:sp>
        <p:nvSpPr>
          <p:cNvPr id="26" name="Shape 22"/>
          <p:cNvSpPr/>
          <p:nvPr/>
        </p:nvSpPr>
        <p:spPr>
          <a:xfrm>
            <a:off x="5349240" y="4160520"/>
            <a:ext cx="457200" cy="457200"/>
          </a:xfrm>
          <a:prstGeom prst="ellipse">
            <a:avLst/>
          </a:prstGeom>
          <a:solidFill>
            <a:srgbClr val="0A1013"/>
          </a:solidFill>
          <a:ln w="6350">
            <a:solidFill>
              <a:srgbClr val="263841"/>
            </a:solidFill>
            <a:prstDash val="solid"/>
          </a:ln>
        </p:spPr>
      </p:sp>
      <p:pic>
        <p:nvPicPr>
          <p:cNvPr id="27" name="Image 2" descr="preencoded.png">    </p:cNvPr>
          <p:cNvPicPr>
            <a:picLocks noChangeAspect="1"/>
          </p:cNvPicPr>
          <p:nvPr/>
        </p:nvPicPr>
        <p:blipFill>
          <a:blip r:embed="rId3"/>
          <a:stretch>
            <a:fillRect/>
          </a:stretch>
        </p:blipFill>
        <p:spPr>
          <a:xfrm>
            <a:off x="5440680" y="4251960"/>
            <a:ext cx="274320" cy="274320"/>
          </a:xfrm>
          <a:prstGeom prst="rect">
            <a:avLst/>
          </a:prstGeom>
        </p:spPr>
      </p:pic>
      <p:sp>
        <p:nvSpPr>
          <p:cNvPr id="28" name="Text 23"/>
          <p:cNvSpPr txBox="1"/>
          <p:nvPr/>
        </p:nvSpPr>
        <p:spPr>
          <a:xfrm>
            <a:off x="5943600" y="4142232"/>
            <a:ext cx="12344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Honest numbers</a:t>
            </a:r>
            <a:endParaRPr lang="en-US" sz="1300" dirty="0"/>
          </a:p>
        </p:txBody>
      </p:sp>
      <p:sp>
        <p:nvSpPr>
          <p:cNvPr id="29" name="Text 24"/>
          <p:cNvSpPr txBox="1"/>
          <p:nvPr/>
        </p:nvSpPr>
        <p:spPr>
          <a:xfrm>
            <a:off x="5349240" y="4636008"/>
            <a:ext cx="1828800" cy="1371600"/>
          </a:xfrm>
          <a:prstGeom prst="rect">
            <a:avLst/>
          </a:prstGeom>
          <a:noFill/>
          <a:ln/>
        </p:spPr>
        <p:txBody>
          <a:bodyPr wrap="square" lIns="0" tIns="0" rIns="0" bIns="0" rtlCol="0" anchor="t"/>
          <a:lstStyle/>
          <a:p>
            <a:pPr indent="0" marL="0">
              <a:spcAft>
                <a:spcPts val="400"/>
              </a:spcAft>
              <a:buNone/>
            </a:pPr>
            <a:r>
              <a:rPr lang="en-US" sz="1050" dirty="0">
                <a:solidFill>
                  <a:srgbClr val="E8F0F2"/>
                </a:solidFill>
                <a:latin typeface="Arial" pitchFamily="34" charset="0"/>
                <a:ea typeface="Arial" pitchFamily="34" charset="-122"/>
                <a:cs typeface="Arial" pitchFamily="34" charset="-120"/>
              </a:rPr>
              <a:t>Every target has a Why button that shows the formula. Attribution stays on every exercise record.</a:t>
            </a:r>
            <a:endParaRPr lang="en-US" sz="1050" dirty="0"/>
          </a:p>
        </p:txBody>
      </p:sp>
      <p:sp>
        <p:nvSpPr>
          <p:cNvPr id="30" name="Shape 25"/>
          <p:cNvSpPr/>
          <p:nvPr/>
        </p:nvSpPr>
        <p:spPr>
          <a:xfrm>
            <a:off x="7891272" y="1216152"/>
            <a:ext cx="2164842" cy="4700016"/>
          </a:xfrm>
          <a:prstGeom prst="roundRect">
            <a:avLst>
              <a:gd name="adj" fmla="val 7603"/>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31" name="Image 3" descr="C:\Users\lumin\AppData\Local\Temp\azf-shots\n_nutrition_top.png">    </p:cNvPr>
          <p:cNvPicPr>
            <a:picLocks noChangeAspect="1"/>
          </p:cNvPicPr>
          <p:nvPr/>
        </p:nvPicPr>
        <p:blipFill>
          <a:blip r:embed="rId4"/>
          <a:stretch>
            <a:fillRect/>
          </a:stretch>
        </p:blipFill>
        <p:spPr>
          <a:xfrm>
            <a:off x="7955280" y="1280160"/>
            <a:ext cx="2036826" cy="4572000"/>
          </a:xfrm>
          <a:prstGeom prst="rect">
            <a:avLst/>
          </a:prstGeom>
        </p:spPr>
      </p:pic>
      <p:sp>
        <p:nvSpPr>
          <p:cNvPr id="32" name="Text 26"/>
          <p:cNvSpPr txBox="1"/>
          <p:nvPr/>
        </p:nvSpPr>
        <p:spPr>
          <a:xfrm>
            <a:off x="7845552" y="5961888"/>
            <a:ext cx="2256282"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Nutrition tab</a:t>
            </a:r>
            <a:endParaRPr lang="en-US" sz="900" dirty="0"/>
          </a:p>
        </p:txBody>
      </p:sp>
      <p:sp>
        <p:nvSpPr>
          <p:cNvPr id="33" name="Shape 27"/>
          <p:cNvSpPr/>
          <p:nvPr/>
        </p:nvSpPr>
        <p:spPr>
          <a:xfrm>
            <a:off x="9994392" y="1216152"/>
            <a:ext cx="2164842" cy="4700016"/>
          </a:xfrm>
          <a:prstGeom prst="roundRect">
            <a:avLst>
              <a:gd name="adj" fmla="val 7603"/>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34" name="Image 4" descr="C:\Users\lumin\AppData\Local\Temp\azf-shots\w_workouts.png">    </p:cNvPr>
          <p:cNvPicPr>
            <a:picLocks noChangeAspect="1"/>
          </p:cNvPicPr>
          <p:nvPr/>
        </p:nvPicPr>
        <p:blipFill>
          <a:blip r:embed="rId5"/>
          <a:stretch>
            <a:fillRect/>
          </a:stretch>
        </p:blipFill>
        <p:spPr>
          <a:xfrm>
            <a:off x="10058400" y="1280160"/>
            <a:ext cx="2036826" cy="4572000"/>
          </a:xfrm>
          <a:prstGeom prst="rect">
            <a:avLst/>
          </a:prstGeom>
        </p:spPr>
      </p:pic>
      <p:sp>
        <p:nvSpPr>
          <p:cNvPr id="35" name="Text 28"/>
          <p:cNvSpPr txBox="1"/>
          <p:nvPr/>
        </p:nvSpPr>
        <p:spPr>
          <a:xfrm>
            <a:off x="9948672" y="5961888"/>
            <a:ext cx="2256282"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Workouts tab</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4</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02  THE PROBLEM WITH FITNESS APPS TODAY</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The four failures we designed against</a:t>
            </a:r>
            <a:endParaRPr lang="en-US" sz="2800" dirty="0"/>
          </a:p>
        </p:txBody>
      </p:sp>
      <p:sp>
        <p:nvSpPr>
          <p:cNvPr id="6" name="Shape 4"/>
          <p:cNvSpPr/>
          <p:nvPr/>
        </p:nvSpPr>
        <p:spPr>
          <a:xfrm>
            <a:off x="502920" y="1325880"/>
            <a:ext cx="3657600" cy="2148840"/>
          </a:xfrm>
          <a:prstGeom prst="roundRect">
            <a:avLst>
              <a:gd name="adj" fmla="val 5106"/>
            </a:avLst>
          </a:prstGeom>
          <a:solidFill>
            <a:srgbClr val="16232A"/>
          </a:solidFill>
          <a:ln w="9525">
            <a:solidFill>
              <a:srgbClr val="263841"/>
            </a:solidFill>
            <a:prstDash val="solid"/>
          </a:ln>
        </p:spPr>
      </p:sp>
      <p:sp>
        <p:nvSpPr>
          <p:cNvPr id="7" name="Shape 5"/>
          <p:cNvSpPr/>
          <p:nvPr/>
        </p:nvSpPr>
        <p:spPr>
          <a:xfrm>
            <a:off x="685800" y="1508760"/>
            <a:ext cx="457200" cy="457200"/>
          </a:xfrm>
          <a:prstGeom prst="ellipse">
            <a:avLst/>
          </a:prstGeom>
          <a:solidFill>
            <a:srgbClr val="0A1013"/>
          </a:solidFill>
          <a:ln w="6350">
            <a:solidFill>
              <a:srgbClr val="263841"/>
            </a:solidFill>
            <a:prstDash val="solid"/>
          </a:ln>
        </p:spPr>
      </p:sp>
      <p:pic>
        <p:nvPicPr>
          <p:cNvPr id="8" name="Image 0" descr="preencoded.png">    </p:cNvPr>
          <p:cNvPicPr>
            <a:picLocks noChangeAspect="1"/>
          </p:cNvPicPr>
          <p:nvPr/>
        </p:nvPicPr>
        <p:blipFill>
          <a:blip r:embed="rId1"/>
          <a:stretch>
            <a:fillRect/>
          </a:stretch>
        </p:blipFill>
        <p:spPr>
          <a:xfrm>
            <a:off x="777240" y="1600200"/>
            <a:ext cx="274320" cy="274320"/>
          </a:xfrm>
          <a:prstGeom prst="rect">
            <a:avLst/>
          </a:prstGeom>
        </p:spPr>
      </p:pic>
      <p:sp>
        <p:nvSpPr>
          <p:cNvPr id="9" name="Text 6"/>
          <p:cNvSpPr txBox="1"/>
          <p:nvPr/>
        </p:nvSpPr>
        <p:spPr>
          <a:xfrm>
            <a:off x="1280160" y="1490472"/>
            <a:ext cx="26974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Silent wrong numbers</a:t>
            </a:r>
            <a:endParaRPr lang="en-US" sz="1300" dirty="0"/>
          </a:p>
        </p:txBody>
      </p:sp>
      <p:sp>
        <p:nvSpPr>
          <p:cNvPr id="10" name="Text 7"/>
          <p:cNvSpPr txBox="1"/>
          <p:nvPr/>
        </p:nvSpPr>
        <p:spPr>
          <a:xfrm>
            <a:off x="685800" y="1984248"/>
            <a:ext cx="3291840" cy="1371600"/>
          </a:xfrm>
          <a:prstGeom prst="rect">
            <a:avLst/>
          </a:prstGeom>
          <a:noFill/>
          <a:ln/>
        </p:spPr>
        <p:txBody>
          <a:bodyPr wrap="square" lIns="0" tIns="0" rIns="0" bIns="0" rtlCol="0" anchor="t"/>
          <a:lstStyle/>
          <a:p>
            <a:pPr indent="0" marL="0">
              <a:spcAft>
                <a:spcPts val="400"/>
              </a:spcAft>
              <a:buNone/>
            </a:pPr>
            <a:r>
              <a:rPr lang="en-US" sz="1100" dirty="0">
                <a:solidFill>
                  <a:srgbClr val="E8F0F2"/>
                </a:solidFill>
                <a:latin typeface="Arial" pitchFamily="34" charset="0"/>
                <a:ea typeface="Arial" pitchFamily="34" charset="-122"/>
                <a:cs typeface="Arial" pitchFamily="34" charset="-120"/>
              </a:rPr>
              <a:t>Photo loggers that write a calorie figure straight into the diary teach users to distrust the diary. AquaZeroFit never logs a photo result until the user confirms each item and portion.</a:t>
            </a:r>
            <a:endParaRPr lang="en-US" sz="1100" dirty="0"/>
          </a:p>
        </p:txBody>
      </p:sp>
      <p:sp>
        <p:nvSpPr>
          <p:cNvPr id="11" name="Shape 8"/>
          <p:cNvSpPr/>
          <p:nvPr/>
        </p:nvSpPr>
        <p:spPr>
          <a:xfrm>
            <a:off x="4297680" y="1325880"/>
            <a:ext cx="3657600" cy="2148840"/>
          </a:xfrm>
          <a:prstGeom prst="roundRect">
            <a:avLst>
              <a:gd name="adj" fmla="val 5106"/>
            </a:avLst>
          </a:prstGeom>
          <a:solidFill>
            <a:srgbClr val="16232A"/>
          </a:solidFill>
          <a:ln w="9525">
            <a:solidFill>
              <a:srgbClr val="263841"/>
            </a:solidFill>
            <a:prstDash val="solid"/>
          </a:ln>
        </p:spPr>
      </p:sp>
      <p:sp>
        <p:nvSpPr>
          <p:cNvPr id="12" name="Shape 9"/>
          <p:cNvSpPr/>
          <p:nvPr/>
        </p:nvSpPr>
        <p:spPr>
          <a:xfrm>
            <a:off x="4480560" y="1508760"/>
            <a:ext cx="457200" cy="457200"/>
          </a:xfrm>
          <a:prstGeom prst="ellipse">
            <a:avLst/>
          </a:prstGeom>
          <a:solidFill>
            <a:srgbClr val="0A1013"/>
          </a:solidFill>
          <a:ln w="6350">
            <a:solidFill>
              <a:srgbClr val="263841"/>
            </a:solidFill>
            <a:prstDash val="solid"/>
          </a:ln>
        </p:spPr>
      </p:sp>
      <p:pic>
        <p:nvPicPr>
          <p:cNvPr id="13" name="Image 1" descr="preencoded.png">    </p:cNvPr>
          <p:cNvPicPr>
            <a:picLocks noChangeAspect="1"/>
          </p:cNvPicPr>
          <p:nvPr/>
        </p:nvPicPr>
        <p:blipFill>
          <a:blip r:embed="rId2"/>
          <a:stretch>
            <a:fillRect/>
          </a:stretch>
        </p:blipFill>
        <p:spPr>
          <a:xfrm>
            <a:off x="4572000" y="1600200"/>
            <a:ext cx="274320" cy="274320"/>
          </a:xfrm>
          <a:prstGeom prst="rect">
            <a:avLst/>
          </a:prstGeom>
        </p:spPr>
      </p:pic>
      <p:sp>
        <p:nvSpPr>
          <p:cNvPr id="14" name="Text 10"/>
          <p:cNvSpPr txBox="1"/>
          <p:nvPr/>
        </p:nvSpPr>
        <p:spPr>
          <a:xfrm>
            <a:off x="5074920" y="1490472"/>
            <a:ext cx="26974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AI that invents</a:t>
            </a:r>
            <a:endParaRPr lang="en-US" sz="1300" dirty="0"/>
          </a:p>
        </p:txBody>
      </p:sp>
      <p:sp>
        <p:nvSpPr>
          <p:cNvPr id="15" name="Text 11"/>
          <p:cNvSpPr txBox="1"/>
          <p:nvPr/>
        </p:nvSpPr>
        <p:spPr>
          <a:xfrm>
            <a:off x="4480560" y="1984248"/>
            <a:ext cx="3291840" cy="1371600"/>
          </a:xfrm>
          <a:prstGeom prst="rect">
            <a:avLst/>
          </a:prstGeom>
          <a:noFill/>
          <a:ln/>
        </p:spPr>
        <p:txBody>
          <a:bodyPr wrap="square" lIns="0" tIns="0" rIns="0" bIns="0" rtlCol="0" anchor="t"/>
          <a:lstStyle/>
          <a:p>
            <a:pPr indent="0" marL="0">
              <a:spcAft>
                <a:spcPts val="400"/>
              </a:spcAft>
              <a:buNone/>
            </a:pPr>
            <a:r>
              <a:rPr lang="en-US" sz="1100" dirty="0">
                <a:solidFill>
                  <a:srgbClr val="E8F0F2"/>
                </a:solidFill>
                <a:latin typeface="Arial" pitchFamily="34" charset="0"/>
                <a:ea typeface="Arial" pitchFamily="34" charset="-122"/>
                <a:cs typeface="Arial" pitchFamily="34" charset="-120"/>
              </a:rPr>
              <a:t>A language model asked for calories will produce one whether or not it knows. Here the model returns identifiers and quantities only; kcal is grams times the per-100 g value from the corpus [5].</a:t>
            </a:r>
            <a:endParaRPr lang="en-US" sz="1100" dirty="0"/>
          </a:p>
        </p:txBody>
      </p:sp>
      <p:sp>
        <p:nvSpPr>
          <p:cNvPr id="16" name="Shape 12"/>
          <p:cNvSpPr/>
          <p:nvPr/>
        </p:nvSpPr>
        <p:spPr>
          <a:xfrm>
            <a:off x="502920" y="3657600"/>
            <a:ext cx="3657600" cy="2148840"/>
          </a:xfrm>
          <a:prstGeom prst="roundRect">
            <a:avLst>
              <a:gd name="adj" fmla="val 5106"/>
            </a:avLst>
          </a:prstGeom>
          <a:solidFill>
            <a:srgbClr val="16232A"/>
          </a:solidFill>
          <a:ln w="9525">
            <a:solidFill>
              <a:srgbClr val="263841"/>
            </a:solidFill>
            <a:prstDash val="solid"/>
          </a:ln>
        </p:spPr>
      </p:sp>
      <p:sp>
        <p:nvSpPr>
          <p:cNvPr id="17" name="Shape 13"/>
          <p:cNvSpPr/>
          <p:nvPr/>
        </p:nvSpPr>
        <p:spPr>
          <a:xfrm>
            <a:off x="685800" y="3840480"/>
            <a:ext cx="457200" cy="457200"/>
          </a:xfrm>
          <a:prstGeom prst="ellipse">
            <a:avLst/>
          </a:prstGeom>
          <a:solidFill>
            <a:srgbClr val="0A1013"/>
          </a:solidFill>
          <a:ln w="6350">
            <a:solidFill>
              <a:srgbClr val="263841"/>
            </a:solidFill>
            <a:prstDash val="solid"/>
          </a:ln>
        </p:spPr>
      </p:sp>
      <p:pic>
        <p:nvPicPr>
          <p:cNvPr id="18" name="Image 2" descr="preencoded.png">    </p:cNvPr>
          <p:cNvPicPr>
            <a:picLocks noChangeAspect="1"/>
          </p:cNvPicPr>
          <p:nvPr/>
        </p:nvPicPr>
        <p:blipFill>
          <a:blip r:embed="rId3"/>
          <a:stretch>
            <a:fillRect/>
          </a:stretch>
        </p:blipFill>
        <p:spPr>
          <a:xfrm>
            <a:off x="777240" y="3931920"/>
            <a:ext cx="274320" cy="274320"/>
          </a:xfrm>
          <a:prstGeom prst="rect">
            <a:avLst/>
          </a:prstGeom>
        </p:spPr>
      </p:pic>
      <p:sp>
        <p:nvSpPr>
          <p:cNvPr id="19" name="Text 14"/>
          <p:cNvSpPr txBox="1"/>
          <p:nvPr/>
        </p:nvSpPr>
        <p:spPr>
          <a:xfrm>
            <a:off x="1280160" y="3822192"/>
            <a:ext cx="26974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No signal in the gym</a:t>
            </a:r>
            <a:endParaRPr lang="en-US" sz="1300" dirty="0"/>
          </a:p>
        </p:txBody>
      </p:sp>
      <p:sp>
        <p:nvSpPr>
          <p:cNvPr id="20" name="Text 15"/>
          <p:cNvSpPr txBox="1"/>
          <p:nvPr/>
        </p:nvSpPr>
        <p:spPr>
          <a:xfrm>
            <a:off x="685800" y="4315968"/>
            <a:ext cx="3291840" cy="1371600"/>
          </a:xfrm>
          <a:prstGeom prst="rect">
            <a:avLst/>
          </a:prstGeom>
          <a:noFill/>
          <a:ln/>
        </p:spPr>
        <p:txBody>
          <a:bodyPr wrap="square" lIns="0" tIns="0" rIns="0" bIns="0" rtlCol="0" anchor="t"/>
          <a:lstStyle/>
          <a:p>
            <a:pPr indent="0" marL="0">
              <a:spcAft>
                <a:spcPts val="400"/>
              </a:spcAft>
              <a:buNone/>
            </a:pPr>
            <a:r>
              <a:rPr lang="en-US" sz="1100" dirty="0">
                <a:solidFill>
                  <a:srgbClr val="E8F0F2"/>
                </a:solidFill>
                <a:latin typeface="Arial" pitchFamily="34" charset="0"/>
                <a:ea typeface="Arial" pitchFamily="34" charset="-122"/>
                <a:cs typeface="Arial" pitchFamily="34" charset="-120"/>
              </a:rPr>
              <a:t>Basements and planes are where logging happens. Every log lands in Room first and syncs later with an Idempotency-Key, so nothing double-counts [4][10].</a:t>
            </a:r>
            <a:endParaRPr lang="en-US" sz="1100" dirty="0"/>
          </a:p>
        </p:txBody>
      </p:sp>
      <p:sp>
        <p:nvSpPr>
          <p:cNvPr id="21" name="Shape 16"/>
          <p:cNvSpPr/>
          <p:nvPr/>
        </p:nvSpPr>
        <p:spPr>
          <a:xfrm>
            <a:off x="4297680" y="3657600"/>
            <a:ext cx="3657600" cy="2148840"/>
          </a:xfrm>
          <a:prstGeom prst="roundRect">
            <a:avLst>
              <a:gd name="adj" fmla="val 5106"/>
            </a:avLst>
          </a:prstGeom>
          <a:solidFill>
            <a:srgbClr val="16232A"/>
          </a:solidFill>
          <a:ln w="9525">
            <a:solidFill>
              <a:srgbClr val="263841"/>
            </a:solidFill>
            <a:prstDash val="solid"/>
          </a:ln>
        </p:spPr>
      </p:sp>
      <p:sp>
        <p:nvSpPr>
          <p:cNvPr id="22" name="Shape 17"/>
          <p:cNvSpPr/>
          <p:nvPr/>
        </p:nvSpPr>
        <p:spPr>
          <a:xfrm>
            <a:off x="4480560" y="3840480"/>
            <a:ext cx="457200" cy="457200"/>
          </a:xfrm>
          <a:prstGeom prst="ellipse">
            <a:avLst/>
          </a:prstGeom>
          <a:solidFill>
            <a:srgbClr val="0A1013"/>
          </a:solidFill>
          <a:ln w="6350">
            <a:solidFill>
              <a:srgbClr val="263841"/>
            </a:solidFill>
            <a:prstDash val="solid"/>
          </a:ln>
        </p:spPr>
      </p:sp>
      <p:pic>
        <p:nvPicPr>
          <p:cNvPr id="23" name="Image 3" descr="preencoded.png">    </p:cNvPr>
          <p:cNvPicPr>
            <a:picLocks noChangeAspect="1"/>
          </p:cNvPicPr>
          <p:nvPr/>
        </p:nvPicPr>
        <p:blipFill>
          <a:blip r:embed="rId4"/>
          <a:stretch>
            <a:fillRect/>
          </a:stretch>
        </p:blipFill>
        <p:spPr>
          <a:xfrm>
            <a:off x="4572000" y="3931920"/>
            <a:ext cx="274320" cy="274320"/>
          </a:xfrm>
          <a:prstGeom prst="rect">
            <a:avLst/>
          </a:prstGeom>
        </p:spPr>
      </p:pic>
      <p:sp>
        <p:nvSpPr>
          <p:cNvPr id="24" name="Text 18"/>
          <p:cNvSpPr txBox="1"/>
          <p:nvPr/>
        </p:nvSpPr>
        <p:spPr>
          <a:xfrm>
            <a:off x="5074920" y="3822192"/>
            <a:ext cx="26974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Medical creep</a:t>
            </a:r>
            <a:endParaRPr lang="en-US" sz="1300" dirty="0"/>
          </a:p>
        </p:txBody>
      </p:sp>
      <p:sp>
        <p:nvSpPr>
          <p:cNvPr id="25" name="Text 19"/>
          <p:cNvSpPr txBox="1"/>
          <p:nvPr/>
        </p:nvSpPr>
        <p:spPr>
          <a:xfrm>
            <a:off x="4480560" y="4315968"/>
            <a:ext cx="3291840" cy="1371600"/>
          </a:xfrm>
          <a:prstGeom prst="rect">
            <a:avLst/>
          </a:prstGeom>
          <a:noFill/>
          <a:ln/>
        </p:spPr>
        <p:txBody>
          <a:bodyPr wrap="square" lIns="0" tIns="0" rIns="0" bIns="0" rtlCol="0" anchor="t"/>
          <a:lstStyle/>
          <a:p>
            <a:pPr indent="0" marL="0">
              <a:spcAft>
                <a:spcPts val="400"/>
              </a:spcAft>
              <a:buNone/>
            </a:pPr>
            <a:r>
              <a:rPr lang="en-US" sz="1100" dirty="0">
                <a:solidFill>
                  <a:srgbClr val="E8F0F2"/>
                </a:solidFill>
                <a:latin typeface="Arial" pitchFamily="34" charset="0"/>
                <a:ea typeface="Arial" pitchFamily="34" charset="-122"/>
                <a:cs typeface="Arial" pitchFamily="34" charset="-120"/>
              </a:rPr>
              <a:t>Wellness apps drift into diagnosis. The coach declines medical, crisis and extreme-diet requests in code and signposts real help, and the disclaimer is pinned on screen [5].</a:t>
            </a:r>
            <a:endParaRPr lang="en-US" sz="1100" dirty="0"/>
          </a:p>
        </p:txBody>
      </p:sp>
      <p:sp>
        <p:nvSpPr>
          <p:cNvPr id="26" name="Shape 20"/>
          <p:cNvSpPr/>
          <p:nvPr/>
        </p:nvSpPr>
        <p:spPr>
          <a:xfrm>
            <a:off x="8302752" y="1170432"/>
            <a:ext cx="2880767" cy="5020056"/>
          </a:xfrm>
          <a:prstGeom prst="roundRect">
            <a:avLst>
              <a:gd name="adj" fmla="val 5713"/>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27" name="Image 4" descr="C:\Users\lumin\AppData\Local\Temp\azf-deck\img\03-confirm-before-logging.png">    </p:cNvPr>
          <p:cNvPicPr>
            <a:picLocks noChangeAspect="1"/>
          </p:cNvPicPr>
          <p:nvPr/>
        </p:nvPicPr>
        <p:blipFill>
          <a:blip r:embed="rId5"/>
          <a:stretch>
            <a:fillRect/>
          </a:stretch>
        </p:blipFill>
        <p:spPr>
          <a:xfrm>
            <a:off x="8366760" y="1234440"/>
            <a:ext cx="2752751" cy="4892040"/>
          </a:xfrm>
          <a:prstGeom prst="rect">
            <a:avLst/>
          </a:prstGeom>
        </p:spPr>
      </p:pic>
      <p:sp>
        <p:nvSpPr>
          <p:cNvPr id="28" name="Text 21"/>
          <p:cNvSpPr txBox="1"/>
          <p:nvPr/>
        </p:nvSpPr>
        <p:spPr>
          <a:xfrm>
            <a:off x="8257032" y="6236208"/>
            <a:ext cx="2972207"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Confirm-first: nothing is added until the user says so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5</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03  PRODUCT TOUR</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Five tabs, one daily loop</a:t>
            </a:r>
            <a:endParaRPr lang="en-US" sz="2800" dirty="0"/>
          </a:p>
        </p:txBody>
      </p:sp>
      <p:sp>
        <p:nvSpPr>
          <p:cNvPr id="6" name="Shape 4"/>
          <p:cNvSpPr/>
          <p:nvPr/>
        </p:nvSpPr>
        <p:spPr>
          <a:xfrm>
            <a:off x="576072" y="1307592"/>
            <a:ext cx="2001896" cy="4334256"/>
          </a:xfrm>
          <a:prstGeom prst="roundRect">
            <a:avLst>
              <a:gd name="adj" fmla="val 8222"/>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shots\h_home.png">    </p:cNvPr>
          <p:cNvPicPr>
            <a:picLocks noChangeAspect="1"/>
          </p:cNvPicPr>
          <p:nvPr/>
        </p:nvPicPr>
        <p:blipFill>
          <a:blip r:embed="rId1"/>
          <a:stretch>
            <a:fillRect/>
          </a:stretch>
        </p:blipFill>
        <p:spPr>
          <a:xfrm>
            <a:off x="640080" y="1371600"/>
            <a:ext cx="1873880" cy="4206240"/>
          </a:xfrm>
          <a:prstGeom prst="rect">
            <a:avLst/>
          </a:prstGeom>
        </p:spPr>
      </p:pic>
      <p:sp>
        <p:nvSpPr>
          <p:cNvPr id="8" name="Text 5"/>
          <p:cNvSpPr txBox="1"/>
          <p:nvPr/>
        </p:nvSpPr>
        <p:spPr>
          <a:xfrm>
            <a:off x="457200" y="5715000"/>
            <a:ext cx="224028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Home</a:t>
            </a:r>
            <a:endParaRPr lang="en-US" sz="1300" dirty="0"/>
          </a:p>
        </p:txBody>
      </p:sp>
      <p:sp>
        <p:nvSpPr>
          <p:cNvPr id="9" name="Text 6"/>
          <p:cNvSpPr txBox="1"/>
          <p:nvPr/>
        </p:nvSpPr>
        <p:spPr>
          <a:xfrm>
            <a:off x="457200" y="5989320"/>
            <a:ext cx="2240280" cy="457200"/>
          </a:xfrm>
          <a:prstGeom prst="rect">
            <a:avLst/>
          </a:prstGeom>
          <a:noFill/>
          <a:ln/>
        </p:spPr>
        <p:txBody>
          <a:bodyPr wrap="square" lIns="0" tIns="0" rIns="0" bIns="0" rtlCol="0" anchor="t"/>
          <a:lstStyle/>
          <a:p>
            <a:pPr algn="ctr" indent="0" marL="0">
              <a:buNone/>
            </a:pPr>
            <a:r>
              <a:rPr lang="en-US" sz="950" dirty="0">
                <a:solidFill>
                  <a:srgbClr val="9DB2BA"/>
                </a:solidFill>
                <a:latin typeface="Arial" pitchFamily="34" charset="0"/>
                <a:ea typeface="Arial" pitchFamily="34" charset="-122"/>
                <a:cs typeface="Arial" pitchFamily="34" charset="-120"/>
              </a:rPr>
              <a:t>Today's rings, readiness and the coach's line</a:t>
            </a:r>
            <a:endParaRPr lang="en-US" sz="950" dirty="0"/>
          </a:p>
        </p:txBody>
      </p:sp>
      <p:sp>
        <p:nvSpPr>
          <p:cNvPr id="10" name="Shape 7"/>
          <p:cNvSpPr/>
          <p:nvPr/>
        </p:nvSpPr>
        <p:spPr>
          <a:xfrm>
            <a:off x="2907792" y="1307592"/>
            <a:ext cx="2001896" cy="4334256"/>
          </a:xfrm>
          <a:prstGeom prst="roundRect">
            <a:avLst>
              <a:gd name="adj" fmla="val 8222"/>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1" name="Image 1" descr="C:\Users\lumin\AppData\Local\Temp\azf-shots\n_nutrition_top.png">    </p:cNvPr>
          <p:cNvPicPr>
            <a:picLocks noChangeAspect="1"/>
          </p:cNvPicPr>
          <p:nvPr/>
        </p:nvPicPr>
        <p:blipFill>
          <a:blip r:embed="rId2"/>
          <a:stretch>
            <a:fillRect/>
          </a:stretch>
        </p:blipFill>
        <p:spPr>
          <a:xfrm>
            <a:off x="2971800" y="1371600"/>
            <a:ext cx="1873880" cy="4206240"/>
          </a:xfrm>
          <a:prstGeom prst="rect">
            <a:avLst/>
          </a:prstGeom>
        </p:spPr>
      </p:pic>
      <p:sp>
        <p:nvSpPr>
          <p:cNvPr id="12" name="Text 8"/>
          <p:cNvSpPr txBox="1"/>
          <p:nvPr/>
        </p:nvSpPr>
        <p:spPr>
          <a:xfrm>
            <a:off x="2788920" y="5715000"/>
            <a:ext cx="224028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Nutrition</a:t>
            </a:r>
            <a:endParaRPr lang="en-US" sz="1300" dirty="0"/>
          </a:p>
        </p:txBody>
      </p:sp>
      <p:sp>
        <p:nvSpPr>
          <p:cNvPr id="13" name="Text 9"/>
          <p:cNvSpPr txBox="1"/>
          <p:nvPr/>
        </p:nvSpPr>
        <p:spPr>
          <a:xfrm>
            <a:off x="2788920" y="5989320"/>
            <a:ext cx="2240280" cy="457200"/>
          </a:xfrm>
          <a:prstGeom prst="rect">
            <a:avLst/>
          </a:prstGeom>
          <a:noFill/>
          <a:ln/>
        </p:spPr>
        <p:txBody>
          <a:bodyPr wrap="square" lIns="0" tIns="0" rIns="0" bIns="0" rtlCol="0" anchor="t"/>
          <a:lstStyle/>
          <a:p>
            <a:pPr algn="ctr" indent="0" marL="0">
              <a:buNone/>
            </a:pPr>
            <a:r>
              <a:rPr lang="en-US" sz="950" dirty="0">
                <a:solidFill>
                  <a:srgbClr val="9DB2BA"/>
                </a:solidFill>
                <a:latin typeface="Arial" pitchFamily="34" charset="0"/>
                <a:ea typeface="Arial" pitchFamily="34" charset="-122"/>
                <a:cs typeface="Arial" pitchFamily="34" charset="-120"/>
              </a:rPr>
              <a:t>Calories, macros, hydration and the meal timeline</a:t>
            </a:r>
            <a:endParaRPr lang="en-US" sz="950" dirty="0"/>
          </a:p>
        </p:txBody>
      </p:sp>
      <p:sp>
        <p:nvSpPr>
          <p:cNvPr id="14" name="Shape 10"/>
          <p:cNvSpPr/>
          <p:nvPr/>
        </p:nvSpPr>
        <p:spPr>
          <a:xfrm>
            <a:off x="5239512" y="1307592"/>
            <a:ext cx="2001896" cy="4334256"/>
          </a:xfrm>
          <a:prstGeom prst="roundRect">
            <a:avLst>
              <a:gd name="adj" fmla="val 8222"/>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5" name="Image 2" descr="C:\Users\lumin\AppData\Local\Temp\azf-shots\w_workouts.png">    </p:cNvPr>
          <p:cNvPicPr>
            <a:picLocks noChangeAspect="1"/>
          </p:cNvPicPr>
          <p:nvPr/>
        </p:nvPicPr>
        <p:blipFill>
          <a:blip r:embed="rId3"/>
          <a:stretch>
            <a:fillRect/>
          </a:stretch>
        </p:blipFill>
        <p:spPr>
          <a:xfrm>
            <a:off x="5303520" y="1371600"/>
            <a:ext cx="1873880" cy="4206240"/>
          </a:xfrm>
          <a:prstGeom prst="rect">
            <a:avLst/>
          </a:prstGeom>
        </p:spPr>
      </p:pic>
      <p:sp>
        <p:nvSpPr>
          <p:cNvPr id="16" name="Text 11"/>
          <p:cNvSpPr txBox="1"/>
          <p:nvPr/>
        </p:nvSpPr>
        <p:spPr>
          <a:xfrm>
            <a:off x="5120640" y="5715000"/>
            <a:ext cx="224028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Workouts</a:t>
            </a:r>
            <a:endParaRPr lang="en-US" sz="1300" dirty="0"/>
          </a:p>
        </p:txBody>
      </p:sp>
      <p:sp>
        <p:nvSpPr>
          <p:cNvPr id="17" name="Text 12"/>
          <p:cNvSpPr txBox="1"/>
          <p:nvPr/>
        </p:nvSpPr>
        <p:spPr>
          <a:xfrm>
            <a:off x="5120640" y="5989320"/>
            <a:ext cx="2240280" cy="457200"/>
          </a:xfrm>
          <a:prstGeom prst="rect">
            <a:avLst/>
          </a:prstGeom>
          <a:noFill/>
          <a:ln/>
        </p:spPr>
        <p:txBody>
          <a:bodyPr wrap="square" lIns="0" tIns="0" rIns="0" bIns="0" rtlCol="0" anchor="t"/>
          <a:lstStyle/>
          <a:p>
            <a:pPr algn="ctr" indent="0" marL="0">
              <a:buNone/>
            </a:pPr>
            <a:r>
              <a:rPr lang="en-US" sz="950" dirty="0">
                <a:solidFill>
                  <a:srgbClr val="9DB2BA"/>
                </a:solidFill>
                <a:latin typeface="Arial" pitchFamily="34" charset="0"/>
                <a:ea typeface="Arial" pitchFamily="34" charset="-122"/>
                <a:cs typeface="Arial" pitchFamily="34" charset="-120"/>
              </a:rPr>
              <a:t>This week's plan, readiness and the library</a:t>
            </a:r>
            <a:endParaRPr lang="en-US" sz="950" dirty="0"/>
          </a:p>
        </p:txBody>
      </p:sp>
      <p:sp>
        <p:nvSpPr>
          <p:cNvPr id="18" name="Shape 13"/>
          <p:cNvSpPr/>
          <p:nvPr/>
        </p:nvSpPr>
        <p:spPr>
          <a:xfrm>
            <a:off x="7571232" y="1307592"/>
            <a:ext cx="2001896" cy="4334256"/>
          </a:xfrm>
          <a:prstGeom prst="roundRect">
            <a:avLst>
              <a:gd name="adj" fmla="val 8222"/>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9" name="Image 3" descr="C:\Users\lumin\AppData\Local\Temp\azf-shots\p_progress2.png">    </p:cNvPr>
          <p:cNvPicPr>
            <a:picLocks noChangeAspect="1"/>
          </p:cNvPicPr>
          <p:nvPr/>
        </p:nvPicPr>
        <p:blipFill>
          <a:blip r:embed="rId4"/>
          <a:stretch>
            <a:fillRect/>
          </a:stretch>
        </p:blipFill>
        <p:spPr>
          <a:xfrm>
            <a:off x="7635240" y="1371600"/>
            <a:ext cx="1873880" cy="4206240"/>
          </a:xfrm>
          <a:prstGeom prst="rect">
            <a:avLst/>
          </a:prstGeom>
        </p:spPr>
      </p:pic>
      <p:sp>
        <p:nvSpPr>
          <p:cNvPr id="20" name="Text 14"/>
          <p:cNvSpPr txBox="1"/>
          <p:nvPr/>
        </p:nvSpPr>
        <p:spPr>
          <a:xfrm>
            <a:off x="7452360" y="5715000"/>
            <a:ext cx="224028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Progress</a:t>
            </a:r>
            <a:endParaRPr lang="en-US" sz="1300" dirty="0"/>
          </a:p>
        </p:txBody>
      </p:sp>
      <p:sp>
        <p:nvSpPr>
          <p:cNvPr id="21" name="Text 15"/>
          <p:cNvSpPr txBox="1"/>
          <p:nvPr/>
        </p:nvSpPr>
        <p:spPr>
          <a:xfrm>
            <a:off x="7452360" y="5989320"/>
            <a:ext cx="2240280" cy="457200"/>
          </a:xfrm>
          <a:prstGeom prst="rect">
            <a:avLst/>
          </a:prstGeom>
          <a:noFill/>
          <a:ln/>
        </p:spPr>
        <p:txBody>
          <a:bodyPr wrap="square" lIns="0" tIns="0" rIns="0" bIns="0" rtlCol="0" anchor="t"/>
          <a:lstStyle/>
          <a:p>
            <a:pPr algn="ctr" indent="0" marL="0">
              <a:buNone/>
            </a:pPr>
            <a:r>
              <a:rPr lang="en-US" sz="950" dirty="0">
                <a:solidFill>
                  <a:srgbClr val="9DB2BA"/>
                </a:solidFill>
                <a:latin typeface="Arial" pitchFamily="34" charset="0"/>
                <a:ea typeface="Arial" pitchFamily="34" charset="-122"/>
                <a:cs typeface="Arial" pitchFamily="34" charset="-120"/>
              </a:rPr>
              <a:t>Consistency, weight journey and calorie trend</a:t>
            </a:r>
            <a:endParaRPr lang="en-US" sz="950" dirty="0"/>
          </a:p>
        </p:txBody>
      </p:sp>
      <p:sp>
        <p:nvSpPr>
          <p:cNvPr id="22" name="Shape 16"/>
          <p:cNvSpPr/>
          <p:nvPr/>
        </p:nvSpPr>
        <p:spPr>
          <a:xfrm>
            <a:off x="9902952" y="1307592"/>
            <a:ext cx="2001896" cy="4334256"/>
          </a:xfrm>
          <a:prstGeom prst="roundRect">
            <a:avLst>
              <a:gd name="adj" fmla="val 8222"/>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23" name="Image 4" descr="C:\Users\lumin\AppData\Local\Temp\azf-shots\c_coach.png">    </p:cNvPr>
          <p:cNvPicPr>
            <a:picLocks noChangeAspect="1"/>
          </p:cNvPicPr>
          <p:nvPr/>
        </p:nvPicPr>
        <p:blipFill>
          <a:blip r:embed="rId5"/>
          <a:stretch>
            <a:fillRect/>
          </a:stretch>
        </p:blipFill>
        <p:spPr>
          <a:xfrm>
            <a:off x="9966960" y="1371600"/>
            <a:ext cx="1873880" cy="4206240"/>
          </a:xfrm>
          <a:prstGeom prst="rect">
            <a:avLst/>
          </a:prstGeom>
        </p:spPr>
      </p:pic>
      <p:sp>
        <p:nvSpPr>
          <p:cNvPr id="24" name="Text 17"/>
          <p:cNvSpPr txBox="1"/>
          <p:nvPr/>
        </p:nvSpPr>
        <p:spPr>
          <a:xfrm>
            <a:off x="9784080" y="5715000"/>
            <a:ext cx="224028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Arial" pitchFamily="34" charset="0"/>
                <a:ea typeface="Arial" pitchFamily="34" charset="-122"/>
                <a:cs typeface="Arial" pitchFamily="34" charset="-120"/>
              </a:rPr>
              <a:t>Coach</a:t>
            </a:r>
            <a:endParaRPr lang="en-US" sz="1300" dirty="0"/>
          </a:p>
        </p:txBody>
      </p:sp>
      <p:sp>
        <p:nvSpPr>
          <p:cNvPr id="25" name="Text 18"/>
          <p:cNvSpPr txBox="1"/>
          <p:nvPr/>
        </p:nvSpPr>
        <p:spPr>
          <a:xfrm>
            <a:off x="9784080" y="5989320"/>
            <a:ext cx="2240280" cy="457200"/>
          </a:xfrm>
          <a:prstGeom prst="rect">
            <a:avLst/>
          </a:prstGeom>
          <a:noFill/>
          <a:ln/>
        </p:spPr>
        <p:txBody>
          <a:bodyPr wrap="square" lIns="0" tIns="0" rIns="0" bIns="0" rtlCol="0" anchor="t"/>
          <a:lstStyle/>
          <a:p>
            <a:pPr algn="ctr" indent="0" marL="0">
              <a:buNone/>
            </a:pPr>
            <a:r>
              <a:rPr lang="en-US" sz="950" dirty="0">
                <a:solidFill>
                  <a:srgbClr val="9DB2BA"/>
                </a:solidFill>
                <a:latin typeface="Arial" pitchFamily="34" charset="0"/>
                <a:ea typeface="Arial" pitchFamily="34" charset="-122"/>
                <a:cs typeface="Arial" pitchFamily="34" charset="-120"/>
              </a:rPr>
              <a:t>Akin, grounded in today's real data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6</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04  SMART SCAN</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Photograph a meal, see it counted, confirm before it lands</a:t>
            </a:r>
            <a:endParaRPr lang="en-US" sz="2800" dirty="0"/>
          </a:p>
        </p:txBody>
      </p:sp>
      <p:sp>
        <p:nvSpPr>
          <p:cNvPr id="6" name="Shape 4"/>
          <p:cNvSpPr/>
          <p:nvPr/>
        </p:nvSpPr>
        <p:spPr>
          <a:xfrm>
            <a:off x="576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shots\n_capture.png">    </p:cNvPr>
          <p:cNvPicPr>
            <a:picLocks noChangeAspect="1"/>
          </p:cNvPicPr>
          <p:nvPr/>
        </p:nvPicPr>
        <p:blipFill>
          <a:blip r:embed="rId1"/>
          <a:stretch>
            <a:fillRect/>
          </a:stretch>
        </p:blipFill>
        <p:spPr>
          <a:xfrm>
            <a:off x="640080" y="1325880"/>
            <a:ext cx="1996089" cy="4480560"/>
          </a:xfrm>
          <a:prstGeom prst="rect">
            <a:avLst/>
          </a:prstGeom>
        </p:spPr>
      </p:pic>
      <p:sp>
        <p:nvSpPr>
          <p:cNvPr id="8" name="Text 5"/>
          <p:cNvSpPr txBox="1"/>
          <p:nvPr/>
        </p:nvSpPr>
        <p:spPr>
          <a:xfrm>
            <a:off x="530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1. CameraX capture</a:t>
            </a:r>
            <a:endParaRPr lang="en-US" sz="900" dirty="0"/>
          </a:p>
        </p:txBody>
      </p:sp>
      <p:sp>
        <p:nvSpPr>
          <p:cNvPr id="9" name="Shape 6"/>
          <p:cNvSpPr/>
          <p:nvPr/>
        </p:nvSpPr>
        <p:spPr>
          <a:xfrm>
            <a:off x="2862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0" name="Image 1" descr="C:\Users\lumin\AppData\Local\Temp\azf-deck\img\analysis_success.png">    </p:cNvPr>
          <p:cNvPicPr>
            <a:picLocks noChangeAspect="1"/>
          </p:cNvPicPr>
          <p:nvPr/>
        </p:nvPicPr>
        <p:blipFill>
          <a:blip r:embed="rId2"/>
          <a:stretch>
            <a:fillRect/>
          </a:stretch>
        </p:blipFill>
        <p:spPr>
          <a:xfrm>
            <a:off x="2926080" y="1325880"/>
            <a:ext cx="1996089" cy="4480560"/>
          </a:xfrm>
          <a:prstGeom prst="rect">
            <a:avLst/>
          </a:prstGeom>
        </p:spPr>
      </p:pic>
      <p:sp>
        <p:nvSpPr>
          <p:cNvPr id="11" name="Text 7"/>
          <p:cNvSpPr txBox="1"/>
          <p:nvPr/>
        </p:nvSpPr>
        <p:spPr>
          <a:xfrm>
            <a:off x="2816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2. Items, portions, confidence</a:t>
            </a:r>
            <a:endParaRPr lang="en-US" sz="900" dirty="0"/>
          </a:p>
        </p:txBody>
      </p:sp>
      <p:sp>
        <p:nvSpPr>
          <p:cNvPr id="12" name="Shape 8"/>
          <p:cNvSpPr/>
          <p:nvPr/>
        </p:nvSpPr>
        <p:spPr>
          <a:xfrm>
            <a:off x="5148072" y="1261872"/>
            <a:ext cx="2649227" cy="4608576"/>
          </a:xfrm>
          <a:prstGeom prst="roundRect">
            <a:avLst>
              <a:gd name="adj" fmla="val 6213"/>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3" name="Image 2" descr="C:\Users\lumin\AppData\Local\Temp\azf-deck\img\03-confirm-before-logging.png">    </p:cNvPr>
          <p:cNvPicPr>
            <a:picLocks noChangeAspect="1"/>
          </p:cNvPicPr>
          <p:nvPr/>
        </p:nvPicPr>
        <p:blipFill>
          <a:blip r:embed="rId3"/>
          <a:stretch>
            <a:fillRect/>
          </a:stretch>
        </p:blipFill>
        <p:spPr>
          <a:xfrm>
            <a:off x="5212080" y="1325880"/>
            <a:ext cx="2521211" cy="4480560"/>
          </a:xfrm>
          <a:prstGeom prst="rect">
            <a:avLst/>
          </a:prstGeom>
        </p:spPr>
      </p:pic>
      <p:sp>
        <p:nvSpPr>
          <p:cNvPr id="14" name="Text 9"/>
          <p:cNvSpPr txBox="1"/>
          <p:nvPr/>
        </p:nvSpPr>
        <p:spPr>
          <a:xfrm>
            <a:off x="5102352" y="5916168"/>
            <a:ext cx="2740667"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3. Edit, then confirm</a:t>
            </a:r>
            <a:endParaRPr lang="en-US" sz="900" dirty="0"/>
          </a:p>
        </p:txBody>
      </p:sp>
      <p:sp>
        <p:nvSpPr>
          <p:cNvPr id="15" name="Text 10"/>
          <p:cNvSpPr txBox="1"/>
          <p:nvPr/>
        </p:nvSpPr>
        <p:spPr>
          <a:xfrm>
            <a:off x="8366760" y="1325880"/>
            <a:ext cx="3383280" cy="4206240"/>
          </a:xfrm>
          <a:prstGeom prst="rect">
            <a:avLst/>
          </a:prstGeom>
          <a:noFill/>
          <a:ln/>
        </p:spPr>
        <p:txBody>
          <a:bodyPr wrap="square" lIns="0" tIns="0" rIns="0" bIns="0" rtlCol="0" anchor="t"/>
          <a:lstStyle/>
          <a:p>
            <a:pPr indent="0" marL="0">
              <a:spcAft>
                <a:spcPts val="500"/>
              </a:spcAft>
              <a:buNone/>
            </a:pPr>
            <a:r>
              <a:rPr lang="en-US" sz="1100" b="1" dirty="0">
                <a:solidFill>
                  <a:srgbClr val="2FD9F4"/>
                </a:solidFill>
                <a:latin typeface="Arial" pitchFamily="34" charset="0"/>
                <a:ea typeface="Arial" pitchFamily="34" charset="-122"/>
                <a:cs typeface="Arial" pitchFamily="34" charset="-120"/>
              </a:rPr>
              <a:t>How it works</a:t>
            </a:r>
            <a:endParaRPr lang="en-US" sz="1100" dirty="0"/>
          </a:p>
          <a:p>
            <a:pPr marL="177800" indent="-177800">
              <a:spcAft>
                <a:spcPts val="500"/>
              </a:spcAft>
              <a:buSzPct val="100000"/>
              <a:buChar char="•"/>
            </a:pPr>
            <a:r>
              <a:rPr lang="en-US" sz="1100" dirty="0">
                <a:solidFill>
                  <a:srgbClr val="E8F0F2"/>
                </a:solidFill>
                <a:latin typeface="Arial" pitchFamily="34" charset="0"/>
                <a:ea typeface="Arial" pitchFamily="34" charset="-122"/>
                <a:cs typeface="Arial" pitchFamily="34" charset="-120"/>
              </a:rPr>
              <a:t>The photo is stripped of EXIF, XMP and location metadata before upload and deleted from the server on confirm or after 24 hours [5].</a:t>
            </a:r>
            <a:endParaRPr lang="en-US" sz="1100" dirty="0"/>
          </a:p>
          <a:p>
            <a:pPr marL="177800" indent="-177800">
              <a:spcAft>
                <a:spcPts val="500"/>
              </a:spcAft>
              <a:buSzPct val="100000"/>
              <a:buChar char="•"/>
            </a:pPr>
            <a:r>
              <a:rPr lang="en-US" sz="1100" dirty="0">
                <a:solidFill>
                  <a:srgbClr val="E8F0F2"/>
                </a:solidFill>
                <a:latin typeface="Arial" pitchFamily="34" charset="0"/>
                <a:ea typeface="Arial" pitchFamily="34" charset="-122"/>
                <a:cs typeface="Arial" pitchFamily="34" charset="-120"/>
              </a:rPr>
              <a:t>The vision model returns food identifiers, grams and a confidence score. It has no field for calories.</a:t>
            </a:r>
            <a:endParaRPr lang="en-US" sz="1100" dirty="0"/>
          </a:p>
          <a:p>
            <a:pPr marL="177800" indent="-177800">
              <a:spcAft>
                <a:spcPts val="500"/>
              </a:spcAft>
              <a:buSzPct val="100000"/>
              <a:buChar char="•"/>
            </a:pPr>
            <a:r>
              <a:rPr lang="en-US" sz="1100" dirty="0">
                <a:solidFill>
                  <a:srgbClr val="E8F0F2"/>
                </a:solidFill>
                <a:latin typeface="Arial" pitchFamily="34" charset="0"/>
                <a:ea typeface="Arial" pitchFamily="34" charset="-122"/>
                <a:cs typeface="Arial" pitchFamily="34" charset="-120"/>
              </a:rPr>
              <a:t>Code multiplies grams by the per-100 g values in the food corpus, so 82 g of beetroot is always 35 kcal.</a:t>
            </a:r>
            <a:endParaRPr lang="en-US" sz="1100" dirty="0"/>
          </a:p>
          <a:p>
            <a:pPr marL="177800" indent="-177800">
              <a:spcAft>
                <a:spcPts val="500"/>
              </a:spcAft>
              <a:buSzPct val="100000"/>
              <a:buChar char="•"/>
            </a:pPr>
            <a:r>
              <a:rPr lang="en-US" sz="1100" dirty="0">
                <a:solidFill>
                  <a:srgbClr val="E8F0F2"/>
                </a:solidFill>
                <a:latin typeface="Arial" pitchFamily="34" charset="0"/>
                <a:ea typeface="Arial" pitchFamily="34" charset="-122"/>
                <a:cs typeface="Arial" pitchFamily="34" charset="-120"/>
              </a:rPr>
              <a:t>Confidence bands (high, medium, low) come from a pure Kotlin function, tested on the JVM.</a:t>
            </a:r>
            <a:endParaRPr lang="en-US" sz="1100" dirty="0"/>
          </a:p>
          <a:p>
            <a:pPr marL="177800" indent="-177800">
              <a:spcAft>
                <a:spcPts val="500"/>
              </a:spcAft>
              <a:buSzPct val="100000"/>
              <a:buChar char="•"/>
            </a:pPr>
            <a:r>
              <a:rPr lang="en-US" sz="1100" dirty="0">
                <a:solidFill>
                  <a:srgbClr val="E8F0F2"/>
                </a:solidFill>
                <a:latin typeface="Arial" pitchFamily="34" charset="0"/>
                <a:ea typeface="Arial" pitchFamily="34" charset="-122"/>
                <a:cs typeface="Arial" pitchFamily="34" charset="-120"/>
              </a:rPr>
              <a:t>A fat caution appears when the item names suggest frying, sauces or dressings.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7</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05  LOGGING WITHOUT FRICTION</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Four ways to log, and every one of them is free</a:t>
            </a:r>
            <a:endParaRPr lang="en-US" sz="2800" dirty="0"/>
          </a:p>
        </p:txBody>
      </p:sp>
      <p:sp>
        <p:nvSpPr>
          <p:cNvPr id="6" name="Shape 4"/>
          <p:cNvSpPr/>
          <p:nvPr/>
        </p:nvSpPr>
        <p:spPr>
          <a:xfrm>
            <a:off x="576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deck\img\capture_meal.png">    </p:cNvPr>
          <p:cNvPicPr>
            <a:picLocks noChangeAspect="1"/>
          </p:cNvPicPr>
          <p:nvPr/>
        </p:nvPicPr>
        <p:blipFill>
          <a:blip r:embed="rId1"/>
          <a:stretch>
            <a:fillRect/>
          </a:stretch>
        </p:blipFill>
        <p:spPr>
          <a:xfrm>
            <a:off x="640080" y="1325880"/>
            <a:ext cx="1996089" cy="4480560"/>
          </a:xfrm>
          <a:prstGeom prst="rect">
            <a:avLst/>
          </a:prstGeom>
        </p:spPr>
      </p:pic>
      <p:sp>
        <p:nvSpPr>
          <p:cNvPr id="8" name="Text 5"/>
          <p:cNvSpPr txBox="1"/>
          <p:nvPr/>
        </p:nvSpPr>
        <p:spPr>
          <a:xfrm>
            <a:off x="530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Four ways to log</a:t>
            </a:r>
            <a:endParaRPr lang="en-US" sz="900" dirty="0"/>
          </a:p>
        </p:txBody>
      </p:sp>
      <p:sp>
        <p:nvSpPr>
          <p:cNvPr id="9" name="Shape 6"/>
          <p:cNvSpPr/>
          <p:nvPr/>
        </p:nvSpPr>
        <p:spPr>
          <a:xfrm>
            <a:off x="2862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0" name="Image 1" descr="C:\Users\lumin\AppData\Local\Temp\azf-deck\img\barcode_settled.png">    </p:cNvPr>
          <p:cNvPicPr>
            <a:picLocks noChangeAspect="1"/>
          </p:cNvPicPr>
          <p:nvPr/>
        </p:nvPicPr>
        <p:blipFill>
          <a:blip r:embed="rId2"/>
          <a:stretch>
            <a:fillRect/>
          </a:stretch>
        </p:blipFill>
        <p:spPr>
          <a:xfrm>
            <a:off x="2926080" y="1325880"/>
            <a:ext cx="1996089" cy="4480560"/>
          </a:xfrm>
          <a:prstGeom prst="rect">
            <a:avLst/>
          </a:prstGeom>
        </p:spPr>
      </p:pic>
      <p:sp>
        <p:nvSpPr>
          <p:cNvPr id="11" name="Text 7"/>
          <p:cNvSpPr txBox="1"/>
          <p:nvPr/>
        </p:nvSpPr>
        <p:spPr>
          <a:xfrm>
            <a:off x="2816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Barcode result with Open Food Facts credit</a:t>
            </a:r>
            <a:endParaRPr lang="en-US" sz="900" dirty="0"/>
          </a:p>
        </p:txBody>
      </p:sp>
      <p:sp>
        <p:nvSpPr>
          <p:cNvPr id="12" name="Shape 8"/>
          <p:cNvSpPr/>
          <p:nvPr/>
        </p:nvSpPr>
        <p:spPr>
          <a:xfrm>
            <a:off x="5148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3" name="Image 2" descr="C:\Users\lumin\AppData\Local\Temp\azf-deck\img\food_selected.png">    </p:cNvPr>
          <p:cNvPicPr>
            <a:picLocks noChangeAspect="1"/>
          </p:cNvPicPr>
          <p:nvPr/>
        </p:nvPicPr>
        <p:blipFill>
          <a:blip r:embed="rId3"/>
          <a:stretch>
            <a:fillRect/>
          </a:stretch>
        </p:blipFill>
        <p:spPr>
          <a:xfrm>
            <a:off x="5212080" y="1325880"/>
            <a:ext cx="1996089" cy="4480560"/>
          </a:xfrm>
          <a:prstGeom prst="rect">
            <a:avLst/>
          </a:prstGeom>
        </p:spPr>
      </p:pic>
      <p:sp>
        <p:nvSpPr>
          <p:cNvPr id="14" name="Text 9"/>
          <p:cNvSpPr txBox="1"/>
          <p:nvPr/>
        </p:nvSpPr>
        <p:spPr>
          <a:xfrm>
            <a:off x="5102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Search with allergen warning</a:t>
            </a:r>
            <a:endParaRPr lang="en-US" sz="900" dirty="0"/>
          </a:p>
        </p:txBody>
      </p:sp>
      <p:sp>
        <p:nvSpPr>
          <p:cNvPr id="15" name="Shape 10"/>
          <p:cNvSpPr/>
          <p:nvPr/>
        </p:nvSpPr>
        <p:spPr>
          <a:xfrm>
            <a:off x="7863840" y="1280160"/>
            <a:ext cx="3840480" cy="1115568"/>
          </a:xfrm>
          <a:prstGeom prst="roundRect">
            <a:avLst>
              <a:gd name="adj" fmla="val 9836"/>
            </a:avLst>
          </a:prstGeom>
          <a:solidFill>
            <a:srgbClr val="16232A"/>
          </a:solidFill>
          <a:ln w="9525">
            <a:solidFill>
              <a:srgbClr val="263841"/>
            </a:solidFill>
            <a:prstDash val="solid"/>
          </a:ln>
        </p:spPr>
      </p:sp>
      <p:sp>
        <p:nvSpPr>
          <p:cNvPr id="16" name="Shape 11"/>
          <p:cNvSpPr/>
          <p:nvPr/>
        </p:nvSpPr>
        <p:spPr>
          <a:xfrm>
            <a:off x="8046720" y="1463040"/>
            <a:ext cx="457200" cy="457200"/>
          </a:xfrm>
          <a:prstGeom prst="ellipse">
            <a:avLst/>
          </a:prstGeom>
          <a:solidFill>
            <a:srgbClr val="0A1013"/>
          </a:solidFill>
          <a:ln w="6350">
            <a:solidFill>
              <a:srgbClr val="263841"/>
            </a:solidFill>
            <a:prstDash val="solid"/>
          </a:ln>
        </p:spPr>
      </p:sp>
      <p:pic>
        <p:nvPicPr>
          <p:cNvPr id="17" name="Image 3" descr="preencoded.png">    </p:cNvPr>
          <p:cNvPicPr>
            <a:picLocks noChangeAspect="1"/>
          </p:cNvPicPr>
          <p:nvPr/>
        </p:nvPicPr>
        <p:blipFill>
          <a:blip r:embed="rId4"/>
          <a:stretch>
            <a:fillRect/>
          </a:stretch>
        </p:blipFill>
        <p:spPr>
          <a:xfrm>
            <a:off x="8138160" y="1554480"/>
            <a:ext cx="274320" cy="274320"/>
          </a:xfrm>
          <a:prstGeom prst="rect">
            <a:avLst/>
          </a:prstGeom>
        </p:spPr>
      </p:pic>
      <p:sp>
        <p:nvSpPr>
          <p:cNvPr id="18" name="Text 12"/>
          <p:cNvSpPr txBox="1"/>
          <p:nvPr/>
        </p:nvSpPr>
        <p:spPr>
          <a:xfrm>
            <a:off x="8641080" y="1444752"/>
            <a:ext cx="2880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ML Kit barcode scanning</a:t>
            </a:r>
            <a:endParaRPr lang="en-US" sz="1150" dirty="0"/>
          </a:p>
        </p:txBody>
      </p:sp>
      <p:sp>
        <p:nvSpPr>
          <p:cNvPr id="19" name="Text 13"/>
          <p:cNvSpPr txBox="1"/>
          <p:nvPr/>
        </p:nvSpPr>
        <p:spPr>
          <a:xfrm>
            <a:off x="8046720" y="1938528"/>
            <a:ext cx="3474720" cy="338328"/>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On-device barcode detection through Google ML Kit, then a lookup against Open Food Facts data held in its own container with the ODbL credit preserved [13][21].</a:t>
            </a:r>
            <a:endParaRPr lang="en-US" sz="950" dirty="0"/>
          </a:p>
        </p:txBody>
      </p:sp>
      <p:sp>
        <p:nvSpPr>
          <p:cNvPr id="20" name="Shape 14"/>
          <p:cNvSpPr/>
          <p:nvPr/>
        </p:nvSpPr>
        <p:spPr>
          <a:xfrm>
            <a:off x="7863840" y="2487168"/>
            <a:ext cx="3840480" cy="1115568"/>
          </a:xfrm>
          <a:prstGeom prst="roundRect">
            <a:avLst>
              <a:gd name="adj" fmla="val 9836"/>
            </a:avLst>
          </a:prstGeom>
          <a:solidFill>
            <a:srgbClr val="16232A"/>
          </a:solidFill>
          <a:ln w="9525">
            <a:solidFill>
              <a:srgbClr val="263841"/>
            </a:solidFill>
            <a:prstDash val="solid"/>
          </a:ln>
        </p:spPr>
      </p:sp>
      <p:sp>
        <p:nvSpPr>
          <p:cNvPr id="21" name="Shape 15"/>
          <p:cNvSpPr/>
          <p:nvPr/>
        </p:nvSpPr>
        <p:spPr>
          <a:xfrm>
            <a:off x="8046720" y="2670048"/>
            <a:ext cx="457200" cy="457200"/>
          </a:xfrm>
          <a:prstGeom prst="ellipse">
            <a:avLst/>
          </a:prstGeom>
          <a:solidFill>
            <a:srgbClr val="0A1013"/>
          </a:solidFill>
          <a:ln w="6350">
            <a:solidFill>
              <a:srgbClr val="263841"/>
            </a:solidFill>
            <a:prstDash val="solid"/>
          </a:ln>
        </p:spPr>
      </p:sp>
      <p:pic>
        <p:nvPicPr>
          <p:cNvPr id="22" name="Image 4" descr="preencoded.png">    </p:cNvPr>
          <p:cNvPicPr>
            <a:picLocks noChangeAspect="1"/>
          </p:cNvPicPr>
          <p:nvPr/>
        </p:nvPicPr>
        <p:blipFill>
          <a:blip r:embed="rId5"/>
          <a:stretch>
            <a:fillRect/>
          </a:stretch>
        </p:blipFill>
        <p:spPr>
          <a:xfrm>
            <a:off x="8138160" y="2761488"/>
            <a:ext cx="274320" cy="274320"/>
          </a:xfrm>
          <a:prstGeom prst="rect">
            <a:avLst/>
          </a:prstGeom>
        </p:spPr>
      </p:pic>
      <p:sp>
        <p:nvSpPr>
          <p:cNvPr id="23" name="Text 16"/>
          <p:cNvSpPr txBox="1"/>
          <p:nvPr/>
        </p:nvSpPr>
        <p:spPr>
          <a:xfrm>
            <a:off x="8641080" y="2651760"/>
            <a:ext cx="2880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Searchable food corpus</a:t>
            </a:r>
            <a:endParaRPr lang="en-US" sz="1150" dirty="0"/>
          </a:p>
        </p:txBody>
      </p:sp>
      <p:sp>
        <p:nvSpPr>
          <p:cNvPr id="24" name="Text 17"/>
          <p:cNvSpPr txBox="1"/>
          <p:nvPr/>
        </p:nvSpPr>
        <p:spPr>
          <a:xfrm>
            <a:off x="8046720" y="3145536"/>
            <a:ext cx="3474720" cy="338328"/>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139 curated foods with per-100 g macros and household portions. Recently used items are served from Room when offline.</a:t>
            </a:r>
            <a:endParaRPr lang="en-US" sz="950" dirty="0"/>
          </a:p>
        </p:txBody>
      </p:sp>
      <p:sp>
        <p:nvSpPr>
          <p:cNvPr id="25" name="Shape 18"/>
          <p:cNvSpPr/>
          <p:nvPr/>
        </p:nvSpPr>
        <p:spPr>
          <a:xfrm>
            <a:off x="7863840" y="3694176"/>
            <a:ext cx="3840480" cy="1115568"/>
          </a:xfrm>
          <a:prstGeom prst="roundRect">
            <a:avLst>
              <a:gd name="adj" fmla="val 9836"/>
            </a:avLst>
          </a:prstGeom>
          <a:solidFill>
            <a:srgbClr val="16232A"/>
          </a:solidFill>
          <a:ln w="9525">
            <a:solidFill>
              <a:srgbClr val="263841"/>
            </a:solidFill>
            <a:prstDash val="solid"/>
          </a:ln>
        </p:spPr>
      </p:sp>
      <p:sp>
        <p:nvSpPr>
          <p:cNvPr id="26" name="Shape 19"/>
          <p:cNvSpPr/>
          <p:nvPr/>
        </p:nvSpPr>
        <p:spPr>
          <a:xfrm>
            <a:off x="8046720" y="3877056"/>
            <a:ext cx="457200" cy="457200"/>
          </a:xfrm>
          <a:prstGeom prst="ellipse">
            <a:avLst/>
          </a:prstGeom>
          <a:solidFill>
            <a:srgbClr val="0A1013"/>
          </a:solidFill>
          <a:ln w="6350">
            <a:solidFill>
              <a:srgbClr val="263841"/>
            </a:solidFill>
            <a:prstDash val="solid"/>
          </a:ln>
        </p:spPr>
      </p:sp>
      <p:pic>
        <p:nvPicPr>
          <p:cNvPr id="27" name="Image 5" descr="preencoded.png">    </p:cNvPr>
          <p:cNvPicPr>
            <a:picLocks noChangeAspect="1"/>
          </p:cNvPicPr>
          <p:nvPr/>
        </p:nvPicPr>
        <p:blipFill>
          <a:blip r:embed="rId6"/>
          <a:stretch>
            <a:fillRect/>
          </a:stretch>
        </p:blipFill>
        <p:spPr>
          <a:xfrm>
            <a:off x="8138160" y="3968496"/>
            <a:ext cx="274320" cy="274320"/>
          </a:xfrm>
          <a:prstGeom prst="rect">
            <a:avLst/>
          </a:prstGeom>
        </p:spPr>
      </p:pic>
      <p:sp>
        <p:nvSpPr>
          <p:cNvPr id="28" name="Text 20"/>
          <p:cNvSpPr txBox="1"/>
          <p:nvPr/>
        </p:nvSpPr>
        <p:spPr>
          <a:xfrm>
            <a:off x="8641080" y="3858768"/>
            <a:ext cx="2880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Copy yesterday</a:t>
            </a:r>
            <a:endParaRPr lang="en-US" sz="1150" dirty="0"/>
          </a:p>
        </p:txBody>
      </p:sp>
      <p:sp>
        <p:nvSpPr>
          <p:cNvPr id="29" name="Text 21"/>
          <p:cNvSpPr txBox="1"/>
          <p:nvPr/>
        </p:nvSpPr>
        <p:spPr>
          <a:xfrm>
            <a:off x="8046720" y="4352544"/>
            <a:ext cx="3474720" cy="338328"/>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One tap duplicates a previous day's meals into today, the fastest path for people who eat the same breakfast.</a:t>
            </a:r>
            <a:endParaRPr lang="en-US" sz="950" dirty="0"/>
          </a:p>
        </p:txBody>
      </p:sp>
      <p:sp>
        <p:nvSpPr>
          <p:cNvPr id="30" name="Shape 22"/>
          <p:cNvSpPr/>
          <p:nvPr/>
        </p:nvSpPr>
        <p:spPr>
          <a:xfrm>
            <a:off x="7863840" y="4901184"/>
            <a:ext cx="3840480" cy="1115568"/>
          </a:xfrm>
          <a:prstGeom prst="roundRect">
            <a:avLst>
              <a:gd name="adj" fmla="val 9836"/>
            </a:avLst>
          </a:prstGeom>
          <a:solidFill>
            <a:srgbClr val="16232A"/>
          </a:solidFill>
          <a:ln w="9525">
            <a:solidFill>
              <a:srgbClr val="263841"/>
            </a:solidFill>
            <a:prstDash val="solid"/>
          </a:ln>
        </p:spPr>
      </p:sp>
      <p:sp>
        <p:nvSpPr>
          <p:cNvPr id="31" name="Shape 23"/>
          <p:cNvSpPr/>
          <p:nvPr/>
        </p:nvSpPr>
        <p:spPr>
          <a:xfrm>
            <a:off x="8046720" y="5084064"/>
            <a:ext cx="457200" cy="457200"/>
          </a:xfrm>
          <a:prstGeom prst="ellipse">
            <a:avLst/>
          </a:prstGeom>
          <a:solidFill>
            <a:srgbClr val="0A1013"/>
          </a:solidFill>
          <a:ln w="6350">
            <a:solidFill>
              <a:srgbClr val="263841"/>
            </a:solidFill>
            <a:prstDash val="solid"/>
          </a:ln>
        </p:spPr>
      </p:sp>
      <p:pic>
        <p:nvPicPr>
          <p:cNvPr id="32" name="Image 6" descr="preencoded.png">    </p:cNvPr>
          <p:cNvPicPr>
            <a:picLocks noChangeAspect="1"/>
          </p:cNvPicPr>
          <p:nvPr/>
        </p:nvPicPr>
        <p:blipFill>
          <a:blip r:embed="rId7"/>
          <a:stretch>
            <a:fillRect/>
          </a:stretch>
        </p:blipFill>
        <p:spPr>
          <a:xfrm>
            <a:off x="8138160" y="5175504"/>
            <a:ext cx="274320" cy="274320"/>
          </a:xfrm>
          <a:prstGeom prst="rect">
            <a:avLst/>
          </a:prstGeom>
        </p:spPr>
      </p:pic>
      <p:sp>
        <p:nvSpPr>
          <p:cNvPr id="33" name="Text 24"/>
          <p:cNvSpPr txBox="1"/>
          <p:nvPr/>
        </p:nvSpPr>
        <p:spPr>
          <a:xfrm>
            <a:off x="8641080" y="5065776"/>
            <a:ext cx="2880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Hydration in one tap</a:t>
            </a:r>
            <a:endParaRPr lang="en-US" sz="1150" dirty="0"/>
          </a:p>
        </p:txBody>
      </p:sp>
      <p:sp>
        <p:nvSpPr>
          <p:cNvPr id="34" name="Text 25"/>
          <p:cNvSpPr txBox="1"/>
          <p:nvPr/>
        </p:nvSpPr>
        <p:spPr>
          <a:xfrm>
            <a:off x="8046720" y="5559552"/>
            <a:ext cx="3474720" cy="338328"/>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Log 250 ml from the Nutrition tab, the Home tab or the home-screen widget without opening the app.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8</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06  DETERMINISTIC NUTRITION MATHS</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Targets you can check with a calculator</a:t>
            </a:r>
            <a:endParaRPr lang="en-US" sz="2800" dirty="0"/>
          </a:p>
        </p:txBody>
      </p:sp>
      <p:sp>
        <p:nvSpPr>
          <p:cNvPr id="6" name="Shape 4"/>
          <p:cNvSpPr/>
          <p:nvPr/>
        </p:nvSpPr>
        <p:spPr>
          <a:xfrm>
            <a:off x="576072" y="1261872"/>
            <a:ext cx="2855040" cy="4974336"/>
          </a:xfrm>
          <a:prstGeom prst="roundRect">
            <a:avLst>
              <a:gd name="adj" fmla="val 5765"/>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deck\img\04-day-maths.png">    </p:cNvPr>
          <p:cNvPicPr>
            <a:picLocks noChangeAspect="1"/>
          </p:cNvPicPr>
          <p:nvPr/>
        </p:nvPicPr>
        <p:blipFill>
          <a:blip r:embed="rId1"/>
          <a:stretch>
            <a:fillRect/>
          </a:stretch>
        </p:blipFill>
        <p:spPr>
          <a:xfrm>
            <a:off x="640080" y="1325880"/>
            <a:ext cx="2727024" cy="4846320"/>
          </a:xfrm>
          <a:prstGeom prst="rect">
            <a:avLst/>
          </a:prstGeom>
        </p:spPr>
      </p:pic>
      <p:sp>
        <p:nvSpPr>
          <p:cNvPr id="8" name="Text 5"/>
          <p:cNvSpPr txBox="1"/>
          <p:nvPr/>
        </p:nvSpPr>
        <p:spPr>
          <a:xfrm>
            <a:off x="530352" y="6281928"/>
            <a:ext cx="2946480"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Goal minus food plus exercise equals remaining</a:t>
            </a:r>
            <a:endParaRPr lang="en-US" sz="900" dirty="0"/>
          </a:p>
        </p:txBody>
      </p:sp>
      <p:sp>
        <p:nvSpPr>
          <p:cNvPr id="9" name="Shape 6"/>
          <p:cNvSpPr/>
          <p:nvPr/>
        </p:nvSpPr>
        <p:spPr>
          <a:xfrm>
            <a:off x="3749040" y="1280160"/>
            <a:ext cx="4023360" cy="2514600"/>
          </a:xfrm>
          <a:prstGeom prst="roundRect">
            <a:avLst>
              <a:gd name="adj" fmla="val 4364"/>
            </a:avLst>
          </a:prstGeom>
          <a:solidFill>
            <a:srgbClr val="16232A"/>
          </a:solidFill>
          <a:ln w="9525">
            <a:solidFill>
              <a:srgbClr val="263841"/>
            </a:solidFill>
            <a:prstDash val="solid"/>
          </a:ln>
        </p:spPr>
      </p:sp>
      <p:sp>
        <p:nvSpPr>
          <p:cNvPr id="10" name="Shape 7"/>
          <p:cNvSpPr/>
          <p:nvPr/>
        </p:nvSpPr>
        <p:spPr>
          <a:xfrm>
            <a:off x="3931920" y="1463040"/>
            <a:ext cx="457200" cy="457200"/>
          </a:xfrm>
          <a:prstGeom prst="ellipse">
            <a:avLst/>
          </a:prstGeom>
          <a:solidFill>
            <a:srgbClr val="0A1013"/>
          </a:solidFill>
          <a:ln w="6350">
            <a:solidFill>
              <a:srgbClr val="263841"/>
            </a:solidFill>
            <a:prstDash val="solid"/>
          </a:ln>
        </p:spPr>
      </p:sp>
      <p:pic>
        <p:nvPicPr>
          <p:cNvPr id="11" name="Image 1" descr="preencoded.png">    </p:cNvPr>
          <p:cNvPicPr>
            <a:picLocks noChangeAspect="1"/>
          </p:cNvPicPr>
          <p:nvPr/>
        </p:nvPicPr>
        <p:blipFill>
          <a:blip r:embed="rId2"/>
          <a:stretch>
            <a:fillRect/>
          </a:stretch>
        </p:blipFill>
        <p:spPr>
          <a:xfrm>
            <a:off x="4023360" y="1554480"/>
            <a:ext cx="274320" cy="274320"/>
          </a:xfrm>
          <a:prstGeom prst="rect">
            <a:avLst/>
          </a:prstGeom>
        </p:spPr>
      </p:pic>
      <p:sp>
        <p:nvSpPr>
          <p:cNvPr id="12" name="Text 8"/>
          <p:cNvSpPr txBox="1"/>
          <p:nvPr/>
        </p:nvSpPr>
        <p:spPr>
          <a:xfrm>
            <a:off x="4526280" y="1444752"/>
            <a:ext cx="30632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The formula chain</a:t>
            </a:r>
            <a:endParaRPr lang="en-US" sz="1300" dirty="0"/>
          </a:p>
        </p:txBody>
      </p:sp>
      <p:sp>
        <p:nvSpPr>
          <p:cNvPr id="13" name="Text 9"/>
          <p:cNvSpPr txBox="1"/>
          <p:nvPr/>
        </p:nvSpPr>
        <p:spPr>
          <a:xfrm>
            <a:off x="3931920" y="1938528"/>
            <a:ext cx="3657600" cy="17373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Basal metabolic rate: Mifflin-St Jeor equation [19]</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Total daily energy: BMR times an activity factor from 1.2 to 1.9</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Calorie target: energy plus or minus a bounded weekly change</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Protein: 2.0, 1.6 or 2.2 g per kg by goal</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Fat: at least 20 percent of calories; carbohydrates take the remainder</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Water: 33 ml per kg, clamped between 1.5 and 4 litres</a:t>
            </a:r>
            <a:endParaRPr lang="en-US" sz="1050" dirty="0"/>
          </a:p>
        </p:txBody>
      </p:sp>
      <p:sp>
        <p:nvSpPr>
          <p:cNvPr id="14" name="Shape 10"/>
          <p:cNvSpPr/>
          <p:nvPr/>
        </p:nvSpPr>
        <p:spPr>
          <a:xfrm>
            <a:off x="3749040" y="3931920"/>
            <a:ext cx="4023360" cy="2194560"/>
          </a:xfrm>
          <a:prstGeom prst="roundRect">
            <a:avLst>
              <a:gd name="adj" fmla="val 5000"/>
            </a:avLst>
          </a:prstGeom>
          <a:solidFill>
            <a:srgbClr val="16232A"/>
          </a:solidFill>
          <a:ln w="9525">
            <a:solidFill>
              <a:srgbClr val="263841"/>
            </a:solidFill>
            <a:prstDash val="solid"/>
          </a:ln>
        </p:spPr>
      </p:sp>
      <p:sp>
        <p:nvSpPr>
          <p:cNvPr id="15" name="Shape 11"/>
          <p:cNvSpPr/>
          <p:nvPr/>
        </p:nvSpPr>
        <p:spPr>
          <a:xfrm>
            <a:off x="3931920" y="4114800"/>
            <a:ext cx="457200" cy="457200"/>
          </a:xfrm>
          <a:prstGeom prst="ellipse">
            <a:avLst/>
          </a:prstGeom>
          <a:solidFill>
            <a:srgbClr val="0A1013"/>
          </a:solidFill>
          <a:ln w="6350">
            <a:solidFill>
              <a:srgbClr val="263841"/>
            </a:solidFill>
            <a:prstDash val="solid"/>
          </a:ln>
        </p:spPr>
      </p:sp>
      <p:pic>
        <p:nvPicPr>
          <p:cNvPr id="16" name="Image 2" descr="preencoded.png">    </p:cNvPr>
          <p:cNvPicPr>
            <a:picLocks noChangeAspect="1"/>
          </p:cNvPicPr>
          <p:nvPr/>
        </p:nvPicPr>
        <p:blipFill>
          <a:blip r:embed="rId3"/>
          <a:stretch>
            <a:fillRect/>
          </a:stretch>
        </p:blipFill>
        <p:spPr>
          <a:xfrm>
            <a:off x="4023360" y="4206240"/>
            <a:ext cx="274320" cy="274320"/>
          </a:xfrm>
          <a:prstGeom prst="rect">
            <a:avLst/>
          </a:prstGeom>
        </p:spPr>
      </p:pic>
      <p:sp>
        <p:nvSpPr>
          <p:cNvPr id="17" name="Text 12"/>
          <p:cNvSpPr txBox="1"/>
          <p:nvPr/>
        </p:nvSpPr>
        <p:spPr>
          <a:xfrm>
            <a:off x="4526280" y="4096512"/>
            <a:ext cx="30632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Floors that cannot be argued down</a:t>
            </a:r>
            <a:endParaRPr lang="en-US" sz="1300" dirty="0"/>
          </a:p>
        </p:txBody>
      </p:sp>
      <p:sp>
        <p:nvSpPr>
          <p:cNvPr id="18" name="Text 13"/>
          <p:cNvSpPr txBox="1"/>
          <p:nvPr/>
        </p:nvSpPr>
        <p:spPr>
          <a:xfrm>
            <a:off x="3931920" y="4590288"/>
            <a:ext cx="3657600" cy="14173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1,200 kcal for female and unspecified users, 1,500 kcal for male users, enforced in code and shown as an advisory when they clamp.</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Biometrics outside 30 to 300 kg, 100 to 250 cm or 16 to 100 years are rejected at the boundary, not silently corrected.</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The same constants are shared by the web client and the API from one package, so the platforms cannot drift [3].</a:t>
            </a:r>
            <a:endParaRPr lang="en-US" sz="1050" dirty="0"/>
          </a:p>
        </p:txBody>
      </p:sp>
      <p:sp>
        <p:nvSpPr>
          <p:cNvPr id="19" name="Shape 14"/>
          <p:cNvSpPr/>
          <p:nvPr/>
        </p:nvSpPr>
        <p:spPr>
          <a:xfrm>
            <a:off x="8001000" y="1280160"/>
            <a:ext cx="3703320" cy="4846320"/>
          </a:xfrm>
          <a:prstGeom prst="roundRect">
            <a:avLst>
              <a:gd name="adj" fmla="val 2963"/>
            </a:avLst>
          </a:prstGeom>
          <a:solidFill>
            <a:srgbClr val="16232A"/>
          </a:solidFill>
          <a:ln w="9525">
            <a:solidFill>
              <a:srgbClr val="263841"/>
            </a:solidFill>
            <a:prstDash val="solid"/>
          </a:ln>
        </p:spPr>
      </p:sp>
      <p:sp>
        <p:nvSpPr>
          <p:cNvPr id="20" name="Shape 15"/>
          <p:cNvSpPr/>
          <p:nvPr/>
        </p:nvSpPr>
        <p:spPr>
          <a:xfrm>
            <a:off x="8183880" y="1463040"/>
            <a:ext cx="457200" cy="457200"/>
          </a:xfrm>
          <a:prstGeom prst="ellipse">
            <a:avLst/>
          </a:prstGeom>
          <a:solidFill>
            <a:srgbClr val="0A1013"/>
          </a:solidFill>
          <a:ln w="6350">
            <a:solidFill>
              <a:srgbClr val="263841"/>
            </a:solidFill>
            <a:prstDash val="solid"/>
          </a:ln>
        </p:spPr>
      </p:sp>
      <p:pic>
        <p:nvPicPr>
          <p:cNvPr id="21" name="Image 3" descr="preencoded.png">    </p:cNvPr>
          <p:cNvPicPr>
            <a:picLocks noChangeAspect="1"/>
          </p:cNvPicPr>
          <p:nvPr/>
        </p:nvPicPr>
        <p:blipFill>
          <a:blip r:embed="rId4"/>
          <a:stretch>
            <a:fillRect/>
          </a:stretch>
        </p:blipFill>
        <p:spPr>
          <a:xfrm>
            <a:off x="8275320" y="1554480"/>
            <a:ext cx="274320" cy="274320"/>
          </a:xfrm>
          <a:prstGeom prst="rect">
            <a:avLst/>
          </a:prstGeom>
        </p:spPr>
      </p:pic>
      <p:sp>
        <p:nvSpPr>
          <p:cNvPr id="22" name="Text 16"/>
          <p:cNvSpPr txBox="1"/>
          <p:nvPr/>
        </p:nvSpPr>
        <p:spPr>
          <a:xfrm>
            <a:off x="8778240" y="1444752"/>
            <a:ext cx="27432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Why this matters</a:t>
            </a:r>
            <a:endParaRPr lang="en-US" sz="1300" dirty="0"/>
          </a:p>
        </p:txBody>
      </p:sp>
      <p:sp>
        <p:nvSpPr>
          <p:cNvPr id="23" name="Text 17"/>
          <p:cNvSpPr txBox="1"/>
          <p:nvPr/>
        </p:nvSpPr>
        <p:spPr>
          <a:xfrm>
            <a:off x="8183880" y="1938528"/>
            <a:ext cx="3337560" cy="40690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A number a user cannot reproduce is a number they cannot trust. Every figure on the Nutrition tab is reachable from the profile fields with a hand calculator.</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The Android client re-declares the calculators in pure Kotlin under core/common and tests them on the JVM, with an injected clock so midnight rollover is deterministic [4].</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The Why this target sheet in Settings shows BMR, activity and adaptive adjustments in plain language, which is the explainability most apps hide.</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Mifflin-St Jeor is the equation with the strongest validation for healthy adults, which is why it was chosen over older formulas [19].</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9</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07  READINESS, GUIDED SESSIONS AND PROGRESSIVE OVERLOAD</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Training that adapts to how ready you are</a:t>
            </a:r>
            <a:endParaRPr lang="en-US" sz="2800" dirty="0"/>
          </a:p>
        </p:txBody>
      </p:sp>
      <p:sp>
        <p:nvSpPr>
          <p:cNvPr id="6" name="Shape 4"/>
          <p:cNvSpPr/>
          <p:nvPr/>
        </p:nvSpPr>
        <p:spPr>
          <a:xfrm>
            <a:off x="576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shots\w_workouts.png">    </p:cNvPr>
          <p:cNvPicPr>
            <a:picLocks noChangeAspect="1"/>
          </p:cNvPicPr>
          <p:nvPr/>
        </p:nvPicPr>
        <p:blipFill>
          <a:blip r:embed="rId1"/>
          <a:stretch>
            <a:fillRect/>
          </a:stretch>
        </p:blipFill>
        <p:spPr>
          <a:xfrm>
            <a:off x="640080" y="1325880"/>
            <a:ext cx="1996089" cy="4480560"/>
          </a:xfrm>
          <a:prstGeom prst="rect">
            <a:avLst/>
          </a:prstGeom>
        </p:spPr>
      </p:pic>
      <p:sp>
        <p:nvSpPr>
          <p:cNvPr id="8" name="Text 5"/>
          <p:cNvSpPr txBox="1"/>
          <p:nvPr/>
        </p:nvSpPr>
        <p:spPr>
          <a:xfrm>
            <a:off x="530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Readiness week</a:t>
            </a:r>
            <a:endParaRPr lang="en-US" sz="900" dirty="0"/>
          </a:p>
        </p:txBody>
      </p:sp>
      <p:sp>
        <p:nvSpPr>
          <p:cNvPr id="9" name="Shape 6"/>
          <p:cNvSpPr/>
          <p:nvPr/>
        </p:nvSpPr>
        <p:spPr>
          <a:xfrm>
            <a:off x="2862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0" name="Image 1" descr="C:\Users\lumin\AppData\Local\Temp\azf-shots\w_readiness_why.png">    </p:cNvPr>
          <p:cNvPicPr>
            <a:picLocks noChangeAspect="1"/>
          </p:cNvPicPr>
          <p:nvPr/>
        </p:nvPicPr>
        <p:blipFill>
          <a:blip r:embed="rId2"/>
          <a:stretch>
            <a:fillRect/>
          </a:stretch>
        </p:blipFill>
        <p:spPr>
          <a:xfrm>
            <a:off x="2926080" y="1325880"/>
            <a:ext cx="1996089" cy="4480560"/>
          </a:xfrm>
          <a:prstGeom prst="rect">
            <a:avLst/>
          </a:prstGeom>
        </p:spPr>
      </p:pic>
      <p:sp>
        <p:nvSpPr>
          <p:cNvPr id="11" name="Text 7"/>
          <p:cNvSpPr txBox="1"/>
          <p:nvPr/>
        </p:nvSpPr>
        <p:spPr>
          <a:xfrm>
            <a:off x="2816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The Why sheet</a:t>
            </a:r>
            <a:endParaRPr lang="en-US" sz="900" dirty="0"/>
          </a:p>
        </p:txBody>
      </p:sp>
      <p:sp>
        <p:nvSpPr>
          <p:cNvPr id="12" name="Shape 8"/>
          <p:cNvSpPr/>
          <p:nvPr/>
        </p:nvSpPr>
        <p:spPr>
          <a:xfrm>
            <a:off x="5148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3" name="Image 2" descr="C:\Users\lumin\AppData\Local\Temp\azf-shots\00_launch.png">    </p:cNvPr>
          <p:cNvPicPr>
            <a:picLocks noChangeAspect="1"/>
          </p:cNvPicPr>
          <p:nvPr/>
        </p:nvPicPr>
        <p:blipFill>
          <a:blip r:embed="rId3"/>
          <a:stretch>
            <a:fillRect/>
          </a:stretch>
        </p:blipFill>
        <p:spPr>
          <a:xfrm>
            <a:off x="5212080" y="1325880"/>
            <a:ext cx="1996089" cy="4480560"/>
          </a:xfrm>
          <a:prstGeom prst="rect">
            <a:avLst/>
          </a:prstGeom>
        </p:spPr>
      </p:pic>
      <p:sp>
        <p:nvSpPr>
          <p:cNvPr id="14" name="Text 9"/>
          <p:cNvSpPr txBox="1"/>
          <p:nvPr/>
        </p:nvSpPr>
        <p:spPr>
          <a:xfrm>
            <a:off x="5102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Guided session</a:t>
            </a:r>
            <a:endParaRPr lang="en-US" sz="900" dirty="0"/>
          </a:p>
        </p:txBody>
      </p:sp>
      <p:sp>
        <p:nvSpPr>
          <p:cNvPr id="15" name="Shape 10"/>
          <p:cNvSpPr/>
          <p:nvPr/>
        </p:nvSpPr>
        <p:spPr>
          <a:xfrm>
            <a:off x="7863840" y="1280160"/>
            <a:ext cx="3840480" cy="1115568"/>
          </a:xfrm>
          <a:prstGeom prst="roundRect">
            <a:avLst>
              <a:gd name="adj" fmla="val 9836"/>
            </a:avLst>
          </a:prstGeom>
          <a:solidFill>
            <a:srgbClr val="16232A"/>
          </a:solidFill>
          <a:ln w="9525">
            <a:solidFill>
              <a:srgbClr val="263841"/>
            </a:solidFill>
            <a:prstDash val="solid"/>
          </a:ln>
        </p:spPr>
      </p:sp>
      <p:sp>
        <p:nvSpPr>
          <p:cNvPr id="16" name="Shape 11"/>
          <p:cNvSpPr/>
          <p:nvPr/>
        </p:nvSpPr>
        <p:spPr>
          <a:xfrm>
            <a:off x="8046720" y="1463040"/>
            <a:ext cx="457200" cy="457200"/>
          </a:xfrm>
          <a:prstGeom prst="ellipse">
            <a:avLst/>
          </a:prstGeom>
          <a:solidFill>
            <a:srgbClr val="0A1013"/>
          </a:solidFill>
          <a:ln w="6350">
            <a:solidFill>
              <a:srgbClr val="263841"/>
            </a:solidFill>
            <a:prstDash val="solid"/>
          </a:ln>
        </p:spPr>
      </p:sp>
      <p:pic>
        <p:nvPicPr>
          <p:cNvPr id="17" name="Image 3" descr="preencoded.png">    </p:cNvPr>
          <p:cNvPicPr>
            <a:picLocks noChangeAspect="1"/>
          </p:cNvPicPr>
          <p:nvPr/>
        </p:nvPicPr>
        <p:blipFill>
          <a:blip r:embed="rId4"/>
          <a:stretch>
            <a:fillRect/>
          </a:stretch>
        </p:blipFill>
        <p:spPr>
          <a:xfrm>
            <a:off x="8138160" y="1554480"/>
            <a:ext cx="274320" cy="274320"/>
          </a:xfrm>
          <a:prstGeom prst="rect">
            <a:avLst/>
          </a:prstGeom>
        </p:spPr>
      </p:pic>
      <p:sp>
        <p:nvSpPr>
          <p:cNvPr id="18" name="Text 12"/>
          <p:cNvSpPr txBox="1"/>
          <p:nvPr/>
        </p:nvSpPr>
        <p:spPr>
          <a:xfrm>
            <a:off x="8641080" y="1444752"/>
            <a:ext cx="2880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Readiness engine</a:t>
            </a:r>
            <a:endParaRPr lang="en-US" sz="1150" dirty="0"/>
          </a:p>
        </p:txBody>
      </p:sp>
      <p:sp>
        <p:nvSpPr>
          <p:cNvPr id="19" name="Text 13"/>
          <p:cNvSpPr txBox="1"/>
          <p:nvPr/>
        </p:nvSpPr>
        <p:spPr>
          <a:xfrm>
            <a:off x="8046720" y="1938528"/>
            <a:ext cx="3474720" cy="338328"/>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Rhythm, training load and check-ins set a weekly volume multiplier of 0.6 (protect), 1.0 (maintain) or 1.1 (progress) [5].</a:t>
            </a:r>
            <a:endParaRPr lang="en-US" sz="950" dirty="0"/>
          </a:p>
        </p:txBody>
      </p:sp>
      <p:sp>
        <p:nvSpPr>
          <p:cNvPr id="20" name="Shape 14"/>
          <p:cNvSpPr/>
          <p:nvPr/>
        </p:nvSpPr>
        <p:spPr>
          <a:xfrm>
            <a:off x="7863840" y="2487168"/>
            <a:ext cx="3840480" cy="1115568"/>
          </a:xfrm>
          <a:prstGeom prst="roundRect">
            <a:avLst>
              <a:gd name="adj" fmla="val 9836"/>
            </a:avLst>
          </a:prstGeom>
          <a:solidFill>
            <a:srgbClr val="16232A"/>
          </a:solidFill>
          <a:ln w="9525">
            <a:solidFill>
              <a:srgbClr val="263841"/>
            </a:solidFill>
            <a:prstDash val="solid"/>
          </a:ln>
        </p:spPr>
      </p:sp>
      <p:sp>
        <p:nvSpPr>
          <p:cNvPr id="21" name="Shape 15"/>
          <p:cNvSpPr/>
          <p:nvPr/>
        </p:nvSpPr>
        <p:spPr>
          <a:xfrm>
            <a:off x="8046720" y="2670048"/>
            <a:ext cx="457200" cy="457200"/>
          </a:xfrm>
          <a:prstGeom prst="ellipse">
            <a:avLst/>
          </a:prstGeom>
          <a:solidFill>
            <a:srgbClr val="0A1013"/>
          </a:solidFill>
          <a:ln w="6350">
            <a:solidFill>
              <a:srgbClr val="263841"/>
            </a:solidFill>
            <a:prstDash val="solid"/>
          </a:ln>
        </p:spPr>
      </p:sp>
      <p:pic>
        <p:nvPicPr>
          <p:cNvPr id="22" name="Image 4" descr="preencoded.png">    </p:cNvPr>
          <p:cNvPicPr>
            <a:picLocks noChangeAspect="1"/>
          </p:cNvPicPr>
          <p:nvPr/>
        </p:nvPicPr>
        <p:blipFill>
          <a:blip r:embed="rId5"/>
          <a:stretch>
            <a:fillRect/>
          </a:stretch>
        </p:blipFill>
        <p:spPr>
          <a:xfrm>
            <a:off x="8138160" y="2761488"/>
            <a:ext cx="274320" cy="274320"/>
          </a:xfrm>
          <a:prstGeom prst="rect">
            <a:avLst/>
          </a:prstGeom>
        </p:spPr>
      </p:pic>
      <p:sp>
        <p:nvSpPr>
          <p:cNvPr id="23" name="Text 16"/>
          <p:cNvSpPr txBox="1"/>
          <p:nvPr/>
        </p:nvSpPr>
        <p:spPr>
          <a:xfrm>
            <a:off x="8641080" y="2651760"/>
            <a:ext cx="2880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Live session service</a:t>
            </a:r>
            <a:endParaRPr lang="en-US" sz="1150" dirty="0"/>
          </a:p>
        </p:txBody>
      </p:sp>
      <p:sp>
        <p:nvSpPr>
          <p:cNvPr id="24" name="Text 17"/>
          <p:cNvSpPr txBox="1"/>
          <p:nvPr/>
        </p:nvSpPr>
        <p:spPr>
          <a:xfrm>
            <a:off x="8046720" y="3145536"/>
            <a:ext cx="3474720" cy="338328"/>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A foreground service of type health carries the rest countdown and its +30 s and skip actions to the lock screen [16].</a:t>
            </a:r>
            <a:endParaRPr lang="en-US" sz="950" dirty="0"/>
          </a:p>
        </p:txBody>
      </p:sp>
      <p:sp>
        <p:nvSpPr>
          <p:cNvPr id="25" name="Shape 18"/>
          <p:cNvSpPr/>
          <p:nvPr/>
        </p:nvSpPr>
        <p:spPr>
          <a:xfrm>
            <a:off x="7863840" y="3694176"/>
            <a:ext cx="3840480" cy="1115568"/>
          </a:xfrm>
          <a:prstGeom prst="roundRect">
            <a:avLst>
              <a:gd name="adj" fmla="val 9836"/>
            </a:avLst>
          </a:prstGeom>
          <a:solidFill>
            <a:srgbClr val="16232A"/>
          </a:solidFill>
          <a:ln w="9525">
            <a:solidFill>
              <a:srgbClr val="263841"/>
            </a:solidFill>
            <a:prstDash val="solid"/>
          </a:ln>
        </p:spPr>
      </p:sp>
      <p:sp>
        <p:nvSpPr>
          <p:cNvPr id="26" name="Shape 19"/>
          <p:cNvSpPr/>
          <p:nvPr/>
        </p:nvSpPr>
        <p:spPr>
          <a:xfrm>
            <a:off x="8046720" y="3877056"/>
            <a:ext cx="457200" cy="457200"/>
          </a:xfrm>
          <a:prstGeom prst="ellipse">
            <a:avLst/>
          </a:prstGeom>
          <a:solidFill>
            <a:srgbClr val="0A1013"/>
          </a:solidFill>
          <a:ln w="6350">
            <a:solidFill>
              <a:srgbClr val="263841"/>
            </a:solidFill>
            <a:prstDash val="solid"/>
          </a:ln>
        </p:spPr>
      </p:sp>
      <p:pic>
        <p:nvPicPr>
          <p:cNvPr id="27" name="Image 5" descr="preencoded.png">    </p:cNvPr>
          <p:cNvPicPr>
            <a:picLocks noChangeAspect="1"/>
          </p:cNvPicPr>
          <p:nvPr/>
        </p:nvPicPr>
        <p:blipFill>
          <a:blip r:embed="rId6"/>
          <a:stretch>
            <a:fillRect/>
          </a:stretch>
        </p:blipFill>
        <p:spPr>
          <a:xfrm>
            <a:off x="8138160" y="3968496"/>
            <a:ext cx="274320" cy="274320"/>
          </a:xfrm>
          <a:prstGeom prst="rect">
            <a:avLst/>
          </a:prstGeom>
        </p:spPr>
      </p:pic>
      <p:sp>
        <p:nvSpPr>
          <p:cNvPr id="28" name="Text 20"/>
          <p:cNvSpPr txBox="1"/>
          <p:nvPr/>
        </p:nvSpPr>
        <p:spPr>
          <a:xfrm>
            <a:off x="8641080" y="3858768"/>
            <a:ext cx="2880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Progressive overload</a:t>
            </a:r>
            <a:endParaRPr lang="en-US" sz="1150" dirty="0"/>
          </a:p>
        </p:txBody>
      </p:sp>
      <p:sp>
        <p:nvSpPr>
          <p:cNvPr id="29" name="Text 21"/>
          <p:cNvSpPr txBox="1"/>
          <p:nvPr/>
        </p:nvSpPr>
        <p:spPr>
          <a:xfrm>
            <a:off x="8046720" y="4352544"/>
            <a:ext cx="3474720" cy="338328"/>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A pure Kotlin engine recommends the next load per movement class: compound lower, compound upper, isolation or bodyweight.</a:t>
            </a:r>
            <a:endParaRPr lang="en-US" sz="950" dirty="0"/>
          </a:p>
        </p:txBody>
      </p:sp>
      <p:sp>
        <p:nvSpPr>
          <p:cNvPr id="30" name="Shape 22"/>
          <p:cNvSpPr/>
          <p:nvPr/>
        </p:nvSpPr>
        <p:spPr>
          <a:xfrm>
            <a:off x="7863840" y="4901184"/>
            <a:ext cx="3840480" cy="1115568"/>
          </a:xfrm>
          <a:prstGeom prst="roundRect">
            <a:avLst>
              <a:gd name="adj" fmla="val 9836"/>
            </a:avLst>
          </a:prstGeom>
          <a:solidFill>
            <a:srgbClr val="16232A"/>
          </a:solidFill>
          <a:ln w="9525">
            <a:solidFill>
              <a:srgbClr val="263841"/>
            </a:solidFill>
            <a:prstDash val="solid"/>
          </a:ln>
        </p:spPr>
      </p:sp>
      <p:sp>
        <p:nvSpPr>
          <p:cNvPr id="31" name="Shape 23"/>
          <p:cNvSpPr/>
          <p:nvPr/>
        </p:nvSpPr>
        <p:spPr>
          <a:xfrm>
            <a:off x="8046720" y="5084064"/>
            <a:ext cx="457200" cy="457200"/>
          </a:xfrm>
          <a:prstGeom prst="ellipse">
            <a:avLst/>
          </a:prstGeom>
          <a:solidFill>
            <a:srgbClr val="0A1013"/>
          </a:solidFill>
          <a:ln w="6350">
            <a:solidFill>
              <a:srgbClr val="263841"/>
            </a:solidFill>
            <a:prstDash val="solid"/>
          </a:ln>
        </p:spPr>
      </p:sp>
      <p:pic>
        <p:nvPicPr>
          <p:cNvPr id="32" name="Image 6" descr="preencoded.png">    </p:cNvPr>
          <p:cNvPicPr>
            <a:picLocks noChangeAspect="1"/>
          </p:cNvPicPr>
          <p:nvPr/>
        </p:nvPicPr>
        <p:blipFill>
          <a:blip r:embed="rId7"/>
          <a:stretch>
            <a:fillRect/>
          </a:stretch>
        </p:blipFill>
        <p:spPr>
          <a:xfrm>
            <a:off x="8138160" y="5175504"/>
            <a:ext cx="274320" cy="274320"/>
          </a:xfrm>
          <a:prstGeom prst="rect">
            <a:avLst/>
          </a:prstGeom>
        </p:spPr>
      </p:pic>
      <p:sp>
        <p:nvSpPr>
          <p:cNvPr id="33" name="Text 24"/>
          <p:cNvSpPr txBox="1"/>
          <p:nvPr/>
        </p:nvSpPr>
        <p:spPr>
          <a:xfrm>
            <a:off x="8641080" y="5065776"/>
            <a:ext cx="2880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Session burn</a:t>
            </a:r>
            <a:endParaRPr lang="en-US" sz="1150" dirty="0"/>
          </a:p>
        </p:txBody>
      </p:sp>
      <p:sp>
        <p:nvSpPr>
          <p:cNvPr id="34" name="Text 25"/>
          <p:cNvSpPr txBox="1"/>
          <p:nvPr/>
        </p:nvSpPr>
        <p:spPr>
          <a:xfrm>
            <a:off x="8046720" y="5559552"/>
            <a:ext cx="3474720" cy="338328"/>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Completed sessions credit calories back into the day's derivation row, offline, from the cached session entity.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10</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08  ATTRIBUTION AS A FEATURE</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An exercise library that credits its sources on every card</a:t>
            </a:r>
            <a:endParaRPr lang="en-US" sz="2800" dirty="0"/>
          </a:p>
        </p:txBody>
      </p:sp>
      <p:sp>
        <p:nvSpPr>
          <p:cNvPr id="6" name="Shape 4"/>
          <p:cNvSpPr/>
          <p:nvPr/>
        </p:nvSpPr>
        <p:spPr>
          <a:xfrm>
            <a:off x="576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shots\w_library2.png">    </p:cNvPr>
          <p:cNvPicPr>
            <a:picLocks noChangeAspect="1"/>
          </p:cNvPicPr>
          <p:nvPr/>
        </p:nvPicPr>
        <p:blipFill>
          <a:blip r:embed="rId1"/>
          <a:stretch>
            <a:fillRect/>
          </a:stretch>
        </p:blipFill>
        <p:spPr>
          <a:xfrm>
            <a:off x="640080" y="1325880"/>
            <a:ext cx="1996089" cy="4480560"/>
          </a:xfrm>
          <a:prstGeom prst="rect">
            <a:avLst/>
          </a:prstGeom>
        </p:spPr>
      </p:pic>
      <p:sp>
        <p:nvSpPr>
          <p:cNvPr id="8" name="Text 5"/>
          <p:cNvSpPr txBox="1"/>
          <p:nvPr/>
        </p:nvSpPr>
        <p:spPr>
          <a:xfrm>
            <a:off x="530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51 exercises with filters</a:t>
            </a:r>
            <a:endParaRPr lang="en-US" sz="900" dirty="0"/>
          </a:p>
        </p:txBody>
      </p:sp>
      <p:sp>
        <p:nvSpPr>
          <p:cNvPr id="9" name="Shape 6"/>
          <p:cNvSpPr/>
          <p:nvPr/>
        </p:nvSpPr>
        <p:spPr>
          <a:xfrm>
            <a:off x="2862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0" name="Image 1" descr="C:\Users\lumin\AppData\Local\Temp\azf-shots\w_exercise_detail.png">    </p:cNvPr>
          <p:cNvPicPr>
            <a:picLocks noChangeAspect="1"/>
          </p:cNvPicPr>
          <p:nvPr/>
        </p:nvPicPr>
        <p:blipFill>
          <a:blip r:embed="rId2"/>
          <a:stretch>
            <a:fillRect/>
          </a:stretch>
        </p:blipFill>
        <p:spPr>
          <a:xfrm>
            <a:off x="2926080" y="1325880"/>
            <a:ext cx="1996089" cy="4480560"/>
          </a:xfrm>
          <a:prstGeom prst="rect">
            <a:avLst/>
          </a:prstGeom>
        </p:spPr>
      </p:pic>
      <p:sp>
        <p:nvSpPr>
          <p:cNvPr id="11" name="Text 7"/>
          <p:cNvSpPr txBox="1"/>
          <p:nvPr/>
        </p:nvSpPr>
        <p:spPr>
          <a:xfrm>
            <a:off x="2816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Detail sheet with credit line</a:t>
            </a:r>
            <a:endParaRPr lang="en-US" sz="900" dirty="0"/>
          </a:p>
        </p:txBody>
      </p:sp>
      <p:sp>
        <p:nvSpPr>
          <p:cNvPr id="12" name="Shape 8"/>
          <p:cNvSpPr/>
          <p:nvPr/>
        </p:nvSpPr>
        <p:spPr>
          <a:xfrm>
            <a:off x="5440680" y="1280160"/>
            <a:ext cx="6263640" cy="2286000"/>
          </a:xfrm>
          <a:prstGeom prst="roundRect">
            <a:avLst>
              <a:gd name="adj" fmla="val 4800"/>
            </a:avLst>
          </a:prstGeom>
          <a:solidFill>
            <a:srgbClr val="16232A"/>
          </a:solidFill>
          <a:ln w="9525">
            <a:solidFill>
              <a:srgbClr val="263841"/>
            </a:solidFill>
            <a:prstDash val="solid"/>
          </a:ln>
        </p:spPr>
      </p:sp>
      <p:sp>
        <p:nvSpPr>
          <p:cNvPr id="13" name="Shape 9"/>
          <p:cNvSpPr/>
          <p:nvPr/>
        </p:nvSpPr>
        <p:spPr>
          <a:xfrm>
            <a:off x="5623560" y="1463040"/>
            <a:ext cx="457200" cy="457200"/>
          </a:xfrm>
          <a:prstGeom prst="ellipse">
            <a:avLst/>
          </a:prstGeom>
          <a:solidFill>
            <a:srgbClr val="0A1013"/>
          </a:solidFill>
          <a:ln w="6350">
            <a:solidFill>
              <a:srgbClr val="263841"/>
            </a:solidFill>
            <a:prstDash val="solid"/>
          </a:ln>
        </p:spPr>
      </p:sp>
      <p:pic>
        <p:nvPicPr>
          <p:cNvPr id="14" name="Image 2" descr="preencoded.png">    </p:cNvPr>
          <p:cNvPicPr>
            <a:picLocks noChangeAspect="1"/>
          </p:cNvPicPr>
          <p:nvPr/>
        </p:nvPicPr>
        <p:blipFill>
          <a:blip r:embed="rId3"/>
          <a:stretch>
            <a:fillRect/>
          </a:stretch>
        </p:blipFill>
        <p:spPr>
          <a:xfrm>
            <a:off x="5715000" y="1554480"/>
            <a:ext cx="274320" cy="274320"/>
          </a:xfrm>
          <a:prstGeom prst="rect">
            <a:avLst/>
          </a:prstGeom>
        </p:spPr>
      </p:pic>
      <p:sp>
        <p:nvSpPr>
          <p:cNvPr id="15" name="Text 10"/>
          <p:cNvSpPr txBox="1"/>
          <p:nvPr/>
        </p:nvSpPr>
        <p:spPr>
          <a:xfrm>
            <a:off x="6217920" y="1444752"/>
            <a:ext cx="53035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Openly licensed data, handled properly</a:t>
            </a:r>
            <a:endParaRPr lang="en-US" sz="1300" dirty="0"/>
          </a:p>
        </p:txBody>
      </p:sp>
      <p:sp>
        <p:nvSpPr>
          <p:cNvPr id="16" name="Text 11"/>
          <p:cNvSpPr txBox="1"/>
          <p:nvPr/>
        </p:nvSpPr>
        <p:spPr>
          <a:xfrm>
            <a:off x="5623560" y="1938528"/>
            <a:ext cx="5897880" cy="15087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Exercise records come from the wger community corpus, licensed per record under CC-BY-SA, CC-BY or CC0 [20].</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The importer copies each record's licence and author verbatim; no pipeline strips them. The card shows the credit under the description and beneath each media item.</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Demonstration images are labelled as AI-generated on the card where that is the case, so users are never misled about provenance.</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The app itself is AGPL-3.0-or-later, the same licence family as the ecosystem it draws from [22].</a:t>
            </a:r>
            <a:endParaRPr lang="en-US" sz="1050" dirty="0"/>
          </a:p>
        </p:txBody>
      </p:sp>
      <p:sp>
        <p:nvSpPr>
          <p:cNvPr id="17" name="Shape 12"/>
          <p:cNvSpPr/>
          <p:nvPr/>
        </p:nvSpPr>
        <p:spPr>
          <a:xfrm>
            <a:off x="5440680" y="3703320"/>
            <a:ext cx="3017520" cy="2423160"/>
          </a:xfrm>
          <a:prstGeom prst="roundRect">
            <a:avLst>
              <a:gd name="adj" fmla="val 4528"/>
            </a:avLst>
          </a:prstGeom>
          <a:solidFill>
            <a:srgbClr val="16232A"/>
          </a:solidFill>
          <a:ln w="9525">
            <a:solidFill>
              <a:srgbClr val="263841"/>
            </a:solidFill>
            <a:prstDash val="solid"/>
          </a:ln>
        </p:spPr>
      </p:sp>
      <p:sp>
        <p:nvSpPr>
          <p:cNvPr id="18" name="Shape 13"/>
          <p:cNvSpPr/>
          <p:nvPr/>
        </p:nvSpPr>
        <p:spPr>
          <a:xfrm>
            <a:off x="5623560" y="3886200"/>
            <a:ext cx="457200" cy="457200"/>
          </a:xfrm>
          <a:prstGeom prst="ellipse">
            <a:avLst/>
          </a:prstGeom>
          <a:solidFill>
            <a:srgbClr val="0A1013"/>
          </a:solidFill>
          <a:ln w="6350">
            <a:solidFill>
              <a:srgbClr val="263841"/>
            </a:solidFill>
            <a:prstDash val="solid"/>
          </a:ln>
        </p:spPr>
      </p:sp>
      <p:pic>
        <p:nvPicPr>
          <p:cNvPr id="19" name="Image 3" descr="preencoded.png">    </p:cNvPr>
          <p:cNvPicPr>
            <a:picLocks noChangeAspect="1"/>
          </p:cNvPicPr>
          <p:nvPr/>
        </p:nvPicPr>
        <p:blipFill>
          <a:blip r:embed="rId4"/>
          <a:stretch>
            <a:fillRect/>
          </a:stretch>
        </p:blipFill>
        <p:spPr>
          <a:xfrm>
            <a:off x="5715000" y="3977640"/>
            <a:ext cx="274320" cy="274320"/>
          </a:xfrm>
          <a:prstGeom prst="rect">
            <a:avLst/>
          </a:prstGeom>
        </p:spPr>
      </p:pic>
      <p:sp>
        <p:nvSpPr>
          <p:cNvPr id="20" name="Text 14"/>
          <p:cNvSpPr txBox="1"/>
          <p:nvPr/>
        </p:nvSpPr>
        <p:spPr>
          <a:xfrm>
            <a:off x="6217920" y="3867912"/>
            <a:ext cx="20574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Filtering before assembly</a:t>
            </a:r>
            <a:endParaRPr lang="en-US" sz="1300" dirty="0"/>
          </a:p>
        </p:txBody>
      </p:sp>
      <p:sp>
        <p:nvSpPr>
          <p:cNvPr id="21" name="Text 15"/>
          <p:cNvSpPr txBox="1"/>
          <p:nvPr/>
        </p:nvSpPr>
        <p:spPr>
          <a:xfrm>
            <a:off x="5623560" y="4361688"/>
            <a:ext cx="2651760" cy="16459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Equipment, then muscle group, then movement type.</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Profile injuries and equipment filter the library server-side, which is why the endpoint is never cached publicly.</a:t>
            </a:r>
            <a:endParaRPr lang="en-US" sz="1050" dirty="0"/>
          </a:p>
        </p:txBody>
      </p:sp>
      <p:sp>
        <p:nvSpPr>
          <p:cNvPr id="22" name="Shape 16"/>
          <p:cNvSpPr/>
          <p:nvPr/>
        </p:nvSpPr>
        <p:spPr>
          <a:xfrm>
            <a:off x="8686800" y="3703320"/>
            <a:ext cx="3017520" cy="2423160"/>
          </a:xfrm>
          <a:prstGeom prst="roundRect">
            <a:avLst>
              <a:gd name="adj" fmla="val 4528"/>
            </a:avLst>
          </a:prstGeom>
          <a:solidFill>
            <a:srgbClr val="16232A"/>
          </a:solidFill>
          <a:ln w="9525">
            <a:solidFill>
              <a:srgbClr val="263841"/>
            </a:solidFill>
            <a:prstDash val="solid"/>
          </a:ln>
        </p:spPr>
      </p:sp>
      <p:sp>
        <p:nvSpPr>
          <p:cNvPr id="23" name="Shape 17"/>
          <p:cNvSpPr/>
          <p:nvPr/>
        </p:nvSpPr>
        <p:spPr>
          <a:xfrm>
            <a:off x="8869680" y="3886200"/>
            <a:ext cx="457200" cy="457200"/>
          </a:xfrm>
          <a:prstGeom prst="ellipse">
            <a:avLst/>
          </a:prstGeom>
          <a:solidFill>
            <a:srgbClr val="0A1013"/>
          </a:solidFill>
          <a:ln w="6350">
            <a:solidFill>
              <a:srgbClr val="263841"/>
            </a:solidFill>
            <a:prstDash val="solid"/>
          </a:ln>
        </p:spPr>
      </p:sp>
      <p:pic>
        <p:nvPicPr>
          <p:cNvPr id="24" name="Image 4" descr="preencoded.png">    </p:cNvPr>
          <p:cNvPicPr>
            <a:picLocks noChangeAspect="1"/>
          </p:cNvPicPr>
          <p:nvPr/>
        </p:nvPicPr>
        <p:blipFill>
          <a:blip r:embed="rId5"/>
          <a:stretch>
            <a:fillRect/>
          </a:stretch>
        </p:blipFill>
        <p:spPr>
          <a:xfrm>
            <a:off x="8961120" y="3977640"/>
            <a:ext cx="274320" cy="274320"/>
          </a:xfrm>
          <a:prstGeom prst="rect">
            <a:avLst/>
          </a:prstGeom>
        </p:spPr>
      </p:pic>
      <p:sp>
        <p:nvSpPr>
          <p:cNvPr id="25" name="Text 18"/>
          <p:cNvSpPr txBox="1"/>
          <p:nvPr/>
        </p:nvSpPr>
        <p:spPr>
          <a:xfrm>
            <a:off x="9464040" y="3867912"/>
            <a:ext cx="20574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Offline library</a:t>
            </a:r>
            <a:endParaRPr lang="en-US" sz="1300" dirty="0"/>
          </a:p>
        </p:txBody>
      </p:sp>
      <p:sp>
        <p:nvSpPr>
          <p:cNvPr id="26" name="Text 19"/>
          <p:cNvSpPr txBox="1"/>
          <p:nvPr/>
        </p:nvSpPr>
        <p:spPr>
          <a:xfrm>
            <a:off x="8869680" y="4361688"/>
            <a:ext cx="2651760" cy="16459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The catalogue is cached in Room, so the library opens with no network.</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Media is mirrored from the app's own origin, never hot-linked from a volunteer-run server.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11</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09  AQUA COACH AND THE PERSONA ROSTER</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 coach that knows your day and knows its limits</a:t>
            </a:r>
            <a:endParaRPr lang="en-US" sz="2800" dirty="0"/>
          </a:p>
        </p:txBody>
      </p:sp>
      <p:sp>
        <p:nvSpPr>
          <p:cNvPr id="6" name="Shape 4"/>
          <p:cNvSpPr/>
          <p:nvPr/>
        </p:nvSpPr>
        <p:spPr>
          <a:xfrm>
            <a:off x="576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shots\c_coach.png">    </p:cNvPr>
          <p:cNvPicPr>
            <a:picLocks noChangeAspect="1"/>
          </p:cNvPicPr>
          <p:nvPr/>
        </p:nvPicPr>
        <p:blipFill>
          <a:blip r:embed="rId1"/>
          <a:stretch>
            <a:fillRect/>
          </a:stretch>
        </p:blipFill>
        <p:spPr>
          <a:xfrm>
            <a:off x="640080" y="1325880"/>
            <a:ext cx="1996089" cy="4480560"/>
          </a:xfrm>
          <a:prstGeom prst="rect">
            <a:avLst/>
          </a:prstGeom>
        </p:spPr>
      </p:pic>
      <p:sp>
        <p:nvSpPr>
          <p:cNvPr id="8" name="Text 5"/>
          <p:cNvSpPr txBox="1"/>
          <p:nvPr/>
        </p:nvSpPr>
        <p:spPr>
          <a:xfrm>
            <a:off x="530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Akin, boundary pinned</a:t>
            </a:r>
            <a:endParaRPr lang="en-US" sz="900" dirty="0"/>
          </a:p>
        </p:txBody>
      </p:sp>
      <p:sp>
        <p:nvSpPr>
          <p:cNvPr id="9" name="Shape 6"/>
          <p:cNvSpPr/>
          <p:nvPr/>
        </p:nvSpPr>
        <p:spPr>
          <a:xfrm>
            <a:off x="2862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0" name="Image 1" descr="C:\Users\lumin\AppData\Local\Temp\azf-shots\c_roster.png">    </p:cNvPr>
          <p:cNvPicPr>
            <a:picLocks noChangeAspect="1"/>
          </p:cNvPicPr>
          <p:nvPr/>
        </p:nvPicPr>
        <p:blipFill>
          <a:blip r:embed="rId2"/>
          <a:stretch>
            <a:fillRect/>
          </a:stretch>
        </p:blipFill>
        <p:spPr>
          <a:xfrm>
            <a:off x="2926080" y="1325880"/>
            <a:ext cx="1996089" cy="4480560"/>
          </a:xfrm>
          <a:prstGeom prst="rect">
            <a:avLst/>
          </a:prstGeom>
        </p:spPr>
      </p:pic>
      <p:sp>
        <p:nvSpPr>
          <p:cNvPr id="11" name="Text 7"/>
          <p:cNvSpPr txBox="1"/>
          <p:nvPr/>
        </p:nvSpPr>
        <p:spPr>
          <a:xfrm>
            <a:off x="2816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Coach roster and rank</a:t>
            </a:r>
            <a:endParaRPr lang="en-US" sz="900" dirty="0"/>
          </a:p>
        </p:txBody>
      </p:sp>
      <p:sp>
        <p:nvSpPr>
          <p:cNvPr id="12" name="Shape 8"/>
          <p:cNvSpPr/>
          <p:nvPr/>
        </p:nvSpPr>
        <p:spPr>
          <a:xfrm>
            <a:off x="5440680" y="1280160"/>
            <a:ext cx="3063240" cy="2377440"/>
          </a:xfrm>
          <a:prstGeom prst="roundRect">
            <a:avLst>
              <a:gd name="adj" fmla="val 4615"/>
            </a:avLst>
          </a:prstGeom>
          <a:solidFill>
            <a:srgbClr val="16232A"/>
          </a:solidFill>
          <a:ln w="9525">
            <a:solidFill>
              <a:srgbClr val="263841"/>
            </a:solidFill>
            <a:prstDash val="solid"/>
          </a:ln>
        </p:spPr>
      </p:sp>
      <p:sp>
        <p:nvSpPr>
          <p:cNvPr id="13" name="Shape 9"/>
          <p:cNvSpPr/>
          <p:nvPr/>
        </p:nvSpPr>
        <p:spPr>
          <a:xfrm>
            <a:off x="5623560" y="1463040"/>
            <a:ext cx="457200" cy="457200"/>
          </a:xfrm>
          <a:prstGeom prst="ellipse">
            <a:avLst/>
          </a:prstGeom>
          <a:solidFill>
            <a:srgbClr val="0A1013"/>
          </a:solidFill>
          <a:ln w="6350">
            <a:solidFill>
              <a:srgbClr val="263841"/>
            </a:solidFill>
            <a:prstDash val="solid"/>
          </a:ln>
        </p:spPr>
      </p:sp>
      <p:pic>
        <p:nvPicPr>
          <p:cNvPr id="14" name="Image 2" descr="preencoded.png">    </p:cNvPr>
          <p:cNvPicPr>
            <a:picLocks noChangeAspect="1"/>
          </p:cNvPicPr>
          <p:nvPr/>
        </p:nvPicPr>
        <p:blipFill>
          <a:blip r:embed="rId3"/>
          <a:stretch>
            <a:fillRect/>
          </a:stretch>
        </p:blipFill>
        <p:spPr>
          <a:xfrm>
            <a:off x="5715000" y="1554480"/>
            <a:ext cx="274320" cy="274320"/>
          </a:xfrm>
          <a:prstGeom prst="rect">
            <a:avLst/>
          </a:prstGeom>
        </p:spPr>
      </p:pic>
      <p:sp>
        <p:nvSpPr>
          <p:cNvPr id="15" name="Text 10"/>
          <p:cNvSpPr txBox="1"/>
          <p:nvPr/>
        </p:nvSpPr>
        <p:spPr>
          <a:xfrm>
            <a:off x="6217920" y="1444752"/>
            <a:ext cx="21031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Grounded every turn</a:t>
            </a:r>
            <a:endParaRPr lang="en-US" sz="1300" dirty="0"/>
          </a:p>
        </p:txBody>
      </p:sp>
      <p:sp>
        <p:nvSpPr>
          <p:cNvPr id="16" name="Text 11"/>
          <p:cNvSpPr txBox="1"/>
          <p:nvPr/>
        </p:nvSpPr>
        <p:spPr>
          <a:xfrm>
            <a:off x="5623560" y="1938528"/>
            <a:ext cx="2697480" cy="16002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Today's nutrition, the current workout, the progress summary and confirmed memory facts are injected per turn.</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Replies stream over server-sent events, token by token, on a dedicated OkHttp client.</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Voice input through RECORD_AUDIO; a typed meal sentence becomes a draft log.</a:t>
            </a:r>
            <a:endParaRPr lang="en-US" sz="1000" dirty="0"/>
          </a:p>
        </p:txBody>
      </p:sp>
      <p:sp>
        <p:nvSpPr>
          <p:cNvPr id="17" name="Shape 12"/>
          <p:cNvSpPr/>
          <p:nvPr/>
        </p:nvSpPr>
        <p:spPr>
          <a:xfrm>
            <a:off x="8641080" y="1280160"/>
            <a:ext cx="3063240" cy="2377440"/>
          </a:xfrm>
          <a:prstGeom prst="roundRect">
            <a:avLst>
              <a:gd name="adj" fmla="val 4615"/>
            </a:avLst>
          </a:prstGeom>
          <a:solidFill>
            <a:srgbClr val="16232A"/>
          </a:solidFill>
          <a:ln w="9525">
            <a:solidFill>
              <a:srgbClr val="263841"/>
            </a:solidFill>
            <a:prstDash val="solid"/>
          </a:ln>
        </p:spPr>
      </p:sp>
      <p:sp>
        <p:nvSpPr>
          <p:cNvPr id="18" name="Shape 13"/>
          <p:cNvSpPr/>
          <p:nvPr/>
        </p:nvSpPr>
        <p:spPr>
          <a:xfrm>
            <a:off x="8823960" y="1463040"/>
            <a:ext cx="457200" cy="457200"/>
          </a:xfrm>
          <a:prstGeom prst="ellipse">
            <a:avLst/>
          </a:prstGeom>
          <a:solidFill>
            <a:srgbClr val="0A1013"/>
          </a:solidFill>
          <a:ln w="6350">
            <a:solidFill>
              <a:srgbClr val="263841"/>
            </a:solidFill>
            <a:prstDash val="solid"/>
          </a:ln>
        </p:spPr>
      </p:sp>
      <p:pic>
        <p:nvPicPr>
          <p:cNvPr id="19" name="Image 3" descr="preencoded.png">    </p:cNvPr>
          <p:cNvPicPr>
            <a:picLocks noChangeAspect="1"/>
          </p:cNvPicPr>
          <p:nvPr/>
        </p:nvPicPr>
        <p:blipFill>
          <a:blip r:embed="rId4"/>
          <a:stretch>
            <a:fillRect/>
          </a:stretch>
        </p:blipFill>
        <p:spPr>
          <a:xfrm>
            <a:off x="8915400" y="1554480"/>
            <a:ext cx="274320" cy="274320"/>
          </a:xfrm>
          <a:prstGeom prst="rect">
            <a:avLst/>
          </a:prstGeom>
        </p:spPr>
      </p:pic>
      <p:sp>
        <p:nvSpPr>
          <p:cNvPr id="20" name="Text 14"/>
          <p:cNvSpPr txBox="1"/>
          <p:nvPr/>
        </p:nvSpPr>
        <p:spPr>
          <a:xfrm>
            <a:off x="9418320" y="1444752"/>
            <a:ext cx="21031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Bounded in code</a:t>
            </a:r>
            <a:endParaRPr lang="en-US" sz="1300" dirty="0"/>
          </a:p>
        </p:txBody>
      </p:sp>
      <p:sp>
        <p:nvSpPr>
          <p:cNvPr id="21" name="Text 15"/>
          <p:cNvSpPr txBox="1"/>
          <p:nvPr/>
        </p:nvSpPr>
        <p:spPr>
          <a:xfrm>
            <a:off x="8823960" y="1938528"/>
            <a:ext cx="2697480" cy="16002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Input and output pass a deterministic classifier first: crisis beats medical beats extreme diet beats out of scope [5].</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 crisis message stops the model and signposts Lifeline 13 11 14 [27].</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Numeric claims are checked against the calorie floor before display.</a:t>
            </a:r>
            <a:endParaRPr lang="en-US" sz="1000" dirty="0"/>
          </a:p>
        </p:txBody>
      </p:sp>
      <p:sp>
        <p:nvSpPr>
          <p:cNvPr id="22" name="Shape 16"/>
          <p:cNvSpPr/>
          <p:nvPr/>
        </p:nvSpPr>
        <p:spPr>
          <a:xfrm>
            <a:off x="5440680" y="3794760"/>
            <a:ext cx="6263640" cy="2331720"/>
          </a:xfrm>
          <a:prstGeom prst="roundRect">
            <a:avLst>
              <a:gd name="adj" fmla="val 4706"/>
            </a:avLst>
          </a:prstGeom>
          <a:solidFill>
            <a:srgbClr val="16232A"/>
          </a:solidFill>
          <a:ln w="9525">
            <a:solidFill>
              <a:srgbClr val="263841"/>
            </a:solidFill>
            <a:prstDash val="solid"/>
          </a:ln>
        </p:spPr>
      </p:sp>
      <p:sp>
        <p:nvSpPr>
          <p:cNvPr id="23" name="Shape 17"/>
          <p:cNvSpPr/>
          <p:nvPr/>
        </p:nvSpPr>
        <p:spPr>
          <a:xfrm>
            <a:off x="5623560" y="3977640"/>
            <a:ext cx="457200" cy="457200"/>
          </a:xfrm>
          <a:prstGeom prst="ellipse">
            <a:avLst/>
          </a:prstGeom>
          <a:solidFill>
            <a:srgbClr val="0A1013"/>
          </a:solidFill>
          <a:ln w="6350">
            <a:solidFill>
              <a:srgbClr val="263841"/>
            </a:solidFill>
            <a:prstDash val="solid"/>
          </a:ln>
        </p:spPr>
      </p:sp>
      <p:pic>
        <p:nvPicPr>
          <p:cNvPr id="24" name="Image 4" descr="preencoded.png">    </p:cNvPr>
          <p:cNvPicPr>
            <a:picLocks noChangeAspect="1"/>
          </p:cNvPicPr>
          <p:nvPr/>
        </p:nvPicPr>
        <p:blipFill>
          <a:blip r:embed="rId5"/>
          <a:stretch>
            <a:fillRect/>
          </a:stretch>
        </p:blipFill>
        <p:spPr>
          <a:xfrm>
            <a:off x="5715000" y="4069080"/>
            <a:ext cx="274320" cy="274320"/>
          </a:xfrm>
          <a:prstGeom prst="rect">
            <a:avLst/>
          </a:prstGeom>
        </p:spPr>
      </p:pic>
      <p:sp>
        <p:nvSpPr>
          <p:cNvPr id="25" name="Text 18"/>
          <p:cNvSpPr txBox="1"/>
          <p:nvPr/>
        </p:nvSpPr>
        <p:spPr>
          <a:xfrm>
            <a:off x="6217920" y="3959352"/>
            <a:ext cx="53035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Personas, memory and consent</a:t>
            </a:r>
            <a:endParaRPr lang="en-US" sz="1300" dirty="0"/>
          </a:p>
        </p:txBody>
      </p:sp>
      <p:sp>
        <p:nvSpPr>
          <p:cNvPr id="26" name="Text 19"/>
          <p:cNvSpPr txBox="1"/>
          <p:nvPr/>
        </p:nvSpPr>
        <p:spPr>
          <a:xfrm>
            <a:off x="5623560" y="4453128"/>
            <a:ext cx="5897880" cy="155448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28 coach identities are defined and 19 ship with character art; Akin is the default. Progression, XP and unlocks are decided by the server, never by the client.</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Coach memory holds facts the user has confirmed, capped at 60, reviewable and deletable in Settings. Personalisation is off until explicit consent and revocable at any time.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Every AI action costs credits from an append-only ledger: 1 for a message, 3 for a meal photo, 5 for a plan. A degraded (template) answer is never billed [5].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12</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10  PROGRESS AND THE ADAPTIVE EXPENDITURE ENGINE</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Readable progress and a metabolism model that explains itself</a:t>
            </a:r>
            <a:endParaRPr lang="en-US" sz="2800" dirty="0"/>
          </a:p>
        </p:txBody>
      </p:sp>
      <p:sp>
        <p:nvSpPr>
          <p:cNvPr id="6" name="Shape 4"/>
          <p:cNvSpPr/>
          <p:nvPr/>
        </p:nvSpPr>
        <p:spPr>
          <a:xfrm>
            <a:off x="576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shots\p_progress2.png">    </p:cNvPr>
          <p:cNvPicPr>
            <a:picLocks noChangeAspect="1"/>
          </p:cNvPicPr>
          <p:nvPr/>
        </p:nvPicPr>
        <p:blipFill>
          <a:blip r:embed="rId1"/>
          <a:stretch>
            <a:fillRect/>
          </a:stretch>
        </p:blipFill>
        <p:spPr>
          <a:xfrm>
            <a:off x="640080" y="1325880"/>
            <a:ext cx="1996089" cy="4480560"/>
          </a:xfrm>
          <a:prstGeom prst="rect">
            <a:avLst/>
          </a:prstGeom>
        </p:spPr>
      </p:pic>
      <p:sp>
        <p:nvSpPr>
          <p:cNvPr id="8" name="Text 5"/>
          <p:cNvSpPr txBox="1"/>
          <p:nvPr/>
        </p:nvSpPr>
        <p:spPr>
          <a:xfrm>
            <a:off x="530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Consistency and weight journey</a:t>
            </a:r>
            <a:endParaRPr lang="en-US" sz="900" dirty="0"/>
          </a:p>
        </p:txBody>
      </p:sp>
      <p:sp>
        <p:nvSpPr>
          <p:cNvPr id="9" name="Shape 6"/>
          <p:cNvSpPr/>
          <p:nvPr/>
        </p:nvSpPr>
        <p:spPr>
          <a:xfrm>
            <a:off x="2862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0" name="Image 1" descr="C:\Users\lumin\AppData\Local\Temp\azf-shots\p_progress3.png">    </p:cNvPr>
          <p:cNvPicPr>
            <a:picLocks noChangeAspect="1"/>
          </p:cNvPicPr>
          <p:nvPr/>
        </p:nvPicPr>
        <p:blipFill>
          <a:blip r:embed="rId2"/>
          <a:stretch>
            <a:fillRect/>
          </a:stretch>
        </p:blipFill>
        <p:spPr>
          <a:xfrm>
            <a:off x="2926080" y="1325880"/>
            <a:ext cx="1996089" cy="4480560"/>
          </a:xfrm>
          <a:prstGeom prst="rect">
            <a:avLst/>
          </a:prstGeom>
        </p:spPr>
      </p:pic>
      <p:sp>
        <p:nvSpPr>
          <p:cNvPr id="11" name="Text 7"/>
          <p:cNvSpPr txBox="1"/>
          <p:nvPr/>
        </p:nvSpPr>
        <p:spPr>
          <a:xfrm>
            <a:off x="2816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Calorie trend and badges</a:t>
            </a:r>
            <a:endParaRPr lang="en-US" sz="900" dirty="0"/>
          </a:p>
        </p:txBody>
      </p:sp>
      <p:sp>
        <p:nvSpPr>
          <p:cNvPr id="12" name="Shape 8"/>
          <p:cNvSpPr/>
          <p:nvPr/>
        </p:nvSpPr>
        <p:spPr>
          <a:xfrm>
            <a:off x="5148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3" name="Image 2" descr="C:\Users\lumin\AppData\Local\Temp\azf-shots\n_mealplan.png">    </p:cNvPr>
          <p:cNvPicPr>
            <a:picLocks noChangeAspect="1"/>
          </p:cNvPicPr>
          <p:nvPr/>
        </p:nvPicPr>
        <p:blipFill>
          <a:blip r:embed="rId3"/>
          <a:stretch>
            <a:fillRect/>
          </a:stretch>
        </p:blipFill>
        <p:spPr>
          <a:xfrm>
            <a:off x="5212080" y="1325880"/>
            <a:ext cx="1996089" cy="4480560"/>
          </a:xfrm>
          <a:prstGeom prst="rect">
            <a:avLst/>
          </a:prstGeom>
        </p:spPr>
      </p:pic>
      <p:sp>
        <p:nvSpPr>
          <p:cNvPr id="14" name="Text 9"/>
          <p:cNvSpPr txBox="1"/>
          <p:nvPr/>
        </p:nvSpPr>
        <p:spPr>
          <a:xfrm>
            <a:off x="5102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Meal suggestions per slot</a:t>
            </a:r>
            <a:endParaRPr lang="en-US" sz="900" dirty="0"/>
          </a:p>
        </p:txBody>
      </p:sp>
      <p:sp>
        <p:nvSpPr>
          <p:cNvPr id="15" name="Shape 10"/>
          <p:cNvSpPr/>
          <p:nvPr/>
        </p:nvSpPr>
        <p:spPr>
          <a:xfrm>
            <a:off x="7863840" y="1280160"/>
            <a:ext cx="3840480" cy="2514600"/>
          </a:xfrm>
          <a:prstGeom prst="roundRect">
            <a:avLst>
              <a:gd name="adj" fmla="val 4364"/>
            </a:avLst>
          </a:prstGeom>
          <a:solidFill>
            <a:srgbClr val="16232A"/>
          </a:solidFill>
          <a:ln w="9525">
            <a:solidFill>
              <a:srgbClr val="263841"/>
            </a:solidFill>
            <a:prstDash val="solid"/>
          </a:ln>
        </p:spPr>
      </p:sp>
      <p:sp>
        <p:nvSpPr>
          <p:cNvPr id="16" name="Shape 11"/>
          <p:cNvSpPr/>
          <p:nvPr/>
        </p:nvSpPr>
        <p:spPr>
          <a:xfrm>
            <a:off x="8046720" y="1463040"/>
            <a:ext cx="457200" cy="457200"/>
          </a:xfrm>
          <a:prstGeom prst="ellipse">
            <a:avLst/>
          </a:prstGeom>
          <a:solidFill>
            <a:srgbClr val="0A1013"/>
          </a:solidFill>
          <a:ln w="6350">
            <a:solidFill>
              <a:srgbClr val="263841"/>
            </a:solidFill>
            <a:prstDash val="solid"/>
          </a:ln>
        </p:spPr>
      </p:sp>
      <p:pic>
        <p:nvPicPr>
          <p:cNvPr id="17" name="Image 3" descr="preencoded.png">    </p:cNvPr>
          <p:cNvPicPr>
            <a:picLocks noChangeAspect="1"/>
          </p:cNvPicPr>
          <p:nvPr/>
        </p:nvPicPr>
        <p:blipFill>
          <a:blip r:embed="rId4"/>
          <a:stretch>
            <a:fillRect/>
          </a:stretch>
        </p:blipFill>
        <p:spPr>
          <a:xfrm>
            <a:off x="8138160" y="1554480"/>
            <a:ext cx="274320" cy="274320"/>
          </a:xfrm>
          <a:prstGeom prst="rect">
            <a:avLst/>
          </a:prstGeom>
        </p:spPr>
      </p:pic>
      <p:sp>
        <p:nvSpPr>
          <p:cNvPr id="18" name="Text 12"/>
          <p:cNvSpPr txBox="1"/>
          <p:nvPr/>
        </p:nvSpPr>
        <p:spPr>
          <a:xfrm>
            <a:off x="8641080" y="1444752"/>
            <a:ext cx="28803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Adaptive expenditure engine</a:t>
            </a:r>
            <a:endParaRPr lang="en-US" sz="1300" dirty="0"/>
          </a:p>
        </p:txBody>
      </p:sp>
      <p:sp>
        <p:nvSpPr>
          <p:cNvPr id="19" name="Text 13"/>
          <p:cNvSpPr txBox="1"/>
          <p:nvPr/>
        </p:nvSpPr>
        <p:spPr>
          <a:xfrm>
            <a:off x="8046720" y="1938528"/>
            <a:ext cx="3474720" cy="173736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An exponentially weighted moving average smooths scale weight, then weight velocity is matched against logged intake over a rolling window.</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Adjustments are clamped to plus or minus 100 kcal per week and never breach the safety floors.</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Confidence is reported as high, moderate or low, with a written reason.</a:t>
            </a:r>
            <a:endParaRPr lang="en-US" sz="1000" dirty="0"/>
          </a:p>
        </p:txBody>
      </p:sp>
      <p:sp>
        <p:nvSpPr>
          <p:cNvPr id="20" name="Shape 14"/>
          <p:cNvSpPr/>
          <p:nvPr/>
        </p:nvSpPr>
        <p:spPr>
          <a:xfrm>
            <a:off x="7863840" y="3931920"/>
            <a:ext cx="3840480" cy="2194560"/>
          </a:xfrm>
          <a:prstGeom prst="roundRect">
            <a:avLst>
              <a:gd name="adj" fmla="val 5000"/>
            </a:avLst>
          </a:prstGeom>
          <a:solidFill>
            <a:srgbClr val="16232A"/>
          </a:solidFill>
          <a:ln w="9525">
            <a:solidFill>
              <a:srgbClr val="263841"/>
            </a:solidFill>
            <a:prstDash val="solid"/>
          </a:ln>
        </p:spPr>
      </p:sp>
      <p:sp>
        <p:nvSpPr>
          <p:cNvPr id="21" name="Shape 15"/>
          <p:cNvSpPr/>
          <p:nvPr/>
        </p:nvSpPr>
        <p:spPr>
          <a:xfrm>
            <a:off x="8046720" y="4114800"/>
            <a:ext cx="457200" cy="457200"/>
          </a:xfrm>
          <a:prstGeom prst="ellipse">
            <a:avLst/>
          </a:prstGeom>
          <a:solidFill>
            <a:srgbClr val="0A1013"/>
          </a:solidFill>
          <a:ln w="6350">
            <a:solidFill>
              <a:srgbClr val="263841"/>
            </a:solidFill>
            <a:prstDash val="solid"/>
          </a:ln>
        </p:spPr>
      </p:sp>
      <p:pic>
        <p:nvPicPr>
          <p:cNvPr id="22" name="Image 4" descr="preencoded.png">    </p:cNvPr>
          <p:cNvPicPr>
            <a:picLocks noChangeAspect="1"/>
          </p:cNvPicPr>
          <p:nvPr/>
        </p:nvPicPr>
        <p:blipFill>
          <a:blip r:embed="rId5"/>
          <a:stretch>
            <a:fillRect/>
          </a:stretch>
        </p:blipFill>
        <p:spPr>
          <a:xfrm>
            <a:off x="8138160" y="4206240"/>
            <a:ext cx="274320" cy="274320"/>
          </a:xfrm>
          <a:prstGeom prst="rect">
            <a:avLst/>
          </a:prstGeom>
        </p:spPr>
      </p:pic>
      <p:sp>
        <p:nvSpPr>
          <p:cNvPr id="23" name="Text 16"/>
          <p:cNvSpPr txBox="1"/>
          <p:nvPr/>
        </p:nvSpPr>
        <p:spPr>
          <a:xfrm>
            <a:off x="8641080" y="4096512"/>
            <a:ext cx="28803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Honest insights</a:t>
            </a:r>
            <a:endParaRPr lang="en-US" sz="1300" dirty="0"/>
          </a:p>
        </p:txBody>
      </p:sp>
      <p:sp>
        <p:nvSpPr>
          <p:cNvPr id="24" name="Text 17"/>
          <p:cNvSpPr txBox="1"/>
          <p:nvPr/>
        </p:nvSpPr>
        <p:spPr>
          <a:xfrm>
            <a:off x="8046720" y="4590288"/>
            <a:ext cx="3474720" cy="14173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Insights describe the data. They never diagnose and never moralise.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Meal suggestions are one per slot for today, built around what is left of the targets, and nothing is logged until the user taps Log this.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13</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11  RANKS, EXPERIENCE AND ACHIEVEMENTS</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Motivation that never punishes</a:t>
            </a:r>
            <a:endParaRPr lang="en-US" sz="2800" dirty="0"/>
          </a:p>
        </p:txBody>
      </p:sp>
      <p:sp>
        <p:nvSpPr>
          <p:cNvPr id="6" name="Shape 4"/>
          <p:cNvSpPr/>
          <p:nvPr/>
        </p:nvSpPr>
        <p:spPr>
          <a:xfrm>
            <a:off x="576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7" name="Image 0" descr="C:\Users\lumin\AppData\Local\Temp\azf-shots\14_welcome.png">    </p:cNvPr>
          <p:cNvPicPr>
            <a:picLocks noChangeAspect="1"/>
          </p:cNvPicPr>
          <p:nvPr/>
        </p:nvPicPr>
        <p:blipFill>
          <a:blip r:embed="rId1"/>
          <a:stretch>
            <a:fillRect/>
          </a:stretch>
        </p:blipFill>
        <p:spPr>
          <a:xfrm>
            <a:off x="640080" y="1325880"/>
            <a:ext cx="1996089" cy="4480560"/>
          </a:xfrm>
          <a:prstGeom prst="rect">
            <a:avLst/>
          </a:prstGeom>
        </p:spPr>
      </p:pic>
      <p:sp>
        <p:nvSpPr>
          <p:cNvPr id="8" name="Text 5"/>
          <p:cNvSpPr txBox="1"/>
          <p:nvPr/>
        </p:nvSpPr>
        <p:spPr>
          <a:xfrm>
            <a:off x="530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Rank-up moment</a:t>
            </a:r>
            <a:endParaRPr lang="en-US" sz="900" dirty="0"/>
          </a:p>
        </p:txBody>
      </p:sp>
      <p:sp>
        <p:nvSpPr>
          <p:cNvPr id="9" name="Shape 6"/>
          <p:cNvSpPr/>
          <p:nvPr/>
        </p:nvSpPr>
        <p:spPr>
          <a:xfrm>
            <a:off x="2862072" y="126187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10" name="Image 1" descr="C:\Users\lumin\AppData\Local\Temp\azf-shots\h_home2.png">    </p:cNvPr>
          <p:cNvPicPr>
            <a:picLocks noChangeAspect="1"/>
          </p:cNvPicPr>
          <p:nvPr/>
        </p:nvPicPr>
        <p:blipFill>
          <a:blip r:embed="rId2"/>
          <a:stretch>
            <a:fillRect/>
          </a:stretch>
        </p:blipFill>
        <p:spPr>
          <a:xfrm>
            <a:off x="2926080" y="1325880"/>
            <a:ext cx="1996089" cy="4480560"/>
          </a:xfrm>
          <a:prstGeom prst="rect">
            <a:avLst/>
          </a:prstGeom>
        </p:spPr>
      </p:pic>
      <p:sp>
        <p:nvSpPr>
          <p:cNvPr id="11" name="Text 7"/>
          <p:cNvSpPr txBox="1"/>
          <p:nvPr/>
        </p:nvSpPr>
        <p:spPr>
          <a:xfrm>
            <a:off x="2816352" y="5916168"/>
            <a:ext cx="2215545"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Bond and level on Home</a:t>
            </a:r>
            <a:endParaRPr lang="en-US" sz="900" dirty="0"/>
          </a:p>
        </p:txBody>
      </p:sp>
      <p:sp>
        <p:nvSpPr>
          <p:cNvPr id="12" name="Shape 8"/>
          <p:cNvSpPr/>
          <p:nvPr/>
        </p:nvSpPr>
        <p:spPr>
          <a:xfrm>
            <a:off x="5440680" y="1280160"/>
            <a:ext cx="6263640" cy="1554480"/>
          </a:xfrm>
          <a:prstGeom prst="roundRect">
            <a:avLst>
              <a:gd name="adj" fmla="val 7059"/>
            </a:avLst>
          </a:prstGeom>
          <a:solidFill>
            <a:srgbClr val="16232A"/>
          </a:solidFill>
          <a:ln w="9525">
            <a:solidFill>
              <a:srgbClr val="263841"/>
            </a:solidFill>
            <a:prstDash val="solid"/>
          </a:ln>
        </p:spPr>
      </p:sp>
      <p:sp>
        <p:nvSpPr>
          <p:cNvPr id="13" name="Shape 9"/>
          <p:cNvSpPr/>
          <p:nvPr/>
        </p:nvSpPr>
        <p:spPr>
          <a:xfrm>
            <a:off x="5623560" y="1463040"/>
            <a:ext cx="457200" cy="457200"/>
          </a:xfrm>
          <a:prstGeom prst="ellipse">
            <a:avLst/>
          </a:prstGeom>
          <a:solidFill>
            <a:srgbClr val="0A1013"/>
          </a:solidFill>
          <a:ln w="6350">
            <a:solidFill>
              <a:srgbClr val="263841"/>
            </a:solidFill>
            <a:prstDash val="solid"/>
          </a:ln>
        </p:spPr>
      </p:sp>
      <p:pic>
        <p:nvPicPr>
          <p:cNvPr id="14" name="Image 2" descr="preencoded.png">    </p:cNvPr>
          <p:cNvPicPr>
            <a:picLocks noChangeAspect="1"/>
          </p:cNvPicPr>
          <p:nvPr/>
        </p:nvPicPr>
        <p:blipFill>
          <a:blip r:embed="rId3"/>
          <a:stretch>
            <a:fillRect/>
          </a:stretch>
        </p:blipFill>
        <p:spPr>
          <a:xfrm>
            <a:off x="5715000" y="1554480"/>
            <a:ext cx="274320" cy="274320"/>
          </a:xfrm>
          <a:prstGeom prst="rect">
            <a:avLst/>
          </a:prstGeom>
        </p:spPr>
      </p:pic>
      <p:sp>
        <p:nvSpPr>
          <p:cNvPr id="15" name="Text 10"/>
          <p:cNvSpPr txBox="1"/>
          <p:nvPr/>
        </p:nvSpPr>
        <p:spPr>
          <a:xfrm>
            <a:off x="6217920" y="1444752"/>
            <a:ext cx="53035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Experience never decreases</a:t>
            </a:r>
            <a:endParaRPr lang="en-US" sz="1300" dirty="0"/>
          </a:p>
        </p:txBody>
      </p:sp>
      <p:sp>
        <p:nvSpPr>
          <p:cNvPr id="16" name="Text 11"/>
          <p:cNvSpPr txBox="1"/>
          <p:nvPr/>
        </p:nvSpPr>
        <p:spPr>
          <a:xfrm>
            <a:off x="5623560" y="1938528"/>
            <a:ext cx="5897880" cy="777240"/>
          </a:xfrm>
          <a:prstGeom prst="rect">
            <a:avLst/>
          </a:prstGeom>
          <a:noFill/>
          <a:ln/>
        </p:spPr>
        <p:txBody>
          <a:bodyPr wrap="square" lIns="0" tIns="0" rIns="0" bIns="0" rtlCol="0" anchor="t"/>
          <a:lstStyle/>
          <a:p>
            <a:pPr indent="0" marL="0">
              <a:spcAft>
                <a:spcPts val="400"/>
              </a:spcAft>
              <a:buNone/>
            </a:pPr>
            <a:r>
              <a:rPr lang="en-US" sz="1050" dirty="0">
                <a:solidFill>
                  <a:srgbClr val="E8F0F2"/>
                </a:solidFill>
                <a:latin typeface="Arial" pitchFamily="34" charset="0"/>
                <a:ea typeface="Arial" pitchFamily="34" charset="-122"/>
                <a:cs typeface="Arial" pitchFamily="34" charset="-120"/>
              </a:rPr>
              <a:t>A ratchet over server snapshots clamps any regression on the way in. In a product that also holds health data, taking points away is a harm, so the client refuses to render one. Levels follow a triangular curve; ranks such as Prospect unlock at fixed levels [4].</a:t>
            </a:r>
            <a:endParaRPr lang="en-US" sz="1050" dirty="0"/>
          </a:p>
        </p:txBody>
      </p:sp>
      <p:sp>
        <p:nvSpPr>
          <p:cNvPr id="17" name="Shape 12"/>
          <p:cNvSpPr/>
          <p:nvPr/>
        </p:nvSpPr>
        <p:spPr>
          <a:xfrm>
            <a:off x="5440680" y="2971800"/>
            <a:ext cx="3063240" cy="3154680"/>
          </a:xfrm>
          <a:prstGeom prst="roundRect">
            <a:avLst>
              <a:gd name="adj" fmla="val 3582"/>
            </a:avLst>
          </a:prstGeom>
          <a:solidFill>
            <a:srgbClr val="16232A"/>
          </a:solidFill>
          <a:ln w="9525">
            <a:solidFill>
              <a:srgbClr val="263841"/>
            </a:solidFill>
            <a:prstDash val="solid"/>
          </a:ln>
        </p:spPr>
      </p:sp>
      <p:sp>
        <p:nvSpPr>
          <p:cNvPr id="18" name="Shape 13"/>
          <p:cNvSpPr/>
          <p:nvPr/>
        </p:nvSpPr>
        <p:spPr>
          <a:xfrm>
            <a:off x="5623560" y="3154680"/>
            <a:ext cx="457200" cy="457200"/>
          </a:xfrm>
          <a:prstGeom prst="ellipse">
            <a:avLst/>
          </a:prstGeom>
          <a:solidFill>
            <a:srgbClr val="0A1013"/>
          </a:solidFill>
          <a:ln w="6350">
            <a:solidFill>
              <a:srgbClr val="263841"/>
            </a:solidFill>
            <a:prstDash val="solid"/>
          </a:ln>
        </p:spPr>
      </p:sp>
      <p:pic>
        <p:nvPicPr>
          <p:cNvPr id="19" name="Image 3" descr="preencoded.png">    </p:cNvPr>
          <p:cNvPicPr>
            <a:picLocks noChangeAspect="1"/>
          </p:cNvPicPr>
          <p:nvPr/>
        </p:nvPicPr>
        <p:blipFill>
          <a:blip r:embed="rId4"/>
          <a:stretch>
            <a:fillRect/>
          </a:stretch>
        </p:blipFill>
        <p:spPr>
          <a:xfrm>
            <a:off x="5715000" y="3246120"/>
            <a:ext cx="274320" cy="274320"/>
          </a:xfrm>
          <a:prstGeom prst="rect">
            <a:avLst/>
          </a:prstGeom>
        </p:spPr>
      </p:pic>
      <p:sp>
        <p:nvSpPr>
          <p:cNvPr id="20" name="Text 14"/>
          <p:cNvSpPr txBox="1"/>
          <p:nvPr/>
        </p:nvSpPr>
        <p:spPr>
          <a:xfrm>
            <a:off x="6217920" y="3136392"/>
            <a:ext cx="21031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Consistency, not streaks</a:t>
            </a:r>
            <a:endParaRPr lang="en-US" sz="1300" dirty="0"/>
          </a:p>
        </p:txBody>
      </p:sp>
      <p:sp>
        <p:nvSpPr>
          <p:cNvPr id="21" name="Text 15"/>
          <p:cNvSpPr txBox="1"/>
          <p:nvPr/>
        </p:nvSpPr>
        <p:spPr>
          <a:xfrm>
            <a:off x="5623560" y="3630168"/>
            <a:ext cx="2697480" cy="23774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Active days inside a rolling 28-day window with one grace day.</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A best figure that never goes down; badges are judged against it, so an earned badge is never revoked [5].</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A daily experience cap of 150 points keeps the loop about habits, not grinding.</a:t>
            </a:r>
            <a:endParaRPr lang="en-US" sz="1050" dirty="0"/>
          </a:p>
        </p:txBody>
      </p:sp>
      <p:sp>
        <p:nvSpPr>
          <p:cNvPr id="22" name="Shape 16"/>
          <p:cNvSpPr/>
          <p:nvPr/>
        </p:nvSpPr>
        <p:spPr>
          <a:xfrm>
            <a:off x="8686800" y="2971800"/>
            <a:ext cx="3017520" cy="3154680"/>
          </a:xfrm>
          <a:prstGeom prst="roundRect">
            <a:avLst>
              <a:gd name="adj" fmla="val 3636"/>
            </a:avLst>
          </a:prstGeom>
          <a:solidFill>
            <a:srgbClr val="16232A"/>
          </a:solidFill>
          <a:ln w="9525">
            <a:solidFill>
              <a:srgbClr val="263841"/>
            </a:solidFill>
            <a:prstDash val="solid"/>
          </a:ln>
        </p:spPr>
      </p:sp>
      <p:sp>
        <p:nvSpPr>
          <p:cNvPr id="23" name="Shape 17"/>
          <p:cNvSpPr/>
          <p:nvPr/>
        </p:nvSpPr>
        <p:spPr>
          <a:xfrm>
            <a:off x="8869680" y="3154680"/>
            <a:ext cx="457200" cy="457200"/>
          </a:xfrm>
          <a:prstGeom prst="ellipse">
            <a:avLst/>
          </a:prstGeom>
          <a:solidFill>
            <a:srgbClr val="0A1013"/>
          </a:solidFill>
          <a:ln w="6350">
            <a:solidFill>
              <a:srgbClr val="263841"/>
            </a:solidFill>
            <a:prstDash val="solid"/>
          </a:ln>
        </p:spPr>
      </p:sp>
      <p:pic>
        <p:nvPicPr>
          <p:cNvPr id="24" name="Image 4" descr="preencoded.png">    </p:cNvPr>
          <p:cNvPicPr>
            <a:picLocks noChangeAspect="1"/>
          </p:cNvPicPr>
          <p:nvPr/>
        </p:nvPicPr>
        <p:blipFill>
          <a:blip r:embed="rId5"/>
          <a:stretch>
            <a:fillRect/>
          </a:stretch>
        </p:blipFill>
        <p:spPr>
          <a:xfrm>
            <a:off x="8961120" y="3246120"/>
            <a:ext cx="274320" cy="274320"/>
          </a:xfrm>
          <a:prstGeom prst="rect">
            <a:avLst/>
          </a:prstGeom>
        </p:spPr>
      </p:pic>
      <p:sp>
        <p:nvSpPr>
          <p:cNvPr id="25" name="Text 18"/>
          <p:cNvSpPr txBox="1"/>
          <p:nvPr/>
        </p:nvSpPr>
        <p:spPr>
          <a:xfrm>
            <a:off x="9464040" y="3136392"/>
            <a:ext cx="20574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Celebration done right</a:t>
            </a:r>
            <a:endParaRPr lang="en-US" sz="1300" dirty="0"/>
          </a:p>
        </p:txBody>
      </p:sp>
      <p:sp>
        <p:nvSpPr>
          <p:cNvPr id="26" name="Text 19"/>
          <p:cNvSpPr txBox="1"/>
          <p:nvPr/>
        </p:nvSpPr>
        <p:spPr>
          <a:xfrm>
            <a:off x="8869680" y="3630168"/>
            <a:ext cx="2651760" cy="23774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Confetti, haptics and the coach's own line run through one CelebrationHost.</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The server is only told a moment was delivered after it has actually been on screen, so a crash never swallows a rank-up.</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Buddy huddles: private challenges of up to four people, shared by deep link.</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14</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12  COMPETITIVE POSITIONING</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Why it beats the field</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840480"/>
                <a:gridCol w="1463040"/>
                <a:gridCol w="1463040"/>
                <a:gridCol w="1463040"/>
                <a:gridCol w="1463040"/>
                <a:gridCol w="1463040"/>
              </a:tblGrid>
              <a:tr h="365760">
                <a:tc>
                  <a:txBody>
                    <a:bodyPr/>
                    <a:lstStyle/>
                    <a:p>
                      <a:pPr algn="l" indent="0" marL="0">
                        <a:buNone/>
                      </a:pPr>
                      <a:r>
                        <a:rPr lang="en-US" sz="1100" b="1" dirty="0">
                          <a:solidFill>
                            <a:srgbClr val="2FD9F4"/>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algn="ctr" indent="0" marL="0">
                        <a:buNone/>
                      </a:pPr>
                      <a:r>
                        <a:rPr lang="en-US" sz="1100" b="1" dirty="0">
                          <a:solidFill>
                            <a:srgbClr val="2FD9F4"/>
                          </a:solidFill>
                          <a:latin typeface="Arial" pitchFamily="34" charset="0"/>
                          <a:ea typeface="Arial" pitchFamily="34" charset="-122"/>
                          <a:cs typeface="Arial" pitchFamily="34" charset="-120"/>
                        </a:rPr>
                        <a:t>AquaZeroFit</a:t>
                      </a:r>
                      <a:endParaRPr lang="en-US" sz="11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algn="ctr" indent="0" marL="0">
                        <a:buNone/>
                      </a:pPr>
                      <a:r>
                        <a:rPr lang="en-US" sz="1100" b="1" dirty="0">
                          <a:solidFill>
                            <a:srgbClr val="2FD9F4"/>
                          </a:solidFill>
                          <a:latin typeface="Arial" pitchFamily="34" charset="0"/>
                          <a:ea typeface="Arial" pitchFamily="34" charset="-122"/>
                          <a:cs typeface="Arial" pitchFamily="34" charset="-120"/>
                        </a:rPr>
                        <a:t>MyFitnessPal</a:t>
                      </a:r>
                      <a:endParaRPr lang="en-US" sz="11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algn="ctr" indent="0" marL="0">
                        <a:buNone/>
                      </a:pPr>
                      <a:r>
                        <a:rPr lang="en-US" sz="1100" b="1" dirty="0">
                          <a:solidFill>
                            <a:srgbClr val="2FD9F4"/>
                          </a:solidFill>
                          <a:latin typeface="Arial" pitchFamily="34" charset="0"/>
                          <a:ea typeface="Arial" pitchFamily="34" charset="-122"/>
                          <a:cs typeface="Arial" pitchFamily="34" charset="-120"/>
                        </a:rPr>
                        <a:t>MacroFactor</a:t>
                      </a:r>
                      <a:endParaRPr lang="en-US" sz="11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algn="ctr" indent="0" marL="0">
                        <a:buNone/>
                      </a:pPr>
                      <a:r>
                        <a:rPr lang="en-US" sz="1100" b="1" dirty="0">
                          <a:solidFill>
                            <a:srgbClr val="2FD9F4"/>
                          </a:solidFill>
                          <a:latin typeface="Arial" pitchFamily="34" charset="0"/>
                          <a:ea typeface="Arial" pitchFamily="34" charset="-122"/>
                          <a:cs typeface="Arial" pitchFamily="34" charset="-120"/>
                        </a:rPr>
                        <a:t>Hevy / Strong</a:t>
                      </a:r>
                      <a:endParaRPr lang="en-US" sz="11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algn="ctr" indent="0" marL="0">
                        <a:buNone/>
                      </a:pPr>
                      <a:r>
                        <a:rPr lang="en-US" sz="1100" b="1" dirty="0">
                          <a:solidFill>
                            <a:srgbClr val="2FD9F4"/>
                          </a:solidFill>
                          <a:latin typeface="Arial" pitchFamily="34" charset="0"/>
                          <a:ea typeface="Arial" pitchFamily="34" charset="-122"/>
                          <a:cs typeface="Arial" pitchFamily="34" charset="-120"/>
                        </a:rPr>
                        <a:t>Noom</a:t>
                      </a:r>
                      <a:endParaRPr lang="en-US" sz="11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Photo logging with mandatory confirm step</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C857"/>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C857"/>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C857"/>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Barcode scanning on the free tier</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 free tier</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9DB2BA"/>
                          </a:solidFill>
                          <a:latin typeface="Arial" pitchFamily="34" charset="0"/>
                          <a:ea typeface="Arial" pitchFamily="34" charset="-122"/>
                          <a:cs typeface="Arial" pitchFamily="34" charset="-120"/>
                        </a:rPr>
                        <a:t>n/a</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Formula shown for every target (Why sheet)</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C857"/>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9DB2BA"/>
                          </a:solidFill>
                          <a:latin typeface="Arial" pitchFamily="34" charset="0"/>
                          <a:ea typeface="Arial" pitchFamily="34" charset="-122"/>
                          <a:cs typeface="Arial" pitchFamily="34" charset="-120"/>
                        </a:rPr>
                        <a:t>n/a</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Adaptive expenditure model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Guided sessions with lock-screen rest timer</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C857"/>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AI coach with coded crisis and medical guardrails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9DB2BA"/>
                          </a:solidFill>
                          <a:latin typeface="Arial" pitchFamily="34" charset="0"/>
                          <a:ea typeface="Arial" pitchFamily="34" charset="-122"/>
                          <a:cs typeface="Arial" pitchFamily="34" charset="-120"/>
                        </a:rPr>
                        <a:t>Undocumented</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9DB2BA"/>
                          </a:solidFill>
                          <a:latin typeface="Arial" pitchFamily="34" charset="0"/>
                          <a:ea typeface="Arial" pitchFamily="34" charset="-122"/>
                          <a:cs typeface="Arial" pitchFamily="34" charset="-120"/>
                        </a:rPr>
                        <a:t>Undocumented</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9DB2BA"/>
                          </a:solidFill>
                          <a:latin typeface="Arial" pitchFamily="34" charset="0"/>
                          <a:ea typeface="Arial" pitchFamily="34" charset="-122"/>
                          <a:cs typeface="Arial" pitchFamily="34" charset="-120"/>
                        </a:rPr>
                        <a:t>n/a</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9DB2BA"/>
                          </a:solidFill>
                          <a:latin typeface="Arial" pitchFamily="34" charset="0"/>
                          <a:ea typeface="Arial" pitchFamily="34" charset="-122"/>
                          <a:cs typeface="Arial" pitchFamily="34" charset="-120"/>
                        </a:rPr>
                        <a:t>Undocumented</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Offline-first logging with idempotent sync</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C857"/>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C857"/>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Per-record data licence shown in the app</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Every feature available on the free tier</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C857"/>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65760">
                <a:tc>
                  <a:txBody>
                    <a:bodyPr/>
                    <a:lstStyle/>
                    <a:p>
                      <a:pPr algn="l" indent="0" marL="0">
                        <a:buNone/>
                      </a:pPr>
                      <a:r>
                        <a:rPr lang="en-US" sz="1050" dirty="0">
                          <a:solidFill>
                            <a:srgbClr val="E8F0F2"/>
                          </a:solidFill>
                          <a:latin typeface="Arial" pitchFamily="34" charset="0"/>
                          <a:ea typeface="Arial" pitchFamily="34" charset="-122"/>
                          <a:cs typeface="Arial" pitchFamily="34" charset="-120"/>
                        </a:rPr>
                        <a:t>Open source (AGPL-3.0-or-later)</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b="1" dirty="0">
                          <a:solidFill>
                            <a:srgbClr val="45DFA4"/>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2232B"/>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algn="ctr" indent="0" marL="0">
                        <a:buNone/>
                      </a:pPr>
                      <a:r>
                        <a:rPr lang="en-US" sz="1050" dirty="0">
                          <a:solidFill>
                            <a:srgbClr val="FF5252"/>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bl>
          </a:graphicData>
        </a:graphic>
      </p:graphicFrame>
      <p:sp>
        <p:nvSpPr>
          <p:cNvPr id="7" name="Text 4"/>
          <p:cNvSpPr txBox="1"/>
          <p:nvPr/>
        </p:nvSpPr>
        <p:spPr>
          <a:xfrm>
            <a:off x="502920" y="5486400"/>
            <a:ext cx="11155680" cy="685800"/>
          </a:xfrm>
          <a:prstGeom prst="rect">
            <a:avLst/>
          </a:prstGeom>
          <a:noFill/>
          <a:ln/>
        </p:spPr>
        <p:txBody>
          <a:bodyPr wrap="square" lIns="0" tIns="0" rIns="0" bIns="0" rtlCol="0" anchor="t"/>
          <a:lstStyle/>
          <a:p>
            <a:pPr algn="l" indent="0" marL="0">
              <a:buNone/>
            </a:pPr>
            <a:r>
              <a:rPr lang="en-US" sz="950" i="1" dirty="0">
                <a:solidFill>
                  <a:srgbClr val="9DB2BA"/>
                </a:solidFill>
                <a:latin typeface="Arial" pitchFamily="34" charset="0"/>
                <a:ea typeface="Arial" pitchFamily="34" charset="-122"/>
                <a:cs typeface="Arial" pitchFamily="34" charset="-120"/>
              </a:rPr>
              <a:t>Competitor cells summarise features each vendor documents publicly on its own website and support pages, reviewed in September 2026 [24]. Partial means the capability exists with a material restriction, such as a paid tier or no confirmation step. Undocumented means the vendor does not publish how the behaviour works, which is itself the point: AquaZeroFit publishes its classifier, its formulas and its source.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013"/>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15</a:t>
            </a:r>
            <a:endParaRPr lang="en-US" sz="900" dirty="0"/>
          </a:p>
        </p:txBody>
      </p:sp>
      <p:pic>
        <p:nvPicPr>
          <p:cNvPr id="4" name="Image 0" descr="C:\Users\lumin\AppData\Local\Temp\azf-deck\img\akin.jpg">    </p:cNvPr>
          <p:cNvPicPr>
            <a:picLocks noChangeAspect="1"/>
          </p:cNvPicPr>
          <p:nvPr/>
        </p:nvPicPr>
        <p:blipFill>
          <a:blip r:embed="rId1">
            <a:alphaModFix amt="85000"/>
          </a:blip>
          <a:stretch>
            <a:fillRect/>
          </a:stretch>
        </p:blipFill>
        <p:spPr>
          <a:xfrm>
            <a:off x="7863840" y="365760"/>
            <a:ext cx="4114800" cy="6126480"/>
          </a:xfrm>
          <a:prstGeom prst="rect">
            <a:avLst/>
          </a:prstGeom>
        </p:spPr>
      </p:pic>
      <p:sp>
        <p:nvSpPr>
          <p:cNvPr id="5" name="Text 2"/>
          <p:cNvSpPr txBox="1"/>
          <p:nvPr/>
        </p:nvSpPr>
        <p:spPr>
          <a:xfrm>
            <a:off x="640080" y="2103120"/>
            <a:ext cx="7315200" cy="237744"/>
          </a:xfrm>
          <a:prstGeom prst="rect">
            <a:avLst/>
          </a:prstGeom>
          <a:noFill/>
          <a:ln/>
        </p:spPr>
        <p:txBody>
          <a:bodyPr wrap="square" lIns="0" tIns="0" rIns="0" bIns="0" rtlCol="0" anchor="ctr"/>
          <a:lstStyle/>
          <a:p>
            <a:pPr algn="l" indent="0" marL="0">
              <a:buNone/>
            </a:pPr>
            <a:r>
              <a:rPr lang="en-US" sz="950" b="1" spc="150" kern="0" dirty="0">
                <a:solidFill>
                  <a:srgbClr val="2FD9F4"/>
                </a:solidFill>
                <a:latin typeface="Arial" pitchFamily="34" charset="0"/>
                <a:ea typeface="Arial" pitchFamily="34" charset="-122"/>
                <a:cs typeface="Arial" pitchFamily="34" charset="-120"/>
              </a:rPr>
              <a:t>PART TWO</a:t>
            </a:r>
            <a:endParaRPr lang="en-US" sz="950" dirty="0"/>
          </a:p>
        </p:txBody>
      </p:sp>
      <p:sp>
        <p:nvSpPr>
          <p:cNvPr id="6" name="Text 3"/>
          <p:cNvSpPr txBox="1"/>
          <p:nvPr/>
        </p:nvSpPr>
        <p:spPr>
          <a:xfrm>
            <a:off x="640080" y="2377440"/>
            <a:ext cx="73152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Technical architecture</a:t>
            </a:r>
            <a:endParaRPr lang="en-US" sz="4400" dirty="0"/>
          </a:p>
        </p:txBody>
      </p:sp>
      <p:sp>
        <p:nvSpPr>
          <p:cNvPr id="7" name="Text 4"/>
          <p:cNvSpPr txBox="1"/>
          <p:nvPr/>
        </p:nvSpPr>
        <p:spPr>
          <a:xfrm>
            <a:off x="640080" y="3383280"/>
            <a:ext cx="6583680" cy="1463040"/>
          </a:xfrm>
          <a:prstGeom prst="rect">
            <a:avLst/>
          </a:prstGeom>
          <a:noFill/>
          <a:ln/>
        </p:spPr>
        <p:txBody>
          <a:bodyPr wrap="square" lIns="0" tIns="0" rIns="0" bIns="0" rtlCol="0" anchor="t"/>
          <a:lstStyle/>
          <a:p>
            <a:pPr algn="l" indent="0" marL="0">
              <a:buNone/>
            </a:pPr>
            <a:r>
              <a:rPr lang="en-US" sz="1500" dirty="0">
                <a:solidFill>
                  <a:srgbClr val="E8F0F2"/>
                </a:solidFill>
                <a:latin typeface="Arial" pitchFamily="34" charset="0"/>
                <a:ea typeface="Arial" pitchFamily="34" charset="-122"/>
                <a:cs typeface="Arial" pitchFamily="34" charset="-120"/>
              </a:rPr>
              <a:t>How the Android client is put together: the stack, the layered package graph, unidirectional state, the offline outbox, networking and secrets, dependency injection, native platform features, the backend it speaks to, and the engineering that gets it onto Google Play.</a:t>
            </a:r>
            <a:endParaRPr lang="en-US" sz="1500" dirty="0"/>
          </a:p>
        </p:txBody>
      </p:sp>
      <p:sp>
        <p:nvSpPr>
          <p:cNvPr id="8" name="Text 5"/>
          <p:cNvSpPr txBox="1"/>
          <p:nvPr/>
        </p:nvSpPr>
        <p:spPr>
          <a:xfrm>
            <a:off x="640080" y="5029200"/>
            <a:ext cx="6400800" cy="365760"/>
          </a:xfrm>
          <a:prstGeom prst="rect">
            <a:avLst/>
          </a:prstGeom>
          <a:noFill/>
          <a:ln/>
        </p:spPr>
        <p:txBody>
          <a:bodyPr wrap="square" lIns="0" tIns="0" rIns="0" bIns="0" rtlCol="0" anchor="t"/>
          <a:lstStyle/>
          <a:p>
            <a:pPr algn="l" indent="0" marL="0">
              <a:buNone/>
            </a:pPr>
            <a:r>
              <a:rPr lang="en-US" sz="1100" i="1" dirty="0">
                <a:solidFill>
                  <a:srgbClr val="9DB2BA"/>
                </a:solidFill>
                <a:latin typeface="Arial" pitchFamily="34" charset="0"/>
                <a:ea typeface="Arial" pitchFamily="34" charset="-122"/>
                <a:cs typeface="Arial" pitchFamily="34" charset="-120"/>
              </a:rPr>
              <a:t>Numbers on the following slides are measured from the repository, not estimated [3][4].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16</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13  ARCHITECTURE OVERVIEW</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System context: three clients, one frozen API contract</a:t>
            </a:r>
            <a:endParaRPr lang="en-US" sz="2800" dirty="0"/>
          </a:p>
        </p:txBody>
      </p:sp>
      <p:sp>
        <p:nvSpPr>
          <p:cNvPr id="6" name="Shape 4"/>
          <p:cNvSpPr/>
          <p:nvPr/>
        </p:nvSpPr>
        <p:spPr>
          <a:xfrm>
            <a:off x="640080" y="1554480"/>
            <a:ext cx="2377440" cy="914400"/>
          </a:xfrm>
          <a:prstGeom prst="roundRect">
            <a:avLst>
              <a:gd name="adj" fmla="val 8000"/>
            </a:avLst>
          </a:prstGeom>
          <a:solidFill>
            <a:srgbClr val="12303A"/>
          </a:solidFill>
          <a:ln w="9525">
            <a:solidFill>
              <a:srgbClr val="2FD9F4"/>
            </a:solidFill>
            <a:prstDash val="solid"/>
          </a:ln>
        </p:spPr>
      </p:sp>
      <p:sp>
        <p:nvSpPr>
          <p:cNvPr id="7" name="Text 5"/>
          <p:cNvSpPr txBox="1"/>
          <p:nvPr/>
        </p:nvSpPr>
        <p:spPr>
          <a:xfrm>
            <a:off x="713232" y="1554480"/>
            <a:ext cx="2231136" cy="914400"/>
          </a:xfrm>
          <a:prstGeom prst="rect">
            <a:avLst/>
          </a:prstGeom>
          <a:noFill/>
          <a:ln/>
        </p:spPr>
        <p:txBody>
          <a:bodyPr wrap="square" lIns="0" tIns="0" rIns="0" bIns="0" rtlCol="0" anchor="ctr"/>
          <a:lstStyle/>
          <a:p>
            <a:pPr algn="ctr" indent="0" marL="0">
              <a:buNone/>
            </a:pPr>
            <a:r>
              <a:rPr lang="en-US" sz="1050" b="1" dirty="0">
                <a:solidFill>
                  <a:srgbClr val="E8F0F2"/>
                </a:solidFill>
                <a:latin typeface="Arial" pitchFamily="34" charset="0"/>
                <a:ea typeface="Arial" pitchFamily="34" charset="-122"/>
                <a:cs typeface="Arial" pitchFamily="34" charset="-120"/>
              </a:rPr>
              <a:t>Android app</a:t>
            </a:r>
            <a:endParaRPr lang="en-US" sz="1050" dirty="0"/>
          </a:p>
          <a:p>
            <a:pPr algn="ctr" indent="0" marL="0">
              <a:buNone/>
            </a:pPr>
            <a:r>
              <a:rPr lang="en-US" sz="1050" b="1" dirty="0">
                <a:solidFill>
                  <a:srgbClr val="E8F0F2"/>
                </a:solidFill>
                <a:latin typeface="Arial" pitchFamily="34" charset="0"/>
                <a:ea typeface="Arial" pitchFamily="34" charset="-122"/>
                <a:cs typeface="Arial" pitchFamily="34" charset="-120"/>
              </a:rPr>
              <a:t>Kotlin, Compose, Room, Hilt</a:t>
            </a:r>
            <a:endParaRPr lang="en-US" sz="1050" dirty="0"/>
          </a:p>
        </p:txBody>
      </p:sp>
      <p:sp>
        <p:nvSpPr>
          <p:cNvPr id="8" name="Shape 6"/>
          <p:cNvSpPr/>
          <p:nvPr/>
        </p:nvSpPr>
        <p:spPr>
          <a:xfrm>
            <a:off x="640080" y="2743200"/>
            <a:ext cx="2377440" cy="822960"/>
          </a:xfrm>
          <a:prstGeom prst="roundRect">
            <a:avLst>
              <a:gd name="adj" fmla="val 8889"/>
            </a:avLst>
          </a:prstGeom>
          <a:solidFill>
            <a:srgbClr val="1C2C34"/>
          </a:solidFill>
          <a:ln w="9525">
            <a:solidFill>
              <a:srgbClr val="263841"/>
            </a:solidFill>
            <a:prstDash val="solid"/>
          </a:ln>
        </p:spPr>
      </p:sp>
      <p:sp>
        <p:nvSpPr>
          <p:cNvPr id="9" name="Text 7"/>
          <p:cNvSpPr txBox="1"/>
          <p:nvPr/>
        </p:nvSpPr>
        <p:spPr>
          <a:xfrm>
            <a:off x="713232" y="2743200"/>
            <a:ext cx="2231136" cy="822960"/>
          </a:xfrm>
          <a:prstGeom prst="rect">
            <a:avLst/>
          </a:prstGeom>
          <a:noFill/>
          <a:ln/>
        </p:spPr>
        <p:txBody>
          <a:bodyPr wrap="square" lIns="0" tIns="0" rIns="0" bIns="0" rtlCol="0" anchor="ctr"/>
          <a:lstStyle/>
          <a:p>
            <a:pPr algn="ctr" indent="0" marL="0">
              <a:buNone/>
            </a:pPr>
            <a:r>
              <a:rPr lang="en-US" sz="1000" dirty="0">
                <a:solidFill>
                  <a:srgbClr val="E8F0F2"/>
                </a:solidFill>
                <a:latin typeface="Arial" pitchFamily="34" charset="0"/>
                <a:ea typeface="Arial" pitchFamily="34" charset="-122"/>
                <a:cs typeface="Arial" pitchFamily="34" charset="-120"/>
              </a:rPr>
              <a:t>Web app</a:t>
            </a:r>
            <a:endParaRPr lang="en-US" sz="1000" dirty="0"/>
          </a:p>
          <a:p>
            <a:pPr algn="ctr" indent="0" marL="0">
              <a:buNone/>
            </a:pPr>
            <a:r>
              <a:rPr lang="en-US" sz="1000" dirty="0">
                <a:solidFill>
                  <a:srgbClr val="E8F0F2"/>
                </a:solidFill>
                <a:latin typeface="Arial" pitchFamily="34" charset="0"/>
                <a:ea typeface="Arial" pitchFamily="34" charset="-122"/>
                <a:cs typeface="Arial" pitchFamily="34" charset="-120"/>
              </a:rPr>
              <a:t>React 18, TypeScript, Vite</a:t>
            </a:r>
            <a:endParaRPr lang="en-US" sz="1000" dirty="0"/>
          </a:p>
        </p:txBody>
      </p:sp>
      <p:sp>
        <p:nvSpPr>
          <p:cNvPr id="10" name="Shape 8"/>
          <p:cNvSpPr/>
          <p:nvPr/>
        </p:nvSpPr>
        <p:spPr>
          <a:xfrm>
            <a:off x="640080" y="3840480"/>
            <a:ext cx="2377440" cy="822960"/>
          </a:xfrm>
          <a:prstGeom prst="roundRect">
            <a:avLst>
              <a:gd name="adj" fmla="val 8889"/>
            </a:avLst>
          </a:prstGeom>
          <a:solidFill>
            <a:srgbClr val="1C2C34"/>
          </a:solidFill>
          <a:ln w="9525">
            <a:solidFill>
              <a:srgbClr val="263841"/>
            </a:solidFill>
            <a:prstDash val="solid"/>
          </a:ln>
        </p:spPr>
      </p:sp>
      <p:sp>
        <p:nvSpPr>
          <p:cNvPr id="11" name="Text 9"/>
          <p:cNvSpPr txBox="1"/>
          <p:nvPr/>
        </p:nvSpPr>
        <p:spPr>
          <a:xfrm>
            <a:off x="713232" y="3840480"/>
            <a:ext cx="2231136" cy="822960"/>
          </a:xfrm>
          <a:prstGeom prst="rect">
            <a:avLst/>
          </a:prstGeom>
          <a:noFill/>
          <a:ln/>
        </p:spPr>
        <p:txBody>
          <a:bodyPr wrap="square" lIns="0" tIns="0" rIns="0" bIns="0" rtlCol="0" anchor="ctr"/>
          <a:lstStyle/>
          <a:p>
            <a:pPr algn="ctr" indent="0" marL="0">
              <a:buNone/>
            </a:pPr>
            <a:r>
              <a:rPr lang="en-US" sz="1000" dirty="0">
                <a:solidFill>
                  <a:srgbClr val="E8F0F2"/>
                </a:solidFill>
                <a:latin typeface="Arial" pitchFamily="34" charset="0"/>
                <a:ea typeface="Arial" pitchFamily="34" charset="-122"/>
                <a:cs typeface="Arial" pitchFamily="34" charset="-120"/>
              </a:rPr>
              <a:t>Telegram Mini App</a:t>
            </a:r>
            <a:endParaRPr lang="en-US" sz="1000" dirty="0"/>
          </a:p>
          <a:p>
            <a:pPr algn="ctr" indent="0" marL="0">
              <a:buNone/>
            </a:pPr>
            <a:r>
              <a:rPr lang="en-US" sz="1000" dirty="0">
                <a:solidFill>
                  <a:srgbClr val="E8F0F2"/>
                </a:solidFill>
                <a:latin typeface="Arial" pitchFamily="34" charset="0"/>
                <a:ea typeface="Arial" pitchFamily="34" charset="-122"/>
                <a:cs typeface="Arial" pitchFamily="34" charset="-120"/>
              </a:rPr>
              <a:t>same React build</a:t>
            </a:r>
            <a:endParaRPr lang="en-US" sz="1000" dirty="0"/>
          </a:p>
        </p:txBody>
      </p:sp>
      <p:sp>
        <p:nvSpPr>
          <p:cNvPr id="12" name="Shape 10"/>
          <p:cNvSpPr/>
          <p:nvPr/>
        </p:nvSpPr>
        <p:spPr>
          <a:xfrm>
            <a:off x="4206240" y="1554480"/>
            <a:ext cx="2926080" cy="3108960"/>
          </a:xfrm>
          <a:prstGeom prst="roundRect">
            <a:avLst>
              <a:gd name="adj" fmla="val 2500"/>
            </a:avLst>
          </a:prstGeom>
          <a:solidFill>
            <a:srgbClr val="16232A"/>
          </a:solidFill>
          <a:ln w="9525">
            <a:solidFill>
              <a:srgbClr val="263841"/>
            </a:solidFill>
            <a:prstDash val="solid"/>
          </a:ln>
        </p:spPr>
      </p:sp>
      <p:sp>
        <p:nvSpPr>
          <p:cNvPr id="13" name="Text 11"/>
          <p:cNvSpPr txBox="1"/>
          <p:nvPr/>
        </p:nvSpPr>
        <p:spPr>
          <a:xfrm>
            <a:off x="4279392" y="1554480"/>
            <a:ext cx="2779776" cy="3108960"/>
          </a:xfrm>
          <a:prstGeom prst="rect">
            <a:avLst/>
          </a:prstGeom>
          <a:noFill/>
          <a:ln/>
        </p:spPr>
        <p:txBody>
          <a:bodyPr wrap="square" lIns="0" tIns="0" rIns="0" bIns="0" rtlCol="0" anchor="ctr"/>
          <a:lstStyle/>
          <a:p>
            <a:pPr algn="ctr" indent="0" marL="0">
              <a:buNone/>
            </a:pPr>
            <a:endParaRPr lang="en-US" sz="1050" dirty="0"/>
          </a:p>
        </p:txBody>
      </p:sp>
      <p:sp>
        <p:nvSpPr>
          <p:cNvPr id="14" name="Text 12"/>
          <p:cNvSpPr txBox="1"/>
          <p:nvPr/>
        </p:nvSpPr>
        <p:spPr>
          <a:xfrm>
            <a:off x="4343400" y="1645920"/>
            <a:ext cx="2743200" cy="237744"/>
          </a:xfrm>
          <a:prstGeom prst="rect">
            <a:avLst/>
          </a:prstGeom>
          <a:noFill/>
          <a:ln/>
        </p:spPr>
        <p:txBody>
          <a:bodyPr wrap="square" lIns="0" tIns="0" rIns="0" bIns="0" rtlCol="0" anchor="ctr"/>
          <a:lstStyle/>
          <a:p>
            <a:pPr algn="l" indent="0" marL="0">
              <a:buNone/>
            </a:pPr>
            <a:r>
              <a:rPr lang="en-US" sz="950" b="1" spc="150" kern="0" dirty="0">
                <a:solidFill>
                  <a:srgbClr val="2FD9F4"/>
                </a:solidFill>
                <a:latin typeface="Arial" pitchFamily="34" charset="0"/>
                <a:ea typeface="Arial" pitchFamily="34" charset="-122"/>
                <a:cs typeface="Arial" pitchFamily="34" charset="-120"/>
              </a:rPr>
              <a:t>API SERVICE, /API/V1</a:t>
            </a:r>
            <a:endParaRPr lang="en-US" sz="950" dirty="0"/>
          </a:p>
        </p:txBody>
      </p:sp>
      <p:sp>
        <p:nvSpPr>
          <p:cNvPr id="15" name="Text 13"/>
          <p:cNvSpPr txBox="1"/>
          <p:nvPr/>
        </p:nvSpPr>
        <p:spPr>
          <a:xfrm>
            <a:off x="4389120" y="1965960"/>
            <a:ext cx="2651760" cy="2651760"/>
          </a:xfrm>
          <a:prstGeom prst="rect">
            <a:avLst/>
          </a:prstGeom>
          <a:noFill/>
          <a:ln/>
        </p:spPr>
        <p:txBody>
          <a:bodyPr wrap="square" lIns="0" tIns="0" rIns="0" bIns="0" rtlCol="0" anchor="t"/>
          <a:lstStyle/>
          <a:p>
            <a:pPr marL="177800" indent="-177800">
              <a:spcAft>
                <a:spcPts val="300"/>
              </a:spcAft>
              <a:buSzPct val="100000"/>
              <a:buChar char="•"/>
            </a:pPr>
            <a:r>
              <a:rPr lang="en-US" sz="950" dirty="0">
                <a:solidFill>
                  <a:srgbClr val="E8F0F2"/>
                </a:solidFill>
                <a:latin typeface="Arial" pitchFamily="34" charset="0"/>
                <a:ea typeface="Arial" pitchFamily="34" charset="-122"/>
                <a:cs typeface="Arial" pitchFamily="34" charset="-120"/>
              </a:rPr>
              <a:t>Node.js 20, Express, TypeScript</a:t>
            </a:r>
            <a:endParaRPr lang="en-US" sz="950" dirty="0"/>
          </a:p>
          <a:p>
            <a:pPr marL="177800" indent="-177800">
              <a:spcAft>
                <a:spcPts val="300"/>
              </a:spcAft>
              <a:buSzPct val="100000"/>
              <a:buChar char="•"/>
            </a:pPr>
            <a:r>
              <a:rPr lang="en-US" sz="950" dirty="0">
                <a:solidFill>
                  <a:srgbClr val="E8F0F2"/>
                </a:solidFill>
                <a:latin typeface="Arial" pitchFamily="34" charset="0"/>
                <a:ea typeface="Arial" pitchFamily="34" charset="-122"/>
                <a:cs typeface="Arial" pitchFamily="34" charset="-120"/>
              </a:rPr>
              <a:t>22 feature modules, 58 route handlers</a:t>
            </a:r>
            <a:endParaRPr lang="en-US" sz="950" dirty="0"/>
          </a:p>
          <a:p>
            <a:pPr marL="177800" indent="-177800">
              <a:spcAft>
                <a:spcPts val="300"/>
              </a:spcAft>
              <a:buSzPct val="100000"/>
              <a:buChar char="•"/>
            </a:pPr>
            <a:r>
              <a:rPr lang="en-US" sz="950" dirty="0">
                <a:solidFill>
                  <a:srgbClr val="E8F0F2"/>
                </a:solidFill>
                <a:latin typeface="Arial" pitchFamily="34" charset="0"/>
                <a:ea typeface="Arial" pitchFamily="34" charset="-122"/>
                <a:cs typeface="Arial" pitchFamily="34" charset="-120"/>
              </a:rPr>
              <a:t>Helmet CSP, per-IP rate limits</a:t>
            </a:r>
            <a:endParaRPr lang="en-US" sz="950" dirty="0"/>
          </a:p>
          <a:p>
            <a:pPr marL="177800" indent="-177800">
              <a:spcAft>
                <a:spcPts val="300"/>
              </a:spcAft>
              <a:buSzPct val="100000"/>
              <a:buChar char="•"/>
            </a:pPr>
            <a:r>
              <a:rPr lang="en-US" sz="950" dirty="0">
                <a:solidFill>
                  <a:srgbClr val="E8F0F2"/>
                </a:solidFill>
                <a:latin typeface="Arial" pitchFamily="34" charset="0"/>
                <a:ea typeface="Arial" pitchFamily="34" charset="-122"/>
                <a:cs typeface="Arial" pitchFamily="34" charset="-120"/>
              </a:rPr>
              <a:t>JWT access 15 min, rotating refresh 30 days</a:t>
            </a:r>
            <a:endParaRPr lang="en-US" sz="950" dirty="0"/>
          </a:p>
          <a:p>
            <a:pPr marL="177800" indent="-177800">
              <a:spcAft>
                <a:spcPts val="300"/>
              </a:spcAft>
              <a:buSzPct val="100000"/>
              <a:buChar char="•"/>
            </a:pPr>
            <a:r>
              <a:rPr lang="en-US" sz="950" dirty="0">
                <a:solidFill>
                  <a:srgbClr val="E8F0F2"/>
                </a:solidFill>
                <a:latin typeface="Arial" pitchFamily="34" charset="0"/>
                <a:ea typeface="Arial" pitchFamily="34" charset="-122"/>
                <a:cs typeface="Arial" pitchFamily="34" charset="-120"/>
              </a:rPr>
              <a:t>Idempotency-Key replay window 24 h</a:t>
            </a:r>
            <a:endParaRPr lang="en-US" sz="950" dirty="0"/>
          </a:p>
          <a:p>
            <a:pPr marL="177800" indent="-177800">
              <a:spcAft>
                <a:spcPts val="300"/>
              </a:spcAft>
              <a:buSzPct val="100000"/>
              <a:buChar char="•"/>
            </a:pPr>
            <a:r>
              <a:rPr lang="en-US" sz="950" dirty="0">
                <a:solidFill>
                  <a:srgbClr val="E8F0F2"/>
                </a:solidFill>
                <a:latin typeface="Arial" pitchFamily="34" charset="0"/>
                <a:ea typeface="Arial" pitchFamily="34" charset="-122"/>
                <a:cs typeface="Arial" pitchFamily="34" charset="-120"/>
              </a:rPr>
              <a:t>Append-only credit ledger</a:t>
            </a:r>
            <a:endParaRPr lang="en-US" sz="950" dirty="0"/>
          </a:p>
        </p:txBody>
      </p:sp>
      <p:sp>
        <p:nvSpPr>
          <p:cNvPr id="16" name="Shape 14"/>
          <p:cNvSpPr/>
          <p:nvPr/>
        </p:nvSpPr>
        <p:spPr>
          <a:xfrm>
            <a:off x="8321040" y="1554480"/>
            <a:ext cx="3383280" cy="1417320"/>
          </a:xfrm>
          <a:prstGeom prst="roundRect">
            <a:avLst>
              <a:gd name="adj" fmla="val 5161"/>
            </a:avLst>
          </a:prstGeom>
          <a:solidFill>
            <a:srgbClr val="1C2C34"/>
          </a:solidFill>
          <a:ln w="9525">
            <a:solidFill>
              <a:srgbClr val="263841"/>
            </a:solidFill>
            <a:prstDash val="solid"/>
          </a:ln>
        </p:spPr>
      </p:sp>
      <p:sp>
        <p:nvSpPr>
          <p:cNvPr id="17" name="Text 15"/>
          <p:cNvSpPr txBox="1"/>
          <p:nvPr/>
        </p:nvSpPr>
        <p:spPr>
          <a:xfrm>
            <a:off x="8394192" y="1554480"/>
            <a:ext cx="3236976" cy="1417320"/>
          </a:xfrm>
          <a:prstGeom prst="rect">
            <a:avLst/>
          </a:prstGeom>
          <a:noFill/>
          <a:ln/>
        </p:spPr>
        <p:txBody>
          <a:bodyPr wrap="square" lIns="0" tIns="0" rIns="0" bIns="0" rtlCol="0" anchor="ctr"/>
          <a:lstStyle/>
          <a:p>
            <a:pPr algn="ctr" indent="0" marL="0">
              <a:buNone/>
            </a:pPr>
            <a:r>
              <a:rPr lang="en-US" sz="1000" dirty="0">
                <a:solidFill>
                  <a:srgbClr val="E8F0F2"/>
                </a:solidFill>
                <a:latin typeface="Arial" pitchFamily="34" charset="0"/>
                <a:ea typeface="Arial" pitchFamily="34" charset="-122"/>
                <a:cs typeface="Arial" pitchFamily="34" charset="-120"/>
              </a:rPr>
              <a:t>Document store</a:t>
            </a:r>
            <a:endParaRPr lang="en-US" sz="1000" dirty="0"/>
          </a:p>
          <a:p>
            <a:pPr algn="ctr" indent="0" marL="0">
              <a:buNone/>
            </a:pPr>
            <a:r>
              <a:rPr lang="en-US" sz="1000" dirty="0">
                <a:solidFill>
                  <a:srgbClr val="E8F0F2"/>
                </a:solidFill>
                <a:latin typeface="Arial" pitchFamily="34" charset="0"/>
                <a:ea typeface="Arial" pitchFamily="34" charset="-122"/>
                <a:cs typeface="Arial" pitchFamily="34" charset="-120"/>
              </a:rPr>
              <a:t>JSON files in dev, PostgreSQL in production</a:t>
            </a:r>
            <a:endParaRPr lang="en-US" sz="1000" dirty="0"/>
          </a:p>
          <a:p>
            <a:pPr algn="ctr" indent="0" marL="0">
              <a:buNone/>
            </a:pPr>
            <a:r>
              <a:rPr lang="en-US" sz="1000" dirty="0">
                <a:solidFill>
                  <a:srgbClr val="E8F0F2"/>
                </a:solidFill>
                <a:latin typeface="Arial" pitchFamily="34" charset="0"/>
                <a:ea typeface="Arial" pitchFamily="34" charset="-122"/>
                <a:cs typeface="Arial" pitchFamily="34" charset="-120"/>
              </a:rPr>
              <a:t>10 logical containers</a:t>
            </a:r>
            <a:endParaRPr lang="en-US" sz="1000" dirty="0"/>
          </a:p>
        </p:txBody>
      </p:sp>
      <p:sp>
        <p:nvSpPr>
          <p:cNvPr id="18" name="Shape 16"/>
          <p:cNvSpPr/>
          <p:nvPr/>
        </p:nvSpPr>
        <p:spPr>
          <a:xfrm>
            <a:off x="8321040" y="3246120"/>
            <a:ext cx="3383280" cy="1417320"/>
          </a:xfrm>
          <a:prstGeom prst="roundRect">
            <a:avLst>
              <a:gd name="adj" fmla="val 5161"/>
            </a:avLst>
          </a:prstGeom>
          <a:solidFill>
            <a:srgbClr val="1C2C34"/>
          </a:solidFill>
          <a:ln w="9525">
            <a:solidFill>
              <a:srgbClr val="263841"/>
            </a:solidFill>
            <a:prstDash val="solid"/>
          </a:ln>
        </p:spPr>
      </p:sp>
      <p:sp>
        <p:nvSpPr>
          <p:cNvPr id="19" name="Text 17"/>
          <p:cNvSpPr txBox="1"/>
          <p:nvPr/>
        </p:nvSpPr>
        <p:spPr>
          <a:xfrm>
            <a:off x="8394192" y="3246120"/>
            <a:ext cx="3236976" cy="1417320"/>
          </a:xfrm>
          <a:prstGeom prst="rect">
            <a:avLst/>
          </a:prstGeom>
          <a:noFill/>
          <a:ln/>
        </p:spPr>
        <p:txBody>
          <a:bodyPr wrap="square" lIns="0" tIns="0" rIns="0" bIns="0" rtlCol="0" anchor="ctr"/>
          <a:lstStyle/>
          <a:p>
            <a:pPr algn="ctr" indent="0" marL="0">
              <a:buNone/>
            </a:pPr>
            <a:r>
              <a:rPr lang="en-US" sz="1000" dirty="0">
                <a:solidFill>
                  <a:srgbClr val="E8F0F2"/>
                </a:solidFill>
                <a:latin typeface="Arial" pitchFamily="34" charset="0"/>
                <a:ea typeface="Arial" pitchFamily="34" charset="-122"/>
                <a:cs typeface="Arial" pitchFamily="34" charset="-120"/>
              </a:rPr>
              <a:t>AI gateway</a:t>
            </a:r>
            <a:endParaRPr lang="en-US" sz="1000" dirty="0"/>
          </a:p>
          <a:p>
            <a:pPr algn="ctr" indent="0" marL="0">
              <a:buNone/>
            </a:pPr>
            <a:r>
              <a:rPr lang="en-US" sz="1000" dirty="0">
                <a:solidFill>
                  <a:srgbClr val="E8F0F2"/>
                </a:solidFill>
                <a:latin typeface="Arial" pitchFamily="34" charset="0"/>
                <a:ea typeface="Arial" pitchFamily="34" charset="-122"/>
                <a:cs typeface="Arial" pitchFamily="34" charset="-120"/>
              </a:rPr>
              <a:t>Groq, OpenAI, Gemini, NVIDIA NIM, Ollama</a:t>
            </a:r>
            <a:endParaRPr lang="en-US" sz="1000" dirty="0"/>
          </a:p>
          <a:p>
            <a:pPr algn="ctr" indent="0" marL="0">
              <a:buNone/>
            </a:pPr>
            <a:r>
              <a:rPr lang="en-US" sz="1000" dirty="0">
                <a:solidFill>
                  <a:srgbClr val="E8F0F2"/>
                </a:solidFill>
                <a:latin typeface="Arial" pitchFamily="34" charset="0"/>
                <a:ea typeface="Arial" pitchFamily="34" charset="-122"/>
                <a:cs typeface="Arial" pitchFamily="34" charset="-120"/>
              </a:rPr>
              <a:t>deterministic mock as the final fallback</a:t>
            </a:r>
            <a:endParaRPr lang="en-US" sz="1000" dirty="0"/>
          </a:p>
        </p:txBody>
      </p:sp>
      <p:sp>
        <p:nvSpPr>
          <p:cNvPr id="20" name="Shape 18"/>
          <p:cNvSpPr/>
          <p:nvPr/>
        </p:nvSpPr>
        <p:spPr>
          <a:xfrm>
            <a:off x="8321040" y="4937760"/>
            <a:ext cx="3383280" cy="822960"/>
          </a:xfrm>
          <a:prstGeom prst="roundRect">
            <a:avLst>
              <a:gd name="adj" fmla="val 8889"/>
            </a:avLst>
          </a:prstGeom>
          <a:solidFill>
            <a:srgbClr val="1C2C34"/>
          </a:solidFill>
          <a:ln w="9525">
            <a:solidFill>
              <a:srgbClr val="263841"/>
            </a:solidFill>
            <a:prstDash val="solid"/>
          </a:ln>
        </p:spPr>
      </p:sp>
      <p:sp>
        <p:nvSpPr>
          <p:cNvPr id="21" name="Text 19"/>
          <p:cNvSpPr txBox="1"/>
          <p:nvPr/>
        </p:nvSpPr>
        <p:spPr>
          <a:xfrm>
            <a:off x="8394192" y="4937760"/>
            <a:ext cx="3236976" cy="822960"/>
          </a:xfrm>
          <a:prstGeom prst="rect">
            <a:avLst/>
          </a:prstGeom>
          <a:noFill/>
          <a:ln/>
        </p:spPr>
        <p:txBody>
          <a:bodyPr wrap="square" lIns="0" tIns="0" rIns="0" bIns="0" rtlCol="0" anchor="ctr"/>
          <a:lstStyle/>
          <a:p>
            <a:pPr algn="ctr" indent="0" marL="0">
              <a:buNone/>
            </a:pPr>
            <a:r>
              <a:rPr lang="en-US" sz="1000" dirty="0">
                <a:solidFill>
                  <a:srgbClr val="E8F0F2"/>
                </a:solidFill>
                <a:latin typeface="Arial" pitchFamily="34" charset="0"/>
                <a:ea typeface="Arial" pitchFamily="34" charset="-122"/>
                <a:cs typeface="Arial" pitchFamily="34" charset="-120"/>
              </a:rPr>
              <a:t>Open data: wger exercises, Open Food Facts</a:t>
            </a:r>
            <a:endParaRPr lang="en-US" sz="1000" dirty="0"/>
          </a:p>
        </p:txBody>
      </p:sp>
      <p:sp>
        <p:nvSpPr>
          <p:cNvPr id="22" name="Shape 20"/>
          <p:cNvSpPr/>
          <p:nvPr/>
        </p:nvSpPr>
        <p:spPr>
          <a:xfrm>
            <a:off x="3017520" y="2011680"/>
            <a:ext cx="1188720" cy="0"/>
          </a:xfrm>
          <a:prstGeom prst="line">
            <a:avLst/>
          </a:prstGeom>
          <a:noFill/>
          <a:ln w="19050">
            <a:solidFill>
              <a:srgbClr val="2FD9F4"/>
            </a:solidFill>
            <a:prstDash val="solid"/>
            <a:tailEnd type="triangle"/>
          </a:ln>
        </p:spPr>
      </p:sp>
      <p:sp>
        <p:nvSpPr>
          <p:cNvPr id="23" name="Shape 21"/>
          <p:cNvSpPr/>
          <p:nvPr/>
        </p:nvSpPr>
        <p:spPr>
          <a:xfrm flipV="1">
            <a:off x="3017520" y="2743200"/>
            <a:ext cx="1188720" cy="411480"/>
          </a:xfrm>
          <a:prstGeom prst="line">
            <a:avLst/>
          </a:prstGeom>
          <a:noFill/>
          <a:ln w="19050">
            <a:solidFill>
              <a:srgbClr val="2FD9F4"/>
            </a:solidFill>
            <a:prstDash val="solid"/>
            <a:tailEnd type="triangle"/>
          </a:ln>
        </p:spPr>
      </p:sp>
      <p:sp>
        <p:nvSpPr>
          <p:cNvPr id="24" name="Shape 22"/>
          <p:cNvSpPr/>
          <p:nvPr/>
        </p:nvSpPr>
        <p:spPr>
          <a:xfrm flipV="1">
            <a:off x="3017520" y="3291840"/>
            <a:ext cx="1188720" cy="960120"/>
          </a:xfrm>
          <a:prstGeom prst="line">
            <a:avLst/>
          </a:prstGeom>
          <a:noFill/>
          <a:ln w="19050">
            <a:solidFill>
              <a:srgbClr val="2FD9F4"/>
            </a:solidFill>
            <a:prstDash val="solid"/>
            <a:tailEnd type="triangle"/>
          </a:ln>
        </p:spPr>
      </p:sp>
      <p:sp>
        <p:nvSpPr>
          <p:cNvPr id="25" name="Shape 23"/>
          <p:cNvSpPr/>
          <p:nvPr/>
        </p:nvSpPr>
        <p:spPr>
          <a:xfrm>
            <a:off x="7132320" y="2286000"/>
            <a:ext cx="1188720" cy="0"/>
          </a:xfrm>
          <a:prstGeom prst="line">
            <a:avLst/>
          </a:prstGeom>
          <a:noFill/>
          <a:ln w="19050">
            <a:solidFill>
              <a:srgbClr val="2FD9F4"/>
            </a:solidFill>
            <a:prstDash val="solid"/>
            <a:tailEnd type="triangle"/>
          </a:ln>
        </p:spPr>
      </p:sp>
      <p:sp>
        <p:nvSpPr>
          <p:cNvPr id="26" name="Shape 24"/>
          <p:cNvSpPr/>
          <p:nvPr/>
        </p:nvSpPr>
        <p:spPr>
          <a:xfrm>
            <a:off x="7132320" y="3931920"/>
            <a:ext cx="1188720" cy="0"/>
          </a:xfrm>
          <a:prstGeom prst="line">
            <a:avLst/>
          </a:prstGeom>
          <a:noFill/>
          <a:ln w="19050">
            <a:solidFill>
              <a:srgbClr val="2FD9F4"/>
            </a:solidFill>
            <a:prstDash val="solid"/>
            <a:tailEnd type="triangle"/>
          </a:ln>
        </p:spPr>
      </p:sp>
      <p:sp>
        <p:nvSpPr>
          <p:cNvPr id="27" name="Shape 25"/>
          <p:cNvSpPr/>
          <p:nvPr/>
        </p:nvSpPr>
        <p:spPr>
          <a:xfrm>
            <a:off x="7132320" y="4480560"/>
            <a:ext cx="1188720" cy="868680"/>
          </a:xfrm>
          <a:prstGeom prst="line">
            <a:avLst/>
          </a:prstGeom>
          <a:noFill/>
          <a:ln w="19050">
            <a:solidFill>
              <a:srgbClr val="2FD9F4"/>
            </a:solidFill>
            <a:prstDash val="solid"/>
            <a:tailEnd type="triangle"/>
          </a:ln>
        </p:spPr>
      </p:sp>
      <p:sp>
        <p:nvSpPr>
          <p:cNvPr id="28" name="Text 26"/>
          <p:cNvSpPr txBox="1"/>
          <p:nvPr/>
        </p:nvSpPr>
        <p:spPr>
          <a:xfrm>
            <a:off x="640080" y="4892040"/>
            <a:ext cx="3291840" cy="1188720"/>
          </a:xfrm>
          <a:prstGeom prst="rect">
            <a:avLst/>
          </a:prstGeom>
          <a:noFill/>
          <a:ln/>
        </p:spPr>
        <p:txBody>
          <a:bodyPr wrap="square" lIns="0" tIns="0" rIns="0" bIns="0" rtlCol="0" anchor="t"/>
          <a:lstStyle/>
          <a:p>
            <a:pPr algn="l" indent="0" marL="0">
              <a:buNone/>
            </a:pPr>
            <a:r>
              <a:rPr lang="en-US" sz="1000" dirty="0">
                <a:solidFill>
                  <a:srgbClr val="9DB2BA"/>
                </a:solidFill>
                <a:latin typeface="Arial" pitchFamily="34" charset="0"/>
                <a:ea typeface="Arial" pitchFamily="34" charset="-122"/>
                <a:cs typeface="Arial" pitchFamily="34" charset="-120"/>
              </a:rPr>
              <a:t>The Android client is the surface where offline matters, so it is the only client with a local database, an outbox and a background sync worker. Shared safety constants live in one package consumed by web and API; Android re-declares them in Kotlin with tests that pin the values [3].</a:t>
            </a:r>
            <a:endParaRPr lang="en-US" sz="1000" dirty="0"/>
          </a:p>
        </p:txBody>
      </p:sp>
      <p:sp>
        <p:nvSpPr>
          <p:cNvPr id="29" name="Text 27"/>
          <p:cNvSpPr txBox="1"/>
          <p:nvPr/>
        </p:nvSpPr>
        <p:spPr>
          <a:xfrm>
            <a:off x="4206240" y="4892040"/>
            <a:ext cx="3840480" cy="1188720"/>
          </a:xfrm>
          <a:prstGeom prst="rect">
            <a:avLst/>
          </a:prstGeom>
          <a:noFill/>
          <a:ln/>
        </p:spPr>
        <p:txBody>
          <a:bodyPr wrap="square" lIns="0" tIns="0" rIns="0" bIns="0" rtlCol="0" anchor="t"/>
          <a:lstStyle/>
          <a:p>
            <a:pPr algn="l" indent="0" marL="0">
              <a:buNone/>
            </a:pPr>
            <a:r>
              <a:rPr lang="en-US" sz="1000" dirty="0">
                <a:solidFill>
                  <a:srgbClr val="9DB2BA"/>
                </a:solidFill>
                <a:latin typeface="Arial" pitchFamily="34" charset="0"/>
                <a:ea typeface="Arial" pitchFamily="34" charset="-122"/>
                <a:cs typeface="Arial" pitchFamily="34" charset="-120"/>
              </a:rPr>
              <a:t>Production host: app.aquazero.fit on Google Cloud Run with Cloud SQL. The debug build points at 10.0.2.2:4000, the emulator's route to the developer's machine [4].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17</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14  TOOLCHAIN AND LIBRARIES</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Android technology stack, pinned versions</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1371600"/>
                <a:gridCol w="3108960"/>
                <a:gridCol w="1737360"/>
                <a:gridCol w="4937760"/>
              </a:tblGrid>
              <a:tr h="384048">
                <a:tc>
                  <a:txBody>
                    <a:bodyPr/>
                    <a:lstStyle/>
                    <a:p>
                      <a:pPr indent="0" marL="0">
                        <a:buNone/>
                      </a:pPr>
                      <a:r>
                        <a:rPr lang="en-US" sz="1050" b="1" dirty="0">
                          <a:solidFill>
                            <a:srgbClr val="2FD9F4"/>
                          </a:solidFill>
                          <a:latin typeface="Arial" pitchFamily="34" charset="0"/>
                          <a:ea typeface="Arial" pitchFamily="34" charset="-122"/>
                          <a:cs typeface="Arial" pitchFamily="34" charset="-120"/>
                        </a:rPr>
                        <a:t>Layer</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indent="0" marL="0">
                        <a:buNone/>
                      </a:pPr>
                      <a:r>
                        <a:rPr lang="en-US" sz="1050" b="1" dirty="0">
                          <a:solidFill>
                            <a:srgbClr val="2FD9F4"/>
                          </a:solidFill>
                          <a:latin typeface="Arial" pitchFamily="34" charset="0"/>
                          <a:ea typeface="Arial" pitchFamily="34" charset="-122"/>
                          <a:cs typeface="Arial" pitchFamily="34" charset="-120"/>
                        </a:rPr>
                        <a:t>Technology</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indent="0" marL="0">
                        <a:buNone/>
                      </a:pPr>
                      <a:r>
                        <a:rPr lang="en-US" sz="1050" b="1" dirty="0">
                          <a:solidFill>
                            <a:srgbClr val="2FD9F4"/>
                          </a:solidFill>
                          <a:latin typeface="Arial" pitchFamily="34" charset="0"/>
                          <a:ea typeface="Arial" pitchFamily="34" charset="-122"/>
                          <a:cs typeface="Arial" pitchFamily="34" charset="-120"/>
                        </a:rPr>
                        <a:t>Version</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indent="0" marL="0">
                        <a:buNone/>
                      </a:pPr>
                      <a:r>
                        <a:rPr lang="en-US" sz="1050" b="1" dirty="0">
                          <a:solidFill>
                            <a:srgbClr val="2FD9F4"/>
                          </a:solidFill>
                          <a:latin typeface="Arial" pitchFamily="34" charset="0"/>
                          <a:ea typeface="Arial" pitchFamily="34" charset="-122"/>
                          <a:cs typeface="Arial" pitchFamily="34" charset="-120"/>
                        </a:rPr>
                        <a:t>Role in the app</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Language</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Kotlin, JVM target 17</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2.3.20</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All production and test code; coroutines and Flow for async [29]</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UI</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Jetpack Compose, Material 3, Compose BOM</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2026.08.00</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Every one of the 21 screens is declarative; no XML layouts [7]</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Navigation</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Navigation 3</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1.1.7</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Type-safe back stack; Hilt ViewModel integration without the Nav 2 artifact</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Persistence</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Room 3 with KSP</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3.0.2</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23 entities, 9 DAOs, exported schema, migration tests [8]</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DI</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Hilt (Dagger)</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2.60.1</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14 modules, 25 HiltViewModels, constructor injection only [9]</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Network</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Retrofit, OkHttp, kotlinx.serialization</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3.0.0 / 5.5.0</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Three clients: api, authless refresh, SSE streaming</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Background</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WorkManager</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2.11.2</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Outbox replay with constraints and backoff [10]</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Camera and ML</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CameraX, ML Kit barcode</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1.6.2 / 18.3.1</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Meal capture and on-device barcode scanning [13][14]</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Platform</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Health Connect, Glance, Play Billing</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1.1.0 / 1.2.0 / 9.1.0</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Steps and heart rate in, weight out; widget; premium subscription [11][12][15]</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Build</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Android Gradle Plugin, Gradle, detekt, ktlint</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9.3.2 / 9.5.0</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compileSdk 37, targetSdk 36, minSdk 26; R8 minified signed release</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bl>
          </a:graphicData>
        </a:graphic>
      </p:graphicFrame>
      <p:sp>
        <p:nvSpPr>
          <p:cNvPr id="7" name="Text 4"/>
          <p:cNvSpPr txBox="1"/>
          <p:nvPr/>
        </p:nvSpPr>
        <p:spPr>
          <a:xfrm>
            <a:off x="502920" y="5623560"/>
            <a:ext cx="11155680" cy="457200"/>
          </a:xfrm>
          <a:prstGeom prst="rect">
            <a:avLst/>
          </a:prstGeom>
          <a:noFill/>
          <a:ln/>
        </p:spPr>
        <p:txBody>
          <a:bodyPr wrap="square" lIns="0" tIns="0" rIns="0" bIns="0" rtlCol="0" anchor="t"/>
          <a:lstStyle/>
          <a:p>
            <a:pPr algn="l" indent="0" marL="0">
              <a:buNone/>
            </a:pPr>
            <a:r>
              <a:rPr lang="en-US" sz="1000" i="1" dirty="0">
                <a:solidFill>
                  <a:srgbClr val="9DB2BA"/>
                </a:solidFill>
                <a:latin typeface="Arial" pitchFamily="34" charset="0"/>
                <a:ea typeface="Arial" pitchFamily="34" charset="-122"/>
                <a:cs typeface="Arial" pitchFamily="34" charset="-120"/>
              </a:rPr>
              <a:t>minSdk 26 covers Android 8.0 and later; targetSdk 36 satisfies Google Play's current target API requirement. Versions are read from gradle/libs.versions.toml in the repository [4].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18</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15  LAYERED ARCHITECTURE</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One Gradle module, layered by package, one-way graph</a:t>
            </a:r>
            <a:endParaRPr lang="en-US" sz="2800" dirty="0"/>
          </a:p>
        </p:txBody>
      </p:sp>
      <p:sp>
        <p:nvSpPr>
          <p:cNvPr id="6" name="Shape 4"/>
          <p:cNvSpPr/>
          <p:nvPr/>
        </p:nvSpPr>
        <p:spPr>
          <a:xfrm>
            <a:off x="640080" y="1325880"/>
            <a:ext cx="6949440" cy="685800"/>
          </a:xfrm>
          <a:prstGeom prst="roundRect">
            <a:avLst>
              <a:gd name="adj" fmla="val 10667"/>
            </a:avLst>
          </a:prstGeom>
          <a:solidFill>
            <a:srgbClr val="12303A"/>
          </a:solidFill>
          <a:ln w="9525">
            <a:solidFill>
              <a:srgbClr val="2FD9F4"/>
            </a:solidFill>
            <a:prstDash val="solid"/>
          </a:ln>
        </p:spPr>
      </p:sp>
      <p:sp>
        <p:nvSpPr>
          <p:cNvPr id="7" name="Text 5"/>
          <p:cNvSpPr txBox="1"/>
          <p:nvPr/>
        </p:nvSpPr>
        <p:spPr>
          <a:xfrm>
            <a:off x="713232" y="1325880"/>
            <a:ext cx="6803136" cy="685800"/>
          </a:xfrm>
          <a:prstGeom prst="rect">
            <a:avLst/>
          </a:prstGeom>
          <a:noFill/>
          <a:ln/>
        </p:spPr>
        <p:txBody>
          <a:bodyPr wrap="square" lIns="0" tIns="0" rIns="0" bIns="0" rtlCol="0" anchor="ctr"/>
          <a:lstStyle/>
          <a:p>
            <a:pPr algn="ctr" indent="0" marL="0">
              <a:buNone/>
            </a:pPr>
            <a:r>
              <a:rPr lang="en-US" sz="1100" b="1" dirty="0">
                <a:solidFill>
                  <a:srgbClr val="E8F0F2"/>
                </a:solidFill>
                <a:latin typeface="Arial" pitchFamily="34" charset="0"/>
                <a:ea typeface="Arial" pitchFamily="34" charset="-122"/>
                <a:cs typeface="Arial" pitchFamily="34" charset="-120"/>
              </a:rPr>
              <a:t>app: MainActivity, navigation shell, Glance widget, DI wiring</a:t>
            </a:r>
            <a:endParaRPr lang="en-US" sz="1100" dirty="0"/>
          </a:p>
        </p:txBody>
      </p:sp>
      <p:sp>
        <p:nvSpPr>
          <p:cNvPr id="8" name="Shape 6"/>
          <p:cNvSpPr/>
          <p:nvPr/>
        </p:nvSpPr>
        <p:spPr>
          <a:xfrm>
            <a:off x="4114800" y="2011680"/>
            <a:ext cx="0" cy="320040"/>
          </a:xfrm>
          <a:prstGeom prst="line">
            <a:avLst/>
          </a:prstGeom>
          <a:noFill/>
          <a:ln w="19050">
            <a:solidFill>
              <a:srgbClr val="2FD9F4"/>
            </a:solidFill>
            <a:prstDash val="solid"/>
            <a:tailEnd type="triangle"/>
          </a:ln>
        </p:spPr>
      </p:sp>
      <p:sp>
        <p:nvSpPr>
          <p:cNvPr id="9" name="Shape 7"/>
          <p:cNvSpPr/>
          <p:nvPr/>
        </p:nvSpPr>
        <p:spPr>
          <a:xfrm>
            <a:off x="640080" y="2331720"/>
            <a:ext cx="6949440" cy="1143000"/>
          </a:xfrm>
          <a:prstGeom prst="roundRect">
            <a:avLst>
              <a:gd name="adj" fmla="val 6400"/>
            </a:avLst>
          </a:prstGeom>
          <a:solidFill>
            <a:srgbClr val="16232A"/>
          </a:solidFill>
          <a:ln w="9525">
            <a:solidFill>
              <a:srgbClr val="263841"/>
            </a:solidFill>
            <a:prstDash val="solid"/>
          </a:ln>
        </p:spPr>
      </p:sp>
      <p:sp>
        <p:nvSpPr>
          <p:cNvPr id="10" name="Text 8"/>
          <p:cNvSpPr txBox="1"/>
          <p:nvPr/>
        </p:nvSpPr>
        <p:spPr>
          <a:xfrm>
            <a:off x="713232" y="2331720"/>
            <a:ext cx="6803136" cy="1143000"/>
          </a:xfrm>
          <a:prstGeom prst="rect">
            <a:avLst/>
          </a:prstGeom>
          <a:noFill/>
          <a:ln/>
        </p:spPr>
        <p:txBody>
          <a:bodyPr wrap="square" lIns="0" tIns="0" rIns="0" bIns="0" rtlCol="0" anchor="ctr"/>
          <a:lstStyle/>
          <a:p>
            <a:pPr algn="ctr" indent="0" marL="0">
              <a:buNone/>
            </a:pPr>
            <a:endParaRPr lang="en-US" sz="1050" dirty="0"/>
          </a:p>
        </p:txBody>
      </p:sp>
      <p:sp>
        <p:nvSpPr>
          <p:cNvPr id="11" name="Text 9"/>
          <p:cNvSpPr txBox="1"/>
          <p:nvPr/>
        </p:nvSpPr>
        <p:spPr>
          <a:xfrm>
            <a:off x="777240" y="2395728"/>
            <a:ext cx="3657600" cy="237744"/>
          </a:xfrm>
          <a:prstGeom prst="rect">
            <a:avLst/>
          </a:prstGeom>
          <a:noFill/>
          <a:ln/>
        </p:spPr>
        <p:txBody>
          <a:bodyPr wrap="square" lIns="0" tIns="0" rIns="0" bIns="0" rtlCol="0" anchor="ctr"/>
          <a:lstStyle/>
          <a:p>
            <a:pPr algn="l" indent="0" marL="0">
              <a:buNone/>
            </a:pPr>
            <a:r>
              <a:rPr lang="en-US" sz="950" b="1" spc="150" kern="0" dirty="0">
                <a:solidFill>
                  <a:srgbClr val="2FD9F4"/>
                </a:solidFill>
                <a:latin typeface="Arial" pitchFamily="34" charset="0"/>
                <a:ea typeface="Arial" pitchFamily="34" charset="-122"/>
                <a:cs typeface="Arial" pitchFamily="34" charset="-120"/>
              </a:rPr>
              <a:t>FEATURE: 21 SCREENS, 25 VIEWMODELS</a:t>
            </a:r>
            <a:endParaRPr lang="en-US" sz="950" dirty="0"/>
          </a:p>
        </p:txBody>
      </p:sp>
      <p:sp>
        <p:nvSpPr>
          <p:cNvPr id="12" name="Shape 10"/>
          <p:cNvSpPr/>
          <p:nvPr/>
        </p:nvSpPr>
        <p:spPr>
          <a:xfrm>
            <a:off x="777240" y="2651760"/>
            <a:ext cx="1600200" cy="329184"/>
          </a:xfrm>
          <a:prstGeom prst="roundRect">
            <a:avLst>
              <a:gd name="adj" fmla="val 22222"/>
            </a:avLst>
          </a:prstGeom>
          <a:solidFill>
            <a:srgbClr val="0A1013"/>
          </a:solidFill>
          <a:ln w="9525">
            <a:solidFill>
              <a:srgbClr val="263841"/>
            </a:solidFill>
            <a:prstDash val="solid"/>
          </a:ln>
        </p:spPr>
      </p:sp>
      <p:sp>
        <p:nvSpPr>
          <p:cNvPr id="13" name="Text 11"/>
          <p:cNvSpPr txBox="1"/>
          <p:nvPr/>
        </p:nvSpPr>
        <p:spPr>
          <a:xfrm>
            <a:off x="850392" y="2651760"/>
            <a:ext cx="1453896" cy="329184"/>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dashboard</a:t>
            </a:r>
            <a:endParaRPr lang="en-US" sz="950" dirty="0"/>
          </a:p>
        </p:txBody>
      </p:sp>
      <p:sp>
        <p:nvSpPr>
          <p:cNvPr id="14" name="Shape 12"/>
          <p:cNvSpPr/>
          <p:nvPr/>
        </p:nvSpPr>
        <p:spPr>
          <a:xfrm>
            <a:off x="2468880" y="2651760"/>
            <a:ext cx="1600200" cy="329184"/>
          </a:xfrm>
          <a:prstGeom prst="roundRect">
            <a:avLst>
              <a:gd name="adj" fmla="val 22222"/>
            </a:avLst>
          </a:prstGeom>
          <a:solidFill>
            <a:srgbClr val="0A1013"/>
          </a:solidFill>
          <a:ln w="9525">
            <a:solidFill>
              <a:srgbClr val="263841"/>
            </a:solidFill>
            <a:prstDash val="solid"/>
          </a:ln>
        </p:spPr>
      </p:sp>
      <p:sp>
        <p:nvSpPr>
          <p:cNvPr id="15" name="Text 13"/>
          <p:cNvSpPr txBox="1"/>
          <p:nvPr/>
        </p:nvSpPr>
        <p:spPr>
          <a:xfrm>
            <a:off x="2542032" y="2651760"/>
            <a:ext cx="1453896" cy="329184"/>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nutrition</a:t>
            </a:r>
            <a:endParaRPr lang="en-US" sz="950" dirty="0"/>
          </a:p>
        </p:txBody>
      </p:sp>
      <p:sp>
        <p:nvSpPr>
          <p:cNvPr id="16" name="Shape 14"/>
          <p:cNvSpPr/>
          <p:nvPr/>
        </p:nvSpPr>
        <p:spPr>
          <a:xfrm>
            <a:off x="4160520" y="2651760"/>
            <a:ext cx="1600200" cy="329184"/>
          </a:xfrm>
          <a:prstGeom prst="roundRect">
            <a:avLst>
              <a:gd name="adj" fmla="val 22222"/>
            </a:avLst>
          </a:prstGeom>
          <a:solidFill>
            <a:srgbClr val="0A1013"/>
          </a:solidFill>
          <a:ln w="9525">
            <a:solidFill>
              <a:srgbClr val="263841"/>
            </a:solidFill>
            <a:prstDash val="solid"/>
          </a:ln>
        </p:spPr>
      </p:sp>
      <p:sp>
        <p:nvSpPr>
          <p:cNvPr id="17" name="Text 15"/>
          <p:cNvSpPr txBox="1"/>
          <p:nvPr/>
        </p:nvSpPr>
        <p:spPr>
          <a:xfrm>
            <a:off x="4233672" y="2651760"/>
            <a:ext cx="1453896" cy="329184"/>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training</a:t>
            </a:r>
            <a:endParaRPr lang="en-US" sz="950" dirty="0"/>
          </a:p>
        </p:txBody>
      </p:sp>
      <p:sp>
        <p:nvSpPr>
          <p:cNvPr id="18" name="Shape 16"/>
          <p:cNvSpPr/>
          <p:nvPr/>
        </p:nvSpPr>
        <p:spPr>
          <a:xfrm>
            <a:off x="5852160" y="2651760"/>
            <a:ext cx="1600200" cy="329184"/>
          </a:xfrm>
          <a:prstGeom prst="roundRect">
            <a:avLst>
              <a:gd name="adj" fmla="val 22222"/>
            </a:avLst>
          </a:prstGeom>
          <a:solidFill>
            <a:srgbClr val="0A1013"/>
          </a:solidFill>
          <a:ln w="9525">
            <a:solidFill>
              <a:srgbClr val="263841"/>
            </a:solidFill>
            <a:prstDash val="solid"/>
          </a:ln>
        </p:spPr>
      </p:sp>
      <p:sp>
        <p:nvSpPr>
          <p:cNvPr id="19" name="Text 17"/>
          <p:cNvSpPr txBox="1"/>
          <p:nvPr/>
        </p:nvSpPr>
        <p:spPr>
          <a:xfrm>
            <a:off x="5925312" y="2651760"/>
            <a:ext cx="1453896" cy="329184"/>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progress</a:t>
            </a:r>
            <a:endParaRPr lang="en-US" sz="950" dirty="0"/>
          </a:p>
        </p:txBody>
      </p:sp>
      <p:sp>
        <p:nvSpPr>
          <p:cNvPr id="20" name="Shape 18"/>
          <p:cNvSpPr/>
          <p:nvPr/>
        </p:nvSpPr>
        <p:spPr>
          <a:xfrm>
            <a:off x="777240" y="3035808"/>
            <a:ext cx="1600200" cy="329184"/>
          </a:xfrm>
          <a:prstGeom prst="roundRect">
            <a:avLst>
              <a:gd name="adj" fmla="val 22222"/>
            </a:avLst>
          </a:prstGeom>
          <a:solidFill>
            <a:srgbClr val="0A1013"/>
          </a:solidFill>
          <a:ln w="9525">
            <a:solidFill>
              <a:srgbClr val="263841"/>
            </a:solidFill>
            <a:prstDash val="solid"/>
          </a:ln>
        </p:spPr>
      </p:sp>
      <p:sp>
        <p:nvSpPr>
          <p:cNvPr id="21" name="Text 19"/>
          <p:cNvSpPr txBox="1"/>
          <p:nvPr/>
        </p:nvSpPr>
        <p:spPr>
          <a:xfrm>
            <a:off x="850392" y="3035808"/>
            <a:ext cx="1453896" cy="329184"/>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coach</a:t>
            </a:r>
            <a:endParaRPr lang="en-US" sz="950" dirty="0"/>
          </a:p>
        </p:txBody>
      </p:sp>
      <p:sp>
        <p:nvSpPr>
          <p:cNvPr id="22" name="Shape 20"/>
          <p:cNvSpPr/>
          <p:nvPr/>
        </p:nvSpPr>
        <p:spPr>
          <a:xfrm>
            <a:off x="2468880" y="3035808"/>
            <a:ext cx="1600200" cy="329184"/>
          </a:xfrm>
          <a:prstGeom prst="roundRect">
            <a:avLst>
              <a:gd name="adj" fmla="val 22222"/>
            </a:avLst>
          </a:prstGeom>
          <a:solidFill>
            <a:srgbClr val="0A1013"/>
          </a:solidFill>
          <a:ln w="9525">
            <a:solidFill>
              <a:srgbClr val="263841"/>
            </a:solidFill>
            <a:prstDash val="solid"/>
          </a:ln>
        </p:spPr>
      </p:sp>
      <p:sp>
        <p:nvSpPr>
          <p:cNvPr id="23" name="Text 21"/>
          <p:cNvSpPr txBox="1"/>
          <p:nvPr/>
        </p:nvSpPr>
        <p:spPr>
          <a:xfrm>
            <a:off x="2542032" y="3035808"/>
            <a:ext cx="1453896" cy="329184"/>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settings</a:t>
            </a:r>
            <a:endParaRPr lang="en-US" sz="950" dirty="0"/>
          </a:p>
        </p:txBody>
      </p:sp>
      <p:sp>
        <p:nvSpPr>
          <p:cNvPr id="24" name="Shape 22"/>
          <p:cNvSpPr/>
          <p:nvPr/>
        </p:nvSpPr>
        <p:spPr>
          <a:xfrm>
            <a:off x="4160520" y="3035808"/>
            <a:ext cx="1600200" cy="329184"/>
          </a:xfrm>
          <a:prstGeom prst="roundRect">
            <a:avLst>
              <a:gd name="adj" fmla="val 22222"/>
            </a:avLst>
          </a:prstGeom>
          <a:solidFill>
            <a:srgbClr val="0A1013"/>
          </a:solidFill>
          <a:ln w="9525">
            <a:solidFill>
              <a:srgbClr val="263841"/>
            </a:solidFill>
            <a:prstDash val="solid"/>
          </a:ln>
        </p:spPr>
      </p:sp>
      <p:sp>
        <p:nvSpPr>
          <p:cNvPr id="25" name="Text 23"/>
          <p:cNvSpPr txBox="1"/>
          <p:nvPr/>
        </p:nvSpPr>
        <p:spPr>
          <a:xfrm>
            <a:off x="4233672" y="3035808"/>
            <a:ext cx="1453896" cy="329184"/>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onboarding</a:t>
            </a:r>
            <a:endParaRPr lang="en-US" sz="950" dirty="0"/>
          </a:p>
        </p:txBody>
      </p:sp>
      <p:sp>
        <p:nvSpPr>
          <p:cNvPr id="26" name="Shape 24"/>
          <p:cNvSpPr/>
          <p:nvPr/>
        </p:nvSpPr>
        <p:spPr>
          <a:xfrm>
            <a:off x="5852160" y="3035808"/>
            <a:ext cx="1600200" cy="329184"/>
          </a:xfrm>
          <a:prstGeom prst="roundRect">
            <a:avLst>
              <a:gd name="adj" fmla="val 22222"/>
            </a:avLst>
          </a:prstGeom>
          <a:solidFill>
            <a:srgbClr val="0A1013"/>
          </a:solidFill>
          <a:ln w="9525">
            <a:solidFill>
              <a:srgbClr val="263841"/>
            </a:solidFill>
            <a:prstDash val="solid"/>
          </a:ln>
        </p:spPr>
      </p:sp>
      <p:sp>
        <p:nvSpPr>
          <p:cNvPr id="27" name="Text 25"/>
          <p:cNvSpPr txBox="1"/>
          <p:nvPr/>
        </p:nvSpPr>
        <p:spPr>
          <a:xfrm>
            <a:off x="5925312" y="3035808"/>
            <a:ext cx="1453896" cy="329184"/>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challenges</a:t>
            </a:r>
            <a:endParaRPr lang="en-US" sz="950" dirty="0"/>
          </a:p>
        </p:txBody>
      </p:sp>
      <p:sp>
        <p:nvSpPr>
          <p:cNvPr id="28" name="Shape 26"/>
          <p:cNvSpPr/>
          <p:nvPr/>
        </p:nvSpPr>
        <p:spPr>
          <a:xfrm>
            <a:off x="4114800" y="3474720"/>
            <a:ext cx="0" cy="320040"/>
          </a:xfrm>
          <a:prstGeom prst="line">
            <a:avLst/>
          </a:prstGeom>
          <a:noFill/>
          <a:ln w="19050">
            <a:solidFill>
              <a:srgbClr val="2FD9F4"/>
            </a:solidFill>
            <a:prstDash val="solid"/>
            <a:tailEnd type="triangle"/>
          </a:ln>
        </p:spPr>
      </p:sp>
      <p:sp>
        <p:nvSpPr>
          <p:cNvPr id="29" name="Shape 27"/>
          <p:cNvSpPr/>
          <p:nvPr/>
        </p:nvSpPr>
        <p:spPr>
          <a:xfrm>
            <a:off x="640080" y="3794760"/>
            <a:ext cx="6949440" cy="2240280"/>
          </a:xfrm>
          <a:prstGeom prst="roundRect">
            <a:avLst>
              <a:gd name="adj" fmla="val 3265"/>
            </a:avLst>
          </a:prstGeom>
          <a:solidFill>
            <a:srgbClr val="16232A"/>
          </a:solidFill>
          <a:ln w="9525">
            <a:solidFill>
              <a:srgbClr val="263841"/>
            </a:solidFill>
            <a:prstDash val="solid"/>
          </a:ln>
        </p:spPr>
      </p:sp>
      <p:sp>
        <p:nvSpPr>
          <p:cNvPr id="30" name="Text 28"/>
          <p:cNvSpPr txBox="1"/>
          <p:nvPr/>
        </p:nvSpPr>
        <p:spPr>
          <a:xfrm>
            <a:off x="713232" y="3794760"/>
            <a:ext cx="6803136" cy="2240280"/>
          </a:xfrm>
          <a:prstGeom prst="rect">
            <a:avLst/>
          </a:prstGeom>
          <a:noFill/>
          <a:ln/>
        </p:spPr>
        <p:txBody>
          <a:bodyPr wrap="square" lIns="0" tIns="0" rIns="0" bIns="0" rtlCol="0" anchor="ctr"/>
          <a:lstStyle/>
          <a:p>
            <a:pPr algn="ctr" indent="0" marL="0">
              <a:buNone/>
            </a:pPr>
            <a:endParaRPr lang="en-US" sz="1050" dirty="0"/>
          </a:p>
        </p:txBody>
      </p:sp>
      <p:sp>
        <p:nvSpPr>
          <p:cNvPr id="31" name="Text 29"/>
          <p:cNvSpPr txBox="1"/>
          <p:nvPr/>
        </p:nvSpPr>
        <p:spPr>
          <a:xfrm>
            <a:off x="777240" y="3858768"/>
            <a:ext cx="3657600" cy="237744"/>
          </a:xfrm>
          <a:prstGeom prst="rect">
            <a:avLst/>
          </a:prstGeom>
          <a:noFill/>
          <a:ln/>
        </p:spPr>
        <p:txBody>
          <a:bodyPr wrap="square" lIns="0" tIns="0" rIns="0" bIns="0" rtlCol="0" anchor="ctr"/>
          <a:lstStyle/>
          <a:p>
            <a:pPr algn="l" indent="0" marL="0">
              <a:buNone/>
            </a:pPr>
            <a:r>
              <a:rPr lang="en-US" sz="950" b="1" spc="150" kern="0" dirty="0">
                <a:solidFill>
                  <a:srgbClr val="2FD9F4"/>
                </a:solidFill>
                <a:latin typeface="Arial" pitchFamily="34" charset="0"/>
                <a:ea typeface="Arial" pitchFamily="34" charset="-122"/>
                <a:cs typeface="Arial" pitchFamily="34" charset="-120"/>
              </a:rPr>
              <a:t>CORE: SHARED, FEATURE-AGNOSTIC</a:t>
            </a:r>
            <a:endParaRPr lang="en-US" sz="950" dirty="0"/>
          </a:p>
        </p:txBody>
      </p:sp>
      <p:sp>
        <p:nvSpPr>
          <p:cNvPr id="32" name="Shape 30"/>
          <p:cNvSpPr/>
          <p:nvPr/>
        </p:nvSpPr>
        <p:spPr>
          <a:xfrm>
            <a:off x="777240" y="4114800"/>
            <a:ext cx="1600200" cy="548640"/>
          </a:xfrm>
          <a:prstGeom prst="roundRect">
            <a:avLst>
              <a:gd name="adj" fmla="val 10000"/>
            </a:avLst>
          </a:prstGeom>
          <a:solidFill>
            <a:srgbClr val="0A1013"/>
          </a:solidFill>
          <a:ln w="6350">
            <a:solidFill>
              <a:srgbClr val="263841"/>
            </a:solidFill>
            <a:prstDash val="solid"/>
          </a:ln>
        </p:spPr>
      </p:sp>
      <p:sp>
        <p:nvSpPr>
          <p:cNvPr id="33" name="Text 31"/>
          <p:cNvSpPr txBox="1"/>
          <p:nvPr/>
        </p:nvSpPr>
        <p:spPr>
          <a:xfrm>
            <a:off x="850392" y="4151376"/>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model</a:t>
            </a:r>
            <a:endParaRPr lang="en-US" sz="950" dirty="0"/>
          </a:p>
        </p:txBody>
      </p:sp>
      <p:sp>
        <p:nvSpPr>
          <p:cNvPr id="34" name="Text 32"/>
          <p:cNvSpPr txBox="1"/>
          <p:nvPr/>
        </p:nvSpPr>
        <p:spPr>
          <a:xfrm>
            <a:off x="850392" y="4361688"/>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DTOs, ApiResult; no Android imports</a:t>
            </a:r>
            <a:endParaRPr lang="en-US" sz="800" dirty="0"/>
          </a:p>
        </p:txBody>
      </p:sp>
      <p:sp>
        <p:nvSpPr>
          <p:cNvPr id="35" name="Shape 33"/>
          <p:cNvSpPr/>
          <p:nvPr/>
        </p:nvSpPr>
        <p:spPr>
          <a:xfrm>
            <a:off x="2468880" y="4114800"/>
            <a:ext cx="1600200" cy="548640"/>
          </a:xfrm>
          <a:prstGeom prst="roundRect">
            <a:avLst>
              <a:gd name="adj" fmla="val 10000"/>
            </a:avLst>
          </a:prstGeom>
          <a:solidFill>
            <a:srgbClr val="0A1013"/>
          </a:solidFill>
          <a:ln w="6350">
            <a:solidFill>
              <a:srgbClr val="263841"/>
            </a:solidFill>
            <a:prstDash val="solid"/>
          </a:ln>
        </p:spPr>
      </p:sp>
      <p:sp>
        <p:nvSpPr>
          <p:cNvPr id="36" name="Text 34"/>
          <p:cNvSpPr txBox="1"/>
          <p:nvPr/>
        </p:nvSpPr>
        <p:spPr>
          <a:xfrm>
            <a:off x="2542032" y="4151376"/>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common</a:t>
            </a:r>
            <a:endParaRPr lang="en-US" sz="950" dirty="0"/>
          </a:p>
        </p:txBody>
      </p:sp>
      <p:sp>
        <p:nvSpPr>
          <p:cNvPr id="37" name="Text 35"/>
          <p:cNvSpPr txBox="1"/>
          <p:nvPr/>
        </p:nvSpPr>
        <p:spPr>
          <a:xfrm>
            <a:off x="2542032" y="4361688"/>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energy, nutrition, overload, XP maths</a:t>
            </a:r>
            <a:endParaRPr lang="en-US" sz="800" dirty="0"/>
          </a:p>
        </p:txBody>
      </p:sp>
      <p:sp>
        <p:nvSpPr>
          <p:cNvPr id="38" name="Shape 36"/>
          <p:cNvSpPr/>
          <p:nvPr/>
        </p:nvSpPr>
        <p:spPr>
          <a:xfrm>
            <a:off x="4160520" y="4114800"/>
            <a:ext cx="1600200" cy="548640"/>
          </a:xfrm>
          <a:prstGeom prst="roundRect">
            <a:avLst>
              <a:gd name="adj" fmla="val 10000"/>
            </a:avLst>
          </a:prstGeom>
          <a:solidFill>
            <a:srgbClr val="0A1013"/>
          </a:solidFill>
          <a:ln w="6350">
            <a:solidFill>
              <a:srgbClr val="263841"/>
            </a:solidFill>
            <a:prstDash val="solid"/>
          </a:ln>
        </p:spPr>
      </p:sp>
      <p:sp>
        <p:nvSpPr>
          <p:cNvPr id="39" name="Text 37"/>
          <p:cNvSpPr txBox="1"/>
          <p:nvPr/>
        </p:nvSpPr>
        <p:spPr>
          <a:xfrm>
            <a:off x="4233672" y="4151376"/>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database</a:t>
            </a:r>
            <a:endParaRPr lang="en-US" sz="950" dirty="0"/>
          </a:p>
        </p:txBody>
      </p:sp>
      <p:sp>
        <p:nvSpPr>
          <p:cNvPr id="40" name="Text 38"/>
          <p:cNvSpPr txBox="1"/>
          <p:nvPr/>
        </p:nvSpPr>
        <p:spPr>
          <a:xfrm>
            <a:off x="4233672" y="4361688"/>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Room 3, 23 entities, schemas</a:t>
            </a:r>
            <a:endParaRPr lang="en-US" sz="800" dirty="0"/>
          </a:p>
        </p:txBody>
      </p:sp>
      <p:sp>
        <p:nvSpPr>
          <p:cNvPr id="41" name="Shape 39"/>
          <p:cNvSpPr/>
          <p:nvPr/>
        </p:nvSpPr>
        <p:spPr>
          <a:xfrm>
            <a:off x="5852160" y="4114800"/>
            <a:ext cx="1600200" cy="548640"/>
          </a:xfrm>
          <a:prstGeom prst="roundRect">
            <a:avLst>
              <a:gd name="adj" fmla="val 10000"/>
            </a:avLst>
          </a:prstGeom>
          <a:solidFill>
            <a:srgbClr val="0A1013"/>
          </a:solidFill>
          <a:ln w="6350">
            <a:solidFill>
              <a:srgbClr val="263841"/>
            </a:solidFill>
            <a:prstDash val="solid"/>
          </a:ln>
        </p:spPr>
      </p:sp>
      <p:sp>
        <p:nvSpPr>
          <p:cNvPr id="42" name="Text 40"/>
          <p:cNvSpPr txBox="1"/>
          <p:nvPr/>
        </p:nvSpPr>
        <p:spPr>
          <a:xfrm>
            <a:off x="5925312" y="4151376"/>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network</a:t>
            </a:r>
            <a:endParaRPr lang="en-US" sz="950" dirty="0"/>
          </a:p>
        </p:txBody>
      </p:sp>
      <p:sp>
        <p:nvSpPr>
          <p:cNvPr id="43" name="Text 41"/>
          <p:cNvSpPr txBox="1"/>
          <p:nvPr/>
        </p:nvSpPr>
        <p:spPr>
          <a:xfrm>
            <a:off x="5925312" y="4361688"/>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Retrofit, 3 OkHttp clients, SSE</a:t>
            </a:r>
            <a:endParaRPr lang="en-US" sz="800" dirty="0"/>
          </a:p>
        </p:txBody>
      </p:sp>
      <p:sp>
        <p:nvSpPr>
          <p:cNvPr id="44" name="Shape 42"/>
          <p:cNvSpPr/>
          <p:nvPr/>
        </p:nvSpPr>
        <p:spPr>
          <a:xfrm>
            <a:off x="777240" y="4736592"/>
            <a:ext cx="1600200" cy="548640"/>
          </a:xfrm>
          <a:prstGeom prst="roundRect">
            <a:avLst>
              <a:gd name="adj" fmla="val 10000"/>
            </a:avLst>
          </a:prstGeom>
          <a:solidFill>
            <a:srgbClr val="0A1013"/>
          </a:solidFill>
          <a:ln w="6350">
            <a:solidFill>
              <a:srgbClr val="263841"/>
            </a:solidFill>
            <a:prstDash val="solid"/>
          </a:ln>
        </p:spPr>
      </p:sp>
      <p:sp>
        <p:nvSpPr>
          <p:cNvPr id="45" name="Text 43"/>
          <p:cNvSpPr txBox="1"/>
          <p:nvPr/>
        </p:nvSpPr>
        <p:spPr>
          <a:xfrm>
            <a:off x="850392" y="4773168"/>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auth</a:t>
            </a:r>
            <a:endParaRPr lang="en-US" sz="950" dirty="0"/>
          </a:p>
        </p:txBody>
      </p:sp>
      <p:sp>
        <p:nvSpPr>
          <p:cNvPr id="46" name="Text 44"/>
          <p:cNvSpPr txBox="1"/>
          <p:nvPr/>
        </p:nvSpPr>
        <p:spPr>
          <a:xfrm>
            <a:off x="850392" y="4983480"/>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Keystore vault, session lifecycle</a:t>
            </a:r>
            <a:endParaRPr lang="en-US" sz="800" dirty="0"/>
          </a:p>
        </p:txBody>
      </p:sp>
      <p:sp>
        <p:nvSpPr>
          <p:cNvPr id="47" name="Shape 45"/>
          <p:cNvSpPr/>
          <p:nvPr/>
        </p:nvSpPr>
        <p:spPr>
          <a:xfrm>
            <a:off x="2468880" y="4736592"/>
            <a:ext cx="1600200" cy="548640"/>
          </a:xfrm>
          <a:prstGeom prst="roundRect">
            <a:avLst>
              <a:gd name="adj" fmla="val 10000"/>
            </a:avLst>
          </a:prstGeom>
          <a:solidFill>
            <a:srgbClr val="0A1013"/>
          </a:solidFill>
          <a:ln w="6350">
            <a:solidFill>
              <a:srgbClr val="263841"/>
            </a:solidFill>
            <a:prstDash val="solid"/>
          </a:ln>
        </p:spPr>
      </p:sp>
      <p:sp>
        <p:nvSpPr>
          <p:cNvPr id="48" name="Text 46"/>
          <p:cNvSpPr txBox="1"/>
          <p:nvPr/>
        </p:nvSpPr>
        <p:spPr>
          <a:xfrm>
            <a:off x="2542032" y="4773168"/>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sync</a:t>
            </a:r>
            <a:endParaRPr lang="en-US" sz="950" dirty="0"/>
          </a:p>
        </p:txBody>
      </p:sp>
      <p:sp>
        <p:nvSpPr>
          <p:cNvPr id="49" name="Text 47"/>
          <p:cNvSpPr txBox="1"/>
          <p:nvPr/>
        </p:nvSpPr>
        <p:spPr>
          <a:xfrm>
            <a:off x="2542032" y="4983480"/>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outbox, WorkManager, connectivity</a:t>
            </a:r>
            <a:endParaRPr lang="en-US" sz="800" dirty="0"/>
          </a:p>
        </p:txBody>
      </p:sp>
      <p:sp>
        <p:nvSpPr>
          <p:cNvPr id="50" name="Shape 48"/>
          <p:cNvSpPr/>
          <p:nvPr/>
        </p:nvSpPr>
        <p:spPr>
          <a:xfrm>
            <a:off x="4160520" y="4736592"/>
            <a:ext cx="1600200" cy="548640"/>
          </a:xfrm>
          <a:prstGeom prst="roundRect">
            <a:avLst>
              <a:gd name="adj" fmla="val 10000"/>
            </a:avLst>
          </a:prstGeom>
          <a:solidFill>
            <a:srgbClr val="0A1013"/>
          </a:solidFill>
          <a:ln w="6350">
            <a:solidFill>
              <a:srgbClr val="263841"/>
            </a:solidFill>
            <a:prstDash val="solid"/>
          </a:ln>
        </p:spPr>
      </p:sp>
      <p:sp>
        <p:nvSpPr>
          <p:cNvPr id="51" name="Text 49"/>
          <p:cNvSpPr txBox="1"/>
          <p:nvPr/>
        </p:nvSpPr>
        <p:spPr>
          <a:xfrm>
            <a:off x="4233672" y="4773168"/>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designsystem</a:t>
            </a:r>
            <a:endParaRPr lang="en-US" sz="950" dirty="0"/>
          </a:p>
        </p:txBody>
      </p:sp>
      <p:sp>
        <p:nvSpPr>
          <p:cNvPr id="52" name="Text 50"/>
          <p:cNvSpPr txBox="1"/>
          <p:nvPr/>
        </p:nvSpPr>
        <p:spPr>
          <a:xfrm>
            <a:off x="4233672" y="4983480"/>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Compose primitives, motion</a:t>
            </a:r>
            <a:endParaRPr lang="en-US" sz="800" dirty="0"/>
          </a:p>
        </p:txBody>
      </p:sp>
      <p:sp>
        <p:nvSpPr>
          <p:cNvPr id="53" name="Shape 51"/>
          <p:cNvSpPr/>
          <p:nvPr/>
        </p:nvSpPr>
        <p:spPr>
          <a:xfrm>
            <a:off x="5852160" y="4736592"/>
            <a:ext cx="1600200" cy="548640"/>
          </a:xfrm>
          <a:prstGeom prst="roundRect">
            <a:avLst>
              <a:gd name="adj" fmla="val 10000"/>
            </a:avLst>
          </a:prstGeom>
          <a:solidFill>
            <a:srgbClr val="0A1013"/>
          </a:solidFill>
          <a:ln w="6350">
            <a:solidFill>
              <a:srgbClr val="263841"/>
            </a:solidFill>
            <a:prstDash val="solid"/>
          </a:ln>
        </p:spPr>
      </p:sp>
      <p:sp>
        <p:nvSpPr>
          <p:cNvPr id="54" name="Text 52"/>
          <p:cNvSpPr txBox="1"/>
          <p:nvPr/>
        </p:nvSpPr>
        <p:spPr>
          <a:xfrm>
            <a:off x="5925312" y="4773168"/>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ui</a:t>
            </a:r>
            <a:endParaRPr lang="en-US" sz="950" dirty="0"/>
          </a:p>
        </p:txBody>
      </p:sp>
      <p:sp>
        <p:nvSpPr>
          <p:cNvPr id="55" name="Text 53"/>
          <p:cNvSpPr txBox="1"/>
          <p:nvPr/>
        </p:nvSpPr>
        <p:spPr>
          <a:xfrm>
            <a:off x="5925312" y="4983480"/>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shared composables, formatters</a:t>
            </a:r>
            <a:endParaRPr lang="en-US" sz="800" dirty="0"/>
          </a:p>
        </p:txBody>
      </p:sp>
      <p:sp>
        <p:nvSpPr>
          <p:cNvPr id="56" name="Shape 54"/>
          <p:cNvSpPr/>
          <p:nvPr/>
        </p:nvSpPr>
        <p:spPr>
          <a:xfrm>
            <a:off x="777240" y="5358384"/>
            <a:ext cx="1600200" cy="548640"/>
          </a:xfrm>
          <a:prstGeom prst="roundRect">
            <a:avLst>
              <a:gd name="adj" fmla="val 10000"/>
            </a:avLst>
          </a:prstGeom>
          <a:solidFill>
            <a:srgbClr val="0A1013"/>
          </a:solidFill>
          <a:ln w="6350">
            <a:solidFill>
              <a:srgbClr val="263841"/>
            </a:solidFill>
            <a:prstDash val="solid"/>
          </a:ln>
        </p:spPr>
      </p:sp>
      <p:sp>
        <p:nvSpPr>
          <p:cNvPr id="57" name="Text 55"/>
          <p:cNvSpPr txBox="1"/>
          <p:nvPr/>
        </p:nvSpPr>
        <p:spPr>
          <a:xfrm>
            <a:off x="850392" y="5394960"/>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gamification</a:t>
            </a:r>
            <a:endParaRPr lang="en-US" sz="950" dirty="0"/>
          </a:p>
        </p:txBody>
      </p:sp>
      <p:sp>
        <p:nvSpPr>
          <p:cNvPr id="58" name="Text 56"/>
          <p:cNvSpPr txBox="1"/>
          <p:nvPr/>
        </p:nvSpPr>
        <p:spPr>
          <a:xfrm>
            <a:off x="850392" y="5605272"/>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celebration, confetti, brag cards</a:t>
            </a:r>
            <a:endParaRPr lang="en-US" sz="800" dirty="0"/>
          </a:p>
        </p:txBody>
      </p:sp>
      <p:sp>
        <p:nvSpPr>
          <p:cNvPr id="59" name="Shape 57"/>
          <p:cNvSpPr/>
          <p:nvPr/>
        </p:nvSpPr>
        <p:spPr>
          <a:xfrm>
            <a:off x="2468880" y="5358384"/>
            <a:ext cx="1600200" cy="548640"/>
          </a:xfrm>
          <a:prstGeom prst="roundRect">
            <a:avLst>
              <a:gd name="adj" fmla="val 10000"/>
            </a:avLst>
          </a:prstGeom>
          <a:solidFill>
            <a:srgbClr val="0A1013"/>
          </a:solidFill>
          <a:ln w="6350">
            <a:solidFill>
              <a:srgbClr val="263841"/>
            </a:solidFill>
            <a:prstDash val="solid"/>
          </a:ln>
        </p:spPr>
      </p:sp>
      <p:sp>
        <p:nvSpPr>
          <p:cNvPr id="60" name="Text 58"/>
          <p:cNvSpPr txBox="1"/>
          <p:nvPr/>
        </p:nvSpPr>
        <p:spPr>
          <a:xfrm>
            <a:off x="2542032" y="5394960"/>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health</a:t>
            </a:r>
            <a:endParaRPr lang="en-US" sz="950" dirty="0"/>
          </a:p>
        </p:txBody>
      </p:sp>
      <p:sp>
        <p:nvSpPr>
          <p:cNvPr id="61" name="Text 59"/>
          <p:cNvSpPr txBox="1"/>
          <p:nvPr/>
        </p:nvSpPr>
        <p:spPr>
          <a:xfrm>
            <a:off x="2542032" y="5605272"/>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Health Connect gate</a:t>
            </a:r>
            <a:endParaRPr lang="en-US" sz="800" dirty="0"/>
          </a:p>
        </p:txBody>
      </p:sp>
      <p:sp>
        <p:nvSpPr>
          <p:cNvPr id="62" name="Shape 60"/>
          <p:cNvSpPr/>
          <p:nvPr/>
        </p:nvSpPr>
        <p:spPr>
          <a:xfrm>
            <a:off x="4160520" y="5358384"/>
            <a:ext cx="1600200" cy="548640"/>
          </a:xfrm>
          <a:prstGeom prst="roundRect">
            <a:avLst>
              <a:gd name="adj" fmla="val 10000"/>
            </a:avLst>
          </a:prstGeom>
          <a:solidFill>
            <a:srgbClr val="0A1013"/>
          </a:solidFill>
          <a:ln w="6350">
            <a:solidFill>
              <a:srgbClr val="263841"/>
            </a:solidFill>
            <a:prstDash val="solid"/>
          </a:ln>
        </p:spPr>
      </p:sp>
      <p:sp>
        <p:nvSpPr>
          <p:cNvPr id="63" name="Text 61"/>
          <p:cNvSpPr txBox="1"/>
          <p:nvPr/>
        </p:nvSpPr>
        <p:spPr>
          <a:xfrm>
            <a:off x="4233672" y="5394960"/>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vision</a:t>
            </a:r>
            <a:endParaRPr lang="en-US" sz="950" dirty="0"/>
          </a:p>
        </p:txBody>
      </p:sp>
      <p:sp>
        <p:nvSpPr>
          <p:cNvPr id="64" name="Text 62"/>
          <p:cNvSpPr txBox="1"/>
          <p:nvPr/>
        </p:nvSpPr>
        <p:spPr>
          <a:xfrm>
            <a:off x="4233672" y="5605272"/>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pose landmark maths</a:t>
            </a:r>
            <a:endParaRPr lang="en-US" sz="800" dirty="0"/>
          </a:p>
        </p:txBody>
      </p:sp>
      <p:sp>
        <p:nvSpPr>
          <p:cNvPr id="65" name="Shape 63"/>
          <p:cNvSpPr/>
          <p:nvPr/>
        </p:nvSpPr>
        <p:spPr>
          <a:xfrm>
            <a:off x="5852160" y="5358384"/>
            <a:ext cx="1600200" cy="548640"/>
          </a:xfrm>
          <a:prstGeom prst="roundRect">
            <a:avLst>
              <a:gd name="adj" fmla="val 10000"/>
            </a:avLst>
          </a:prstGeom>
          <a:solidFill>
            <a:srgbClr val="0A1013"/>
          </a:solidFill>
          <a:ln w="6350">
            <a:solidFill>
              <a:srgbClr val="263841"/>
            </a:solidFill>
            <a:prstDash val="solid"/>
          </a:ln>
        </p:spPr>
      </p:sp>
      <p:sp>
        <p:nvSpPr>
          <p:cNvPr id="66" name="Text 64"/>
          <p:cNvSpPr txBox="1"/>
          <p:nvPr/>
        </p:nvSpPr>
        <p:spPr>
          <a:xfrm>
            <a:off x="5925312" y="5394960"/>
            <a:ext cx="146304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telemetry</a:t>
            </a:r>
            <a:endParaRPr lang="en-US" sz="950" dirty="0"/>
          </a:p>
        </p:txBody>
      </p:sp>
      <p:sp>
        <p:nvSpPr>
          <p:cNvPr id="67" name="Text 65"/>
          <p:cNvSpPr txBox="1"/>
          <p:nvPr/>
        </p:nvSpPr>
        <p:spPr>
          <a:xfrm>
            <a:off x="5925312" y="5605272"/>
            <a:ext cx="1463040" cy="292608"/>
          </a:xfrm>
          <a:prstGeom prst="rect">
            <a:avLst/>
          </a:prstGeom>
          <a:noFill/>
          <a:ln/>
        </p:spPr>
        <p:txBody>
          <a:bodyPr wrap="square" lIns="0" tIns="0" rIns="0" bIns="0" rtlCol="0" anchor="t"/>
          <a:lstStyle/>
          <a:p>
            <a:pPr algn="l" indent="0" marL="0">
              <a:buNone/>
            </a:pPr>
            <a:r>
              <a:rPr lang="en-US" sz="800" dirty="0">
                <a:solidFill>
                  <a:srgbClr val="9DB2BA"/>
                </a:solidFill>
                <a:latin typeface="Arial" pitchFamily="34" charset="0"/>
                <a:ea typeface="Arial" pitchFamily="34" charset="-122"/>
                <a:cs typeface="Arial" pitchFamily="34" charset="-120"/>
              </a:rPr>
              <a:t>crash and analytics seams</a:t>
            </a:r>
            <a:endParaRPr lang="en-US" sz="800" dirty="0"/>
          </a:p>
        </p:txBody>
      </p:sp>
      <p:sp>
        <p:nvSpPr>
          <p:cNvPr id="68" name="Shape 66"/>
          <p:cNvSpPr/>
          <p:nvPr/>
        </p:nvSpPr>
        <p:spPr>
          <a:xfrm>
            <a:off x="7863840" y="1325880"/>
            <a:ext cx="3840480" cy="2240280"/>
          </a:xfrm>
          <a:prstGeom prst="roundRect">
            <a:avLst>
              <a:gd name="adj" fmla="val 4898"/>
            </a:avLst>
          </a:prstGeom>
          <a:solidFill>
            <a:srgbClr val="16232A"/>
          </a:solidFill>
          <a:ln w="9525">
            <a:solidFill>
              <a:srgbClr val="263841"/>
            </a:solidFill>
            <a:prstDash val="solid"/>
          </a:ln>
        </p:spPr>
      </p:sp>
      <p:sp>
        <p:nvSpPr>
          <p:cNvPr id="69" name="Shape 67"/>
          <p:cNvSpPr/>
          <p:nvPr/>
        </p:nvSpPr>
        <p:spPr>
          <a:xfrm>
            <a:off x="8046720" y="1508760"/>
            <a:ext cx="457200" cy="457200"/>
          </a:xfrm>
          <a:prstGeom prst="ellipse">
            <a:avLst/>
          </a:prstGeom>
          <a:solidFill>
            <a:srgbClr val="0A1013"/>
          </a:solidFill>
          <a:ln w="6350">
            <a:solidFill>
              <a:srgbClr val="263841"/>
            </a:solidFill>
            <a:prstDash val="solid"/>
          </a:ln>
        </p:spPr>
      </p:sp>
      <p:pic>
        <p:nvPicPr>
          <p:cNvPr id="70" name="Image 0" descr="preencoded.png">    </p:cNvPr>
          <p:cNvPicPr>
            <a:picLocks noChangeAspect="1"/>
          </p:cNvPicPr>
          <p:nvPr/>
        </p:nvPicPr>
        <p:blipFill>
          <a:blip r:embed="rId1"/>
          <a:stretch>
            <a:fillRect/>
          </a:stretch>
        </p:blipFill>
        <p:spPr>
          <a:xfrm>
            <a:off x="8138160" y="1600200"/>
            <a:ext cx="274320" cy="274320"/>
          </a:xfrm>
          <a:prstGeom prst="rect">
            <a:avLst/>
          </a:prstGeom>
        </p:spPr>
      </p:pic>
      <p:sp>
        <p:nvSpPr>
          <p:cNvPr id="71" name="Text 68"/>
          <p:cNvSpPr txBox="1"/>
          <p:nvPr/>
        </p:nvSpPr>
        <p:spPr>
          <a:xfrm>
            <a:off x="8641080" y="1490472"/>
            <a:ext cx="28803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The invariant</a:t>
            </a:r>
            <a:endParaRPr lang="en-US" sz="1300" dirty="0"/>
          </a:p>
        </p:txBody>
      </p:sp>
      <p:sp>
        <p:nvSpPr>
          <p:cNvPr id="72" name="Text 69"/>
          <p:cNvSpPr txBox="1"/>
          <p:nvPr/>
        </p:nvSpPr>
        <p:spPr>
          <a:xfrm>
            <a:off x="8046720" y="1984248"/>
            <a:ext cx="3474720" cy="14630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No feature imports another feature, and nothing under core imports a feature.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Phase 1 of the modularisation plan removed every feature-to-feature edge; the graph is now measured, not assumed [4].</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Until Gradle modules enforce it, a two-line grep in the README prints nothing when the graph is clean.</a:t>
            </a:r>
            <a:endParaRPr lang="en-US" sz="1000" dirty="0"/>
          </a:p>
        </p:txBody>
      </p:sp>
      <p:sp>
        <p:nvSpPr>
          <p:cNvPr id="73" name="Shape 70"/>
          <p:cNvSpPr/>
          <p:nvPr/>
        </p:nvSpPr>
        <p:spPr>
          <a:xfrm>
            <a:off x="7863840" y="3703320"/>
            <a:ext cx="3840480" cy="2331720"/>
          </a:xfrm>
          <a:prstGeom prst="roundRect">
            <a:avLst>
              <a:gd name="adj" fmla="val 4706"/>
            </a:avLst>
          </a:prstGeom>
          <a:solidFill>
            <a:srgbClr val="16232A"/>
          </a:solidFill>
          <a:ln w="9525">
            <a:solidFill>
              <a:srgbClr val="263841"/>
            </a:solidFill>
            <a:prstDash val="solid"/>
          </a:ln>
        </p:spPr>
      </p:sp>
      <p:sp>
        <p:nvSpPr>
          <p:cNvPr id="74" name="Shape 71"/>
          <p:cNvSpPr/>
          <p:nvPr/>
        </p:nvSpPr>
        <p:spPr>
          <a:xfrm>
            <a:off x="8046720" y="3886200"/>
            <a:ext cx="457200" cy="457200"/>
          </a:xfrm>
          <a:prstGeom prst="ellipse">
            <a:avLst/>
          </a:prstGeom>
          <a:solidFill>
            <a:srgbClr val="0A1013"/>
          </a:solidFill>
          <a:ln w="6350">
            <a:solidFill>
              <a:srgbClr val="263841"/>
            </a:solidFill>
            <a:prstDash val="solid"/>
          </a:ln>
        </p:spPr>
      </p:sp>
      <p:pic>
        <p:nvPicPr>
          <p:cNvPr id="75" name="Image 1" descr="preencoded.png">    </p:cNvPr>
          <p:cNvPicPr>
            <a:picLocks noChangeAspect="1"/>
          </p:cNvPicPr>
          <p:nvPr/>
        </p:nvPicPr>
        <p:blipFill>
          <a:blip r:embed="rId2"/>
          <a:stretch>
            <a:fillRect/>
          </a:stretch>
        </p:blipFill>
        <p:spPr>
          <a:xfrm>
            <a:off x="8138160" y="3977640"/>
            <a:ext cx="274320" cy="274320"/>
          </a:xfrm>
          <a:prstGeom prst="rect">
            <a:avLst/>
          </a:prstGeom>
        </p:spPr>
      </p:pic>
      <p:sp>
        <p:nvSpPr>
          <p:cNvPr id="76" name="Text 72"/>
          <p:cNvSpPr txBox="1"/>
          <p:nvPr/>
        </p:nvSpPr>
        <p:spPr>
          <a:xfrm>
            <a:off x="8641080" y="3867912"/>
            <a:ext cx="28803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Why one module today</a:t>
            </a:r>
            <a:endParaRPr lang="en-US" sz="1300" dirty="0"/>
          </a:p>
        </p:txBody>
      </p:sp>
      <p:sp>
        <p:nvSpPr>
          <p:cNvPr id="77" name="Text 73"/>
          <p:cNvSpPr txBox="1"/>
          <p:nvPr/>
        </p:nvSpPr>
        <p:spPr>
          <a:xfrm>
            <a:off x="8046720" y="4361688"/>
            <a:ext cx="3474720" cy="155448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Build files for empty modules would never be validated by Gradle, so they are deliberately not kept on disk ahead of the move.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The split is specified with the measured dependency graph and execution order in docs/plans; it follows Google's recommended layering [6].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19</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16  PRESENTATION PATTERN</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State flows one way: UiState out, events in, effects on a channel</a:t>
            </a:r>
            <a:endParaRPr lang="en-US" sz="2800" dirty="0"/>
          </a:p>
        </p:txBody>
      </p:sp>
      <p:sp>
        <p:nvSpPr>
          <p:cNvPr id="6" name="Shape 4"/>
          <p:cNvSpPr/>
          <p:nvPr/>
        </p:nvSpPr>
        <p:spPr>
          <a:xfrm>
            <a:off x="640080" y="1554480"/>
            <a:ext cx="2468880" cy="1005840"/>
          </a:xfrm>
          <a:prstGeom prst="roundRect">
            <a:avLst>
              <a:gd name="adj" fmla="val 7273"/>
            </a:avLst>
          </a:prstGeom>
          <a:solidFill>
            <a:srgbClr val="12303A"/>
          </a:solidFill>
          <a:ln w="9525">
            <a:solidFill>
              <a:srgbClr val="2FD9F4"/>
            </a:solidFill>
            <a:prstDash val="solid"/>
          </a:ln>
        </p:spPr>
      </p:sp>
      <p:sp>
        <p:nvSpPr>
          <p:cNvPr id="7" name="Text 5"/>
          <p:cNvSpPr txBox="1"/>
          <p:nvPr/>
        </p:nvSpPr>
        <p:spPr>
          <a:xfrm>
            <a:off x="713232" y="1554480"/>
            <a:ext cx="2322576" cy="1005840"/>
          </a:xfrm>
          <a:prstGeom prst="rect">
            <a:avLst/>
          </a:prstGeom>
          <a:noFill/>
          <a:ln/>
        </p:spPr>
        <p:txBody>
          <a:bodyPr wrap="square" lIns="0" tIns="0" rIns="0" bIns="0" rtlCol="0" anchor="ctr"/>
          <a:lstStyle/>
          <a:p>
            <a:pPr algn="ctr" indent="0" marL="0">
              <a:buNone/>
            </a:pPr>
            <a:r>
              <a:rPr lang="en-US" sz="1050" dirty="0">
                <a:solidFill>
                  <a:srgbClr val="E8F0F2"/>
                </a:solidFill>
                <a:latin typeface="Arial" pitchFamily="34" charset="0"/>
                <a:ea typeface="Arial" pitchFamily="34" charset="-122"/>
                <a:cs typeface="Arial" pitchFamily="34" charset="-120"/>
              </a:rPr>
              <a:t>Composable screen</a:t>
            </a:r>
            <a:endParaRPr lang="en-US" sz="1050" dirty="0"/>
          </a:p>
          <a:p>
            <a:pPr algn="ctr" indent="0" marL="0">
              <a:buNone/>
            </a:pPr>
            <a:r>
              <a:rPr lang="en-US" sz="1050" dirty="0">
                <a:solidFill>
                  <a:srgbClr val="E8F0F2"/>
                </a:solidFill>
                <a:latin typeface="Arial" pitchFamily="34" charset="0"/>
                <a:ea typeface="Arial" pitchFamily="34" charset="-122"/>
                <a:cs typeface="Arial" pitchFamily="34" charset="-120"/>
              </a:rPr>
              <a:t>renders an immutable UiState</a:t>
            </a:r>
            <a:endParaRPr lang="en-US" sz="1050" dirty="0"/>
          </a:p>
        </p:txBody>
      </p:sp>
      <p:sp>
        <p:nvSpPr>
          <p:cNvPr id="8" name="Shape 6"/>
          <p:cNvSpPr/>
          <p:nvPr/>
        </p:nvSpPr>
        <p:spPr>
          <a:xfrm>
            <a:off x="4846320" y="1554480"/>
            <a:ext cx="2468880" cy="1005840"/>
          </a:xfrm>
          <a:prstGeom prst="roundRect">
            <a:avLst>
              <a:gd name="adj" fmla="val 7273"/>
            </a:avLst>
          </a:prstGeom>
          <a:solidFill>
            <a:srgbClr val="1C2C34"/>
          </a:solidFill>
          <a:ln w="9525">
            <a:solidFill>
              <a:srgbClr val="263841"/>
            </a:solidFill>
            <a:prstDash val="solid"/>
          </a:ln>
        </p:spPr>
      </p:sp>
      <p:sp>
        <p:nvSpPr>
          <p:cNvPr id="9" name="Text 7"/>
          <p:cNvSpPr txBox="1"/>
          <p:nvPr/>
        </p:nvSpPr>
        <p:spPr>
          <a:xfrm>
            <a:off x="4919472" y="1554480"/>
            <a:ext cx="2322576" cy="1005840"/>
          </a:xfrm>
          <a:prstGeom prst="rect">
            <a:avLst/>
          </a:prstGeom>
          <a:noFill/>
          <a:ln/>
        </p:spPr>
        <p:txBody>
          <a:bodyPr wrap="square" lIns="0" tIns="0" rIns="0" bIns="0" rtlCol="0" anchor="ctr"/>
          <a:lstStyle/>
          <a:p>
            <a:pPr algn="ctr" indent="0" marL="0">
              <a:buNone/>
            </a:pPr>
            <a:r>
              <a:rPr lang="en-US" sz="1050" dirty="0">
                <a:solidFill>
                  <a:srgbClr val="E8F0F2"/>
                </a:solidFill>
                <a:latin typeface="Arial" pitchFamily="34" charset="0"/>
                <a:ea typeface="Arial" pitchFamily="34" charset="-122"/>
                <a:cs typeface="Arial" pitchFamily="34" charset="-120"/>
              </a:rPr>
              <a:t>@HiltViewModel</a:t>
            </a:r>
            <a:endParaRPr lang="en-US" sz="1050" dirty="0"/>
          </a:p>
          <a:p>
            <a:pPr algn="ctr" indent="0" marL="0">
              <a:buNone/>
            </a:pPr>
            <a:r>
              <a:rPr lang="en-US" sz="1050" dirty="0">
                <a:solidFill>
                  <a:srgbClr val="E8F0F2"/>
                </a:solidFill>
                <a:latin typeface="Arial" pitchFamily="34" charset="0"/>
                <a:ea typeface="Arial" pitchFamily="34" charset="-122"/>
                <a:cs typeface="Arial" pitchFamily="34" charset="-120"/>
              </a:rPr>
              <a:t>StateFlow&lt;UiState&gt;</a:t>
            </a:r>
            <a:endParaRPr lang="en-US" sz="1050" dirty="0"/>
          </a:p>
          <a:p>
            <a:pPr algn="ctr" indent="0" marL="0">
              <a:buNone/>
            </a:pPr>
            <a:r>
              <a:rPr lang="en-US" sz="1050" dirty="0">
                <a:solidFill>
                  <a:srgbClr val="E8F0F2"/>
                </a:solidFill>
                <a:latin typeface="Arial" pitchFamily="34" charset="0"/>
                <a:ea typeface="Arial" pitchFamily="34" charset="-122"/>
                <a:cs typeface="Arial" pitchFamily="34" charset="-120"/>
              </a:rPr>
              <a:t>Channel&lt;Effect&gt;</a:t>
            </a:r>
            <a:endParaRPr lang="en-US" sz="1050" dirty="0"/>
          </a:p>
        </p:txBody>
      </p:sp>
      <p:sp>
        <p:nvSpPr>
          <p:cNvPr id="10" name="Shape 8"/>
          <p:cNvSpPr/>
          <p:nvPr/>
        </p:nvSpPr>
        <p:spPr>
          <a:xfrm>
            <a:off x="9052560" y="1554480"/>
            <a:ext cx="2651760" cy="1005840"/>
          </a:xfrm>
          <a:prstGeom prst="roundRect">
            <a:avLst>
              <a:gd name="adj" fmla="val 7273"/>
            </a:avLst>
          </a:prstGeom>
          <a:solidFill>
            <a:srgbClr val="1C2C34"/>
          </a:solidFill>
          <a:ln w="9525">
            <a:solidFill>
              <a:srgbClr val="263841"/>
            </a:solidFill>
            <a:prstDash val="solid"/>
          </a:ln>
        </p:spPr>
      </p:sp>
      <p:sp>
        <p:nvSpPr>
          <p:cNvPr id="11" name="Text 9"/>
          <p:cNvSpPr txBox="1"/>
          <p:nvPr/>
        </p:nvSpPr>
        <p:spPr>
          <a:xfrm>
            <a:off x="9125712" y="1554480"/>
            <a:ext cx="2505456" cy="1005840"/>
          </a:xfrm>
          <a:prstGeom prst="rect">
            <a:avLst/>
          </a:prstGeom>
          <a:noFill/>
          <a:ln/>
        </p:spPr>
        <p:txBody>
          <a:bodyPr wrap="square" lIns="0" tIns="0" rIns="0" bIns="0" rtlCol="0" anchor="ctr"/>
          <a:lstStyle/>
          <a:p>
            <a:pPr algn="ctr" indent="0" marL="0">
              <a:buNone/>
            </a:pPr>
            <a:r>
              <a:rPr lang="en-US" sz="1050" dirty="0">
                <a:solidFill>
                  <a:srgbClr val="E8F0F2"/>
                </a:solidFill>
                <a:latin typeface="Arial" pitchFamily="34" charset="0"/>
                <a:ea typeface="Arial" pitchFamily="34" charset="-122"/>
                <a:cs typeface="Arial" pitchFamily="34" charset="-120"/>
              </a:rPr>
              <a:t>Repository interface</a:t>
            </a:r>
            <a:endParaRPr lang="en-US" sz="1050" dirty="0"/>
          </a:p>
          <a:p>
            <a:pPr algn="ctr" indent="0" marL="0">
              <a:buNone/>
            </a:pPr>
            <a:r>
              <a:rPr lang="en-US" sz="1050" dirty="0">
                <a:solidFill>
                  <a:srgbClr val="E8F0F2"/>
                </a:solidFill>
                <a:latin typeface="Arial" pitchFamily="34" charset="0"/>
                <a:ea typeface="Arial" pitchFamily="34" charset="-122"/>
                <a:cs typeface="Arial" pitchFamily="34" charset="-120"/>
              </a:rPr>
              <a:t>Room first, API second</a:t>
            </a:r>
            <a:endParaRPr lang="en-US" sz="1050" dirty="0"/>
          </a:p>
        </p:txBody>
      </p:sp>
      <p:sp>
        <p:nvSpPr>
          <p:cNvPr id="12" name="Shape 10"/>
          <p:cNvSpPr/>
          <p:nvPr/>
        </p:nvSpPr>
        <p:spPr>
          <a:xfrm>
            <a:off x="3108960" y="1874520"/>
            <a:ext cx="1737360" cy="0"/>
          </a:xfrm>
          <a:prstGeom prst="line">
            <a:avLst/>
          </a:prstGeom>
          <a:noFill/>
          <a:ln w="19050">
            <a:solidFill>
              <a:srgbClr val="2FD9F4"/>
            </a:solidFill>
            <a:prstDash val="solid"/>
            <a:tailEnd type="triangle"/>
          </a:ln>
        </p:spPr>
      </p:sp>
      <p:sp>
        <p:nvSpPr>
          <p:cNvPr id="13" name="Text 11"/>
          <p:cNvSpPr txBox="1"/>
          <p:nvPr/>
        </p:nvSpPr>
        <p:spPr>
          <a:xfrm>
            <a:off x="3200400" y="1600200"/>
            <a:ext cx="1554480" cy="274320"/>
          </a:xfrm>
          <a:prstGeom prst="rect">
            <a:avLst/>
          </a:prstGeom>
          <a:noFill/>
          <a:ln/>
        </p:spPr>
        <p:txBody>
          <a:bodyPr wrap="square" lIns="0" tIns="0" rIns="0" bIns="0" rtlCol="0" anchor="t"/>
          <a:lstStyle/>
          <a:p>
            <a:pPr algn="ctr" indent="0" marL="0">
              <a:buNone/>
            </a:pPr>
            <a:r>
              <a:rPr lang="en-US" sz="900" dirty="0">
                <a:solidFill>
                  <a:srgbClr val="9DB2BA"/>
                </a:solidFill>
                <a:latin typeface="Arial" pitchFamily="34" charset="0"/>
                <a:ea typeface="Arial" pitchFamily="34" charset="-122"/>
                <a:cs typeface="Arial" pitchFamily="34" charset="-120"/>
              </a:rPr>
              <a:t>user events</a:t>
            </a:r>
            <a:endParaRPr lang="en-US" sz="900" dirty="0"/>
          </a:p>
        </p:txBody>
      </p:sp>
      <p:sp>
        <p:nvSpPr>
          <p:cNvPr id="14" name="Shape 12"/>
          <p:cNvSpPr/>
          <p:nvPr/>
        </p:nvSpPr>
        <p:spPr>
          <a:xfrm flipH="1">
            <a:off x="3108960" y="2286000"/>
            <a:ext cx="1737360" cy="0"/>
          </a:xfrm>
          <a:prstGeom prst="line">
            <a:avLst/>
          </a:prstGeom>
          <a:noFill/>
          <a:ln w="19050">
            <a:solidFill>
              <a:srgbClr val="45DFA4"/>
            </a:solidFill>
            <a:prstDash val="solid"/>
            <a:tailEnd type="triangle"/>
          </a:ln>
        </p:spPr>
      </p:sp>
      <p:sp>
        <p:nvSpPr>
          <p:cNvPr id="15" name="Text 13"/>
          <p:cNvSpPr txBox="1"/>
          <p:nvPr/>
        </p:nvSpPr>
        <p:spPr>
          <a:xfrm>
            <a:off x="3200400" y="2331720"/>
            <a:ext cx="1554480" cy="274320"/>
          </a:xfrm>
          <a:prstGeom prst="rect">
            <a:avLst/>
          </a:prstGeom>
          <a:noFill/>
          <a:ln/>
        </p:spPr>
        <p:txBody>
          <a:bodyPr wrap="square" lIns="0" tIns="0" rIns="0" bIns="0" rtlCol="0" anchor="t"/>
          <a:lstStyle/>
          <a:p>
            <a:pPr algn="ctr" indent="0" marL="0">
              <a:buNone/>
            </a:pPr>
            <a:r>
              <a:rPr lang="en-US" sz="900" dirty="0">
                <a:solidFill>
                  <a:srgbClr val="9DB2BA"/>
                </a:solidFill>
                <a:latin typeface="Arial" pitchFamily="34" charset="0"/>
                <a:ea typeface="Arial" pitchFamily="34" charset="-122"/>
                <a:cs typeface="Arial" pitchFamily="34" charset="-120"/>
              </a:rPr>
              <a:t>StateFlow, Channel</a:t>
            </a:r>
            <a:endParaRPr lang="en-US" sz="900" dirty="0"/>
          </a:p>
        </p:txBody>
      </p:sp>
      <p:sp>
        <p:nvSpPr>
          <p:cNvPr id="16" name="Shape 14"/>
          <p:cNvSpPr/>
          <p:nvPr/>
        </p:nvSpPr>
        <p:spPr>
          <a:xfrm>
            <a:off x="7315200" y="1874520"/>
            <a:ext cx="1737360" cy="0"/>
          </a:xfrm>
          <a:prstGeom prst="line">
            <a:avLst/>
          </a:prstGeom>
          <a:noFill/>
          <a:ln w="19050">
            <a:solidFill>
              <a:srgbClr val="2FD9F4"/>
            </a:solidFill>
            <a:prstDash val="solid"/>
            <a:tailEnd type="triangle"/>
          </a:ln>
        </p:spPr>
      </p:sp>
      <p:sp>
        <p:nvSpPr>
          <p:cNvPr id="17" name="Text 15"/>
          <p:cNvSpPr txBox="1"/>
          <p:nvPr/>
        </p:nvSpPr>
        <p:spPr>
          <a:xfrm>
            <a:off x="7406640" y="1600200"/>
            <a:ext cx="1554480" cy="274320"/>
          </a:xfrm>
          <a:prstGeom prst="rect">
            <a:avLst/>
          </a:prstGeom>
          <a:noFill/>
          <a:ln/>
        </p:spPr>
        <p:txBody>
          <a:bodyPr wrap="square" lIns="0" tIns="0" rIns="0" bIns="0" rtlCol="0" anchor="t"/>
          <a:lstStyle/>
          <a:p>
            <a:pPr algn="ctr" indent="0" marL="0">
              <a:buNone/>
            </a:pPr>
            <a:r>
              <a:rPr lang="en-US" sz="900" dirty="0">
                <a:solidFill>
                  <a:srgbClr val="9DB2BA"/>
                </a:solidFill>
                <a:latin typeface="Arial" pitchFamily="34" charset="0"/>
                <a:ea typeface="Arial" pitchFamily="34" charset="-122"/>
                <a:cs typeface="Arial" pitchFamily="34" charset="-120"/>
              </a:rPr>
              <a:t>suspend calls</a:t>
            </a:r>
            <a:endParaRPr lang="en-US" sz="900" dirty="0"/>
          </a:p>
        </p:txBody>
      </p:sp>
      <p:sp>
        <p:nvSpPr>
          <p:cNvPr id="18" name="Shape 16"/>
          <p:cNvSpPr/>
          <p:nvPr/>
        </p:nvSpPr>
        <p:spPr>
          <a:xfrm flipH="1">
            <a:off x="7315200" y="2286000"/>
            <a:ext cx="1737360" cy="0"/>
          </a:xfrm>
          <a:prstGeom prst="line">
            <a:avLst/>
          </a:prstGeom>
          <a:noFill/>
          <a:ln w="19050">
            <a:solidFill>
              <a:srgbClr val="45DFA4"/>
            </a:solidFill>
            <a:prstDash val="solid"/>
            <a:tailEnd type="triangle"/>
          </a:ln>
        </p:spPr>
      </p:sp>
      <p:sp>
        <p:nvSpPr>
          <p:cNvPr id="19" name="Text 17"/>
          <p:cNvSpPr txBox="1"/>
          <p:nvPr/>
        </p:nvSpPr>
        <p:spPr>
          <a:xfrm>
            <a:off x="7406640" y="2331720"/>
            <a:ext cx="1554480" cy="274320"/>
          </a:xfrm>
          <a:prstGeom prst="rect">
            <a:avLst/>
          </a:prstGeom>
          <a:noFill/>
          <a:ln/>
        </p:spPr>
        <p:txBody>
          <a:bodyPr wrap="square" lIns="0" tIns="0" rIns="0" bIns="0" rtlCol="0" anchor="t"/>
          <a:lstStyle/>
          <a:p>
            <a:pPr algn="ctr" indent="0" marL="0">
              <a:buNone/>
            </a:pPr>
            <a:r>
              <a:rPr lang="en-US" sz="900" dirty="0">
                <a:solidFill>
                  <a:srgbClr val="9DB2BA"/>
                </a:solidFill>
                <a:latin typeface="Arial" pitchFamily="34" charset="0"/>
                <a:ea typeface="Arial" pitchFamily="34" charset="-122"/>
                <a:cs typeface="Arial" pitchFamily="34" charset="-120"/>
              </a:rPr>
              <a:t>Flow from Room</a:t>
            </a:r>
            <a:endParaRPr lang="en-US" sz="900" dirty="0"/>
          </a:p>
        </p:txBody>
      </p:sp>
      <p:sp>
        <p:nvSpPr>
          <p:cNvPr id="20" name="Shape 18"/>
          <p:cNvSpPr/>
          <p:nvPr/>
        </p:nvSpPr>
        <p:spPr>
          <a:xfrm>
            <a:off x="640080" y="3017520"/>
            <a:ext cx="3566160" cy="3017520"/>
          </a:xfrm>
          <a:prstGeom prst="roundRect">
            <a:avLst>
              <a:gd name="adj" fmla="val 3636"/>
            </a:avLst>
          </a:prstGeom>
          <a:solidFill>
            <a:srgbClr val="16232A"/>
          </a:solidFill>
          <a:ln w="9525">
            <a:solidFill>
              <a:srgbClr val="263841"/>
            </a:solidFill>
            <a:prstDash val="solid"/>
          </a:ln>
        </p:spPr>
      </p:sp>
      <p:sp>
        <p:nvSpPr>
          <p:cNvPr id="21" name="Shape 19"/>
          <p:cNvSpPr/>
          <p:nvPr/>
        </p:nvSpPr>
        <p:spPr>
          <a:xfrm>
            <a:off x="822960" y="3200400"/>
            <a:ext cx="457200" cy="457200"/>
          </a:xfrm>
          <a:prstGeom prst="ellipse">
            <a:avLst/>
          </a:prstGeom>
          <a:solidFill>
            <a:srgbClr val="0A1013"/>
          </a:solidFill>
          <a:ln w="6350">
            <a:solidFill>
              <a:srgbClr val="263841"/>
            </a:solidFill>
            <a:prstDash val="solid"/>
          </a:ln>
        </p:spPr>
      </p:sp>
      <p:pic>
        <p:nvPicPr>
          <p:cNvPr id="22" name="Image 0" descr="preencoded.png">    </p:cNvPr>
          <p:cNvPicPr>
            <a:picLocks noChangeAspect="1"/>
          </p:cNvPicPr>
          <p:nvPr/>
        </p:nvPicPr>
        <p:blipFill>
          <a:blip r:embed="rId1"/>
          <a:stretch>
            <a:fillRect/>
          </a:stretch>
        </p:blipFill>
        <p:spPr>
          <a:xfrm>
            <a:off x="914400" y="3291840"/>
            <a:ext cx="274320" cy="274320"/>
          </a:xfrm>
          <a:prstGeom prst="rect">
            <a:avLst/>
          </a:prstGeom>
        </p:spPr>
      </p:pic>
      <p:sp>
        <p:nvSpPr>
          <p:cNvPr id="23" name="Text 20"/>
          <p:cNvSpPr txBox="1"/>
          <p:nvPr/>
        </p:nvSpPr>
        <p:spPr>
          <a:xfrm>
            <a:off x="1417320" y="3182112"/>
            <a:ext cx="26060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Rules the code keeps</a:t>
            </a:r>
            <a:endParaRPr lang="en-US" sz="1300" dirty="0"/>
          </a:p>
        </p:txBody>
      </p:sp>
      <p:sp>
        <p:nvSpPr>
          <p:cNvPr id="24" name="Text 21"/>
          <p:cNvSpPr txBox="1"/>
          <p:nvPr/>
        </p:nvSpPr>
        <p:spPr>
          <a:xfrm>
            <a:off x="822960" y="3675888"/>
            <a:ext cx="3200400" cy="224028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ViewModels emit string resource ids, never formatted text, so they hold no Context and run on the JVM.</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One-shot effects (toast, navigation, share sheet) go through a Channel so a recomposition cannot replay them.</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An injected java.time.Clock makes midnight rollover deterministic in tests.</a:t>
            </a:r>
            <a:endParaRPr lang="en-US" sz="1000" dirty="0"/>
          </a:p>
        </p:txBody>
      </p:sp>
      <p:sp>
        <p:nvSpPr>
          <p:cNvPr id="25" name="Shape 22"/>
          <p:cNvSpPr/>
          <p:nvPr/>
        </p:nvSpPr>
        <p:spPr>
          <a:xfrm>
            <a:off x="4434840" y="3017520"/>
            <a:ext cx="3566160" cy="3017520"/>
          </a:xfrm>
          <a:prstGeom prst="roundRect">
            <a:avLst>
              <a:gd name="adj" fmla="val 3636"/>
            </a:avLst>
          </a:prstGeom>
          <a:solidFill>
            <a:srgbClr val="16232A"/>
          </a:solidFill>
          <a:ln w="9525">
            <a:solidFill>
              <a:srgbClr val="263841"/>
            </a:solidFill>
            <a:prstDash val="solid"/>
          </a:ln>
        </p:spPr>
      </p:sp>
      <p:sp>
        <p:nvSpPr>
          <p:cNvPr id="26" name="Shape 23"/>
          <p:cNvSpPr/>
          <p:nvPr/>
        </p:nvSpPr>
        <p:spPr>
          <a:xfrm>
            <a:off x="4617720" y="3200400"/>
            <a:ext cx="457200" cy="457200"/>
          </a:xfrm>
          <a:prstGeom prst="ellipse">
            <a:avLst/>
          </a:prstGeom>
          <a:solidFill>
            <a:srgbClr val="0A1013"/>
          </a:solidFill>
          <a:ln w="6350">
            <a:solidFill>
              <a:srgbClr val="263841"/>
            </a:solidFill>
            <a:prstDash val="solid"/>
          </a:ln>
        </p:spPr>
      </p:sp>
      <p:pic>
        <p:nvPicPr>
          <p:cNvPr id="27" name="Image 1" descr="preencoded.png">    </p:cNvPr>
          <p:cNvPicPr>
            <a:picLocks noChangeAspect="1"/>
          </p:cNvPicPr>
          <p:nvPr/>
        </p:nvPicPr>
        <p:blipFill>
          <a:blip r:embed="rId2"/>
          <a:stretch>
            <a:fillRect/>
          </a:stretch>
        </p:blipFill>
        <p:spPr>
          <a:xfrm>
            <a:off x="4709160" y="3291840"/>
            <a:ext cx="274320" cy="274320"/>
          </a:xfrm>
          <a:prstGeom prst="rect">
            <a:avLst/>
          </a:prstGeom>
        </p:spPr>
      </p:pic>
      <p:sp>
        <p:nvSpPr>
          <p:cNvPr id="28" name="Text 24"/>
          <p:cNvSpPr txBox="1"/>
          <p:nvPr/>
        </p:nvSpPr>
        <p:spPr>
          <a:xfrm>
            <a:off x="5212080" y="3182112"/>
            <a:ext cx="26060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Testing at the seam</a:t>
            </a:r>
            <a:endParaRPr lang="en-US" sz="1300" dirty="0"/>
          </a:p>
        </p:txBody>
      </p:sp>
      <p:sp>
        <p:nvSpPr>
          <p:cNvPr id="29" name="Text 25"/>
          <p:cNvSpPr txBox="1"/>
          <p:nvPr/>
        </p:nvSpPr>
        <p:spPr>
          <a:xfrm>
            <a:off x="4617720" y="3675888"/>
            <a:ext cx="3200400" cy="224028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Hand-written fakes at each @Binds interface: FakeDashboardData, FakeNutritionData, FakeCoachesRepository.</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StandardTestDispatcher with Dispatchers.setMain for every ViewModel test.</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518 JVM tests across 63 classes run in CI on every push [4].</a:t>
            </a:r>
            <a:endParaRPr lang="en-US" sz="1000" dirty="0"/>
          </a:p>
        </p:txBody>
      </p:sp>
      <p:sp>
        <p:nvSpPr>
          <p:cNvPr id="30" name="Shape 26"/>
          <p:cNvSpPr/>
          <p:nvPr/>
        </p:nvSpPr>
        <p:spPr>
          <a:xfrm>
            <a:off x="8229600" y="3017520"/>
            <a:ext cx="3474720" cy="3017520"/>
          </a:xfrm>
          <a:prstGeom prst="roundRect">
            <a:avLst>
              <a:gd name="adj" fmla="val 3636"/>
            </a:avLst>
          </a:prstGeom>
          <a:solidFill>
            <a:srgbClr val="16232A"/>
          </a:solidFill>
          <a:ln w="9525">
            <a:solidFill>
              <a:srgbClr val="263841"/>
            </a:solidFill>
            <a:prstDash val="solid"/>
          </a:ln>
        </p:spPr>
      </p:sp>
      <p:sp>
        <p:nvSpPr>
          <p:cNvPr id="31" name="Shape 27"/>
          <p:cNvSpPr/>
          <p:nvPr/>
        </p:nvSpPr>
        <p:spPr>
          <a:xfrm>
            <a:off x="8412480" y="3200400"/>
            <a:ext cx="457200" cy="457200"/>
          </a:xfrm>
          <a:prstGeom prst="ellipse">
            <a:avLst/>
          </a:prstGeom>
          <a:solidFill>
            <a:srgbClr val="0A1013"/>
          </a:solidFill>
          <a:ln w="6350">
            <a:solidFill>
              <a:srgbClr val="263841"/>
            </a:solidFill>
            <a:prstDash val="solid"/>
          </a:ln>
        </p:spPr>
      </p:sp>
      <p:pic>
        <p:nvPicPr>
          <p:cNvPr id="32" name="Image 2" descr="preencoded.png">    </p:cNvPr>
          <p:cNvPicPr>
            <a:picLocks noChangeAspect="1"/>
          </p:cNvPicPr>
          <p:nvPr/>
        </p:nvPicPr>
        <p:blipFill>
          <a:blip r:embed="rId3"/>
          <a:stretch>
            <a:fillRect/>
          </a:stretch>
        </p:blipFill>
        <p:spPr>
          <a:xfrm>
            <a:off x="8503920" y="3291840"/>
            <a:ext cx="274320" cy="274320"/>
          </a:xfrm>
          <a:prstGeom prst="rect">
            <a:avLst/>
          </a:prstGeom>
        </p:spPr>
      </p:pic>
      <p:sp>
        <p:nvSpPr>
          <p:cNvPr id="33" name="Text 28"/>
          <p:cNvSpPr txBox="1"/>
          <p:nvPr/>
        </p:nvSpPr>
        <p:spPr>
          <a:xfrm>
            <a:off x="9006840" y="3182112"/>
            <a:ext cx="25146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Sample of the shape</a:t>
            </a:r>
            <a:endParaRPr lang="en-US" sz="1300" dirty="0"/>
          </a:p>
        </p:txBody>
      </p:sp>
      <p:sp>
        <p:nvSpPr>
          <p:cNvPr id="34" name="Text 29"/>
          <p:cNvSpPr txBox="1"/>
          <p:nvPr/>
        </p:nvSpPr>
        <p:spPr>
          <a:xfrm>
            <a:off x="8412480" y="3675888"/>
            <a:ext cx="3108960" cy="224028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data class DashboardUiState(</a:t>
            </a:r>
            <a:endParaRPr lang="en-US" sz="950" dirty="0"/>
          </a:p>
          <a:p>
            <a:pPr indent="0" marL="0">
              <a:spcAft>
                <a:spcPts val="400"/>
              </a:spcAft>
              <a:buNone/>
            </a:pPr>
            <a:r>
              <a:rPr lang="en-US" sz="950" dirty="0">
                <a:solidFill>
                  <a:srgbClr val="E8F0F2"/>
                </a:solidFill>
                <a:latin typeface="Arial" pitchFamily="34" charset="0"/>
                <a:ea typeface="Arial" pitchFamily="34" charset="-122"/>
                <a:cs typeface="Arial" pitchFamily="34" charset="-120"/>
              </a:rPr>
              <a:t>  val kcalTarget: Int,</a:t>
            </a:r>
            <a:endParaRPr lang="en-US" sz="950" dirty="0"/>
          </a:p>
          <a:p>
            <a:pPr indent="0" marL="0">
              <a:spcAft>
                <a:spcPts val="400"/>
              </a:spcAft>
              <a:buNone/>
            </a:pPr>
            <a:r>
              <a:rPr lang="en-US" sz="950" dirty="0">
                <a:solidFill>
                  <a:srgbClr val="E8F0F2"/>
                </a:solidFill>
                <a:latin typeface="Arial" pitchFamily="34" charset="0"/>
                <a:ea typeface="Arial" pitchFamily="34" charset="-122"/>
                <a:cs typeface="Arial" pitchFamily="34" charset="-120"/>
              </a:rPr>
              <a:t>  val kcalConsumed: Int,</a:t>
            </a:r>
            <a:endParaRPr lang="en-US" sz="950" dirty="0"/>
          </a:p>
          <a:p>
            <a:pPr indent="0" marL="0">
              <a:spcAft>
                <a:spcPts val="400"/>
              </a:spcAft>
              <a:buNone/>
            </a:pPr>
            <a:r>
              <a:rPr lang="en-US" sz="950" dirty="0">
                <a:solidFill>
                  <a:srgbClr val="E8F0F2"/>
                </a:solidFill>
                <a:latin typeface="Arial" pitchFamily="34" charset="0"/>
                <a:ea typeface="Arial" pitchFamily="34" charset="-122"/>
                <a:cs typeface="Arial" pitchFamily="34" charset="-120"/>
              </a:rPr>
              <a:t>  val readiness: Readiness?,</a:t>
            </a:r>
            <a:endParaRPr lang="en-US" sz="950" dirty="0"/>
          </a:p>
          <a:p>
            <a:pPr indent="0" marL="0">
              <a:spcAft>
                <a:spcPts val="400"/>
              </a:spcAft>
              <a:buNone/>
            </a:pPr>
            <a:r>
              <a:rPr lang="en-US" sz="950" dirty="0">
                <a:solidFill>
                  <a:srgbClr val="E8F0F2"/>
                </a:solidFill>
                <a:latin typeface="Arial" pitchFamily="34" charset="0"/>
                <a:ea typeface="Arial" pitchFamily="34" charset="-122"/>
                <a:cs typeface="Arial" pitchFamily="34" charset="-120"/>
              </a:rPr>
              <a:t>  val messageRes: Int? = null,</a:t>
            </a:r>
            <a:endParaRPr lang="en-US" sz="950" dirty="0"/>
          </a:p>
          <a:p>
            <a:pPr indent="0" marL="0">
              <a:spcAft>
                <a:spcPts val="400"/>
              </a:spcAft>
              <a:buNone/>
            </a:pPr>
            <a:r>
              <a:rPr lang="en-US" sz="950" dirty="0">
                <a:solidFill>
                  <a:srgbClr val="E8F0F2"/>
                </a:solidFill>
                <a:latin typeface="Arial" pitchFamily="34" charset="0"/>
                <a:ea typeface="Arial" pitchFamily="34" charset="-122"/>
                <a:cs typeface="Arial" pitchFamily="34" charset="-120"/>
              </a:rPr>
              <a:t>)</a:t>
            </a:r>
            <a:endParaRPr lang="en-US" sz="950" dirty="0"/>
          </a:p>
          <a:p>
            <a:pPr indent="0" marL="0">
              <a:spcAft>
                <a:spcPts val="400"/>
              </a:spcAft>
              <a:buNone/>
            </a:pPr>
            <a:endParaRPr lang="en-US" sz="950" dirty="0"/>
          </a:p>
          <a:p>
            <a:pPr indent="0" marL="0">
              <a:spcAft>
                <a:spcPts val="400"/>
              </a:spcAft>
              <a:buNone/>
            </a:pPr>
            <a:r>
              <a:rPr lang="en-US" sz="950" dirty="0">
                <a:solidFill>
                  <a:srgbClr val="E8F0F2"/>
                </a:solidFill>
                <a:latin typeface="Arial" pitchFamily="34" charset="0"/>
                <a:ea typeface="Arial" pitchFamily="34" charset="-122"/>
                <a:cs typeface="Arial" pitchFamily="34" charset="-120"/>
              </a:rPr>
              <a:t>sealed interface Effect {</a:t>
            </a:r>
            <a:endParaRPr lang="en-US" sz="950" dirty="0"/>
          </a:p>
          <a:p>
            <a:pPr indent="0" marL="0">
              <a:spcAft>
                <a:spcPts val="400"/>
              </a:spcAft>
              <a:buNone/>
            </a:pPr>
            <a:r>
              <a:rPr lang="en-US" sz="950" dirty="0">
                <a:solidFill>
                  <a:srgbClr val="E8F0F2"/>
                </a:solidFill>
                <a:latin typeface="Arial" pitchFamily="34" charset="0"/>
                <a:ea typeface="Arial" pitchFamily="34" charset="-122"/>
                <a:cs typeface="Arial" pitchFamily="34" charset="-120"/>
              </a:rPr>
              <a:t>  data class Toast(val res: Int) : Effect</a:t>
            </a:r>
            <a:endParaRPr lang="en-US" sz="950" dirty="0"/>
          </a:p>
          <a:p>
            <a:pPr indent="0" marL="0">
              <a:spcAft>
                <a:spcPts val="400"/>
              </a:spcAft>
              <a:buNone/>
            </a:pPr>
            <a:r>
              <a:rPr lang="en-US" sz="950" dirty="0">
                <a:solidFill>
                  <a:srgbClr val="E8F0F2"/>
                </a:solidFill>
                <a:latin typeface="Arial" pitchFamily="34" charset="0"/>
                <a:ea typeface="Arial" pitchFamily="34" charset="-122"/>
                <a:cs typeface="Arial" pitchFamily="34" charset="-120"/>
              </a:rPr>
              <a:t>}</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20</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17  SYNC DESIGN</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Offline-first: Room first, outbox replay, idempotent sync</a:t>
            </a:r>
            <a:endParaRPr lang="en-US" sz="2800" dirty="0"/>
          </a:p>
        </p:txBody>
      </p:sp>
      <p:sp>
        <p:nvSpPr>
          <p:cNvPr id="6" name="Shape 4"/>
          <p:cNvSpPr/>
          <p:nvPr/>
        </p:nvSpPr>
        <p:spPr>
          <a:xfrm>
            <a:off x="640080" y="1417320"/>
            <a:ext cx="457200" cy="457200"/>
          </a:xfrm>
          <a:prstGeom prst="ellipse">
            <a:avLst/>
          </a:prstGeom>
          <a:solidFill>
            <a:srgbClr val="2FD9F4"/>
          </a:solidFill>
          <a:ln w="12700">
            <a:solidFill>
              <a:srgbClr val="2FD9F4"/>
            </a:solidFill>
            <a:prstDash val="solid"/>
          </a:ln>
        </p:spPr>
      </p:sp>
      <p:sp>
        <p:nvSpPr>
          <p:cNvPr id="7" name="Text 5"/>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400" b="1" dirty="0">
                <a:solidFill>
                  <a:srgbClr val="0A1013"/>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548640" y="1965960"/>
            <a:ext cx="1783080" cy="82296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User logs a meal, water or weight</a:t>
            </a:r>
            <a:endParaRPr lang="en-US" sz="1000" dirty="0"/>
          </a:p>
        </p:txBody>
      </p:sp>
      <p:sp>
        <p:nvSpPr>
          <p:cNvPr id="9" name="Shape 7"/>
          <p:cNvSpPr/>
          <p:nvPr/>
        </p:nvSpPr>
        <p:spPr>
          <a:xfrm>
            <a:off x="1170432" y="1645920"/>
            <a:ext cx="1298448" cy="0"/>
          </a:xfrm>
          <a:prstGeom prst="line">
            <a:avLst/>
          </a:prstGeom>
          <a:noFill/>
          <a:ln w="19050">
            <a:solidFill>
              <a:srgbClr val="2FD9F4"/>
            </a:solidFill>
            <a:prstDash val="solid"/>
            <a:tailEnd type="triangle"/>
          </a:ln>
        </p:spPr>
      </p:sp>
      <p:sp>
        <p:nvSpPr>
          <p:cNvPr id="10" name="Shape 8"/>
          <p:cNvSpPr/>
          <p:nvPr/>
        </p:nvSpPr>
        <p:spPr>
          <a:xfrm>
            <a:off x="2542032" y="1417320"/>
            <a:ext cx="457200" cy="457200"/>
          </a:xfrm>
          <a:prstGeom prst="ellipse">
            <a:avLst/>
          </a:prstGeom>
          <a:solidFill>
            <a:srgbClr val="2FD9F4"/>
          </a:solidFill>
          <a:ln w="12700">
            <a:solidFill>
              <a:srgbClr val="2FD9F4"/>
            </a:solidFill>
            <a:prstDash val="solid"/>
          </a:ln>
        </p:spPr>
      </p:sp>
      <p:sp>
        <p:nvSpPr>
          <p:cNvPr id="11" name="Text 9"/>
          <p:cNvSpPr txBox="1"/>
          <p:nvPr/>
        </p:nvSpPr>
        <p:spPr>
          <a:xfrm>
            <a:off x="2542032" y="1417320"/>
            <a:ext cx="457200" cy="457200"/>
          </a:xfrm>
          <a:prstGeom prst="rect">
            <a:avLst/>
          </a:prstGeom>
          <a:noFill/>
          <a:ln/>
        </p:spPr>
        <p:txBody>
          <a:bodyPr wrap="square" lIns="0" tIns="0" rIns="0" bIns="0" rtlCol="0" anchor="ctr"/>
          <a:lstStyle/>
          <a:p>
            <a:pPr algn="ctr" indent="0" marL="0">
              <a:buNone/>
            </a:pPr>
            <a:r>
              <a:rPr lang="en-US" sz="1400" b="1" dirty="0">
                <a:solidFill>
                  <a:srgbClr val="0A1013"/>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2450592" y="1965960"/>
            <a:ext cx="1783080" cy="82296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Row written to Room, UI updates instantly</a:t>
            </a:r>
            <a:endParaRPr lang="en-US" sz="1000" dirty="0"/>
          </a:p>
        </p:txBody>
      </p:sp>
      <p:sp>
        <p:nvSpPr>
          <p:cNvPr id="13" name="Shape 11"/>
          <p:cNvSpPr/>
          <p:nvPr/>
        </p:nvSpPr>
        <p:spPr>
          <a:xfrm>
            <a:off x="3072384" y="1645920"/>
            <a:ext cx="1298448" cy="0"/>
          </a:xfrm>
          <a:prstGeom prst="line">
            <a:avLst/>
          </a:prstGeom>
          <a:noFill/>
          <a:ln w="19050">
            <a:solidFill>
              <a:srgbClr val="2FD9F4"/>
            </a:solidFill>
            <a:prstDash val="solid"/>
            <a:tailEnd type="triangle"/>
          </a:ln>
        </p:spPr>
      </p:sp>
      <p:sp>
        <p:nvSpPr>
          <p:cNvPr id="14" name="Shape 12"/>
          <p:cNvSpPr/>
          <p:nvPr/>
        </p:nvSpPr>
        <p:spPr>
          <a:xfrm>
            <a:off x="4443984" y="1417320"/>
            <a:ext cx="457200" cy="457200"/>
          </a:xfrm>
          <a:prstGeom prst="ellipse">
            <a:avLst/>
          </a:prstGeom>
          <a:solidFill>
            <a:srgbClr val="2FD9F4"/>
          </a:solidFill>
          <a:ln w="12700">
            <a:solidFill>
              <a:srgbClr val="2FD9F4"/>
            </a:solidFill>
            <a:prstDash val="solid"/>
          </a:ln>
        </p:spPr>
      </p:sp>
      <p:sp>
        <p:nvSpPr>
          <p:cNvPr id="15" name="Text 13"/>
          <p:cNvSpPr txBox="1"/>
          <p:nvPr/>
        </p:nvSpPr>
        <p:spPr>
          <a:xfrm>
            <a:off x="4443984" y="1417320"/>
            <a:ext cx="457200" cy="457200"/>
          </a:xfrm>
          <a:prstGeom prst="rect">
            <a:avLst/>
          </a:prstGeom>
          <a:noFill/>
          <a:ln/>
        </p:spPr>
        <p:txBody>
          <a:bodyPr wrap="square" lIns="0" tIns="0" rIns="0" bIns="0" rtlCol="0" anchor="ctr"/>
          <a:lstStyle/>
          <a:p>
            <a:pPr algn="ctr" indent="0" marL="0">
              <a:buNone/>
            </a:pPr>
            <a:r>
              <a:rPr lang="en-US" sz="1400" b="1" dirty="0">
                <a:solidFill>
                  <a:srgbClr val="0A1013"/>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4352544" y="1965960"/>
            <a:ext cx="1783080" cy="82296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Outbox row created with a fresh Idempotency-Key</a:t>
            </a:r>
            <a:endParaRPr lang="en-US" sz="1000" dirty="0"/>
          </a:p>
        </p:txBody>
      </p:sp>
      <p:sp>
        <p:nvSpPr>
          <p:cNvPr id="17" name="Shape 15"/>
          <p:cNvSpPr/>
          <p:nvPr/>
        </p:nvSpPr>
        <p:spPr>
          <a:xfrm>
            <a:off x="4974336" y="1645920"/>
            <a:ext cx="1298448" cy="0"/>
          </a:xfrm>
          <a:prstGeom prst="line">
            <a:avLst/>
          </a:prstGeom>
          <a:noFill/>
          <a:ln w="19050">
            <a:solidFill>
              <a:srgbClr val="2FD9F4"/>
            </a:solidFill>
            <a:prstDash val="solid"/>
            <a:tailEnd type="triangle"/>
          </a:ln>
        </p:spPr>
      </p:sp>
      <p:sp>
        <p:nvSpPr>
          <p:cNvPr id="18" name="Shape 16"/>
          <p:cNvSpPr/>
          <p:nvPr/>
        </p:nvSpPr>
        <p:spPr>
          <a:xfrm>
            <a:off x="6345936" y="1417320"/>
            <a:ext cx="457200" cy="457200"/>
          </a:xfrm>
          <a:prstGeom prst="ellipse">
            <a:avLst/>
          </a:prstGeom>
          <a:solidFill>
            <a:srgbClr val="2FD9F4"/>
          </a:solidFill>
          <a:ln w="12700">
            <a:solidFill>
              <a:srgbClr val="2FD9F4"/>
            </a:solidFill>
            <a:prstDash val="solid"/>
          </a:ln>
        </p:spPr>
      </p:sp>
      <p:sp>
        <p:nvSpPr>
          <p:cNvPr id="19" name="Text 17"/>
          <p:cNvSpPr txBox="1"/>
          <p:nvPr/>
        </p:nvSpPr>
        <p:spPr>
          <a:xfrm>
            <a:off x="6345936" y="1417320"/>
            <a:ext cx="457200" cy="457200"/>
          </a:xfrm>
          <a:prstGeom prst="rect">
            <a:avLst/>
          </a:prstGeom>
          <a:noFill/>
          <a:ln/>
        </p:spPr>
        <p:txBody>
          <a:bodyPr wrap="square" lIns="0" tIns="0" rIns="0" bIns="0" rtlCol="0" anchor="ctr"/>
          <a:lstStyle/>
          <a:p>
            <a:pPr algn="ctr" indent="0" marL="0">
              <a:buNone/>
            </a:pPr>
            <a:r>
              <a:rPr lang="en-US" sz="1400" b="1" dirty="0">
                <a:solidFill>
                  <a:srgbClr val="0A1013"/>
                </a:solidFill>
                <a:latin typeface="Arial" pitchFamily="34" charset="0"/>
                <a:ea typeface="Arial" pitchFamily="34" charset="-122"/>
                <a:cs typeface="Arial" pitchFamily="34" charset="-120"/>
              </a:rPr>
              <a:t>4</a:t>
            </a:r>
            <a:endParaRPr lang="en-US" sz="1400" dirty="0"/>
          </a:p>
        </p:txBody>
      </p:sp>
      <p:sp>
        <p:nvSpPr>
          <p:cNvPr id="20" name="Text 18"/>
          <p:cNvSpPr txBox="1"/>
          <p:nvPr/>
        </p:nvSpPr>
        <p:spPr>
          <a:xfrm>
            <a:off x="6254496" y="1965960"/>
            <a:ext cx="1783080" cy="82296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WorkManager job runs when connected</a:t>
            </a:r>
            <a:endParaRPr lang="en-US" sz="1000" dirty="0"/>
          </a:p>
        </p:txBody>
      </p:sp>
      <p:sp>
        <p:nvSpPr>
          <p:cNvPr id="21" name="Shape 19"/>
          <p:cNvSpPr/>
          <p:nvPr/>
        </p:nvSpPr>
        <p:spPr>
          <a:xfrm>
            <a:off x="6876288" y="1645920"/>
            <a:ext cx="1298448" cy="0"/>
          </a:xfrm>
          <a:prstGeom prst="line">
            <a:avLst/>
          </a:prstGeom>
          <a:noFill/>
          <a:ln w="19050">
            <a:solidFill>
              <a:srgbClr val="2FD9F4"/>
            </a:solidFill>
            <a:prstDash val="solid"/>
            <a:tailEnd type="triangle"/>
          </a:ln>
        </p:spPr>
      </p:sp>
      <p:sp>
        <p:nvSpPr>
          <p:cNvPr id="22" name="Shape 20"/>
          <p:cNvSpPr/>
          <p:nvPr/>
        </p:nvSpPr>
        <p:spPr>
          <a:xfrm>
            <a:off x="8247888" y="1417320"/>
            <a:ext cx="457200" cy="457200"/>
          </a:xfrm>
          <a:prstGeom prst="ellipse">
            <a:avLst/>
          </a:prstGeom>
          <a:solidFill>
            <a:srgbClr val="2FD9F4"/>
          </a:solidFill>
          <a:ln w="12700">
            <a:solidFill>
              <a:srgbClr val="2FD9F4"/>
            </a:solidFill>
            <a:prstDash val="solid"/>
          </a:ln>
        </p:spPr>
      </p:sp>
      <p:sp>
        <p:nvSpPr>
          <p:cNvPr id="23" name="Text 21"/>
          <p:cNvSpPr txBox="1"/>
          <p:nvPr/>
        </p:nvSpPr>
        <p:spPr>
          <a:xfrm>
            <a:off x="8247888" y="1417320"/>
            <a:ext cx="457200" cy="457200"/>
          </a:xfrm>
          <a:prstGeom prst="rect">
            <a:avLst/>
          </a:prstGeom>
          <a:noFill/>
          <a:ln/>
        </p:spPr>
        <p:txBody>
          <a:bodyPr wrap="square" lIns="0" tIns="0" rIns="0" bIns="0" rtlCol="0" anchor="ctr"/>
          <a:lstStyle/>
          <a:p>
            <a:pPr algn="ctr" indent="0" marL="0">
              <a:buNone/>
            </a:pPr>
            <a:r>
              <a:rPr lang="en-US" sz="1400" b="1" dirty="0">
                <a:solidFill>
                  <a:srgbClr val="0A1013"/>
                </a:solidFill>
                <a:latin typeface="Arial" pitchFamily="34" charset="0"/>
                <a:ea typeface="Arial" pitchFamily="34" charset="-122"/>
                <a:cs typeface="Arial" pitchFamily="34" charset="-120"/>
              </a:rPr>
              <a:t>5</a:t>
            </a:r>
            <a:endParaRPr lang="en-US" sz="1400" dirty="0"/>
          </a:p>
        </p:txBody>
      </p:sp>
      <p:sp>
        <p:nvSpPr>
          <p:cNvPr id="24" name="Text 22"/>
          <p:cNvSpPr txBox="1"/>
          <p:nvPr/>
        </p:nvSpPr>
        <p:spPr>
          <a:xfrm>
            <a:off x="8156448" y="1965960"/>
            <a:ext cx="1783080" cy="82296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POST replayed; server dedupes by sha256(user, path, key)</a:t>
            </a:r>
            <a:endParaRPr lang="en-US" sz="1000" dirty="0"/>
          </a:p>
        </p:txBody>
      </p:sp>
      <p:sp>
        <p:nvSpPr>
          <p:cNvPr id="25" name="Shape 23"/>
          <p:cNvSpPr/>
          <p:nvPr/>
        </p:nvSpPr>
        <p:spPr>
          <a:xfrm>
            <a:off x="8778240" y="1645920"/>
            <a:ext cx="1298448" cy="0"/>
          </a:xfrm>
          <a:prstGeom prst="line">
            <a:avLst/>
          </a:prstGeom>
          <a:noFill/>
          <a:ln w="19050">
            <a:solidFill>
              <a:srgbClr val="2FD9F4"/>
            </a:solidFill>
            <a:prstDash val="solid"/>
            <a:tailEnd type="triangle"/>
          </a:ln>
        </p:spPr>
      </p:sp>
      <p:sp>
        <p:nvSpPr>
          <p:cNvPr id="26" name="Shape 24"/>
          <p:cNvSpPr/>
          <p:nvPr/>
        </p:nvSpPr>
        <p:spPr>
          <a:xfrm>
            <a:off x="10149840" y="1417320"/>
            <a:ext cx="457200" cy="457200"/>
          </a:xfrm>
          <a:prstGeom prst="ellipse">
            <a:avLst/>
          </a:prstGeom>
          <a:solidFill>
            <a:srgbClr val="2FD9F4"/>
          </a:solidFill>
          <a:ln w="12700">
            <a:solidFill>
              <a:srgbClr val="2FD9F4"/>
            </a:solidFill>
            <a:prstDash val="solid"/>
          </a:ln>
        </p:spPr>
      </p:sp>
      <p:sp>
        <p:nvSpPr>
          <p:cNvPr id="27" name="Text 25"/>
          <p:cNvSpPr txBox="1"/>
          <p:nvPr/>
        </p:nvSpPr>
        <p:spPr>
          <a:xfrm>
            <a:off x="10149840" y="1417320"/>
            <a:ext cx="457200" cy="457200"/>
          </a:xfrm>
          <a:prstGeom prst="rect">
            <a:avLst/>
          </a:prstGeom>
          <a:noFill/>
          <a:ln/>
        </p:spPr>
        <p:txBody>
          <a:bodyPr wrap="square" lIns="0" tIns="0" rIns="0" bIns="0" rtlCol="0" anchor="ctr"/>
          <a:lstStyle/>
          <a:p>
            <a:pPr algn="ctr" indent="0" marL="0">
              <a:buNone/>
            </a:pPr>
            <a:r>
              <a:rPr lang="en-US" sz="1400" b="1" dirty="0">
                <a:solidFill>
                  <a:srgbClr val="0A1013"/>
                </a:solidFill>
                <a:latin typeface="Arial" pitchFamily="34" charset="0"/>
                <a:ea typeface="Arial" pitchFamily="34" charset="-122"/>
                <a:cs typeface="Arial" pitchFamily="34" charset="-120"/>
              </a:rPr>
              <a:t>6</a:t>
            </a:r>
            <a:endParaRPr lang="en-US" sz="1400" dirty="0"/>
          </a:p>
        </p:txBody>
      </p:sp>
      <p:sp>
        <p:nvSpPr>
          <p:cNvPr id="28" name="Text 26"/>
          <p:cNvSpPr txBox="1"/>
          <p:nvPr/>
        </p:nvSpPr>
        <p:spPr>
          <a:xfrm>
            <a:off x="10058400" y="1965960"/>
            <a:ext cx="1783080" cy="82296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Row marked SYNCED; pruned after 7 days</a:t>
            </a:r>
            <a:endParaRPr lang="en-US" sz="1000" dirty="0"/>
          </a:p>
        </p:txBody>
      </p:sp>
      <p:sp>
        <p:nvSpPr>
          <p:cNvPr id="29" name="Shape 27"/>
          <p:cNvSpPr/>
          <p:nvPr/>
        </p:nvSpPr>
        <p:spPr>
          <a:xfrm>
            <a:off x="640080" y="2971800"/>
            <a:ext cx="3566160" cy="3063240"/>
          </a:xfrm>
          <a:prstGeom prst="roundRect">
            <a:avLst>
              <a:gd name="adj" fmla="val 3582"/>
            </a:avLst>
          </a:prstGeom>
          <a:solidFill>
            <a:srgbClr val="16232A"/>
          </a:solidFill>
          <a:ln w="9525">
            <a:solidFill>
              <a:srgbClr val="263841"/>
            </a:solidFill>
            <a:prstDash val="solid"/>
          </a:ln>
        </p:spPr>
      </p:sp>
      <p:sp>
        <p:nvSpPr>
          <p:cNvPr id="30" name="Shape 28"/>
          <p:cNvSpPr/>
          <p:nvPr/>
        </p:nvSpPr>
        <p:spPr>
          <a:xfrm>
            <a:off x="822960" y="3154680"/>
            <a:ext cx="457200" cy="457200"/>
          </a:xfrm>
          <a:prstGeom prst="ellipse">
            <a:avLst/>
          </a:prstGeom>
          <a:solidFill>
            <a:srgbClr val="0A1013"/>
          </a:solidFill>
          <a:ln w="6350">
            <a:solidFill>
              <a:srgbClr val="263841"/>
            </a:solidFill>
            <a:prstDash val="solid"/>
          </a:ln>
        </p:spPr>
      </p:sp>
      <p:pic>
        <p:nvPicPr>
          <p:cNvPr id="31" name="Image 0" descr="preencoded.png">    </p:cNvPr>
          <p:cNvPicPr>
            <a:picLocks noChangeAspect="1"/>
          </p:cNvPicPr>
          <p:nvPr/>
        </p:nvPicPr>
        <p:blipFill>
          <a:blip r:embed="rId1"/>
          <a:stretch>
            <a:fillRect/>
          </a:stretch>
        </p:blipFill>
        <p:spPr>
          <a:xfrm>
            <a:off x="914400" y="3246120"/>
            <a:ext cx="274320" cy="274320"/>
          </a:xfrm>
          <a:prstGeom prst="rect">
            <a:avLst/>
          </a:prstGeom>
        </p:spPr>
      </p:pic>
      <p:sp>
        <p:nvSpPr>
          <p:cNvPr id="32" name="Text 29"/>
          <p:cNvSpPr txBox="1"/>
          <p:nvPr/>
        </p:nvSpPr>
        <p:spPr>
          <a:xfrm>
            <a:off x="1417320" y="3136392"/>
            <a:ext cx="26060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Why it cannot double-log</a:t>
            </a:r>
            <a:endParaRPr lang="en-US" sz="1300" dirty="0"/>
          </a:p>
        </p:txBody>
      </p:sp>
      <p:sp>
        <p:nvSpPr>
          <p:cNvPr id="33" name="Text 30"/>
          <p:cNvSpPr txBox="1"/>
          <p:nvPr/>
        </p:nvSpPr>
        <p:spPr>
          <a:xfrm>
            <a:off x="822960" y="3630168"/>
            <a:ext cx="3200400" cy="22860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The key is generated once per operation and never reused with a different payload; the server replays the cached response for 24 hours [4].</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 double-send after a dropped response therefore returns the original result instead of a second row.</a:t>
            </a:r>
            <a:endParaRPr lang="en-US" sz="1000" dirty="0"/>
          </a:p>
        </p:txBody>
      </p:sp>
      <p:sp>
        <p:nvSpPr>
          <p:cNvPr id="34" name="Shape 31"/>
          <p:cNvSpPr/>
          <p:nvPr/>
        </p:nvSpPr>
        <p:spPr>
          <a:xfrm>
            <a:off x="4434840" y="2971800"/>
            <a:ext cx="3566160" cy="3063240"/>
          </a:xfrm>
          <a:prstGeom prst="roundRect">
            <a:avLst>
              <a:gd name="adj" fmla="val 3582"/>
            </a:avLst>
          </a:prstGeom>
          <a:solidFill>
            <a:srgbClr val="16232A"/>
          </a:solidFill>
          <a:ln w="9525">
            <a:solidFill>
              <a:srgbClr val="263841"/>
            </a:solidFill>
            <a:prstDash val="solid"/>
          </a:ln>
        </p:spPr>
      </p:sp>
      <p:sp>
        <p:nvSpPr>
          <p:cNvPr id="35" name="Shape 32"/>
          <p:cNvSpPr/>
          <p:nvPr/>
        </p:nvSpPr>
        <p:spPr>
          <a:xfrm>
            <a:off x="4617720" y="3154680"/>
            <a:ext cx="457200" cy="457200"/>
          </a:xfrm>
          <a:prstGeom prst="ellipse">
            <a:avLst/>
          </a:prstGeom>
          <a:solidFill>
            <a:srgbClr val="0A1013"/>
          </a:solidFill>
          <a:ln w="6350">
            <a:solidFill>
              <a:srgbClr val="263841"/>
            </a:solidFill>
            <a:prstDash val="solid"/>
          </a:ln>
        </p:spPr>
      </p:sp>
      <p:pic>
        <p:nvPicPr>
          <p:cNvPr id="36" name="Image 1" descr="preencoded.png">    </p:cNvPr>
          <p:cNvPicPr>
            <a:picLocks noChangeAspect="1"/>
          </p:cNvPicPr>
          <p:nvPr/>
        </p:nvPicPr>
        <p:blipFill>
          <a:blip r:embed="rId2"/>
          <a:stretch>
            <a:fillRect/>
          </a:stretch>
        </p:blipFill>
        <p:spPr>
          <a:xfrm>
            <a:off x="4709160" y="3246120"/>
            <a:ext cx="274320" cy="274320"/>
          </a:xfrm>
          <a:prstGeom prst="rect">
            <a:avLst/>
          </a:prstGeom>
        </p:spPr>
      </p:pic>
      <p:sp>
        <p:nvSpPr>
          <p:cNvPr id="37" name="Text 33"/>
          <p:cNvSpPr txBox="1"/>
          <p:nvPr/>
        </p:nvSpPr>
        <p:spPr>
          <a:xfrm>
            <a:off x="5212080" y="3136392"/>
            <a:ext cx="26060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Separation for testability</a:t>
            </a:r>
            <a:endParaRPr lang="en-US" sz="1300" dirty="0"/>
          </a:p>
        </p:txBody>
      </p:sp>
      <p:sp>
        <p:nvSpPr>
          <p:cNvPr id="38" name="Text 34"/>
          <p:cNvSpPr txBox="1"/>
          <p:nvPr/>
        </p:nvSpPr>
        <p:spPr>
          <a:xfrm>
            <a:off x="4617720" y="3630168"/>
            <a:ext cx="3200400" cy="22860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OutboxDrainer decides what to send and needs no Context, so it is tested on the JVM.</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SyncWorker is only the shell that maps DrainResult onto a WorkManager Result with retry and backoff [10].</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 ConnectivityMonitor triggers a drain the moment the network returns.</a:t>
            </a:r>
            <a:endParaRPr lang="en-US" sz="1000" dirty="0"/>
          </a:p>
        </p:txBody>
      </p:sp>
      <p:sp>
        <p:nvSpPr>
          <p:cNvPr id="39" name="Shape 35"/>
          <p:cNvSpPr/>
          <p:nvPr/>
        </p:nvSpPr>
        <p:spPr>
          <a:xfrm>
            <a:off x="8229600" y="2971800"/>
            <a:ext cx="3474720" cy="3063240"/>
          </a:xfrm>
          <a:prstGeom prst="roundRect">
            <a:avLst>
              <a:gd name="adj" fmla="val 3582"/>
            </a:avLst>
          </a:prstGeom>
          <a:solidFill>
            <a:srgbClr val="16232A"/>
          </a:solidFill>
          <a:ln w="9525">
            <a:solidFill>
              <a:srgbClr val="263841"/>
            </a:solidFill>
            <a:prstDash val="solid"/>
          </a:ln>
        </p:spPr>
      </p:sp>
      <p:sp>
        <p:nvSpPr>
          <p:cNvPr id="40" name="Shape 36"/>
          <p:cNvSpPr/>
          <p:nvPr/>
        </p:nvSpPr>
        <p:spPr>
          <a:xfrm>
            <a:off x="8412480" y="3154680"/>
            <a:ext cx="457200" cy="457200"/>
          </a:xfrm>
          <a:prstGeom prst="ellipse">
            <a:avLst/>
          </a:prstGeom>
          <a:solidFill>
            <a:srgbClr val="0A1013"/>
          </a:solidFill>
          <a:ln w="6350">
            <a:solidFill>
              <a:srgbClr val="263841"/>
            </a:solidFill>
            <a:prstDash val="solid"/>
          </a:ln>
        </p:spPr>
      </p:sp>
      <p:pic>
        <p:nvPicPr>
          <p:cNvPr id="41" name="Image 2" descr="preencoded.png">    </p:cNvPr>
          <p:cNvPicPr>
            <a:picLocks noChangeAspect="1"/>
          </p:cNvPicPr>
          <p:nvPr/>
        </p:nvPicPr>
        <p:blipFill>
          <a:blip r:embed="rId3"/>
          <a:stretch>
            <a:fillRect/>
          </a:stretch>
        </p:blipFill>
        <p:spPr>
          <a:xfrm>
            <a:off x="8503920" y="3246120"/>
            <a:ext cx="274320" cy="274320"/>
          </a:xfrm>
          <a:prstGeom prst="rect">
            <a:avLst/>
          </a:prstGeom>
        </p:spPr>
      </p:pic>
      <p:sp>
        <p:nvSpPr>
          <p:cNvPr id="42" name="Text 37"/>
          <p:cNvSpPr txBox="1"/>
          <p:nvPr/>
        </p:nvSpPr>
        <p:spPr>
          <a:xfrm>
            <a:off x="9006840" y="3136392"/>
            <a:ext cx="25146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What stays online-only</a:t>
            </a:r>
            <a:endParaRPr lang="en-US" sz="1300" dirty="0"/>
          </a:p>
        </p:txBody>
      </p:sp>
      <p:sp>
        <p:nvSpPr>
          <p:cNvPr id="43" name="Text 38"/>
          <p:cNvSpPr txBox="1"/>
          <p:nvPr/>
        </p:nvSpPr>
        <p:spPr>
          <a:xfrm>
            <a:off x="8412480" y="3630168"/>
            <a:ext cx="3108960" cy="22860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Coach chat, meal photo analysis and meal suggestions call models, so they require a connection by design.</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Meal photos queue through their own upload worker so a capture in a basement is analysed later, not lost.</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Failures are never pruned; they stay visible until the user resolves them.</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21</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18  NETWORK AND AUTHENTICATION</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Networking and secrets: three clients, one refresh path, one vault</a:t>
            </a:r>
            <a:endParaRPr lang="en-US" sz="2800" dirty="0"/>
          </a:p>
        </p:txBody>
      </p:sp>
      <p:sp>
        <p:nvSpPr>
          <p:cNvPr id="6" name="Shape 4"/>
          <p:cNvSpPr/>
          <p:nvPr/>
        </p:nvSpPr>
        <p:spPr>
          <a:xfrm>
            <a:off x="640080" y="1371600"/>
            <a:ext cx="1280160" cy="731520"/>
          </a:xfrm>
          <a:prstGeom prst="roundRect">
            <a:avLst>
              <a:gd name="adj" fmla="val 10000"/>
            </a:avLst>
          </a:prstGeom>
          <a:solidFill>
            <a:srgbClr val="12303A"/>
          </a:solidFill>
          <a:ln w="9525">
            <a:solidFill>
              <a:srgbClr val="2FD9F4"/>
            </a:solidFill>
            <a:prstDash val="solid"/>
          </a:ln>
        </p:spPr>
      </p:sp>
      <p:sp>
        <p:nvSpPr>
          <p:cNvPr id="7" name="Text 5"/>
          <p:cNvSpPr txBox="1"/>
          <p:nvPr/>
        </p:nvSpPr>
        <p:spPr>
          <a:xfrm>
            <a:off x="713232" y="1371600"/>
            <a:ext cx="1133856" cy="731520"/>
          </a:xfrm>
          <a:prstGeom prst="rect">
            <a:avLst/>
          </a:prstGeom>
          <a:noFill/>
          <a:ln/>
        </p:spPr>
        <p:txBody>
          <a:bodyPr wrap="square" lIns="0" tIns="0" rIns="0" bIns="0" rtlCol="0" anchor="ctr"/>
          <a:lstStyle/>
          <a:p>
            <a:pPr algn="ctr" indent="0" marL="0">
              <a:buNone/>
            </a:pPr>
            <a:r>
              <a:rPr lang="en-US" sz="1200" b="1" dirty="0">
                <a:solidFill>
                  <a:srgbClr val="E8F0F2"/>
                </a:solidFill>
                <a:latin typeface="Arial" pitchFamily="34" charset="0"/>
                <a:ea typeface="Arial" pitchFamily="34" charset="-122"/>
                <a:cs typeface="Arial" pitchFamily="34" charset="-120"/>
              </a:rPr>
              <a:t>api</a:t>
            </a:r>
            <a:endParaRPr lang="en-US" sz="1200" dirty="0"/>
          </a:p>
        </p:txBody>
      </p:sp>
      <p:sp>
        <p:nvSpPr>
          <p:cNvPr id="8" name="Text 6"/>
          <p:cNvSpPr txBox="1"/>
          <p:nvPr/>
        </p:nvSpPr>
        <p:spPr>
          <a:xfrm>
            <a:off x="2057400" y="1463040"/>
            <a:ext cx="2743200" cy="64008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Headers plus TokenAuthenticator. Every authenticated call.</a:t>
            </a:r>
            <a:endParaRPr lang="en-US" sz="1000" dirty="0"/>
          </a:p>
        </p:txBody>
      </p:sp>
      <p:sp>
        <p:nvSpPr>
          <p:cNvPr id="9" name="Shape 7"/>
          <p:cNvSpPr/>
          <p:nvPr/>
        </p:nvSpPr>
        <p:spPr>
          <a:xfrm>
            <a:off x="640080" y="2240280"/>
            <a:ext cx="1280160" cy="731520"/>
          </a:xfrm>
          <a:prstGeom prst="roundRect">
            <a:avLst>
              <a:gd name="adj" fmla="val 10000"/>
            </a:avLst>
          </a:prstGeom>
          <a:solidFill>
            <a:srgbClr val="12303A"/>
          </a:solidFill>
          <a:ln w="9525">
            <a:solidFill>
              <a:srgbClr val="2FD9F4"/>
            </a:solidFill>
            <a:prstDash val="solid"/>
          </a:ln>
        </p:spPr>
      </p:sp>
      <p:sp>
        <p:nvSpPr>
          <p:cNvPr id="10" name="Text 8"/>
          <p:cNvSpPr txBox="1"/>
          <p:nvPr/>
        </p:nvSpPr>
        <p:spPr>
          <a:xfrm>
            <a:off x="713232" y="2240280"/>
            <a:ext cx="1133856" cy="731520"/>
          </a:xfrm>
          <a:prstGeom prst="rect">
            <a:avLst/>
          </a:prstGeom>
          <a:noFill/>
          <a:ln/>
        </p:spPr>
        <p:txBody>
          <a:bodyPr wrap="square" lIns="0" tIns="0" rIns="0" bIns="0" rtlCol="0" anchor="ctr"/>
          <a:lstStyle/>
          <a:p>
            <a:pPr algn="ctr" indent="0" marL="0">
              <a:buNone/>
            </a:pPr>
            <a:r>
              <a:rPr lang="en-US" sz="1200" b="1" dirty="0">
                <a:solidFill>
                  <a:srgbClr val="E8F0F2"/>
                </a:solidFill>
                <a:latin typeface="Arial" pitchFamily="34" charset="0"/>
                <a:ea typeface="Arial" pitchFamily="34" charset="-122"/>
                <a:cs typeface="Arial" pitchFamily="34" charset="-120"/>
              </a:rPr>
              <a:t>authless</a:t>
            </a:r>
            <a:endParaRPr lang="en-US" sz="1200" dirty="0"/>
          </a:p>
        </p:txBody>
      </p:sp>
      <p:sp>
        <p:nvSpPr>
          <p:cNvPr id="11" name="Text 9"/>
          <p:cNvSpPr txBox="1"/>
          <p:nvPr/>
        </p:nvSpPr>
        <p:spPr>
          <a:xfrm>
            <a:off x="2057400" y="2331720"/>
            <a:ext cx="2743200" cy="64008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Headers only. Used by the refresh coordinator so a refresh can never trigger itself.</a:t>
            </a:r>
            <a:endParaRPr lang="en-US" sz="1000" dirty="0"/>
          </a:p>
        </p:txBody>
      </p:sp>
      <p:sp>
        <p:nvSpPr>
          <p:cNvPr id="12" name="Shape 10"/>
          <p:cNvSpPr/>
          <p:nvPr/>
        </p:nvSpPr>
        <p:spPr>
          <a:xfrm>
            <a:off x="640080" y="3108960"/>
            <a:ext cx="1280160" cy="731520"/>
          </a:xfrm>
          <a:prstGeom prst="roundRect">
            <a:avLst>
              <a:gd name="adj" fmla="val 10000"/>
            </a:avLst>
          </a:prstGeom>
          <a:solidFill>
            <a:srgbClr val="12303A"/>
          </a:solidFill>
          <a:ln w="9525">
            <a:solidFill>
              <a:srgbClr val="2FD9F4"/>
            </a:solidFill>
            <a:prstDash val="solid"/>
          </a:ln>
        </p:spPr>
      </p:sp>
      <p:sp>
        <p:nvSpPr>
          <p:cNvPr id="13" name="Text 11"/>
          <p:cNvSpPr txBox="1"/>
          <p:nvPr/>
        </p:nvSpPr>
        <p:spPr>
          <a:xfrm>
            <a:off x="713232" y="3108960"/>
            <a:ext cx="1133856" cy="731520"/>
          </a:xfrm>
          <a:prstGeom prst="rect">
            <a:avLst/>
          </a:prstGeom>
          <a:noFill/>
          <a:ln/>
        </p:spPr>
        <p:txBody>
          <a:bodyPr wrap="square" lIns="0" tIns="0" rIns="0" bIns="0" rtlCol="0" anchor="ctr"/>
          <a:lstStyle/>
          <a:p>
            <a:pPr algn="ctr" indent="0" marL="0">
              <a:buNone/>
            </a:pPr>
            <a:r>
              <a:rPr lang="en-US" sz="1200" b="1" dirty="0">
                <a:solidFill>
                  <a:srgbClr val="E8F0F2"/>
                </a:solidFill>
                <a:latin typeface="Arial" pitchFamily="34" charset="0"/>
                <a:ea typeface="Arial" pitchFamily="34" charset="-122"/>
                <a:cs typeface="Arial" pitchFamily="34" charset="-120"/>
              </a:rPr>
              <a:t>sse</a:t>
            </a:r>
            <a:endParaRPr lang="en-US" sz="1200" dirty="0"/>
          </a:p>
        </p:txBody>
      </p:sp>
      <p:sp>
        <p:nvSpPr>
          <p:cNvPr id="14" name="Text 12"/>
          <p:cNvSpPr txBox="1"/>
          <p:nvPr/>
        </p:nvSpPr>
        <p:spPr>
          <a:xfrm>
            <a:off x="2057400" y="3200400"/>
            <a:ext cx="2743200" cy="640080"/>
          </a:xfrm>
          <a:prstGeom prst="rect">
            <a:avLst/>
          </a:prstGeom>
          <a:noFill/>
          <a:ln/>
        </p:spPr>
        <p:txBody>
          <a:bodyPr wrap="square" lIns="0" tIns="0" rIns="0" bIns="0" rtlCol="0" anchor="t"/>
          <a:lstStyle/>
          <a:p>
            <a:pPr algn="l" indent="0" marL="0">
              <a:buNone/>
            </a:pPr>
            <a:r>
              <a:rPr lang="en-US" sz="1000" dirty="0">
                <a:solidFill>
                  <a:srgbClr val="E8F0F2"/>
                </a:solidFill>
                <a:latin typeface="Arial" pitchFamily="34" charset="0"/>
                <a:ea typeface="Arial" pitchFamily="34" charset="-122"/>
                <a:cs typeface="Arial" pitchFamily="34" charset="-120"/>
              </a:rPr>
              <a:t>The api client with a 180 s read gap for streaming coach replies.</a:t>
            </a:r>
            <a:endParaRPr lang="en-US" sz="1000" dirty="0"/>
          </a:p>
        </p:txBody>
      </p:sp>
      <p:sp>
        <p:nvSpPr>
          <p:cNvPr id="15" name="Shape 13"/>
          <p:cNvSpPr/>
          <p:nvPr/>
        </p:nvSpPr>
        <p:spPr>
          <a:xfrm>
            <a:off x="640080" y="4023360"/>
            <a:ext cx="4160520" cy="2011680"/>
          </a:xfrm>
          <a:prstGeom prst="roundRect">
            <a:avLst>
              <a:gd name="adj" fmla="val 5455"/>
            </a:avLst>
          </a:prstGeom>
          <a:solidFill>
            <a:srgbClr val="16232A"/>
          </a:solidFill>
          <a:ln w="9525">
            <a:solidFill>
              <a:srgbClr val="263841"/>
            </a:solidFill>
            <a:prstDash val="solid"/>
          </a:ln>
        </p:spPr>
      </p:sp>
      <p:sp>
        <p:nvSpPr>
          <p:cNvPr id="16" name="Shape 14"/>
          <p:cNvSpPr/>
          <p:nvPr/>
        </p:nvSpPr>
        <p:spPr>
          <a:xfrm>
            <a:off x="822960" y="4206240"/>
            <a:ext cx="457200" cy="457200"/>
          </a:xfrm>
          <a:prstGeom prst="ellipse">
            <a:avLst/>
          </a:prstGeom>
          <a:solidFill>
            <a:srgbClr val="0A1013"/>
          </a:solidFill>
          <a:ln w="6350">
            <a:solidFill>
              <a:srgbClr val="263841"/>
            </a:solidFill>
            <a:prstDash val="solid"/>
          </a:ln>
        </p:spPr>
      </p:sp>
      <p:pic>
        <p:nvPicPr>
          <p:cNvPr id="17" name="Image 0" descr="preencoded.png">    </p:cNvPr>
          <p:cNvPicPr>
            <a:picLocks noChangeAspect="1"/>
          </p:cNvPicPr>
          <p:nvPr/>
        </p:nvPicPr>
        <p:blipFill>
          <a:blip r:embed="rId1"/>
          <a:stretch>
            <a:fillRect/>
          </a:stretch>
        </p:blipFill>
        <p:spPr>
          <a:xfrm>
            <a:off x="914400" y="4297680"/>
            <a:ext cx="274320" cy="274320"/>
          </a:xfrm>
          <a:prstGeom prst="rect">
            <a:avLst/>
          </a:prstGeom>
        </p:spPr>
      </p:pic>
      <p:sp>
        <p:nvSpPr>
          <p:cNvPr id="18" name="Text 15"/>
          <p:cNvSpPr txBox="1"/>
          <p:nvPr/>
        </p:nvSpPr>
        <p:spPr>
          <a:xfrm>
            <a:off x="1417320" y="4187952"/>
            <a:ext cx="32004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The deadlock that was designed out</a:t>
            </a:r>
            <a:endParaRPr lang="en-US" sz="1300" dirty="0"/>
          </a:p>
        </p:txBody>
      </p:sp>
      <p:sp>
        <p:nvSpPr>
          <p:cNvPr id="19" name="Text 16"/>
          <p:cNvSpPr txBox="1"/>
          <p:nvPr/>
        </p:nvSpPr>
        <p:spPr>
          <a:xfrm>
            <a:off x="822960" y="4681728"/>
            <a:ext cx="3794760" cy="1234440"/>
          </a:xfrm>
          <a:prstGeom prst="rect">
            <a:avLst/>
          </a:prstGeom>
          <a:noFill/>
          <a:ln/>
        </p:spPr>
        <p:txBody>
          <a:bodyPr wrap="square" lIns="0" tIns="0" rIns="0" bIns="0" rtlCol="0" anchor="t"/>
          <a:lstStyle/>
          <a:p>
            <a:pPr indent="0" marL="0">
              <a:spcAft>
                <a:spcPts val="400"/>
              </a:spcAft>
              <a:buNone/>
            </a:pPr>
            <a:r>
              <a:rPr lang="en-US" sz="1000" dirty="0">
                <a:solidFill>
                  <a:srgbClr val="E8F0F2"/>
                </a:solidFill>
                <a:latin typeface="Arial" pitchFamily="34" charset="0"/>
                <a:ea typeface="Arial" pitchFamily="34" charset="-122"/>
                <a:cs typeface="Arial" pitchFamily="34" charset="-120"/>
              </a:rPr>
              <a:t>Deriving the clients from one builder copied the Dispatcher reference, so five concurrent 401s filled the per-host budget and the refresh queued behind the calls waiting on it. Each client now owns its Dispatcher; only the connection pool is shared. The comment in NetworkModule records why [4].</a:t>
            </a:r>
            <a:endParaRPr lang="en-US" sz="1000" dirty="0"/>
          </a:p>
        </p:txBody>
      </p:sp>
      <p:sp>
        <p:nvSpPr>
          <p:cNvPr id="20" name="Shape 17"/>
          <p:cNvSpPr/>
          <p:nvPr/>
        </p:nvSpPr>
        <p:spPr>
          <a:xfrm>
            <a:off x="5029200" y="1325880"/>
            <a:ext cx="3246120" cy="2423160"/>
          </a:xfrm>
          <a:prstGeom prst="roundRect">
            <a:avLst>
              <a:gd name="adj" fmla="val 4528"/>
            </a:avLst>
          </a:prstGeom>
          <a:solidFill>
            <a:srgbClr val="16232A"/>
          </a:solidFill>
          <a:ln w="9525">
            <a:solidFill>
              <a:srgbClr val="263841"/>
            </a:solidFill>
            <a:prstDash val="solid"/>
          </a:ln>
        </p:spPr>
      </p:sp>
      <p:sp>
        <p:nvSpPr>
          <p:cNvPr id="21" name="Shape 18"/>
          <p:cNvSpPr/>
          <p:nvPr/>
        </p:nvSpPr>
        <p:spPr>
          <a:xfrm>
            <a:off x="5212080" y="1508760"/>
            <a:ext cx="457200" cy="457200"/>
          </a:xfrm>
          <a:prstGeom prst="ellipse">
            <a:avLst/>
          </a:prstGeom>
          <a:solidFill>
            <a:srgbClr val="0A1013"/>
          </a:solidFill>
          <a:ln w="6350">
            <a:solidFill>
              <a:srgbClr val="263841"/>
            </a:solidFill>
            <a:prstDash val="solid"/>
          </a:ln>
        </p:spPr>
      </p:sp>
      <p:pic>
        <p:nvPicPr>
          <p:cNvPr id="22" name="Image 1" descr="preencoded.png">    </p:cNvPr>
          <p:cNvPicPr>
            <a:picLocks noChangeAspect="1"/>
          </p:cNvPicPr>
          <p:nvPr/>
        </p:nvPicPr>
        <p:blipFill>
          <a:blip r:embed="rId2"/>
          <a:stretch>
            <a:fillRect/>
          </a:stretch>
        </p:blipFill>
        <p:spPr>
          <a:xfrm>
            <a:off x="5303520" y="1600200"/>
            <a:ext cx="274320" cy="274320"/>
          </a:xfrm>
          <a:prstGeom prst="rect">
            <a:avLst/>
          </a:prstGeom>
        </p:spPr>
      </p:pic>
      <p:sp>
        <p:nvSpPr>
          <p:cNvPr id="23" name="Text 19"/>
          <p:cNvSpPr txBox="1"/>
          <p:nvPr/>
        </p:nvSpPr>
        <p:spPr>
          <a:xfrm>
            <a:off x="5806440" y="1490472"/>
            <a:ext cx="22860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Token lifecycle</a:t>
            </a:r>
            <a:endParaRPr lang="en-US" sz="1300" dirty="0"/>
          </a:p>
        </p:txBody>
      </p:sp>
      <p:sp>
        <p:nvSpPr>
          <p:cNvPr id="24" name="Text 20"/>
          <p:cNvSpPr txBox="1"/>
          <p:nvPr/>
        </p:nvSpPr>
        <p:spPr>
          <a:xfrm>
            <a:off x="5212080" y="1984248"/>
            <a:ext cx="2880360" cy="16459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Access token: JWT, 15 minutes, held in memory [25].</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Refresh token: opaque, 30 days, single use, rotated; reuse revokes the family.</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401 triggers one refresh in flight; callers wait on it rather than racing.</a:t>
            </a:r>
            <a:endParaRPr lang="en-US" sz="1000" dirty="0"/>
          </a:p>
        </p:txBody>
      </p:sp>
      <p:sp>
        <p:nvSpPr>
          <p:cNvPr id="25" name="Shape 21"/>
          <p:cNvSpPr/>
          <p:nvPr/>
        </p:nvSpPr>
        <p:spPr>
          <a:xfrm>
            <a:off x="8458200" y="1325880"/>
            <a:ext cx="3246120" cy="2423160"/>
          </a:xfrm>
          <a:prstGeom prst="roundRect">
            <a:avLst>
              <a:gd name="adj" fmla="val 4528"/>
            </a:avLst>
          </a:prstGeom>
          <a:solidFill>
            <a:srgbClr val="16232A"/>
          </a:solidFill>
          <a:ln w="9525">
            <a:solidFill>
              <a:srgbClr val="263841"/>
            </a:solidFill>
            <a:prstDash val="solid"/>
          </a:ln>
        </p:spPr>
      </p:sp>
      <p:sp>
        <p:nvSpPr>
          <p:cNvPr id="26" name="Shape 22"/>
          <p:cNvSpPr/>
          <p:nvPr/>
        </p:nvSpPr>
        <p:spPr>
          <a:xfrm>
            <a:off x="8641080" y="1508760"/>
            <a:ext cx="457200" cy="457200"/>
          </a:xfrm>
          <a:prstGeom prst="ellipse">
            <a:avLst/>
          </a:prstGeom>
          <a:solidFill>
            <a:srgbClr val="0A1013"/>
          </a:solidFill>
          <a:ln w="6350">
            <a:solidFill>
              <a:srgbClr val="263841"/>
            </a:solidFill>
            <a:prstDash val="solid"/>
          </a:ln>
        </p:spPr>
      </p:sp>
      <p:pic>
        <p:nvPicPr>
          <p:cNvPr id="27" name="Image 2" descr="preencoded.png">    </p:cNvPr>
          <p:cNvPicPr>
            <a:picLocks noChangeAspect="1"/>
          </p:cNvPicPr>
          <p:nvPr/>
        </p:nvPicPr>
        <p:blipFill>
          <a:blip r:embed="rId3"/>
          <a:stretch>
            <a:fillRect/>
          </a:stretch>
        </p:blipFill>
        <p:spPr>
          <a:xfrm>
            <a:off x="8732520" y="1600200"/>
            <a:ext cx="274320" cy="274320"/>
          </a:xfrm>
          <a:prstGeom prst="rect">
            <a:avLst/>
          </a:prstGeom>
        </p:spPr>
      </p:pic>
      <p:sp>
        <p:nvSpPr>
          <p:cNvPr id="28" name="Text 23"/>
          <p:cNvSpPr txBox="1"/>
          <p:nvPr/>
        </p:nvSpPr>
        <p:spPr>
          <a:xfrm>
            <a:off x="9235440" y="1490472"/>
            <a:ext cx="22860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Keystore vault</a:t>
            </a:r>
            <a:endParaRPr lang="en-US" sz="1300" dirty="0"/>
          </a:p>
        </p:txBody>
      </p:sp>
      <p:sp>
        <p:nvSpPr>
          <p:cNvPr id="29" name="Text 24"/>
          <p:cNvSpPr txBox="1"/>
          <p:nvPr/>
        </p:nvSpPr>
        <p:spPr>
          <a:xfrm>
            <a:off x="8641080" y="1984248"/>
            <a:ext cx="2880360" cy="16459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Refresh tokens are sealed with AES-GCM using a key generated inside the Android Keystore, StrongBox when available [28].</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 failed StrongBox provisioning falls back rather than crashing the sign-in tap.</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KeystoreAead is an interface so tests substitute a fake.</a:t>
            </a:r>
            <a:endParaRPr lang="en-US" sz="1000" dirty="0"/>
          </a:p>
        </p:txBody>
      </p:sp>
      <p:sp>
        <p:nvSpPr>
          <p:cNvPr id="30" name="Shape 25"/>
          <p:cNvSpPr/>
          <p:nvPr/>
        </p:nvSpPr>
        <p:spPr>
          <a:xfrm>
            <a:off x="5029200" y="4023360"/>
            <a:ext cx="6675120" cy="2011680"/>
          </a:xfrm>
          <a:prstGeom prst="roundRect">
            <a:avLst>
              <a:gd name="adj" fmla="val 5455"/>
            </a:avLst>
          </a:prstGeom>
          <a:solidFill>
            <a:srgbClr val="16232A"/>
          </a:solidFill>
          <a:ln w="9525">
            <a:solidFill>
              <a:srgbClr val="263841"/>
            </a:solidFill>
            <a:prstDash val="solid"/>
          </a:ln>
        </p:spPr>
      </p:sp>
      <p:sp>
        <p:nvSpPr>
          <p:cNvPr id="31" name="Shape 26"/>
          <p:cNvSpPr/>
          <p:nvPr/>
        </p:nvSpPr>
        <p:spPr>
          <a:xfrm>
            <a:off x="5212080" y="4206240"/>
            <a:ext cx="457200" cy="457200"/>
          </a:xfrm>
          <a:prstGeom prst="ellipse">
            <a:avLst/>
          </a:prstGeom>
          <a:solidFill>
            <a:srgbClr val="0A1013"/>
          </a:solidFill>
          <a:ln w="6350">
            <a:solidFill>
              <a:srgbClr val="263841"/>
            </a:solidFill>
            <a:prstDash val="solid"/>
          </a:ln>
        </p:spPr>
      </p:sp>
      <p:pic>
        <p:nvPicPr>
          <p:cNvPr id="32" name="Image 3" descr="preencoded.png">    </p:cNvPr>
          <p:cNvPicPr>
            <a:picLocks noChangeAspect="1"/>
          </p:cNvPicPr>
          <p:nvPr/>
        </p:nvPicPr>
        <p:blipFill>
          <a:blip r:embed="rId4"/>
          <a:stretch>
            <a:fillRect/>
          </a:stretch>
        </p:blipFill>
        <p:spPr>
          <a:xfrm>
            <a:off x="5303520" y="4297680"/>
            <a:ext cx="274320" cy="274320"/>
          </a:xfrm>
          <a:prstGeom prst="rect">
            <a:avLst/>
          </a:prstGeom>
        </p:spPr>
      </p:pic>
      <p:sp>
        <p:nvSpPr>
          <p:cNvPr id="33" name="Text 27"/>
          <p:cNvSpPr txBox="1"/>
          <p:nvPr/>
        </p:nvSpPr>
        <p:spPr>
          <a:xfrm>
            <a:off x="5806440" y="4187952"/>
            <a:ext cx="57150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Session and isolation</a:t>
            </a:r>
            <a:endParaRPr lang="en-US" sz="1300" dirty="0"/>
          </a:p>
        </p:txBody>
      </p:sp>
      <p:sp>
        <p:nvSpPr>
          <p:cNvPr id="34" name="Text 28"/>
          <p:cNvSpPr txBox="1"/>
          <p:nvPr/>
        </p:nvSpPr>
        <p:spPr>
          <a:xfrm>
            <a:off x="5212080" y="4681728"/>
            <a:ext cx="6309360" cy="12344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SessionManager owns sign-in, refresh failure and sign-out; a different user signing in purges every user-scoped table and the outbox before the first read.</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Debug builds talk to the local API; legal pages always open the published site so a privacy policy is never served from a laptop.</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Default cache policy is private, no-store; only byte-identical catalogue reads opt into a five-minute public cache, per RFC 9111 [25].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22</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19  WIRING</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Dependency injection with Hilt, end to end</a:t>
            </a:r>
            <a:endParaRPr lang="en-US" sz="2800" dirty="0"/>
          </a:p>
        </p:txBody>
      </p:sp>
      <p:sp>
        <p:nvSpPr>
          <p:cNvPr id="6" name="Text 4"/>
          <p:cNvSpPr txBox="1"/>
          <p:nvPr/>
        </p:nvSpPr>
        <p:spPr>
          <a:xfrm>
            <a:off x="640080" y="1325880"/>
            <a:ext cx="2011680" cy="685800"/>
          </a:xfrm>
          <a:prstGeom prst="rect">
            <a:avLst/>
          </a:prstGeom>
          <a:noFill/>
          <a:ln/>
        </p:spPr>
        <p:txBody>
          <a:bodyPr wrap="square" lIns="0" tIns="0" rIns="0" bIns="0" rtlCol="0" anchor="b"/>
          <a:lstStyle/>
          <a:p>
            <a:pPr algn="l" indent="0" marL="0">
              <a:buNone/>
            </a:pPr>
            <a:r>
              <a:rPr lang="en-US" sz="3600" b="1" dirty="0">
                <a:solidFill>
                  <a:srgbClr val="2FD9F4"/>
                </a:solidFill>
                <a:latin typeface="Arial" pitchFamily="34" charset="0"/>
                <a:ea typeface="Arial" pitchFamily="34" charset="-122"/>
                <a:cs typeface="Arial" pitchFamily="34" charset="-120"/>
              </a:rPr>
              <a:t>14</a:t>
            </a:r>
            <a:endParaRPr lang="en-US" sz="3600" dirty="0"/>
          </a:p>
        </p:txBody>
      </p:sp>
      <p:sp>
        <p:nvSpPr>
          <p:cNvPr id="7" name="Text 5"/>
          <p:cNvSpPr txBox="1"/>
          <p:nvPr/>
        </p:nvSpPr>
        <p:spPr>
          <a:xfrm>
            <a:off x="640080" y="2039112"/>
            <a:ext cx="2011680" cy="411480"/>
          </a:xfrm>
          <a:prstGeom prst="rect">
            <a:avLst/>
          </a:prstGeom>
          <a:noFill/>
          <a:ln/>
        </p:spPr>
        <p:txBody>
          <a:bodyPr wrap="square" lIns="0" tIns="0" rIns="0" bIns="0" rtlCol="0" anchor="t"/>
          <a:lstStyle/>
          <a:p>
            <a:pPr indent="0" marL="0">
              <a:buNone/>
            </a:pPr>
            <a:r>
              <a:rPr lang="en-US" sz="1050" dirty="0">
                <a:solidFill>
                  <a:srgbClr val="9DB2BA"/>
                </a:solidFill>
                <a:latin typeface="Arial" pitchFamily="34" charset="0"/>
                <a:ea typeface="Arial" pitchFamily="34" charset="-122"/>
                <a:cs typeface="Arial" pitchFamily="34" charset="-120"/>
              </a:rPr>
              <a:t>@Module classes</a:t>
            </a:r>
            <a:endParaRPr lang="en-US" sz="1050" dirty="0"/>
          </a:p>
        </p:txBody>
      </p:sp>
      <p:sp>
        <p:nvSpPr>
          <p:cNvPr id="8" name="Text 6"/>
          <p:cNvSpPr txBox="1"/>
          <p:nvPr/>
        </p:nvSpPr>
        <p:spPr>
          <a:xfrm>
            <a:off x="2743200" y="1325880"/>
            <a:ext cx="2011680" cy="685800"/>
          </a:xfrm>
          <a:prstGeom prst="rect">
            <a:avLst/>
          </a:prstGeom>
          <a:noFill/>
          <a:ln/>
        </p:spPr>
        <p:txBody>
          <a:bodyPr wrap="square" lIns="0" tIns="0" rIns="0" bIns="0" rtlCol="0" anchor="b"/>
          <a:lstStyle/>
          <a:p>
            <a:pPr algn="l" indent="0" marL="0">
              <a:buNone/>
            </a:pPr>
            <a:r>
              <a:rPr lang="en-US" sz="3600" b="1" dirty="0">
                <a:solidFill>
                  <a:srgbClr val="2FD9F4"/>
                </a:solidFill>
                <a:latin typeface="Arial" pitchFamily="34" charset="0"/>
                <a:ea typeface="Arial" pitchFamily="34" charset="-122"/>
                <a:cs typeface="Arial" pitchFamily="34" charset="-120"/>
              </a:rPr>
              <a:t>25</a:t>
            </a:r>
            <a:endParaRPr lang="en-US" sz="3600" dirty="0"/>
          </a:p>
        </p:txBody>
      </p:sp>
      <p:sp>
        <p:nvSpPr>
          <p:cNvPr id="9" name="Text 7"/>
          <p:cNvSpPr txBox="1"/>
          <p:nvPr/>
        </p:nvSpPr>
        <p:spPr>
          <a:xfrm>
            <a:off x="2743200" y="2039112"/>
            <a:ext cx="2011680" cy="411480"/>
          </a:xfrm>
          <a:prstGeom prst="rect">
            <a:avLst/>
          </a:prstGeom>
          <a:noFill/>
          <a:ln/>
        </p:spPr>
        <p:txBody>
          <a:bodyPr wrap="square" lIns="0" tIns="0" rIns="0" bIns="0" rtlCol="0" anchor="t"/>
          <a:lstStyle/>
          <a:p>
            <a:pPr indent="0" marL="0">
              <a:buNone/>
            </a:pPr>
            <a:r>
              <a:rPr lang="en-US" sz="1050" dirty="0">
                <a:solidFill>
                  <a:srgbClr val="9DB2BA"/>
                </a:solidFill>
                <a:latin typeface="Arial" pitchFamily="34" charset="0"/>
                <a:ea typeface="Arial" pitchFamily="34" charset="-122"/>
                <a:cs typeface="Arial" pitchFamily="34" charset="-120"/>
              </a:rPr>
              <a:t>@HiltViewModel classes</a:t>
            </a:r>
            <a:endParaRPr lang="en-US" sz="1050" dirty="0"/>
          </a:p>
        </p:txBody>
      </p:sp>
      <p:sp>
        <p:nvSpPr>
          <p:cNvPr id="10" name="Text 8"/>
          <p:cNvSpPr txBox="1"/>
          <p:nvPr/>
        </p:nvSpPr>
        <p:spPr>
          <a:xfrm>
            <a:off x="4846320" y="1325880"/>
            <a:ext cx="2011680" cy="685800"/>
          </a:xfrm>
          <a:prstGeom prst="rect">
            <a:avLst/>
          </a:prstGeom>
          <a:noFill/>
          <a:ln/>
        </p:spPr>
        <p:txBody>
          <a:bodyPr wrap="square" lIns="0" tIns="0" rIns="0" bIns="0" rtlCol="0" anchor="b"/>
          <a:lstStyle/>
          <a:p>
            <a:pPr algn="l" indent="0" marL="0">
              <a:buNone/>
            </a:pPr>
            <a:r>
              <a:rPr lang="en-US" sz="3600" b="1" dirty="0">
                <a:solidFill>
                  <a:srgbClr val="2FD9F4"/>
                </a:solidFill>
                <a:latin typeface="Arial" pitchFamily="34" charset="0"/>
                <a:ea typeface="Arial" pitchFamily="34" charset="-122"/>
                <a:cs typeface="Arial" pitchFamily="34" charset="-120"/>
              </a:rPr>
              <a:t>73</a:t>
            </a:r>
            <a:endParaRPr lang="en-US" sz="3600" dirty="0"/>
          </a:p>
        </p:txBody>
      </p:sp>
      <p:sp>
        <p:nvSpPr>
          <p:cNvPr id="11" name="Text 9"/>
          <p:cNvSpPr txBox="1"/>
          <p:nvPr/>
        </p:nvSpPr>
        <p:spPr>
          <a:xfrm>
            <a:off x="4846320" y="2039112"/>
            <a:ext cx="2011680" cy="411480"/>
          </a:xfrm>
          <a:prstGeom prst="rect">
            <a:avLst/>
          </a:prstGeom>
          <a:noFill/>
          <a:ln/>
        </p:spPr>
        <p:txBody>
          <a:bodyPr wrap="square" lIns="0" tIns="0" rIns="0" bIns="0" rtlCol="0" anchor="t"/>
          <a:lstStyle/>
          <a:p>
            <a:pPr indent="0" marL="0">
              <a:buNone/>
            </a:pPr>
            <a:r>
              <a:rPr lang="en-US" sz="1050" dirty="0">
                <a:solidFill>
                  <a:srgbClr val="9DB2BA"/>
                </a:solidFill>
                <a:latin typeface="Arial" pitchFamily="34" charset="0"/>
                <a:ea typeface="Arial" pitchFamily="34" charset="-122"/>
                <a:cs typeface="Arial" pitchFamily="34" charset="-120"/>
              </a:rPr>
              <a:t>files with @Inject</a:t>
            </a:r>
            <a:endParaRPr lang="en-US" sz="1050" dirty="0"/>
          </a:p>
        </p:txBody>
      </p:sp>
      <p:sp>
        <p:nvSpPr>
          <p:cNvPr id="12" name="Text 10"/>
          <p:cNvSpPr txBox="1"/>
          <p:nvPr/>
        </p:nvSpPr>
        <p:spPr>
          <a:xfrm>
            <a:off x="6949440" y="1325880"/>
            <a:ext cx="2194560" cy="685800"/>
          </a:xfrm>
          <a:prstGeom prst="rect">
            <a:avLst/>
          </a:prstGeom>
          <a:noFill/>
          <a:ln/>
        </p:spPr>
        <p:txBody>
          <a:bodyPr wrap="square" lIns="0" tIns="0" rIns="0" bIns="0" rtlCol="0" anchor="b"/>
          <a:lstStyle/>
          <a:p>
            <a:pPr algn="l" indent="0" marL="0">
              <a:buNone/>
            </a:pPr>
            <a:r>
              <a:rPr lang="en-US" sz="3600" b="1" dirty="0">
                <a:solidFill>
                  <a:srgbClr val="45DFA4"/>
                </a:solidFill>
                <a:latin typeface="Arial" pitchFamily="34" charset="0"/>
                <a:ea typeface="Arial" pitchFamily="34" charset="-122"/>
                <a:cs typeface="Arial" pitchFamily="34" charset="-120"/>
              </a:rPr>
              <a:t>0</a:t>
            </a:r>
            <a:endParaRPr lang="en-US" sz="3600" dirty="0"/>
          </a:p>
        </p:txBody>
      </p:sp>
      <p:sp>
        <p:nvSpPr>
          <p:cNvPr id="13" name="Text 11"/>
          <p:cNvSpPr txBox="1"/>
          <p:nvPr/>
        </p:nvSpPr>
        <p:spPr>
          <a:xfrm>
            <a:off x="6949440" y="2039112"/>
            <a:ext cx="2194560" cy="411480"/>
          </a:xfrm>
          <a:prstGeom prst="rect">
            <a:avLst/>
          </a:prstGeom>
          <a:noFill/>
          <a:ln/>
        </p:spPr>
        <p:txBody>
          <a:bodyPr wrap="square" lIns="0" tIns="0" rIns="0" bIns="0" rtlCol="0" anchor="t"/>
          <a:lstStyle/>
          <a:p>
            <a:pPr indent="0" marL="0">
              <a:buNone/>
            </a:pPr>
            <a:r>
              <a:rPr lang="en-US" sz="1050" dirty="0">
                <a:solidFill>
                  <a:srgbClr val="9DB2BA"/>
                </a:solidFill>
                <a:latin typeface="Arial" pitchFamily="34" charset="0"/>
                <a:ea typeface="Arial" pitchFamily="34" charset="-122"/>
                <a:cs typeface="Arial" pitchFamily="34" charset="-120"/>
              </a:rPr>
              <a:t>service locators or static singletons</a:t>
            </a:r>
            <a:endParaRPr lang="en-US" sz="1050" dirty="0"/>
          </a:p>
        </p:txBody>
      </p:sp>
      <p:sp>
        <p:nvSpPr>
          <p:cNvPr id="14" name="Shape 12"/>
          <p:cNvSpPr/>
          <p:nvPr/>
        </p:nvSpPr>
        <p:spPr>
          <a:xfrm>
            <a:off x="640080" y="2743200"/>
            <a:ext cx="3566160" cy="3291840"/>
          </a:xfrm>
          <a:prstGeom prst="roundRect">
            <a:avLst>
              <a:gd name="adj" fmla="val 3333"/>
            </a:avLst>
          </a:prstGeom>
          <a:solidFill>
            <a:srgbClr val="16232A"/>
          </a:solidFill>
          <a:ln w="9525">
            <a:solidFill>
              <a:srgbClr val="263841"/>
            </a:solidFill>
            <a:prstDash val="solid"/>
          </a:ln>
        </p:spPr>
      </p:sp>
      <p:sp>
        <p:nvSpPr>
          <p:cNvPr id="15" name="Shape 13"/>
          <p:cNvSpPr/>
          <p:nvPr/>
        </p:nvSpPr>
        <p:spPr>
          <a:xfrm>
            <a:off x="822960" y="2926080"/>
            <a:ext cx="457200" cy="457200"/>
          </a:xfrm>
          <a:prstGeom prst="ellipse">
            <a:avLst/>
          </a:prstGeom>
          <a:solidFill>
            <a:srgbClr val="0A1013"/>
          </a:solidFill>
          <a:ln w="6350">
            <a:solidFill>
              <a:srgbClr val="263841"/>
            </a:solidFill>
            <a:prstDash val="solid"/>
          </a:ln>
        </p:spPr>
      </p:sp>
      <p:pic>
        <p:nvPicPr>
          <p:cNvPr id="16" name="Image 0" descr="preencoded.png">    </p:cNvPr>
          <p:cNvPicPr>
            <a:picLocks noChangeAspect="1"/>
          </p:cNvPicPr>
          <p:nvPr/>
        </p:nvPicPr>
        <p:blipFill>
          <a:blip r:embed="rId1"/>
          <a:stretch>
            <a:fillRect/>
          </a:stretch>
        </p:blipFill>
        <p:spPr>
          <a:xfrm>
            <a:off x="914400" y="3017520"/>
            <a:ext cx="274320" cy="274320"/>
          </a:xfrm>
          <a:prstGeom prst="rect">
            <a:avLst/>
          </a:prstGeom>
        </p:spPr>
      </p:pic>
      <p:sp>
        <p:nvSpPr>
          <p:cNvPr id="17" name="Text 14"/>
          <p:cNvSpPr txBox="1"/>
          <p:nvPr/>
        </p:nvSpPr>
        <p:spPr>
          <a:xfrm>
            <a:off x="1417320" y="2907792"/>
            <a:ext cx="26060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Interfaces where a seam is needed</a:t>
            </a:r>
            <a:endParaRPr lang="en-US" sz="1300" dirty="0"/>
          </a:p>
        </p:txBody>
      </p:sp>
      <p:sp>
        <p:nvSpPr>
          <p:cNvPr id="18" name="Text 15"/>
          <p:cNvSpPr txBox="1"/>
          <p:nvPr/>
        </p:nvSpPr>
        <p:spPr>
          <a:xfrm>
            <a:off x="822960" y="3401568"/>
            <a:ext cx="3200400" cy="25146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DashboardData, NutritionData, CrashReporter, AnalyticsTracker, KeystoreAead and CoachVoiceEngine are bound with @Binds.</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Tests substitute fakes at exactly those seams; nothing else is mocked.</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@Named qualifiers separate the three OkHttp clients and two Retrofit instances [9].</a:t>
            </a:r>
            <a:endParaRPr lang="en-US" sz="1000" dirty="0"/>
          </a:p>
        </p:txBody>
      </p:sp>
      <p:sp>
        <p:nvSpPr>
          <p:cNvPr id="19" name="Shape 16"/>
          <p:cNvSpPr/>
          <p:nvPr/>
        </p:nvSpPr>
        <p:spPr>
          <a:xfrm>
            <a:off x="4434840" y="2743200"/>
            <a:ext cx="3566160" cy="3291840"/>
          </a:xfrm>
          <a:prstGeom prst="roundRect">
            <a:avLst>
              <a:gd name="adj" fmla="val 3333"/>
            </a:avLst>
          </a:prstGeom>
          <a:solidFill>
            <a:srgbClr val="16232A"/>
          </a:solidFill>
          <a:ln w="9525">
            <a:solidFill>
              <a:srgbClr val="263841"/>
            </a:solidFill>
            <a:prstDash val="solid"/>
          </a:ln>
        </p:spPr>
      </p:sp>
      <p:sp>
        <p:nvSpPr>
          <p:cNvPr id="20" name="Shape 17"/>
          <p:cNvSpPr/>
          <p:nvPr/>
        </p:nvSpPr>
        <p:spPr>
          <a:xfrm>
            <a:off x="4617720" y="2926080"/>
            <a:ext cx="457200" cy="457200"/>
          </a:xfrm>
          <a:prstGeom prst="ellipse">
            <a:avLst/>
          </a:prstGeom>
          <a:solidFill>
            <a:srgbClr val="0A1013"/>
          </a:solidFill>
          <a:ln w="6350">
            <a:solidFill>
              <a:srgbClr val="263841"/>
            </a:solidFill>
            <a:prstDash val="solid"/>
          </a:ln>
        </p:spPr>
      </p:sp>
      <p:pic>
        <p:nvPicPr>
          <p:cNvPr id="21" name="Image 1" descr="preencoded.png">    </p:cNvPr>
          <p:cNvPicPr>
            <a:picLocks noChangeAspect="1"/>
          </p:cNvPicPr>
          <p:nvPr/>
        </p:nvPicPr>
        <p:blipFill>
          <a:blip r:embed="rId2"/>
          <a:stretch>
            <a:fillRect/>
          </a:stretch>
        </p:blipFill>
        <p:spPr>
          <a:xfrm>
            <a:off x="4709160" y="3017520"/>
            <a:ext cx="274320" cy="274320"/>
          </a:xfrm>
          <a:prstGeom prst="rect">
            <a:avLst/>
          </a:prstGeom>
        </p:spPr>
      </p:pic>
      <p:sp>
        <p:nvSpPr>
          <p:cNvPr id="22" name="Text 18"/>
          <p:cNvSpPr txBox="1"/>
          <p:nvPr/>
        </p:nvSpPr>
        <p:spPr>
          <a:xfrm>
            <a:off x="5212080" y="2907792"/>
            <a:ext cx="26060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Hilt in tests too</a:t>
            </a:r>
            <a:endParaRPr lang="en-US" sz="1300" dirty="0"/>
          </a:p>
        </p:txBody>
      </p:sp>
      <p:sp>
        <p:nvSpPr>
          <p:cNvPr id="23" name="Text 19"/>
          <p:cNvSpPr txBox="1"/>
          <p:nvPr/>
        </p:nvSpPr>
        <p:spPr>
          <a:xfrm>
            <a:off x="4617720" y="3401568"/>
            <a:ext cx="3200400" cy="25146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AzfTestRunner swaps the Application for instrumented runs.</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FakeNetworkModule replaces the entire network graph, so device tests never touch the real API.</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HiltWorker lets WorkManager workers take constructor dependencies.</a:t>
            </a:r>
            <a:endParaRPr lang="en-US" sz="1000" dirty="0"/>
          </a:p>
        </p:txBody>
      </p:sp>
      <p:sp>
        <p:nvSpPr>
          <p:cNvPr id="24" name="Shape 20"/>
          <p:cNvSpPr/>
          <p:nvPr/>
        </p:nvSpPr>
        <p:spPr>
          <a:xfrm>
            <a:off x="8229600" y="2743200"/>
            <a:ext cx="3474720" cy="3291840"/>
          </a:xfrm>
          <a:prstGeom prst="roundRect">
            <a:avLst>
              <a:gd name="adj" fmla="val 3333"/>
            </a:avLst>
          </a:prstGeom>
          <a:solidFill>
            <a:srgbClr val="16232A"/>
          </a:solidFill>
          <a:ln w="9525">
            <a:solidFill>
              <a:srgbClr val="263841"/>
            </a:solidFill>
            <a:prstDash val="solid"/>
          </a:ln>
        </p:spPr>
      </p:sp>
      <p:sp>
        <p:nvSpPr>
          <p:cNvPr id="25" name="Shape 21"/>
          <p:cNvSpPr/>
          <p:nvPr/>
        </p:nvSpPr>
        <p:spPr>
          <a:xfrm>
            <a:off x="8412480" y="2926080"/>
            <a:ext cx="457200" cy="457200"/>
          </a:xfrm>
          <a:prstGeom prst="ellipse">
            <a:avLst/>
          </a:prstGeom>
          <a:solidFill>
            <a:srgbClr val="0A1013"/>
          </a:solidFill>
          <a:ln w="6350">
            <a:solidFill>
              <a:srgbClr val="263841"/>
            </a:solidFill>
            <a:prstDash val="solid"/>
          </a:ln>
        </p:spPr>
      </p:sp>
      <p:pic>
        <p:nvPicPr>
          <p:cNvPr id="26" name="Image 2" descr="preencoded.png">    </p:cNvPr>
          <p:cNvPicPr>
            <a:picLocks noChangeAspect="1"/>
          </p:cNvPicPr>
          <p:nvPr/>
        </p:nvPicPr>
        <p:blipFill>
          <a:blip r:embed="rId3"/>
          <a:stretch>
            <a:fillRect/>
          </a:stretch>
        </p:blipFill>
        <p:spPr>
          <a:xfrm>
            <a:off x="8503920" y="3017520"/>
            <a:ext cx="274320" cy="274320"/>
          </a:xfrm>
          <a:prstGeom prst="rect">
            <a:avLst/>
          </a:prstGeom>
        </p:spPr>
      </p:pic>
      <p:sp>
        <p:nvSpPr>
          <p:cNvPr id="27" name="Text 22"/>
          <p:cNvSpPr txBox="1"/>
          <p:nvPr/>
        </p:nvSpPr>
        <p:spPr>
          <a:xfrm>
            <a:off x="9006840" y="2907792"/>
            <a:ext cx="25146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The one exception, on purpose</a:t>
            </a:r>
            <a:endParaRPr lang="en-US" sz="1300" dirty="0"/>
          </a:p>
        </p:txBody>
      </p:sp>
      <p:sp>
        <p:nvSpPr>
          <p:cNvPr id="28" name="Text 23"/>
          <p:cNvSpPr txBox="1"/>
          <p:nvPr/>
        </p:nvSpPr>
        <p:spPr>
          <a:xfrm>
            <a:off x="8412480" y="3401568"/>
            <a:ext cx="3108960" cy="25146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EntryPointAccessors appears exactly once: in the Glance widget, because a widget receiver cannot be @AndroidEntryPoint [15].</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Everything else is constructor injection, which is what keeps 518 tests on the JVM.</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23</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20  PLATFORM INTEGRATION</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Native superpowers the web client cannot match</a:t>
            </a:r>
            <a:endParaRPr lang="en-US" sz="2800" dirty="0"/>
          </a:p>
        </p:txBody>
      </p:sp>
      <p:sp>
        <p:nvSpPr>
          <p:cNvPr id="6" name="Shape 4"/>
          <p:cNvSpPr/>
          <p:nvPr/>
        </p:nvSpPr>
        <p:spPr>
          <a:xfrm>
            <a:off x="502920" y="1280160"/>
            <a:ext cx="2697480" cy="2194560"/>
          </a:xfrm>
          <a:prstGeom prst="roundRect">
            <a:avLst>
              <a:gd name="adj" fmla="val 5000"/>
            </a:avLst>
          </a:prstGeom>
          <a:solidFill>
            <a:srgbClr val="16232A"/>
          </a:solidFill>
          <a:ln w="9525">
            <a:solidFill>
              <a:srgbClr val="263841"/>
            </a:solidFill>
            <a:prstDash val="solid"/>
          </a:ln>
        </p:spPr>
      </p:sp>
      <p:sp>
        <p:nvSpPr>
          <p:cNvPr id="7" name="Shape 5"/>
          <p:cNvSpPr/>
          <p:nvPr/>
        </p:nvSpPr>
        <p:spPr>
          <a:xfrm>
            <a:off x="685800" y="1463040"/>
            <a:ext cx="457200" cy="457200"/>
          </a:xfrm>
          <a:prstGeom prst="ellipse">
            <a:avLst/>
          </a:prstGeom>
          <a:solidFill>
            <a:srgbClr val="0A1013"/>
          </a:solidFill>
          <a:ln w="6350">
            <a:solidFill>
              <a:srgbClr val="263841"/>
            </a:solidFill>
            <a:prstDash val="solid"/>
          </a:ln>
        </p:spPr>
      </p:sp>
      <p:pic>
        <p:nvPicPr>
          <p:cNvPr id="8"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9" name="Text 6"/>
          <p:cNvSpPr txBox="1"/>
          <p:nvPr/>
        </p:nvSpPr>
        <p:spPr>
          <a:xfrm>
            <a:off x="1280160" y="1444752"/>
            <a:ext cx="1737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CameraX meal capture</a:t>
            </a:r>
            <a:endParaRPr lang="en-US" sz="1150" dirty="0"/>
          </a:p>
        </p:txBody>
      </p:sp>
      <p:sp>
        <p:nvSpPr>
          <p:cNvPr id="10" name="Text 7"/>
          <p:cNvSpPr txBox="1"/>
          <p:nvPr/>
        </p:nvSpPr>
        <p:spPr>
          <a:xfrm>
            <a:off x="685800" y="1938528"/>
            <a:ext cx="2331720" cy="141732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In-app capture with framing guidance; gallery import goes through the system Photo Picker, so no storage permission [14].</a:t>
            </a:r>
            <a:endParaRPr lang="en-US" sz="950" dirty="0"/>
          </a:p>
        </p:txBody>
      </p:sp>
      <p:sp>
        <p:nvSpPr>
          <p:cNvPr id="11" name="Shape 8"/>
          <p:cNvSpPr/>
          <p:nvPr/>
        </p:nvSpPr>
        <p:spPr>
          <a:xfrm>
            <a:off x="3337560" y="1280160"/>
            <a:ext cx="2697480" cy="2194560"/>
          </a:xfrm>
          <a:prstGeom prst="roundRect">
            <a:avLst>
              <a:gd name="adj" fmla="val 5000"/>
            </a:avLst>
          </a:prstGeom>
          <a:solidFill>
            <a:srgbClr val="16232A"/>
          </a:solidFill>
          <a:ln w="9525">
            <a:solidFill>
              <a:srgbClr val="263841"/>
            </a:solidFill>
            <a:prstDash val="solid"/>
          </a:ln>
        </p:spPr>
      </p:sp>
      <p:sp>
        <p:nvSpPr>
          <p:cNvPr id="12" name="Shape 9"/>
          <p:cNvSpPr/>
          <p:nvPr/>
        </p:nvSpPr>
        <p:spPr>
          <a:xfrm>
            <a:off x="3520440" y="1463040"/>
            <a:ext cx="457200" cy="457200"/>
          </a:xfrm>
          <a:prstGeom prst="ellipse">
            <a:avLst/>
          </a:prstGeom>
          <a:solidFill>
            <a:srgbClr val="0A1013"/>
          </a:solidFill>
          <a:ln w="6350">
            <a:solidFill>
              <a:srgbClr val="263841"/>
            </a:solidFill>
            <a:prstDash val="solid"/>
          </a:ln>
        </p:spPr>
      </p:sp>
      <p:pic>
        <p:nvPicPr>
          <p:cNvPr id="13" name="Image 1" descr="preencoded.png">    </p:cNvPr>
          <p:cNvPicPr>
            <a:picLocks noChangeAspect="1"/>
          </p:cNvPicPr>
          <p:nvPr/>
        </p:nvPicPr>
        <p:blipFill>
          <a:blip r:embed="rId2"/>
          <a:stretch>
            <a:fillRect/>
          </a:stretch>
        </p:blipFill>
        <p:spPr>
          <a:xfrm>
            <a:off x="3611880" y="1554480"/>
            <a:ext cx="274320" cy="274320"/>
          </a:xfrm>
          <a:prstGeom prst="rect">
            <a:avLst/>
          </a:prstGeom>
        </p:spPr>
      </p:pic>
      <p:sp>
        <p:nvSpPr>
          <p:cNvPr id="14" name="Text 10"/>
          <p:cNvSpPr txBox="1"/>
          <p:nvPr/>
        </p:nvSpPr>
        <p:spPr>
          <a:xfrm>
            <a:off x="4114800" y="1444752"/>
            <a:ext cx="1737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ML Kit barcode</a:t>
            </a:r>
            <a:endParaRPr lang="en-US" sz="1150" dirty="0"/>
          </a:p>
        </p:txBody>
      </p:sp>
      <p:sp>
        <p:nvSpPr>
          <p:cNvPr id="15" name="Text 11"/>
          <p:cNvSpPr txBox="1"/>
          <p:nvPr/>
        </p:nvSpPr>
        <p:spPr>
          <a:xfrm>
            <a:off x="3520440" y="1938528"/>
            <a:ext cx="2331720" cy="141732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On-device scanning through a Play Services dynamic module, prefetched when the Nutrition tab opens [13].</a:t>
            </a:r>
            <a:endParaRPr lang="en-US" sz="950" dirty="0"/>
          </a:p>
        </p:txBody>
      </p:sp>
      <p:sp>
        <p:nvSpPr>
          <p:cNvPr id="16" name="Shape 12"/>
          <p:cNvSpPr/>
          <p:nvPr/>
        </p:nvSpPr>
        <p:spPr>
          <a:xfrm>
            <a:off x="6172200" y="1280160"/>
            <a:ext cx="2697480" cy="2194560"/>
          </a:xfrm>
          <a:prstGeom prst="roundRect">
            <a:avLst>
              <a:gd name="adj" fmla="val 5000"/>
            </a:avLst>
          </a:prstGeom>
          <a:solidFill>
            <a:srgbClr val="16232A"/>
          </a:solidFill>
          <a:ln w="9525">
            <a:solidFill>
              <a:srgbClr val="263841"/>
            </a:solidFill>
            <a:prstDash val="solid"/>
          </a:ln>
        </p:spPr>
      </p:sp>
      <p:sp>
        <p:nvSpPr>
          <p:cNvPr id="17" name="Shape 13"/>
          <p:cNvSpPr/>
          <p:nvPr/>
        </p:nvSpPr>
        <p:spPr>
          <a:xfrm>
            <a:off x="6355080" y="1463040"/>
            <a:ext cx="457200" cy="457200"/>
          </a:xfrm>
          <a:prstGeom prst="ellipse">
            <a:avLst/>
          </a:prstGeom>
          <a:solidFill>
            <a:srgbClr val="0A1013"/>
          </a:solidFill>
          <a:ln w="6350">
            <a:solidFill>
              <a:srgbClr val="263841"/>
            </a:solidFill>
            <a:prstDash val="solid"/>
          </a:ln>
        </p:spPr>
      </p:sp>
      <p:pic>
        <p:nvPicPr>
          <p:cNvPr id="18" name="Image 2" descr="preencoded.png">    </p:cNvPr>
          <p:cNvPicPr>
            <a:picLocks noChangeAspect="1"/>
          </p:cNvPicPr>
          <p:nvPr/>
        </p:nvPicPr>
        <p:blipFill>
          <a:blip r:embed="rId3"/>
          <a:stretch>
            <a:fillRect/>
          </a:stretch>
        </p:blipFill>
        <p:spPr>
          <a:xfrm>
            <a:off x="6446520" y="1554480"/>
            <a:ext cx="274320" cy="274320"/>
          </a:xfrm>
          <a:prstGeom prst="rect">
            <a:avLst/>
          </a:prstGeom>
        </p:spPr>
      </p:pic>
      <p:sp>
        <p:nvSpPr>
          <p:cNvPr id="19" name="Text 14"/>
          <p:cNvSpPr txBox="1"/>
          <p:nvPr/>
        </p:nvSpPr>
        <p:spPr>
          <a:xfrm>
            <a:off x="6949440" y="1444752"/>
            <a:ext cx="1737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Health Connect</a:t>
            </a:r>
            <a:endParaRPr lang="en-US" sz="1150" dirty="0"/>
          </a:p>
        </p:txBody>
      </p:sp>
      <p:sp>
        <p:nvSpPr>
          <p:cNvPr id="20" name="Text 15"/>
          <p:cNvSpPr txBox="1"/>
          <p:nvPr/>
        </p:nvSpPr>
        <p:spPr>
          <a:xfrm>
            <a:off x="6355080" y="1938528"/>
            <a:ext cx="2331720" cy="141732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Steps, heart rate, sleep and total calories read; weight written back. Nothing is read until the user connects, re-checked on every call [11].</a:t>
            </a:r>
            <a:endParaRPr lang="en-US" sz="950" dirty="0"/>
          </a:p>
        </p:txBody>
      </p:sp>
      <p:sp>
        <p:nvSpPr>
          <p:cNvPr id="21" name="Shape 16"/>
          <p:cNvSpPr/>
          <p:nvPr/>
        </p:nvSpPr>
        <p:spPr>
          <a:xfrm>
            <a:off x="9006840" y="1280160"/>
            <a:ext cx="2697480" cy="2194560"/>
          </a:xfrm>
          <a:prstGeom prst="roundRect">
            <a:avLst>
              <a:gd name="adj" fmla="val 5000"/>
            </a:avLst>
          </a:prstGeom>
          <a:solidFill>
            <a:srgbClr val="16232A"/>
          </a:solidFill>
          <a:ln w="9525">
            <a:solidFill>
              <a:srgbClr val="263841"/>
            </a:solidFill>
            <a:prstDash val="solid"/>
          </a:ln>
        </p:spPr>
      </p:sp>
      <p:sp>
        <p:nvSpPr>
          <p:cNvPr id="22" name="Shape 17"/>
          <p:cNvSpPr/>
          <p:nvPr/>
        </p:nvSpPr>
        <p:spPr>
          <a:xfrm>
            <a:off x="9189720" y="1463040"/>
            <a:ext cx="457200" cy="457200"/>
          </a:xfrm>
          <a:prstGeom prst="ellipse">
            <a:avLst/>
          </a:prstGeom>
          <a:solidFill>
            <a:srgbClr val="0A1013"/>
          </a:solidFill>
          <a:ln w="6350">
            <a:solidFill>
              <a:srgbClr val="263841"/>
            </a:solidFill>
            <a:prstDash val="solid"/>
          </a:ln>
        </p:spPr>
      </p:sp>
      <p:pic>
        <p:nvPicPr>
          <p:cNvPr id="23" name="Image 3" descr="preencoded.png">    </p:cNvPr>
          <p:cNvPicPr>
            <a:picLocks noChangeAspect="1"/>
          </p:cNvPicPr>
          <p:nvPr/>
        </p:nvPicPr>
        <p:blipFill>
          <a:blip r:embed="rId4"/>
          <a:stretch>
            <a:fillRect/>
          </a:stretch>
        </p:blipFill>
        <p:spPr>
          <a:xfrm>
            <a:off x="9281160" y="1554480"/>
            <a:ext cx="274320" cy="274320"/>
          </a:xfrm>
          <a:prstGeom prst="rect">
            <a:avLst/>
          </a:prstGeom>
        </p:spPr>
      </p:pic>
      <p:sp>
        <p:nvSpPr>
          <p:cNvPr id="24" name="Text 18"/>
          <p:cNvSpPr txBox="1"/>
          <p:nvPr/>
        </p:nvSpPr>
        <p:spPr>
          <a:xfrm>
            <a:off x="9784080" y="1444752"/>
            <a:ext cx="1737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Glance widget</a:t>
            </a:r>
            <a:endParaRPr lang="en-US" sz="1150" dirty="0"/>
          </a:p>
        </p:txBody>
      </p:sp>
      <p:sp>
        <p:nvSpPr>
          <p:cNvPr id="25" name="Text 19"/>
          <p:cNvSpPr txBox="1"/>
          <p:nvPr/>
        </p:nvSpPr>
        <p:spPr>
          <a:xfrm>
            <a:off x="9189720" y="1938528"/>
            <a:ext cx="2331720" cy="141732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Today's rings and a one-tap water log drawn from Room, so it is correct with no network [15].</a:t>
            </a:r>
            <a:endParaRPr lang="en-US" sz="950" dirty="0"/>
          </a:p>
        </p:txBody>
      </p:sp>
      <p:sp>
        <p:nvSpPr>
          <p:cNvPr id="26" name="Shape 20"/>
          <p:cNvSpPr/>
          <p:nvPr/>
        </p:nvSpPr>
        <p:spPr>
          <a:xfrm>
            <a:off x="502920" y="3611880"/>
            <a:ext cx="2697480" cy="2194560"/>
          </a:xfrm>
          <a:prstGeom prst="roundRect">
            <a:avLst>
              <a:gd name="adj" fmla="val 5000"/>
            </a:avLst>
          </a:prstGeom>
          <a:solidFill>
            <a:srgbClr val="16232A"/>
          </a:solidFill>
          <a:ln w="9525">
            <a:solidFill>
              <a:srgbClr val="263841"/>
            </a:solidFill>
            <a:prstDash val="solid"/>
          </a:ln>
        </p:spPr>
      </p:sp>
      <p:sp>
        <p:nvSpPr>
          <p:cNvPr id="27" name="Shape 21"/>
          <p:cNvSpPr/>
          <p:nvPr/>
        </p:nvSpPr>
        <p:spPr>
          <a:xfrm>
            <a:off x="685800" y="3794760"/>
            <a:ext cx="457200" cy="457200"/>
          </a:xfrm>
          <a:prstGeom prst="ellipse">
            <a:avLst/>
          </a:prstGeom>
          <a:solidFill>
            <a:srgbClr val="0A1013"/>
          </a:solidFill>
          <a:ln w="6350">
            <a:solidFill>
              <a:srgbClr val="263841"/>
            </a:solidFill>
            <a:prstDash val="solid"/>
          </a:ln>
        </p:spPr>
      </p:sp>
      <p:pic>
        <p:nvPicPr>
          <p:cNvPr id="28" name="Image 4" descr="preencoded.png">    </p:cNvPr>
          <p:cNvPicPr>
            <a:picLocks noChangeAspect="1"/>
          </p:cNvPicPr>
          <p:nvPr/>
        </p:nvPicPr>
        <p:blipFill>
          <a:blip r:embed="rId5"/>
          <a:stretch>
            <a:fillRect/>
          </a:stretch>
        </p:blipFill>
        <p:spPr>
          <a:xfrm>
            <a:off x="777240" y="3886200"/>
            <a:ext cx="274320" cy="274320"/>
          </a:xfrm>
          <a:prstGeom prst="rect">
            <a:avLst/>
          </a:prstGeom>
        </p:spPr>
      </p:pic>
      <p:sp>
        <p:nvSpPr>
          <p:cNvPr id="29" name="Text 22"/>
          <p:cNvSpPr txBox="1"/>
          <p:nvPr/>
        </p:nvSpPr>
        <p:spPr>
          <a:xfrm>
            <a:off x="1280160" y="3776472"/>
            <a:ext cx="1737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Foreground live workout</a:t>
            </a:r>
            <a:endParaRPr lang="en-US" sz="1150" dirty="0"/>
          </a:p>
        </p:txBody>
      </p:sp>
      <p:sp>
        <p:nvSpPr>
          <p:cNvPr id="30" name="Text 23"/>
          <p:cNvSpPr txBox="1"/>
          <p:nvPr/>
        </p:nvSpPr>
        <p:spPr>
          <a:xfrm>
            <a:off x="685800" y="4270248"/>
            <a:ext cx="2331720" cy="141732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A health-type foreground service carries the rest countdown and its actions to the lock screen [16].</a:t>
            </a:r>
            <a:endParaRPr lang="en-US" sz="950" dirty="0"/>
          </a:p>
        </p:txBody>
      </p:sp>
      <p:sp>
        <p:nvSpPr>
          <p:cNvPr id="31" name="Shape 24"/>
          <p:cNvSpPr/>
          <p:nvPr/>
        </p:nvSpPr>
        <p:spPr>
          <a:xfrm>
            <a:off x="3337560" y="3611880"/>
            <a:ext cx="2697480" cy="2194560"/>
          </a:xfrm>
          <a:prstGeom prst="roundRect">
            <a:avLst>
              <a:gd name="adj" fmla="val 5000"/>
            </a:avLst>
          </a:prstGeom>
          <a:solidFill>
            <a:srgbClr val="16232A"/>
          </a:solidFill>
          <a:ln w="9525">
            <a:solidFill>
              <a:srgbClr val="263841"/>
            </a:solidFill>
            <a:prstDash val="solid"/>
          </a:ln>
        </p:spPr>
      </p:sp>
      <p:sp>
        <p:nvSpPr>
          <p:cNvPr id="32" name="Shape 25"/>
          <p:cNvSpPr/>
          <p:nvPr/>
        </p:nvSpPr>
        <p:spPr>
          <a:xfrm>
            <a:off x="3520440" y="3794760"/>
            <a:ext cx="457200" cy="457200"/>
          </a:xfrm>
          <a:prstGeom prst="ellipse">
            <a:avLst/>
          </a:prstGeom>
          <a:solidFill>
            <a:srgbClr val="0A1013"/>
          </a:solidFill>
          <a:ln w="6350">
            <a:solidFill>
              <a:srgbClr val="263841"/>
            </a:solidFill>
            <a:prstDash val="solid"/>
          </a:ln>
        </p:spPr>
      </p:sp>
      <p:pic>
        <p:nvPicPr>
          <p:cNvPr id="33" name="Image 5" descr="preencoded.png">    </p:cNvPr>
          <p:cNvPicPr>
            <a:picLocks noChangeAspect="1"/>
          </p:cNvPicPr>
          <p:nvPr/>
        </p:nvPicPr>
        <p:blipFill>
          <a:blip r:embed="rId6"/>
          <a:stretch>
            <a:fillRect/>
          </a:stretch>
        </p:blipFill>
        <p:spPr>
          <a:xfrm>
            <a:off x="3611880" y="3886200"/>
            <a:ext cx="274320" cy="274320"/>
          </a:xfrm>
          <a:prstGeom prst="rect">
            <a:avLst/>
          </a:prstGeom>
        </p:spPr>
      </p:pic>
      <p:sp>
        <p:nvSpPr>
          <p:cNvPr id="34" name="Text 26"/>
          <p:cNvSpPr txBox="1"/>
          <p:nvPr/>
        </p:nvSpPr>
        <p:spPr>
          <a:xfrm>
            <a:off x="4114800" y="3776472"/>
            <a:ext cx="1737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Google Play Billing</a:t>
            </a:r>
            <a:endParaRPr lang="en-US" sz="1150" dirty="0"/>
          </a:p>
        </p:txBody>
      </p:sp>
      <p:sp>
        <p:nvSpPr>
          <p:cNvPr id="35" name="Text 27"/>
          <p:cNvSpPr txBox="1"/>
          <p:nvPr/>
        </p:nvSpPr>
        <p:spPr>
          <a:xfrm>
            <a:off x="3520440" y="4270248"/>
            <a:ext cx="2331720" cy="141732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Server-verified subscriptions through purchases.subscriptionsv2; renewals self-heal and the account id is obfuscated [12].</a:t>
            </a:r>
            <a:endParaRPr lang="en-US" sz="950" dirty="0"/>
          </a:p>
        </p:txBody>
      </p:sp>
      <p:sp>
        <p:nvSpPr>
          <p:cNvPr id="36" name="Shape 28"/>
          <p:cNvSpPr/>
          <p:nvPr/>
        </p:nvSpPr>
        <p:spPr>
          <a:xfrm>
            <a:off x="6172200" y="3611880"/>
            <a:ext cx="2697480" cy="2194560"/>
          </a:xfrm>
          <a:prstGeom prst="roundRect">
            <a:avLst>
              <a:gd name="adj" fmla="val 5000"/>
            </a:avLst>
          </a:prstGeom>
          <a:solidFill>
            <a:srgbClr val="16232A"/>
          </a:solidFill>
          <a:ln w="9525">
            <a:solidFill>
              <a:srgbClr val="263841"/>
            </a:solidFill>
            <a:prstDash val="solid"/>
          </a:ln>
        </p:spPr>
      </p:sp>
      <p:sp>
        <p:nvSpPr>
          <p:cNvPr id="37" name="Shape 29"/>
          <p:cNvSpPr/>
          <p:nvPr/>
        </p:nvSpPr>
        <p:spPr>
          <a:xfrm>
            <a:off x="6355080" y="3794760"/>
            <a:ext cx="457200" cy="457200"/>
          </a:xfrm>
          <a:prstGeom prst="ellipse">
            <a:avLst/>
          </a:prstGeom>
          <a:solidFill>
            <a:srgbClr val="0A1013"/>
          </a:solidFill>
          <a:ln w="6350">
            <a:solidFill>
              <a:srgbClr val="263841"/>
            </a:solidFill>
            <a:prstDash val="solid"/>
          </a:ln>
        </p:spPr>
      </p:sp>
      <p:pic>
        <p:nvPicPr>
          <p:cNvPr id="38" name="Image 6" descr="preencoded.png">    </p:cNvPr>
          <p:cNvPicPr>
            <a:picLocks noChangeAspect="1"/>
          </p:cNvPicPr>
          <p:nvPr/>
        </p:nvPicPr>
        <p:blipFill>
          <a:blip r:embed="rId7"/>
          <a:stretch>
            <a:fillRect/>
          </a:stretch>
        </p:blipFill>
        <p:spPr>
          <a:xfrm>
            <a:off x="6446520" y="3886200"/>
            <a:ext cx="274320" cy="274320"/>
          </a:xfrm>
          <a:prstGeom prst="rect">
            <a:avLst/>
          </a:prstGeom>
        </p:spPr>
      </p:pic>
      <p:sp>
        <p:nvSpPr>
          <p:cNvPr id="39" name="Text 30"/>
          <p:cNvSpPr txBox="1"/>
          <p:nvPr/>
        </p:nvSpPr>
        <p:spPr>
          <a:xfrm>
            <a:off x="6949440" y="3776472"/>
            <a:ext cx="1737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Coach voice</a:t>
            </a:r>
            <a:endParaRPr lang="en-US" sz="1150" dirty="0"/>
          </a:p>
        </p:txBody>
      </p:sp>
      <p:sp>
        <p:nvSpPr>
          <p:cNvPr id="40" name="Text 31"/>
          <p:cNvSpPr txBox="1"/>
          <p:nvPr/>
        </p:nvSpPr>
        <p:spPr>
          <a:xfrm>
            <a:off x="6355080" y="4270248"/>
            <a:ext cx="2331720" cy="141732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RECORD_AUDIO for spoken questions to the coach, behind a swappable CoachVoiceEngine interface.</a:t>
            </a:r>
            <a:endParaRPr lang="en-US" sz="950" dirty="0"/>
          </a:p>
        </p:txBody>
      </p:sp>
      <p:sp>
        <p:nvSpPr>
          <p:cNvPr id="41" name="Shape 32"/>
          <p:cNvSpPr/>
          <p:nvPr/>
        </p:nvSpPr>
        <p:spPr>
          <a:xfrm>
            <a:off x="9006840" y="3611880"/>
            <a:ext cx="2697480" cy="2194560"/>
          </a:xfrm>
          <a:prstGeom prst="roundRect">
            <a:avLst>
              <a:gd name="adj" fmla="val 5000"/>
            </a:avLst>
          </a:prstGeom>
          <a:solidFill>
            <a:srgbClr val="16232A"/>
          </a:solidFill>
          <a:ln w="9525">
            <a:solidFill>
              <a:srgbClr val="263841"/>
            </a:solidFill>
            <a:prstDash val="solid"/>
          </a:ln>
        </p:spPr>
      </p:sp>
      <p:sp>
        <p:nvSpPr>
          <p:cNvPr id="42" name="Shape 33"/>
          <p:cNvSpPr/>
          <p:nvPr/>
        </p:nvSpPr>
        <p:spPr>
          <a:xfrm>
            <a:off x="9189720" y="3794760"/>
            <a:ext cx="457200" cy="457200"/>
          </a:xfrm>
          <a:prstGeom prst="ellipse">
            <a:avLst/>
          </a:prstGeom>
          <a:solidFill>
            <a:srgbClr val="0A1013"/>
          </a:solidFill>
          <a:ln w="6350">
            <a:solidFill>
              <a:srgbClr val="263841"/>
            </a:solidFill>
            <a:prstDash val="solid"/>
          </a:ln>
        </p:spPr>
      </p:sp>
      <p:pic>
        <p:nvPicPr>
          <p:cNvPr id="43" name="Image 7" descr="preencoded.png">    </p:cNvPr>
          <p:cNvPicPr>
            <a:picLocks noChangeAspect="1"/>
          </p:cNvPicPr>
          <p:nvPr/>
        </p:nvPicPr>
        <p:blipFill>
          <a:blip r:embed="rId8"/>
          <a:stretch>
            <a:fillRect/>
          </a:stretch>
        </p:blipFill>
        <p:spPr>
          <a:xfrm>
            <a:off x="9281160" y="3886200"/>
            <a:ext cx="274320" cy="274320"/>
          </a:xfrm>
          <a:prstGeom prst="rect">
            <a:avLst/>
          </a:prstGeom>
        </p:spPr>
      </p:pic>
      <p:sp>
        <p:nvSpPr>
          <p:cNvPr id="44" name="Text 34"/>
          <p:cNvSpPr txBox="1"/>
          <p:nvPr/>
        </p:nvSpPr>
        <p:spPr>
          <a:xfrm>
            <a:off x="9784080" y="3776472"/>
            <a:ext cx="173736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On-device form check</a:t>
            </a:r>
            <a:endParaRPr lang="en-US" sz="1150" dirty="0"/>
          </a:p>
        </p:txBody>
      </p:sp>
      <p:sp>
        <p:nvSpPr>
          <p:cNvPr id="45" name="Text 35"/>
          <p:cNvSpPr txBox="1"/>
          <p:nvPr/>
        </p:nvSpPr>
        <p:spPr>
          <a:xfrm>
            <a:off x="9189720" y="4270248"/>
            <a:ext cx="2331720" cy="141732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Pose landmark maths for squat depth runs locally; no frame ever leaves the phone.</a:t>
            </a:r>
            <a:endParaRPr lang="en-US" sz="950" dirty="0"/>
          </a:p>
        </p:txBody>
      </p:sp>
      <p:sp>
        <p:nvSpPr>
          <p:cNvPr id="46" name="Text 36"/>
          <p:cNvSpPr txBox="1"/>
          <p:nvPr/>
        </p:nvSpPr>
        <p:spPr>
          <a:xfrm>
            <a:off x="502920" y="5897880"/>
            <a:ext cx="11155680" cy="365760"/>
          </a:xfrm>
          <a:prstGeom prst="rect">
            <a:avLst/>
          </a:prstGeom>
          <a:noFill/>
          <a:ln/>
        </p:spPr>
        <p:txBody>
          <a:bodyPr wrap="square" lIns="0" tIns="0" rIns="0" bIns="0" rtlCol="0" anchor="t"/>
          <a:lstStyle/>
          <a:p>
            <a:pPr algn="l" indent="0" marL="0">
              <a:buNone/>
            </a:pPr>
            <a:r>
              <a:rPr lang="en-US" sz="1000" i="1" dirty="0">
                <a:solidFill>
                  <a:srgbClr val="9DB2BA"/>
                </a:solidFill>
                <a:latin typeface="Arial" pitchFamily="34" charset="0"/>
                <a:ea typeface="Arial" pitchFamily="34" charset="-122"/>
                <a:cs typeface="Arial" pitchFamily="34" charset="-120"/>
              </a:rPr>
              <a:t>Each capability sits behind an interface or a repository so a screen degrades to an honest empty state when the capability is absent, rather than crashing [4].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24</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21  API SERVICE</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The backend the app speaks to</a:t>
            </a:r>
            <a:endParaRPr lang="en-US" sz="2800" dirty="0"/>
          </a:p>
        </p:txBody>
      </p:sp>
      <p:sp>
        <p:nvSpPr>
          <p:cNvPr id="6" name="Shape 4"/>
          <p:cNvSpPr/>
          <p:nvPr/>
        </p:nvSpPr>
        <p:spPr>
          <a:xfrm>
            <a:off x="640080" y="1371600"/>
            <a:ext cx="1280160" cy="548640"/>
          </a:xfrm>
          <a:prstGeom prst="roundRect">
            <a:avLst>
              <a:gd name="adj" fmla="val 13333"/>
            </a:avLst>
          </a:prstGeom>
          <a:solidFill>
            <a:srgbClr val="1C2C34"/>
          </a:solidFill>
          <a:ln w="9525">
            <a:solidFill>
              <a:srgbClr val="263841"/>
            </a:solidFill>
            <a:prstDash val="solid"/>
          </a:ln>
        </p:spPr>
      </p:sp>
      <p:sp>
        <p:nvSpPr>
          <p:cNvPr id="7" name="Text 5"/>
          <p:cNvSpPr txBox="1"/>
          <p:nvPr/>
        </p:nvSpPr>
        <p:spPr>
          <a:xfrm>
            <a:off x="713232" y="1371600"/>
            <a:ext cx="1133856" cy="54864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Helmet CSP</a:t>
            </a:r>
            <a:endParaRPr lang="en-US" sz="950" dirty="0"/>
          </a:p>
        </p:txBody>
      </p:sp>
      <p:sp>
        <p:nvSpPr>
          <p:cNvPr id="8" name="Shape 6"/>
          <p:cNvSpPr/>
          <p:nvPr/>
        </p:nvSpPr>
        <p:spPr>
          <a:xfrm>
            <a:off x="1938528" y="1645920"/>
            <a:ext cx="100584" cy="0"/>
          </a:xfrm>
          <a:prstGeom prst="line">
            <a:avLst/>
          </a:prstGeom>
          <a:noFill/>
          <a:ln w="19050">
            <a:solidFill>
              <a:srgbClr val="2FD9F4"/>
            </a:solidFill>
            <a:prstDash val="solid"/>
            <a:tailEnd type="triangle"/>
          </a:ln>
        </p:spPr>
      </p:sp>
      <p:sp>
        <p:nvSpPr>
          <p:cNvPr id="9" name="Shape 7"/>
          <p:cNvSpPr/>
          <p:nvPr/>
        </p:nvSpPr>
        <p:spPr>
          <a:xfrm>
            <a:off x="2039112" y="1371600"/>
            <a:ext cx="1280160" cy="548640"/>
          </a:xfrm>
          <a:prstGeom prst="roundRect">
            <a:avLst>
              <a:gd name="adj" fmla="val 13333"/>
            </a:avLst>
          </a:prstGeom>
          <a:solidFill>
            <a:srgbClr val="1C2C34"/>
          </a:solidFill>
          <a:ln w="9525">
            <a:solidFill>
              <a:srgbClr val="263841"/>
            </a:solidFill>
            <a:prstDash val="solid"/>
          </a:ln>
        </p:spPr>
      </p:sp>
      <p:sp>
        <p:nvSpPr>
          <p:cNvPr id="10" name="Text 8"/>
          <p:cNvSpPr txBox="1"/>
          <p:nvPr/>
        </p:nvSpPr>
        <p:spPr>
          <a:xfrm>
            <a:off x="2112264" y="1371600"/>
            <a:ext cx="1133856" cy="54864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CORS</a:t>
            </a:r>
            <a:endParaRPr lang="en-US" sz="950" dirty="0"/>
          </a:p>
        </p:txBody>
      </p:sp>
      <p:sp>
        <p:nvSpPr>
          <p:cNvPr id="11" name="Shape 9"/>
          <p:cNvSpPr/>
          <p:nvPr/>
        </p:nvSpPr>
        <p:spPr>
          <a:xfrm>
            <a:off x="3337560" y="1645920"/>
            <a:ext cx="100584" cy="0"/>
          </a:xfrm>
          <a:prstGeom prst="line">
            <a:avLst/>
          </a:prstGeom>
          <a:noFill/>
          <a:ln w="19050">
            <a:solidFill>
              <a:srgbClr val="2FD9F4"/>
            </a:solidFill>
            <a:prstDash val="solid"/>
            <a:tailEnd type="triangle"/>
          </a:ln>
        </p:spPr>
      </p:sp>
      <p:sp>
        <p:nvSpPr>
          <p:cNvPr id="12" name="Shape 10"/>
          <p:cNvSpPr/>
          <p:nvPr/>
        </p:nvSpPr>
        <p:spPr>
          <a:xfrm>
            <a:off x="3438144" y="1371600"/>
            <a:ext cx="1280160" cy="548640"/>
          </a:xfrm>
          <a:prstGeom prst="roundRect">
            <a:avLst>
              <a:gd name="adj" fmla="val 13333"/>
            </a:avLst>
          </a:prstGeom>
          <a:solidFill>
            <a:srgbClr val="1C2C34"/>
          </a:solidFill>
          <a:ln w="9525">
            <a:solidFill>
              <a:srgbClr val="263841"/>
            </a:solidFill>
            <a:prstDash val="solid"/>
          </a:ln>
        </p:spPr>
      </p:sp>
      <p:sp>
        <p:nvSpPr>
          <p:cNvPr id="13" name="Text 11"/>
          <p:cNvSpPr txBox="1"/>
          <p:nvPr/>
        </p:nvSpPr>
        <p:spPr>
          <a:xfrm>
            <a:off x="3511296" y="1371600"/>
            <a:ext cx="1133856" cy="54864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JSON body</a:t>
            </a:r>
            <a:endParaRPr lang="en-US" sz="950" dirty="0"/>
          </a:p>
        </p:txBody>
      </p:sp>
      <p:sp>
        <p:nvSpPr>
          <p:cNvPr id="14" name="Shape 12"/>
          <p:cNvSpPr/>
          <p:nvPr/>
        </p:nvSpPr>
        <p:spPr>
          <a:xfrm>
            <a:off x="4736592" y="1645920"/>
            <a:ext cx="100584" cy="0"/>
          </a:xfrm>
          <a:prstGeom prst="line">
            <a:avLst/>
          </a:prstGeom>
          <a:noFill/>
          <a:ln w="19050">
            <a:solidFill>
              <a:srgbClr val="2FD9F4"/>
            </a:solidFill>
            <a:prstDash val="solid"/>
            <a:tailEnd type="triangle"/>
          </a:ln>
        </p:spPr>
      </p:sp>
      <p:sp>
        <p:nvSpPr>
          <p:cNvPr id="15" name="Shape 13"/>
          <p:cNvSpPr/>
          <p:nvPr/>
        </p:nvSpPr>
        <p:spPr>
          <a:xfrm>
            <a:off x="4837176" y="1371600"/>
            <a:ext cx="1280160" cy="548640"/>
          </a:xfrm>
          <a:prstGeom prst="roundRect">
            <a:avLst>
              <a:gd name="adj" fmla="val 13333"/>
            </a:avLst>
          </a:prstGeom>
          <a:solidFill>
            <a:srgbClr val="1C2C34"/>
          </a:solidFill>
          <a:ln w="9525">
            <a:solidFill>
              <a:srgbClr val="263841"/>
            </a:solidFill>
            <a:prstDash val="solid"/>
          </a:ln>
        </p:spPr>
      </p:sp>
      <p:sp>
        <p:nvSpPr>
          <p:cNvPr id="16" name="Text 14"/>
          <p:cNvSpPr txBox="1"/>
          <p:nvPr/>
        </p:nvSpPr>
        <p:spPr>
          <a:xfrm>
            <a:off x="4910328" y="1371600"/>
            <a:ext cx="1133856" cy="54864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Request log</a:t>
            </a:r>
            <a:endParaRPr lang="en-US" sz="950" dirty="0"/>
          </a:p>
        </p:txBody>
      </p:sp>
      <p:sp>
        <p:nvSpPr>
          <p:cNvPr id="17" name="Shape 15"/>
          <p:cNvSpPr/>
          <p:nvPr/>
        </p:nvSpPr>
        <p:spPr>
          <a:xfrm>
            <a:off x="6135624" y="1645920"/>
            <a:ext cx="100584" cy="0"/>
          </a:xfrm>
          <a:prstGeom prst="line">
            <a:avLst/>
          </a:prstGeom>
          <a:noFill/>
          <a:ln w="19050">
            <a:solidFill>
              <a:srgbClr val="2FD9F4"/>
            </a:solidFill>
            <a:prstDash val="solid"/>
            <a:tailEnd type="triangle"/>
          </a:ln>
        </p:spPr>
      </p:sp>
      <p:sp>
        <p:nvSpPr>
          <p:cNvPr id="18" name="Shape 16"/>
          <p:cNvSpPr/>
          <p:nvPr/>
        </p:nvSpPr>
        <p:spPr>
          <a:xfrm>
            <a:off x="6236208" y="1371600"/>
            <a:ext cx="1280160" cy="548640"/>
          </a:xfrm>
          <a:prstGeom prst="roundRect">
            <a:avLst>
              <a:gd name="adj" fmla="val 13333"/>
            </a:avLst>
          </a:prstGeom>
          <a:solidFill>
            <a:srgbClr val="1C2C34"/>
          </a:solidFill>
          <a:ln w="9525">
            <a:solidFill>
              <a:srgbClr val="263841"/>
            </a:solidFill>
            <a:prstDash val="solid"/>
          </a:ln>
        </p:spPr>
      </p:sp>
      <p:sp>
        <p:nvSpPr>
          <p:cNvPr id="19" name="Text 17"/>
          <p:cNvSpPr txBox="1"/>
          <p:nvPr/>
        </p:nvSpPr>
        <p:spPr>
          <a:xfrm>
            <a:off x="6309360" y="1371600"/>
            <a:ext cx="1133856" cy="54864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Rate limiter</a:t>
            </a:r>
            <a:endParaRPr lang="en-US" sz="950" dirty="0"/>
          </a:p>
        </p:txBody>
      </p:sp>
      <p:sp>
        <p:nvSpPr>
          <p:cNvPr id="20" name="Shape 18"/>
          <p:cNvSpPr/>
          <p:nvPr/>
        </p:nvSpPr>
        <p:spPr>
          <a:xfrm>
            <a:off x="7534656" y="1645920"/>
            <a:ext cx="100584" cy="0"/>
          </a:xfrm>
          <a:prstGeom prst="line">
            <a:avLst/>
          </a:prstGeom>
          <a:noFill/>
          <a:ln w="19050">
            <a:solidFill>
              <a:srgbClr val="2FD9F4"/>
            </a:solidFill>
            <a:prstDash val="solid"/>
            <a:tailEnd type="triangle"/>
          </a:ln>
        </p:spPr>
      </p:sp>
      <p:sp>
        <p:nvSpPr>
          <p:cNvPr id="21" name="Shape 19"/>
          <p:cNvSpPr/>
          <p:nvPr/>
        </p:nvSpPr>
        <p:spPr>
          <a:xfrm>
            <a:off x="7635240" y="1371600"/>
            <a:ext cx="1280160" cy="548640"/>
          </a:xfrm>
          <a:prstGeom prst="roundRect">
            <a:avLst>
              <a:gd name="adj" fmla="val 13333"/>
            </a:avLst>
          </a:prstGeom>
          <a:solidFill>
            <a:srgbClr val="12303A"/>
          </a:solidFill>
          <a:ln w="9525">
            <a:solidFill>
              <a:srgbClr val="2FD9F4"/>
            </a:solidFill>
            <a:prstDash val="solid"/>
          </a:ln>
        </p:spPr>
      </p:sp>
      <p:sp>
        <p:nvSpPr>
          <p:cNvPr id="22" name="Text 20"/>
          <p:cNvSpPr txBox="1"/>
          <p:nvPr/>
        </p:nvSpPr>
        <p:spPr>
          <a:xfrm>
            <a:off x="7708392" y="1371600"/>
            <a:ext cx="1133856" cy="54864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/api/v1 routers</a:t>
            </a:r>
            <a:endParaRPr lang="en-US" sz="950" dirty="0"/>
          </a:p>
        </p:txBody>
      </p:sp>
      <p:sp>
        <p:nvSpPr>
          <p:cNvPr id="23" name="Shape 21"/>
          <p:cNvSpPr/>
          <p:nvPr/>
        </p:nvSpPr>
        <p:spPr>
          <a:xfrm>
            <a:off x="8933688" y="1645920"/>
            <a:ext cx="100584" cy="0"/>
          </a:xfrm>
          <a:prstGeom prst="line">
            <a:avLst/>
          </a:prstGeom>
          <a:noFill/>
          <a:ln w="19050">
            <a:solidFill>
              <a:srgbClr val="2FD9F4"/>
            </a:solidFill>
            <a:prstDash val="solid"/>
            <a:tailEnd type="triangle"/>
          </a:ln>
        </p:spPr>
      </p:sp>
      <p:sp>
        <p:nvSpPr>
          <p:cNvPr id="24" name="Shape 22"/>
          <p:cNvSpPr/>
          <p:nvPr/>
        </p:nvSpPr>
        <p:spPr>
          <a:xfrm>
            <a:off x="9034272" y="1371600"/>
            <a:ext cx="1280160" cy="548640"/>
          </a:xfrm>
          <a:prstGeom prst="roundRect">
            <a:avLst>
              <a:gd name="adj" fmla="val 13333"/>
            </a:avLst>
          </a:prstGeom>
          <a:solidFill>
            <a:srgbClr val="1C2C34"/>
          </a:solidFill>
          <a:ln w="9525">
            <a:solidFill>
              <a:srgbClr val="263841"/>
            </a:solidFill>
            <a:prstDash val="solid"/>
          </a:ln>
        </p:spPr>
      </p:sp>
      <p:sp>
        <p:nvSpPr>
          <p:cNvPr id="25" name="Text 23"/>
          <p:cNvSpPr txBox="1"/>
          <p:nvPr/>
        </p:nvSpPr>
        <p:spPr>
          <a:xfrm>
            <a:off x="9107424" y="1371600"/>
            <a:ext cx="1133856" cy="54864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Store</a:t>
            </a:r>
            <a:endParaRPr lang="en-US" sz="950" dirty="0"/>
          </a:p>
        </p:txBody>
      </p:sp>
      <p:sp>
        <p:nvSpPr>
          <p:cNvPr id="26" name="Shape 24"/>
          <p:cNvSpPr/>
          <p:nvPr/>
        </p:nvSpPr>
        <p:spPr>
          <a:xfrm>
            <a:off x="10332720" y="1645920"/>
            <a:ext cx="100584" cy="0"/>
          </a:xfrm>
          <a:prstGeom prst="line">
            <a:avLst/>
          </a:prstGeom>
          <a:noFill/>
          <a:ln w="19050">
            <a:solidFill>
              <a:srgbClr val="2FD9F4"/>
            </a:solidFill>
            <a:prstDash val="solid"/>
            <a:tailEnd type="triangle"/>
          </a:ln>
        </p:spPr>
      </p:sp>
      <p:sp>
        <p:nvSpPr>
          <p:cNvPr id="27" name="Shape 25"/>
          <p:cNvSpPr/>
          <p:nvPr/>
        </p:nvSpPr>
        <p:spPr>
          <a:xfrm>
            <a:off x="10433304" y="1371600"/>
            <a:ext cx="1280160" cy="548640"/>
          </a:xfrm>
          <a:prstGeom prst="roundRect">
            <a:avLst>
              <a:gd name="adj" fmla="val 13333"/>
            </a:avLst>
          </a:prstGeom>
          <a:solidFill>
            <a:srgbClr val="1C2C34"/>
          </a:solidFill>
          <a:ln w="9525">
            <a:solidFill>
              <a:srgbClr val="263841"/>
            </a:solidFill>
            <a:prstDash val="solid"/>
          </a:ln>
        </p:spPr>
      </p:sp>
      <p:sp>
        <p:nvSpPr>
          <p:cNvPr id="28" name="Text 26"/>
          <p:cNvSpPr txBox="1"/>
          <p:nvPr/>
        </p:nvSpPr>
        <p:spPr>
          <a:xfrm>
            <a:off x="10506456" y="1371600"/>
            <a:ext cx="1133856" cy="54864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Error envelope</a:t>
            </a:r>
            <a:endParaRPr lang="en-US" sz="950" dirty="0"/>
          </a:p>
        </p:txBody>
      </p:sp>
      <p:sp>
        <p:nvSpPr>
          <p:cNvPr id="29" name="Shape 27"/>
          <p:cNvSpPr/>
          <p:nvPr/>
        </p:nvSpPr>
        <p:spPr>
          <a:xfrm>
            <a:off x="640080" y="2194560"/>
            <a:ext cx="3566160" cy="3840480"/>
          </a:xfrm>
          <a:prstGeom prst="roundRect">
            <a:avLst>
              <a:gd name="adj" fmla="val 3077"/>
            </a:avLst>
          </a:prstGeom>
          <a:solidFill>
            <a:srgbClr val="16232A"/>
          </a:solidFill>
          <a:ln w="9525">
            <a:solidFill>
              <a:srgbClr val="263841"/>
            </a:solidFill>
            <a:prstDash val="solid"/>
          </a:ln>
        </p:spPr>
      </p:sp>
      <p:sp>
        <p:nvSpPr>
          <p:cNvPr id="30" name="Shape 28"/>
          <p:cNvSpPr/>
          <p:nvPr/>
        </p:nvSpPr>
        <p:spPr>
          <a:xfrm>
            <a:off x="822960" y="2377440"/>
            <a:ext cx="457200" cy="457200"/>
          </a:xfrm>
          <a:prstGeom prst="ellipse">
            <a:avLst/>
          </a:prstGeom>
          <a:solidFill>
            <a:srgbClr val="0A1013"/>
          </a:solidFill>
          <a:ln w="6350">
            <a:solidFill>
              <a:srgbClr val="263841"/>
            </a:solidFill>
            <a:prstDash val="solid"/>
          </a:ln>
        </p:spPr>
      </p:sp>
      <p:pic>
        <p:nvPicPr>
          <p:cNvPr id="31" name="Image 0" descr="preencoded.png">    </p:cNvPr>
          <p:cNvPicPr>
            <a:picLocks noChangeAspect="1"/>
          </p:cNvPicPr>
          <p:nvPr/>
        </p:nvPicPr>
        <p:blipFill>
          <a:blip r:embed="rId1"/>
          <a:stretch>
            <a:fillRect/>
          </a:stretch>
        </p:blipFill>
        <p:spPr>
          <a:xfrm>
            <a:off x="914400" y="2468880"/>
            <a:ext cx="274320" cy="274320"/>
          </a:xfrm>
          <a:prstGeom prst="rect">
            <a:avLst/>
          </a:prstGeom>
        </p:spPr>
      </p:pic>
      <p:sp>
        <p:nvSpPr>
          <p:cNvPr id="32" name="Text 29"/>
          <p:cNvSpPr txBox="1"/>
          <p:nvPr/>
        </p:nvSpPr>
        <p:spPr>
          <a:xfrm>
            <a:off x="1417320" y="2359152"/>
            <a:ext cx="26060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Modules</a:t>
            </a:r>
            <a:endParaRPr lang="en-US" sz="1300" dirty="0"/>
          </a:p>
        </p:txBody>
      </p:sp>
      <p:sp>
        <p:nvSpPr>
          <p:cNvPr id="33" name="Text 30"/>
          <p:cNvSpPr txBox="1"/>
          <p:nvPr/>
        </p:nvSpPr>
        <p:spPr>
          <a:xfrm>
            <a:off x="822960" y="2852928"/>
            <a:ext cx="3200400" cy="30632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auth, me, foods, logs, analytics, plans, workouts, progress, recipes, admin, chat, vision, recommendations, challenges, coaches, payments, billing, export, mfa, memory, ai.</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22 module directories, 58 route handlers, all validated at the boundary with shared zod schemas [3].</a:t>
            </a:r>
            <a:endParaRPr lang="en-US" sz="1000" dirty="0"/>
          </a:p>
        </p:txBody>
      </p:sp>
      <p:sp>
        <p:nvSpPr>
          <p:cNvPr id="34" name="Shape 31"/>
          <p:cNvSpPr/>
          <p:nvPr/>
        </p:nvSpPr>
        <p:spPr>
          <a:xfrm>
            <a:off x="4434840" y="2194560"/>
            <a:ext cx="3566160" cy="3840480"/>
          </a:xfrm>
          <a:prstGeom prst="roundRect">
            <a:avLst>
              <a:gd name="adj" fmla="val 3077"/>
            </a:avLst>
          </a:prstGeom>
          <a:solidFill>
            <a:srgbClr val="16232A"/>
          </a:solidFill>
          <a:ln w="9525">
            <a:solidFill>
              <a:srgbClr val="263841"/>
            </a:solidFill>
            <a:prstDash val="solid"/>
          </a:ln>
        </p:spPr>
      </p:sp>
      <p:sp>
        <p:nvSpPr>
          <p:cNvPr id="35" name="Shape 32"/>
          <p:cNvSpPr/>
          <p:nvPr/>
        </p:nvSpPr>
        <p:spPr>
          <a:xfrm>
            <a:off x="4617720" y="2377440"/>
            <a:ext cx="457200" cy="457200"/>
          </a:xfrm>
          <a:prstGeom prst="ellipse">
            <a:avLst/>
          </a:prstGeom>
          <a:solidFill>
            <a:srgbClr val="0A1013"/>
          </a:solidFill>
          <a:ln w="6350">
            <a:solidFill>
              <a:srgbClr val="263841"/>
            </a:solidFill>
            <a:prstDash val="solid"/>
          </a:ln>
        </p:spPr>
      </p:sp>
      <p:pic>
        <p:nvPicPr>
          <p:cNvPr id="36" name="Image 1" descr="preencoded.png">    </p:cNvPr>
          <p:cNvPicPr>
            <a:picLocks noChangeAspect="1"/>
          </p:cNvPicPr>
          <p:nvPr/>
        </p:nvPicPr>
        <p:blipFill>
          <a:blip r:embed="rId2"/>
          <a:stretch>
            <a:fillRect/>
          </a:stretch>
        </p:blipFill>
        <p:spPr>
          <a:xfrm>
            <a:off x="4709160" y="2468880"/>
            <a:ext cx="274320" cy="274320"/>
          </a:xfrm>
          <a:prstGeom prst="rect">
            <a:avLst/>
          </a:prstGeom>
        </p:spPr>
      </p:pic>
      <p:sp>
        <p:nvSpPr>
          <p:cNvPr id="37" name="Text 33"/>
          <p:cNvSpPr txBox="1"/>
          <p:nvPr/>
        </p:nvSpPr>
        <p:spPr>
          <a:xfrm>
            <a:off x="5212080" y="2359152"/>
            <a:ext cx="260604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Storage abstraction</a:t>
            </a:r>
            <a:endParaRPr lang="en-US" sz="1300" dirty="0"/>
          </a:p>
        </p:txBody>
      </p:sp>
      <p:sp>
        <p:nvSpPr>
          <p:cNvPr id="38" name="Text 34"/>
          <p:cNvSpPr txBox="1"/>
          <p:nvPr/>
        </p:nvSpPr>
        <p:spPr>
          <a:xfrm>
            <a:off x="4617720" y="2852928"/>
            <a:ext cx="3200400" cy="30632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One document-store interface with two backings: JSON files for development and tests, PostgreSQL for production.</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Ten logical containers; user-scoped ones are what export and purge iterate.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Single-instance durability by design; scale-out requires moving reads off the local working set, and that limit is recorded, not hidden [5].</a:t>
            </a:r>
            <a:endParaRPr lang="en-US" sz="1000" dirty="0"/>
          </a:p>
        </p:txBody>
      </p:sp>
      <p:sp>
        <p:nvSpPr>
          <p:cNvPr id="39" name="Shape 35"/>
          <p:cNvSpPr/>
          <p:nvPr/>
        </p:nvSpPr>
        <p:spPr>
          <a:xfrm>
            <a:off x="8229600" y="2194560"/>
            <a:ext cx="3474720" cy="3840480"/>
          </a:xfrm>
          <a:prstGeom prst="roundRect">
            <a:avLst>
              <a:gd name="adj" fmla="val 3158"/>
            </a:avLst>
          </a:prstGeom>
          <a:solidFill>
            <a:srgbClr val="16232A"/>
          </a:solidFill>
          <a:ln w="9525">
            <a:solidFill>
              <a:srgbClr val="263841"/>
            </a:solidFill>
            <a:prstDash val="solid"/>
          </a:ln>
        </p:spPr>
      </p:sp>
      <p:sp>
        <p:nvSpPr>
          <p:cNvPr id="40" name="Shape 36"/>
          <p:cNvSpPr/>
          <p:nvPr/>
        </p:nvSpPr>
        <p:spPr>
          <a:xfrm>
            <a:off x="8412480" y="2377440"/>
            <a:ext cx="457200" cy="457200"/>
          </a:xfrm>
          <a:prstGeom prst="ellipse">
            <a:avLst/>
          </a:prstGeom>
          <a:solidFill>
            <a:srgbClr val="0A1013"/>
          </a:solidFill>
          <a:ln w="6350">
            <a:solidFill>
              <a:srgbClr val="263841"/>
            </a:solidFill>
            <a:prstDash val="solid"/>
          </a:ln>
        </p:spPr>
      </p:sp>
      <p:pic>
        <p:nvPicPr>
          <p:cNvPr id="41" name="Image 2" descr="preencoded.png">    </p:cNvPr>
          <p:cNvPicPr>
            <a:picLocks noChangeAspect="1"/>
          </p:cNvPicPr>
          <p:nvPr/>
        </p:nvPicPr>
        <p:blipFill>
          <a:blip r:embed="rId3"/>
          <a:stretch>
            <a:fillRect/>
          </a:stretch>
        </p:blipFill>
        <p:spPr>
          <a:xfrm>
            <a:off x="8503920" y="2468880"/>
            <a:ext cx="274320" cy="274320"/>
          </a:xfrm>
          <a:prstGeom prst="rect">
            <a:avLst/>
          </a:prstGeom>
        </p:spPr>
      </p:pic>
      <p:sp>
        <p:nvSpPr>
          <p:cNvPr id="42" name="Text 37"/>
          <p:cNvSpPr txBox="1"/>
          <p:nvPr/>
        </p:nvSpPr>
        <p:spPr>
          <a:xfrm>
            <a:off x="9006840" y="2359152"/>
            <a:ext cx="251460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Operational posture</a:t>
            </a:r>
            <a:endParaRPr lang="en-US" sz="1300" dirty="0"/>
          </a:p>
        </p:txBody>
      </p:sp>
      <p:sp>
        <p:nvSpPr>
          <p:cNvPr id="43" name="Text 38"/>
          <p:cNvSpPr txBox="1"/>
          <p:nvPr/>
        </p:nvSpPr>
        <p:spPr>
          <a:xfrm>
            <a:off x="8412480" y="2852928"/>
            <a:ext cx="3108960" cy="30632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Health and readiness probes outside the rate limiter.</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Request-id correlation through the stack and persisted error records.</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Graceful shutdown with a 25 second drain budget; background sweeps for photo TTL and account deletion grace.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Production refuses to boot on dev secrets [3].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25</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22  RESILIENT, BOUNDED, BILLED HONESTLY</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AI gateway and safety pipeline</a:t>
            </a:r>
            <a:endParaRPr lang="en-US" sz="2800" dirty="0"/>
          </a:p>
        </p:txBody>
      </p:sp>
      <p:sp>
        <p:nvSpPr>
          <p:cNvPr id="6" name="Shape 4"/>
          <p:cNvSpPr/>
          <p:nvPr/>
        </p:nvSpPr>
        <p:spPr>
          <a:xfrm>
            <a:off x="640080" y="1371600"/>
            <a:ext cx="1280160" cy="457200"/>
          </a:xfrm>
          <a:prstGeom prst="roundRect">
            <a:avLst>
              <a:gd name="adj" fmla="val 16000"/>
            </a:avLst>
          </a:prstGeom>
          <a:solidFill>
            <a:srgbClr val="1C2C34"/>
          </a:solidFill>
          <a:ln w="9525">
            <a:solidFill>
              <a:srgbClr val="263841"/>
            </a:solidFill>
            <a:prstDash val="solid"/>
          </a:ln>
        </p:spPr>
      </p:sp>
      <p:sp>
        <p:nvSpPr>
          <p:cNvPr id="7" name="Text 5"/>
          <p:cNvSpPr txBox="1"/>
          <p:nvPr/>
        </p:nvSpPr>
        <p:spPr>
          <a:xfrm>
            <a:off x="713232" y="1371600"/>
            <a:ext cx="1133856" cy="45720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visionPrimary</a:t>
            </a:r>
            <a:endParaRPr lang="en-US" sz="950" dirty="0"/>
          </a:p>
        </p:txBody>
      </p:sp>
      <p:sp>
        <p:nvSpPr>
          <p:cNvPr id="8" name="Shape 6"/>
          <p:cNvSpPr/>
          <p:nvPr/>
        </p:nvSpPr>
        <p:spPr>
          <a:xfrm>
            <a:off x="2011680" y="1371600"/>
            <a:ext cx="1280160" cy="457200"/>
          </a:xfrm>
          <a:prstGeom prst="roundRect">
            <a:avLst>
              <a:gd name="adj" fmla="val 16000"/>
            </a:avLst>
          </a:prstGeom>
          <a:solidFill>
            <a:srgbClr val="1C2C34"/>
          </a:solidFill>
          <a:ln w="9525">
            <a:solidFill>
              <a:srgbClr val="263841"/>
            </a:solidFill>
            <a:prstDash val="solid"/>
          </a:ln>
        </p:spPr>
      </p:sp>
      <p:sp>
        <p:nvSpPr>
          <p:cNvPr id="9" name="Text 7"/>
          <p:cNvSpPr txBox="1"/>
          <p:nvPr/>
        </p:nvSpPr>
        <p:spPr>
          <a:xfrm>
            <a:off x="2084832" y="1371600"/>
            <a:ext cx="1133856" cy="45720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chatFast</a:t>
            </a:r>
            <a:endParaRPr lang="en-US" sz="950" dirty="0"/>
          </a:p>
        </p:txBody>
      </p:sp>
      <p:sp>
        <p:nvSpPr>
          <p:cNvPr id="10" name="Shape 8"/>
          <p:cNvSpPr/>
          <p:nvPr/>
        </p:nvSpPr>
        <p:spPr>
          <a:xfrm>
            <a:off x="3383280" y="1371600"/>
            <a:ext cx="1280160" cy="457200"/>
          </a:xfrm>
          <a:prstGeom prst="roundRect">
            <a:avLst>
              <a:gd name="adj" fmla="val 16000"/>
            </a:avLst>
          </a:prstGeom>
          <a:solidFill>
            <a:srgbClr val="1C2C34"/>
          </a:solidFill>
          <a:ln w="9525">
            <a:solidFill>
              <a:srgbClr val="263841"/>
            </a:solidFill>
            <a:prstDash val="solid"/>
          </a:ln>
        </p:spPr>
      </p:sp>
      <p:sp>
        <p:nvSpPr>
          <p:cNvPr id="11" name="Text 9"/>
          <p:cNvSpPr txBox="1"/>
          <p:nvPr/>
        </p:nvSpPr>
        <p:spPr>
          <a:xfrm>
            <a:off x="3456432" y="1371600"/>
            <a:ext cx="1133856" cy="45720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planStructured</a:t>
            </a:r>
            <a:endParaRPr lang="en-US" sz="950" dirty="0"/>
          </a:p>
        </p:txBody>
      </p:sp>
      <p:sp>
        <p:nvSpPr>
          <p:cNvPr id="12" name="Shape 10"/>
          <p:cNvSpPr/>
          <p:nvPr/>
        </p:nvSpPr>
        <p:spPr>
          <a:xfrm>
            <a:off x="4754880" y="1371600"/>
            <a:ext cx="1280160" cy="457200"/>
          </a:xfrm>
          <a:prstGeom prst="roundRect">
            <a:avLst>
              <a:gd name="adj" fmla="val 16000"/>
            </a:avLst>
          </a:prstGeom>
          <a:solidFill>
            <a:srgbClr val="1C2C34"/>
          </a:solidFill>
          <a:ln w="9525">
            <a:solidFill>
              <a:srgbClr val="263841"/>
            </a:solidFill>
            <a:prstDash val="solid"/>
          </a:ln>
        </p:spPr>
      </p:sp>
      <p:sp>
        <p:nvSpPr>
          <p:cNvPr id="13" name="Text 11"/>
          <p:cNvSpPr txBox="1"/>
          <p:nvPr/>
        </p:nvSpPr>
        <p:spPr>
          <a:xfrm>
            <a:off x="4828032" y="1371600"/>
            <a:ext cx="1133856" cy="45720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safetyCheap</a:t>
            </a:r>
            <a:endParaRPr lang="en-US" sz="950" dirty="0"/>
          </a:p>
        </p:txBody>
      </p:sp>
      <p:sp>
        <p:nvSpPr>
          <p:cNvPr id="14" name="Shape 12"/>
          <p:cNvSpPr/>
          <p:nvPr/>
        </p:nvSpPr>
        <p:spPr>
          <a:xfrm>
            <a:off x="6126480" y="1371600"/>
            <a:ext cx="1280160" cy="457200"/>
          </a:xfrm>
          <a:prstGeom prst="roundRect">
            <a:avLst>
              <a:gd name="adj" fmla="val 16000"/>
            </a:avLst>
          </a:prstGeom>
          <a:solidFill>
            <a:srgbClr val="1C2C34"/>
          </a:solidFill>
          <a:ln w="9525">
            <a:solidFill>
              <a:srgbClr val="263841"/>
            </a:solidFill>
            <a:prstDash val="solid"/>
          </a:ln>
        </p:spPr>
      </p:sp>
      <p:sp>
        <p:nvSpPr>
          <p:cNvPr id="15" name="Text 13"/>
          <p:cNvSpPr txBox="1"/>
          <p:nvPr/>
        </p:nvSpPr>
        <p:spPr>
          <a:xfrm>
            <a:off x="6199632" y="1371600"/>
            <a:ext cx="1133856" cy="457200"/>
          </a:xfrm>
          <a:prstGeom prst="rect">
            <a:avLst/>
          </a:prstGeom>
          <a:noFill/>
          <a:ln/>
        </p:spPr>
        <p:txBody>
          <a:bodyPr wrap="square" lIns="0" tIns="0" rIns="0" bIns="0" rtlCol="0" anchor="ctr"/>
          <a:lstStyle/>
          <a:p>
            <a:pPr algn="ctr" indent="0" marL="0">
              <a:buNone/>
            </a:pPr>
            <a:r>
              <a:rPr lang="en-US" sz="950" dirty="0">
                <a:solidFill>
                  <a:srgbClr val="E8F0F2"/>
                </a:solidFill>
                <a:latin typeface="Arial" pitchFamily="34" charset="0"/>
                <a:ea typeface="Arial" pitchFamily="34" charset="-122"/>
                <a:cs typeface="Arial" pitchFamily="34" charset="-120"/>
              </a:rPr>
              <a:t>insightBatch</a:t>
            </a:r>
            <a:endParaRPr lang="en-US" sz="950" dirty="0"/>
          </a:p>
        </p:txBody>
      </p:sp>
      <p:sp>
        <p:nvSpPr>
          <p:cNvPr id="16" name="Text 14"/>
          <p:cNvSpPr txBox="1"/>
          <p:nvPr/>
        </p:nvSpPr>
        <p:spPr>
          <a:xfrm>
            <a:off x="640080" y="1874520"/>
            <a:ext cx="6766560" cy="274320"/>
          </a:xfrm>
          <a:prstGeom prst="rect">
            <a:avLst/>
          </a:prstGeom>
          <a:noFill/>
          <a:ln/>
        </p:spPr>
        <p:txBody>
          <a:bodyPr wrap="square" lIns="0" tIns="0" rIns="0" bIns="0" rtlCol="0" anchor="t"/>
          <a:lstStyle/>
          <a:p>
            <a:pPr algn="l" indent="0" marL="0">
              <a:buNone/>
            </a:pPr>
            <a:r>
              <a:rPr lang="en-US" sz="950" dirty="0">
                <a:solidFill>
                  <a:srgbClr val="9DB2BA"/>
                </a:solidFill>
                <a:latin typeface="Arial" pitchFamily="34" charset="0"/>
                <a:ea typeface="Arial" pitchFamily="34" charset="-122"/>
                <a:cs typeface="Arial" pitchFamily="34" charset="-120"/>
              </a:rPr>
              <a:t>Application code names only these logical lanes; providers, timeouts and fallbacks live in one file.</a:t>
            </a:r>
            <a:endParaRPr lang="en-US" sz="950" dirty="0"/>
          </a:p>
        </p:txBody>
      </p:sp>
      <p:sp>
        <p:nvSpPr>
          <p:cNvPr id="17" name="Shape 15"/>
          <p:cNvSpPr/>
          <p:nvPr/>
        </p:nvSpPr>
        <p:spPr>
          <a:xfrm>
            <a:off x="640080" y="2286000"/>
            <a:ext cx="1051560" cy="457200"/>
          </a:xfrm>
          <a:prstGeom prst="roundRect">
            <a:avLst>
              <a:gd name="adj" fmla="val 16000"/>
            </a:avLst>
          </a:prstGeom>
          <a:solidFill>
            <a:srgbClr val="1C2C34"/>
          </a:solidFill>
          <a:ln w="9525">
            <a:solidFill>
              <a:srgbClr val="263841"/>
            </a:solidFill>
            <a:prstDash val="solid"/>
          </a:ln>
        </p:spPr>
      </p:sp>
      <p:sp>
        <p:nvSpPr>
          <p:cNvPr id="18" name="Text 16"/>
          <p:cNvSpPr txBox="1"/>
          <p:nvPr/>
        </p:nvSpPr>
        <p:spPr>
          <a:xfrm>
            <a:off x="713232" y="2286000"/>
            <a:ext cx="905256" cy="457200"/>
          </a:xfrm>
          <a:prstGeom prst="rect">
            <a:avLst/>
          </a:prstGeom>
          <a:noFill/>
          <a:ln/>
        </p:spPr>
        <p:txBody>
          <a:bodyPr wrap="square" lIns="0" tIns="0" rIns="0" bIns="0" rtlCol="0" anchor="ctr"/>
          <a:lstStyle/>
          <a:p>
            <a:pPr algn="ctr" indent="0" marL="0">
              <a:buNone/>
            </a:pPr>
            <a:r>
              <a:rPr lang="en-US" sz="900" dirty="0">
                <a:solidFill>
                  <a:srgbClr val="E8F0F2"/>
                </a:solidFill>
                <a:latin typeface="Arial" pitchFamily="34" charset="0"/>
                <a:ea typeface="Arial" pitchFamily="34" charset="-122"/>
                <a:cs typeface="Arial" pitchFamily="34" charset="-120"/>
              </a:rPr>
              <a:t>Groq</a:t>
            </a:r>
            <a:endParaRPr lang="en-US" sz="900" dirty="0"/>
          </a:p>
        </p:txBody>
      </p:sp>
      <p:sp>
        <p:nvSpPr>
          <p:cNvPr id="19" name="Shape 17"/>
          <p:cNvSpPr/>
          <p:nvPr/>
        </p:nvSpPr>
        <p:spPr>
          <a:xfrm>
            <a:off x="1700784" y="2514600"/>
            <a:ext cx="82296" cy="0"/>
          </a:xfrm>
          <a:prstGeom prst="line">
            <a:avLst/>
          </a:prstGeom>
          <a:noFill/>
          <a:ln w="19050">
            <a:solidFill>
              <a:srgbClr val="2FD9F4"/>
            </a:solidFill>
            <a:prstDash val="solid"/>
            <a:tailEnd type="triangle"/>
          </a:ln>
        </p:spPr>
      </p:sp>
      <p:sp>
        <p:nvSpPr>
          <p:cNvPr id="20" name="Shape 18"/>
          <p:cNvSpPr/>
          <p:nvPr/>
        </p:nvSpPr>
        <p:spPr>
          <a:xfrm>
            <a:off x="1783080" y="2286000"/>
            <a:ext cx="1051560" cy="457200"/>
          </a:xfrm>
          <a:prstGeom prst="roundRect">
            <a:avLst>
              <a:gd name="adj" fmla="val 16000"/>
            </a:avLst>
          </a:prstGeom>
          <a:solidFill>
            <a:srgbClr val="1C2C34"/>
          </a:solidFill>
          <a:ln w="9525">
            <a:solidFill>
              <a:srgbClr val="263841"/>
            </a:solidFill>
            <a:prstDash val="solid"/>
          </a:ln>
        </p:spPr>
      </p:sp>
      <p:sp>
        <p:nvSpPr>
          <p:cNvPr id="21" name="Text 19"/>
          <p:cNvSpPr txBox="1"/>
          <p:nvPr/>
        </p:nvSpPr>
        <p:spPr>
          <a:xfrm>
            <a:off x="1856232" y="2286000"/>
            <a:ext cx="905256" cy="457200"/>
          </a:xfrm>
          <a:prstGeom prst="rect">
            <a:avLst/>
          </a:prstGeom>
          <a:noFill/>
          <a:ln/>
        </p:spPr>
        <p:txBody>
          <a:bodyPr wrap="square" lIns="0" tIns="0" rIns="0" bIns="0" rtlCol="0" anchor="ctr"/>
          <a:lstStyle/>
          <a:p>
            <a:pPr algn="ctr" indent="0" marL="0">
              <a:buNone/>
            </a:pPr>
            <a:r>
              <a:rPr lang="en-US" sz="900" dirty="0">
                <a:solidFill>
                  <a:srgbClr val="E8F0F2"/>
                </a:solidFill>
                <a:latin typeface="Arial" pitchFamily="34" charset="0"/>
                <a:ea typeface="Arial" pitchFamily="34" charset="-122"/>
                <a:cs typeface="Arial" pitchFamily="34" charset="-120"/>
              </a:rPr>
              <a:t>OpenAI</a:t>
            </a:r>
            <a:endParaRPr lang="en-US" sz="900" dirty="0"/>
          </a:p>
        </p:txBody>
      </p:sp>
      <p:sp>
        <p:nvSpPr>
          <p:cNvPr id="22" name="Shape 20"/>
          <p:cNvSpPr/>
          <p:nvPr/>
        </p:nvSpPr>
        <p:spPr>
          <a:xfrm>
            <a:off x="2843784" y="2514600"/>
            <a:ext cx="82296" cy="0"/>
          </a:xfrm>
          <a:prstGeom prst="line">
            <a:avLst/>
          </a:prstGeom>
          <a:noFill/>
          <a:ln w="19050">
            <a:solidFill>
              <a:srgbClr val="2FD9F4"/>
            </a:solidFill>
            <a:prstDash val="solid"/>
            <a:tailEnd type="triangle"/>
          </a:ln>
        </p:spPr>
      </p:sp>
      <p:sp>
        <p:nvSpPr>
          <p:cNvPr id="23" name="Shape 21"/>
          <p:cNvSpPr/>
          <p:nvPr/>
        </p:nvSpPr>
        <p:spPr>
          <a:xfrm>
            <a:off x="2926080" y="2286000"/>
            <a:ext cx="1051560" cy="457200"/>
          </a:xfrm>
          <a:prstGeom prst="roundRect">
            <a:avLst>
              <a:gd name="adj" fmla="val 16000"/>
            </a:avLst>
          </a:prstGeom>
          <a:solidFill>
            <a:srgbClr val="1C2C34"/>
          </a:solidFill>
          <a:ln w="9525">
            <a:solidFill>
              <a:srgbClr val="263841"/>
            </a:solidFill>
            <a:prstDash val="solid"/>
          </a:ln>
        </p:spPr>
      </p:sp>
      <p:sp>
        <p:nvSpPr>
          <p:cNvPr id="24" name="Text 22"/>
          <p:cNvSpPr txBox="1"/>
          <p:nvPr/>
        </p:nvSpPr>
        <p:spPr>
          <a:xfrm>
            <a:off x="2999232" y="2286000"/>
            <a:ext cx="905256" cy="457200"/>
          </a:xfrm>
          <a:prstGeom prst="rect">
            <a:avLst/>
          </a:prstGeom>
          <a:noFill/>
          <a:ln/>
        </p:spPr>
        <p:txBody>
          <a:bodyPr wrap="square" lIns="0" tIns="0" rIns="0" bIns="0" rtlCol="0" anchor="ctr"/>
          <a:lstStyle/>
          <a:p>
            <a:pPr algn="ctr" indent="0" marL="0">
              <a:buNone/>
            </a:pPr>
            <a:r>
              <a:rPr lang="en-US" sz="900" dirty="0">
                <a:solidFill>
                  <a:srgbClr val="E8F0F2"/>
                </a:solidFill>
                <a:latin typeface="Arial" pitchFamily="34" charset="0"/>
                <a:ea typeface="Arial" pitchFamily="34" charset="-122"/>
                <a:cs typeface="Arial" pitchFamily="34" charset="-120"/>
              </a:rPr>
              <a:t>Gemini</a:t>
            </a:r>
            <a:endParaRPr lang="en-US" sz="900" dirty="0"/>
          </a:p>
        </p:txBody>
      </p:sp>
      <p:sp>
        <p:nvSpPr>
          <p:cNvPr id="25" name="Shape 23"/>
          <p:cNvSpPr/>
          <p:nvPr/>
        </p:nvSpPr>
        <p:spPr>
          <a:xfrm>
            <a:off x="3986784" y="2514600"/>
            <a:ext cx="82296" cy="0"/>
          </a:xfrm>
          <a:prstGeom prst="line">
            <a:avLst/>
          </a:prstGeom>
          <a:noFill/>
          <a:ln w="19050">
            <a:solidFill>
              <a:srgbClr val="2FD9F4"/>
            </a:solidFill>
            <a:prstDash val="solid"/>
            <a:tailEnd type="triangle"/>
          </a:ln>
        </p:spPr>
      </p:sp>
      <p:sp>
        <p:nvSpPr>
          <p:cNvPr id="26" name="Shape 24"/>
          <p:cNvSpPr/>
          <p:nvPr/>
        </p:nvSpPr>
        <p:spPr>
          <a:xfrm>
            <a:off x="4069080" y="2286000"/>
            <a:ext cx="1051560" cy="457200"/>
          </a:xfrm>
          <a:prstGeom prst="roundRect">
            <a:avLst>
              <a:gd name="adj" fmla="val 16000"/>
            </a:avLst>
          </a:prstGeom>
          <a:solidFill>
            <a:srgbClr val="1C2C34"/>
          </a:solidFill>
          <a:ln w="9525">
            <a:solidFill>
              <a:srgbClr val="263841"/>
            </a:solidFill>
            <a:prstDash val="solid"/>
          </a:ln>
        </p:spPr>
      </p:sp>
      <p:sp>
        <p:nvSpPr>
          <p:cNvPr id="27" name="Text 25"/>
          <p:cNvSpPr txBox="1"/>
          <p:nvPr/>
        </p:nvSpPr>
        <p:spPr>
          <a:xfrm>
            <a:off x="4142232" y="2286000"/>
            <a:ext cx="905256" cy="457200"/>
          </a:xfrm>
          <a:prstGeom prst="rect">
            <a:avLst/>
          </a:prstGeom>
          <a:noFill/>
          <a:ln/>
        </p:spPr>
        <p:txBody>
          <a:bodyPr wrap="square" lIns="0" tIns="0" rIns="0" bIns="0" rtlCol="0" anchor="ctr"/>
          <a:lstStyle/>
          <a:p>
            <a:pPr algn="ctr" indent="0" marL="0">
              <a:buNone/>
            </a:pPr>
            <a:r>
              <a:rPr lang="en-US" sz="900" dirty="0">
                <a:solidFill>
                  <a:srgbClr val="E8F0F2"/>
                </a:solidFill>
                <a:latin typeface="Arial" pitchFamily="34" charset="0"/>
                <a:ea typeface="Arial" pitchFamily="34" charset="-122"/>
                <a:cs typeface="Arial" pitchFamily="34" charset="-120"/>
              </a:rPr>
              <a:t>NVIDIA NIM</a:t>
            </a:r>
            <a:endParaRPr lang="en-US" sz="900" dirty="0"/>
          </a:p>
        </p:txBody>
      </p:sp>
      <p:sp>
        <p:nvSpPr>
          <p:cNvPr id="28" name="Shape 26"/>
          <p:cNvSpPr/>
          <p:nvPr/>
        </p:nvSpPr>
        <p:spPr>
          <a:xfrm>
            <a:off x="5129784" y="2514600"/>
            <a:ext cx="82296" cy="0"/>
          </a:xfrm>
          <a:prstGeom prst="line">
            <a:avLst/>
          </a:prstGeom>
          <a:noFill/>
          <a:ln w="19050">
            <a:solidFill>
              <a:srgbClr val="2FD9F4"/>
            </a:solidFill>
            <a:prstDash val="solid"/>
            <a:tailEnd type="triangle"/>
          </a:ln>
        </p:spPr>
      </p:sp>
      <p:sp>
        <p:nvSpPr>
          <p:cNvPr id="29" name="Shape 27"/>
          <p:cNvSpPr/>
          <p:nvPr/>
        </p:nvSpPr>
        <p:spPr>
          <a:xfrm>
            <a:off x="5212080" y="2286000"/>
            <a:ext cx="1051560" cy="457200"/>
          </a:xfrm>
          <a:prstGeom prst="roundRect">
            <a:avLst>
              <a:gd name="adj" fmla="val 16000"/>
            </a:avLst>
          </a:prstGeom>
          <a:solidFill>
            <a:srgbClr val="1C2C34"/>
          </a:solidFill>
          <a:ln w="9525">
            <a:solidFill>
              <a:srgbClr val="263841"/>
            </a:solidFill>
            <a:prstDash val="solid"/>
          </a:ln>
        </p:spPr>
      </p:sp>
      <p:sp>
        <p:nvSpPr>
          <p:cNvPr id="30" name="Text 28"/>
          <p:cNvSpPr txBox="1"/>
          <p:nvPr/>
        </p:nvSpPr>
        <p:spPr>
          <a:xfrm>
            <a:off x="5285232" y="2286000"/>
            <a:ext cx="905256" cy="457200"/>
          </a:xfrm>
          <a:prstGeom prst="rect">
            <a:avLst/>
          </a:prstGeom>
          <a:noFill/>
          <a:ln/>
        </p:spPr>
        <p:txBody>
          <a:bodyPr wrap="square" lIns="0" tIns="0" rIns="0" bIns="0" rtlCol="0" anchor="ctr"/>
          <a:lstStyle/>
          <a:p>
            <a:pPr algn="ctr" indent="0" marL="0">
              <a:buNone/>
            </a:pPr>
            <a:r>
              <a:rPr lang="en-US" sz="900" dirty="0">
                <a:solidFill>
                  <a:srgbClr val="E8F0F2"/>
                </a:solidFill>
                <a:latin typeface="Arial" pitchFamily="34" charset="0"/>
                <a:ea typeface="Arial" pitchFamily="34" charset="-122"/>
                <a:cs typeface="Arial" pitchFamily="34" charset="-120"/>
              </a:rPr>
              <a:t>Ollama</a:t>
            </a:r>
            <a:endParaRPr lang="en-US" sz="900" dirty="0"/>
          </a:p>
        </p:txBody>
      </p:sp>
      <p:sp>
        <p:nvSpPr>
          <p:cNvPr id="31" name="Shape 29"/>
          <p:cNvSpPr/>
          <p:nvPr/>
        </p:nvSpPr>
        <p:spPr>
          <a:xfrm>
            <a:off x="6272784" y="2514600"/>
            <a:ext cx="82296" cy="0"/>
          </a:xfrm>
          <a:prstGeom prst="line">
            <a:avLst/>
          </a:prstGeom>
          <a:noFill/>
          <a:ln w="19050">
            <a:solidFill>
              <a:srgbClr val="2FD9F4"/>
            </a:solidFill>
            <a:prstDash val="solid"/>
            <a:tailEnd type="triangle"/>
          </a:ln>
        </p:spPr>
      </p:sp>
      <p:sp>
        <p:nvSpPr>
          <p:cNvPr id="32" name="Shape 30"/>
          <p:cNvSpPr/>
          <p:nvPr/>
        </p:nvSpPr>
        <p:spPr>
          <a:xfrm>
            <a:off x="6355080" y="2286000"/>
            <a:ext cx="1051560" cy="457200"/>
          </a:xfrm>
          <a:prstGeom prst="roundRect">
            <a:avLst>
              <a:gd name="adj" fmla="val 16000"/>
            </a:avLst>
          </a:prstGeom>
          <a:solidFill>
            <a:srgbClr val="1E3A2E"/>
          </a:solidFill>
          <a:ln w="9525">
            <a:solidFill>
              <a:srgbClr val="45DFA4"/>
            </a:solidFill>
            <a:prstDash val="solid"/>
          </a:ln>
        </p:spPr>
      </p:sp>
      <p:sp>
        <p:nvSpPr>
          <p:cNvPr id="33" name="Text 31"/>
          <p:cNvSpPr txBox="1"/>
          <p:nvPr/>
        </p:nvSpPr>
        <p:spPr>
          <a:xfrm>
            <a:off x="6428232" y="2286000"/>
            <a:ext cx="905256" cy="457200"/>
          </a:xfrm>
          <a:prstGeom prst="rect">
            <a:avLst/>
          </a:prstGeom>
          <a:noFill/>
          <a:ln/>
        </p:spPr>
        <p:txBody>
          <a:bodyPr wrap="square" lIns="0" tIns="0" rIns="0" bIns="0" rtlCol="0" anchor="ctr"/>
          <a:lstStyle/>
          <a:p>
            <a:pPr algn="ctr" indent="0" marL="0">
              <a:buNone/>
            </a:pPr>
            <a:r>
              <a:rPr lang="en-US" sz="900" dirty="0">
                <a:solidFill>
                  <a:srgbClr val="E8F0F2"/>
                </a:solidFill>
                <a:latin typeface="Arial" pitchFamily="34" charset="0"/>
                <a:ea typeface="Arial" pitchFamily="34" charset="-122"/>
                <a:cs typeface="Arial" pitchFamily="34" charset="-120"/>
              </a:rPr>
              <a:t>Deterministic mock</a:t>
            </a:r>
            <a:endParaRPr lang="en-US" sz="900" dirty="0"/>
          </a:p>
        </p:txBody>
      </p:sp>
      <p:sp>
        <p:nvSpPr>
          <p:cNvPr id="34" name="Text 32"/>
          <p:cNvSpPr txBox="1"/>
          <p:nvPr/>
        </p:nvSpPr>
        <p:spPr>
          <a:xfrm>
            <a:off x="640080" y="2788920"/>
            <a:ext cx="6766560" cy="274320"/>
          </a:xfrm>
          <a:prstGeom prst="rect">
            <a:avLst/>
          </a:prstGeom>
          <a:noFill/>
          <a:ln/>
        </p:spPr>
        <p:txBody>
          <a:bodyPr wrap="square" lIns="0" tIns="0" rIns="0" bIns="0" rtlCol="0" anchor="t"/>
          <a:lstStyle/>
          <a:p>
            <a:pPr algn="l" indent="0" marL="0">
              <a:buNone/>
            </a:pPr>
            <a:r>
              <a:rPr lang="en-US" sz="950" dirty="0">
                <a:solidFill>
                  <a:srgbClr val="9DB2BA"/>
                </a:solidFill>
                <a:latin typeface="Arial" pitchFamily="34" charset="0"/>
                <a:ea typeface="Arial" pitchFamily="34" charset="-122"/>
                <a:cs typeface="Arial" pitchFamily="34" charset="-120"/>
              </a:rPr>
              <a:t>Ordered fallback chain: retries with jittered backoff, a per-provider circuit breaker, one overall deadline, and a degraded flag when only the mock answered.</a:t>
            </a:r>
            <a:endParaRPr lang="en-US" sz="950" dirty="0"/>
          </a:p>
        </p:txBody>
      </p:sp>
      <p:sp>
        <p:nvSpPr>
          <p:cNvPr id="35" name="Shape 33"/>
          <p:cNvSpPr/>
          <p:nvPr/>
        </p:nvSpPr>
        <p:spPr>
          <a:xfrm>
            <a:off x="640080" y="3337560"/>
            <a:ext cx="3291840" cy="2697480"/>
          </a:xfrm>
          <a:prstGeom prst="roundRect">
            <a:avLst>
              <a:gd name="adj" fmla="val 4068"/>
            </a:avLst>
          </a:prstGeom>
          <a:solidFill>
            <a:srgbClr val="16232A"/>
          </a:solidFill>
          <a:ln w="9525">
            <a:solidFill>
              <a:srgbClr val="263841"/>
            </a:solidFill>
            <a:prstDash val="solid"/>
          </a:ln>
        </p:spPr>
      </p:sp>
      <p:sp>
        <p:nvSpPr>
          <p:cNvPr id="36" name="Shape 34"/>
          <p:cNvSpPr/>
          <p:nvPr/>
        </p:nvSpPr>
        <p:spPr>
          <a:xfrm>
            <a:off x="822960" y="3520440"/>
            <a:ext cx="457200" cy="457200"/>
          </a:xfrm>
          <a:prstGeom prst="ellipse">
            <a:avLst/>
          </a:prstGeom>
          <a:solidFill>
            <a:srgbClr val="0A1013"/>
          </a:solidFill>
          <a:ln w="6350">
            <a:solidFill>
              <a:srgbClr val="263841"/>
            </a:solidFill>
            <a:prstDash val="solid"/>
          </a:ln>
        </p:spPr>
      </p:sp>
      <p:pic>
        <p:nvPicPr>
          <p:cNvPr id="37" name="Image 0" descr="preencoded.png">    </p:cNvPr>
          <p:cNvPicPr>
            <a:picLocks noChangeAspect="1"/>
          </p:cNvPicPr>
          <p:nvPr/>
        </p:nvPicPr>
        <p:blipFill>
          <a:blip r:embed="rId1"/>
          <a:stretch>
            <a:fillRect/>
          </a:stretch>
        </p:blipFill>
        <p:spPr>
          <a:xfrm>
            <a:off x="914400" y="3611880"/>
            <a:ext cx="274320" cy="274320"/>
          </a:xfrm>
          <a:prstGeom prst="rect">
            <a:avLst/>
          </a:prstGeom>
        </p:spPr>
      </p:pic>
      <p:sp>
        <p:nvSpPr>
          <p:cNvPr id="38" name="Text 35"/>
          <p:cNvSpPr txBox="1"/>
          <p:nvPr/>
        </p:nvSpPr>
        <p:spPr>
          <a:xfrm>
            <a:off x="1417320" y="3502152"/>
            <a:ext cx="23317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Two-stage classifier</a:t>
            </a:r>
            <a:endParaRPr lang="en-US" sz="1300" dirty="0"/>
          </a:p>
        </p:txBody>
      </p:sp>
      <p:sp>
        <p:nvSpPr>
          <p:cNvPr id="39" name="Text 36"/>
          <p:cNvSpPr txBox="1"/>
          <p:nvPr/>
        </p:nvSpPr>
        <p:spPr>
          <a:xfrm>
            <a:off x="822960" y="3995928"/>
            <a:ext cx="2926080" cy="19202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Stage one is deterministic pattern matching in code on both input and output.</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Priority: crisis, then medical, then extreme diet, then out of scope [5].</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498 evaluation cases gate the pipeline: 50 assistant, 319 plan, 129 recommendation.</a:t>
            </a:r>
            <a:endParaRPr lang="en-US" sz="1000" dirty="0"/>
          </a:p>
        </p:txBody>
      </p:sp>
      <p:sp>
        <p:nvSpPr>
          <p:cNvPr id="40" name="Shape 37"/>
          <p:cNvSpPr/>
          <p:nvPr/>
        </p:nvSpPr>
        <p:spPr>
          <a:xfrm>
            <a:off x="4114800" y="3337560"/>
            <a:ext cx="3291840" cy="2697480"/>
          </a:xfrm>
          <a:prstGeom prst="roundRect">
            <a:avLst>
              <a:gd name="adj" fmla="val 4068"/>
            </a:avLst>
          </a:prstGeom>
          <a:solidFill>
            <a:srgbClr val="16232A"/>
          </a:solidFill>
          <a:ln w="9525">
            <a:solidFill>
              <a:srgbClr val="263841"/>
            </a:solidFill>
            <a:prstDash val="solid"/>
          </a:ln>
        </p:spPr>
      </p:sp>
      <p:sp>
        <p:nvSpPr>
          <p:cNvPr id="41" name="Shape 38"/>
          <p:cNvSpPr/>
          <p:nvPr/>
        </p:nvSpPr>
        <p:spPr>
          <a:xfrm>
            <a:off x="4297680" y="3520440"/>
            <a:ext cx="457200" cy="457200"/>
          </a:xfrm>
          <a:prstGeom prst="ellipse">
            <a:avLst/>
          </a:prstGeom>
          <a:solidFill>
            <a:srgbClr val="0A1013"/>
          </a:solidFill>
          <a:ln w="6350">
            <a:solidFill>
              <a:srgbClr val="263841"/>
            </a:solidFill>
            <a:prstDash val="solid"/>
          </a:ln>
        </p:spPr>
      </p:sp>
      <p:pic>
        <p:nvPicPr>
          <p:cNvPr id="42" name="Image 1" descr="preencoded.png">    </p:cNvPr>
          <p:cNvPicPr>
            <a:picLocks noChangeAspect="1"/>
          </p:cNvPicPr>
          <p:nvPr/>
        </p:nvPicPr>
        <p:blipFill>
          <a:blip r:embed="rId2"/>
          <a:stretch>
            <a:fillRect/>
          </a:stretch>
        </p:blipFill>
        <p:spPr>
          <a:xfrm>
            <a:off x="4389120" y="3611880"/>
            <a:ext cx="274320" cy="274320"/>
          </a:xfrm>
          <a:prstGeom prst="rect">
            <a:avLst/>
          </a:prstGeom>
        </p:spPr>
      </p:pic>
      <p:sp>
        <p:nvSpPr>
          <p:cNvPr id="43" name="Text 39"/>
          <p:cNvSpPr txBox="1"/>
          <p:nvPr/>
        </p:nvSpPr>
        <p:spPr>
          <a:xfrm>
            <a:off x="4892040" y="3502152"/>
            <a:ext cx="23317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Credit ledger</a:t>
            </a:r>
            <a:endParaRPr lang="en-US" sz="1300" dirty="0"/>
          </a:p>
        </p:txBody>
      </p:sp>
      <p:sp>
        <p:nvSpPr>
          <p:cNvPr id="44" name="Text 40"/>
          <p:cNvSpPr txBox="1"/>
          <p:nvPr/>
        </p:nvSpPr>
        <p:spPr>
          <a:xfrm>
            <a:off x="4297680" y="3995928"/>
            <a:ext cx="2926080" cy="19202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Append-only; the balance is a fold over transactions, never a mutable counter.</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Reserve before work, commit after, release on failure, so a crashed job returns its hold.</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Free tier 10 credits a day, premium 150, banked to a cap.</a:t>
            </a:r>
            <a:endParaRPr lang="en-US" sz="1000" dirty="0"/>
          </a:p>
        </p:txBody>
      </p:sp>
      <p:sp>
        <p:nvSpPr>
          <p:cNvPr id="45" name="Shape 41"/>
          <p:cNvSpPr/>
          <p:nvPr/>
        </p:nvSpPr>
        <p:spPr>
          <a:xfrm>
            <a:off x="7589520" y="1325880"/>
            <a:ext cx="4114800" cy="4709160"/>
          </a:xfrm>
          <a:prstGeom prst="roundRect">
            <a:avLst>
              <a:gd name="adj" fmla="val 2667"/>
            </a:avLst>
          </a:prstGeom>
          <a:solidFill>
            <a:srgbClr val="16232A"/>
          </a:solidFill>
          <a:ln w="9525">
            <a:solidFill>
              <a:srgbClr val="263841"/>
            </a:solidFill>
            <a:prstDash val="solid"/>
          </a:ln>
        </p:spPr>
      </p:sp>
      <p:sp>
        <p:nvSpPr>
          <p:cNvPr id="46" name="Shape 42"/>
          <p:cNvSpPr/>
          <p:nvPr/>
        </p:nvSpPr>
        <p:spPr>
          <a:xfrm>
            <a:off x="7772400" y="1508760"/>
            <a:ext cx="457200" cy="457200"/>
          </a:xfrm>
          <a:prstGeom prst="ellipse">
            <a:avLst/>
          </a:prstGeom>
          <a:solidFill>
            <a:srgbClr val="0A1013"/>
          </a:solidFill>
          <a:ln w="6350">
            <a:solidFill>
              <a:srgbClr val="263841"/>
            </a:solidFill>
            <a:prstDash val="solid"/>
          </a:ln>
        </p:spPr>
      </p:sp>
      <p:pic>
        <p:nvPicPr>
          <p:cNvPr id="47" name="Image 2" descr="preencoded.png">    </p:cNvPr>
          <p:cNvPicPr>
            <a:picLocks noChangeAspect="1"/>
          </p:cNvPicPr>
          <p:nvPr/>
        </p:nvPicPr>
        <p:blipFill>
          <a:blip r:embed="rId3"/>
          <a:stretch>
            <a:fillRect/>
          </a:stretch>
        </p:blipFill>
        <p:spPr>
          <a:xfrm>
            <a:off x="7863840" y="1600200"/>
            <a:ext cx="274320" cy="274320"/>
          </a:xfrm>
          <a:prstGeom prst="rect">
            <a:avLst/>
          </a:prstGeom>
        </p:spPr>
      </p:pic>
      <p:sp>
        <p:nvSpPr>
          <p:cNvPr id="48" name="Text 43"/>
          <p:cNvSpPr txBox="1"/>
          <p:nvPr/>
        </p:nvSpPr>
        <p:spPr>
          <a:xfrm>
            <a:off x="8366760" y="1490472"/>
            <a:ext cx="31546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What the model may and may not do</a:t>
            </a:r>
            <a:endParaRPr lang="en-US" sz="1300" dirty="0"/>
          </a:p>
        </p:txBody>
      </p:sp>
      <p:sp>
        <p:nvSpPr>
          <p:cNvPr id="49" name="Text 44"/>
          <p:cNvSpPr txBox="1"/>
          <p:nvPr/>
        </p:nvSpPr>
        <p:spPr>
          <a:xfrm>
            <a:off x="7772400" y="1984248"/>
            <a:ext cx="3749040" cy="39319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45DFA4"/>
                </a:solidFill>
                <a:latin typeface="Arial" pitchFamily="34" charset="0"/>
                <a:ea typeface="Arial" pitchFamily="34" charset="-122"/>
                <a:cs typeface="Arial" pitchFamily="34" charset="-120"/>
              </a:rPr>
              <a:t>May: identify foods, propose quantities, write a coaching sentence, summarise a week, suggest a swap.</a:t>
            </a:r>
            <a:endParaRPr lang="en-US" sz="1000" dirty="0"/>
          </a:p>
          <a:p>
            <a:pPr marL="152400" indent="-152400">
              <a:spcAft>
                <a:spcPts val="400"/>
              </a:spcAft>
              <a:buSzPct val="100000"/>
              <a:buChar char="•"/>
            </a:pPr>
            <a:r>
              <a:rPr lang="en-US" sz="1000" dirty="0">
                <a:solidFill>
                  <a:srgbClr val="FF5252"/>
                </a:solidFill>
                <a:latin typeface="Arial" pitchFamily="34" charset="0"/>
                <a:ea typeface="Arial" pitchFamily="34" charset="-122"/>
                <a:cs typeface="Arial" pitchFamily="34" charset="-120"/>
              </a:rPr>
              <a:t>May not: write a calorie figure, override a floor, choose an allergen exclusion, decide an entitlement, or answer a crisis message.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Every call, real or mock, is logged with its lane, provider and outcome.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Prompts are versioned files P-01 to P-12 at the repository root; changing one is a reviewed commit [3].</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Consent gates: personalisation and memory extraction never run for an account that has not opted in.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26</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23  TRUST</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Security, privacy and a deliberately lean permission set</a:t>
            </a:r>
            <a:endParaRPr lang="en-US" sz="2800" dirty="0"/>
          </a:p>
        </p:txBody>
      </p:sp>
      <p:sp>
        <p:nvSpPr>
          <p:cNvPr id="6" name="Shape 4"/>
          <p:cNvSpPr/>
          <p:nvPr/>
        </p:nvSpPr>
        <p:spPr>
          <a:xfrm>
            <a:off x="640080" y="1325880"/>
            <a:ext cx="2606040" cy="493776"/>
          </a:xfrm>
          <a:prstGeom prst="roundRect">
            <a:avLst>
              <a:gd name="adj" fmla="val 11111"/>
            </a:avLst>
          </a:prstGeom>
          <a:solidFill>
            <a:srgbClr val="16232A"/>
          </a:solidFill>
          <a:ln w="6350">
            <a:solidFill>
              <a:srgbClr val="263841"/>
            </a:solidFill>
            <a:prstDash val="solid"/>
          </a:ln>
        </p:spPr>
      </p:sp>
      <p:sp>
        <p:nvSpPr>
          <p:cNvPr id="7" name="Text 5"/>
          <p:cNvSpPr txBox="1"/>
          <p:nvPr/>
        </p:nvSpPr>
        <p:spPr>
          <a:xfrm>
            <a:off x="749808" y="1371600"/>
            <a:ext cx="242316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CAMERA</a:t>
            </a:r>
            <a:endParaRPr lang="en-US" sz="950" dirty="0"/>
          </a:p>
        </p:txBody>
      </p:sp>
      <p:sp>
        <p:nvSpPr>
          <p:cNvPr id="8" name="Text 6"/>
          <p:cNvSpPr txBox="1"/>
          <p:nvPr/>
        </p:nvSpPr>
        <p:spPr>
          <a:xfrm>
            <a:off x="749808" y="1581912"/>
            <a:ext cx="2423160" cy="228600"/>
          </a:xfrm>
          <a:prstGeom prst="rect">
            <a:avLst/>
          </a:prstGeom>
          <a:noFill/>
          <a:ln/>
        </p:spPr>
        <p:txBody>
          <a:bodyPr wrap="square" lIns="0" tIns="0" rIns="0" bIns="0" rtlCol="0" anchor="t"/>
          <a:lstStyle/>
          <a:p>
            <a:pPr algn="l" indent="0" marL="0">
              <a:buNone/>
            </a:pPr>
            <a:r>
              <a:rPr lang="en-US" sz="850" dirty="0">
                <a:solidFill>
                  <a:srgbClr val="9DB2BA"/>
                </a:solidFill>
                <a:latin typeface="Arial" pitchFamily="34" charset="0"/>
                <a:ea typeface="Arial" pitchFamily="34" charset="-122"/>
                <a:cs typeface="Arial" pitchFamily="34" charset="-120"/>
              </a:rPr>
              <a:t>meal and barcode capture</a:t>
            </a:r>
            <a:endParaRPr lang="en-US" sz="850" dirty="0"/>
          </a:p>
        </p:txBody>
      </p:sp>
      <p:sp>
        <p:nvSpPr>
          <p:cNvPr id="9" name="Shape 7"/>
          <p:cNvSpPr/>
          <p:nvPr/>
        </p:nvSpPr>
        <p:spPr>
          <a:xfrm>
            <a:off x="3383280" y="1325880"/>
            <a:ext cx="2606040" cy="493776"/>
          </a:xfrm>
          <a:prstGeom prst="roundRect">
            <a:avLst>
              <a:gd name="adj" fmla="val 11111"/>
            </a:avLst>
          </a:prstGeom>
          <a:solidFill>
            <a:srgbClr val="16232A"/>
          </a:solidFill>
          <a:ln w="6350">
            <a:solidFill>
              <a:srgbClr val="263841"/>
            </a:solidFill>
            <a:prstDash val="solid"/>
          </a:ln>
        </p:spPr>
      </p:sp>
      <p:sp>
        <p:nvSpPr>
          <p:cNvPr id="10" name="Text 8"/>
          <p:cNvSpPr txBox="1"/>
          <p:nvPr/>
        </p:nvSpPr>
        <p:spPr>
          <a:xfrm>
            <a:off x="3493008" y="1371600"/>
            <a:ext cx="242316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INTERNET</a:t>
            </a:r>
            <a:endParaRPr lang="en-US" sz="950" dirty="0"/>
          </a:p>
        </p:txBody>
      </p:sp>
      <p:sp>
        <p:nvSpPr>
          <p:cNvPr id="11" name="Text 9"/>
          <p:cNvSpPr txBox="1"/>
          <p:nvPr/>
        </p:nvSpPr>
        <p:spPr>
          <a:xfrm>
            <a:off x="3493008" y="1581912"/>
            <a:ext cx="2423160" cy="228600"/>
          </a:xfrm>
          <a:prstGeom prst="rect">
            <a:avLst/>
          </a:prstGeom>
          <a:noFill/>
          <a:ln/>
        </p:spPr>
        <p:txBody>
          <a:bodyPr wrap="square" lIns="0" tIns="0" rIns="0" bIns="0" rtlCol="0" anchor="t"/>
          <a:lstStyle/>
          <a:p>
            <a:pPr algn="l" indent="0" marL="0">
              <a:buNone/>
            </a:pPr>
            <a:r>
              <a:rPr lang="en-US" sz="850" dirty="0">
                <a:solidFill>
                  <a:srgbClr val="9DB2BA"/>
                </a:solidFill>
                <a:latin typeface="Arial" pitchFamily="34" charset="0"/>
                <a:ea typeface="Arial" pitchFamily="34" charset="-122"/>
                <a:cs typeface="Arial" pitchFamily="34" charset="-120"/>
              </a:rPr>
              <a:t>API access</a:t>
            </a:r>
            <a:endParaRPr lang="en-US" sz="850" dirty="0"/>
          </a:p>
        </p:txBody>
      </p:sp>
      <p:sp>
        <p:nvSpPr>
          <p:cNvPr id="12" name="Shape 10"/>
          <p:cNvSpPr/>
          <p:nvPr/>
        </p:nvSpPr>
        <p:spPr>
          <a:xfrm>
            <a:off x="640080" y="1892808"/>
            <a:ext cx="2606040" cy="493776"/>
          </a:xfrm>
          <a:prstGeom prst="roundRect">
            <a:avLst>
              <a:gd name="adj" fmla="val 11111"/>
            </a:avLst>
          </a:prstGeom>
          <a:solidFill>
            <a:srgbClr val="16232A"/>
          </a:solidFill>
          <a:ln w="6350">
            <a:solidFill>
              <a:srgbClr val="263841"/>
            </a:solidFill>
            <a:prstDash val="solid"/>
          </a:ln>
        </p:spPr>
      </p:sp>
      <p:sp>
        <p:nvSpPr>
          <p:cNvPr id="13" name="Text 11"/>
          <p:cNvSpPr txBox="1"/>
          <p:nvPr/>
        </p:nvSpPr>
        <p:spPr>
          <a:xfrm>
            <a:off x="749808" y="1938528"/>
            <a:ext cx="242316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POST_NOTIFICATIONS</a:t>
            </a:r>
            <a:endParaRPr lang="en-US" sz="950" dirty="0"/>
          </a:p>
        </p:txBody>
      </p:sp>
      <p:sp>
        <p:nvSpPr>
          <p:cNvPr id="14" name="Text 12"/>
          <p:cNvSpPr txBox="1"/>
          <p:nvPr/>
        </p:nvSpPr>
        <p:spPr>
          <a:xfrm>
            <a:off x="749808" y="2148840"/>
            <a:ext cx="2423160" cy="228600"/>
          </a:xfrm>
          <a:prstGeom prst="rect">
            <a:avLst/>
          </a:prstGeom>
          <a:noFill/>
          <a:ln/>
        </p:spPr>
        <p:txBody>
          <a:bodyPr wrap="square" lIns="0" tIns="0" rIns="0" bIns="0" rtlCol="0" anchor="t"/>
          <a:lstStyle/>
          <a:p>
            <a:pPr algn="l" indent="0" marL="0">
              <a:buNone/>
            </a:pPr>
            <a:r>
              <a:rPr lang="en-US" sz="850" dirty="0">
                <a:solidFill>
                  <a:srgbClr val="9DB2BA"/>
                </a:solidFill>
                <a:latin typeface="Arial" pitchFamily="34" charset="0"/>
                <a:ea typeface="Arial" pitchFamily="34" charset="-122"/>
                <a:cs typeface="Arial" pitchFamily="34" charset="-120"/>
              </a:rPr>
              <a:t>reminders, live session</a:t>
            </a:r>
            <a:endParaRPr lang="en-US" sz="850" dirty="0"/>
          </a:p>
        </p:txBody>
      </p:sp>
      <p:sp>
        <p:nvSpPr>
          <p:cNvPr id="15" name="Shape 13"/>
          <p:cNvSpPr/>
          <p:nvPr/>
        </p:nvSpPr>
        <p:spPr>
          <a:xfrm>
            <a:off x="3383280" y="1892808"/>
            <a:ext cx="2606040" cy="493776"/>
          </a:xfrm>
          <a:prstGeom prst="roundRect">
            <a:avLst>
              <a:gd name="adj" fmla="val 11111"/>
            </a:avLst>
          </a:prstGeom>
          <a:solidFill>
            <a:srgbClr val="16232A"/>
          </a:solidFill>
          <a:ln w="6350">
            <a:solidFill>
              <a:srgbClr val="263841"/>
            </a:solidFill>
            <a:prstDash val="solid"/>
          </a:ln>
        </p:spPr>
      </p:sp>
      <p:sp>
        <p:nvSpPr>
          <p:cNvPr id="16" name="Text 14"/>
          <p:cNvSpPr txBox="1"/>
          <p:nvPr/>
        </p:nvSpPr>
        <p:spPr>
          <a:xfrm>
            <a:off x="3493008" y="1938528"/>
            <a:ext cx="242316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RECORD_AUDIO</a:t>
            </a:r>
            <a:endParaRPr lang="en-US" sz="950" dirty="0"/>
          </a:p>
        </p:txBody>
      </p:sp>
      <p:sp>
        <p:nvSpPr>
          <p:cNvPr id="17" name="Text 15"/>
          <p:cNvSpPr txBox="1"/>
          <p:nvPr/>
        </p:nvSpPr>
        <p:spPr>
          <a:xfrm>
            <a:off x="3493008" y="2148840"/>
            <a:ext cx="2423160" cy="228600"/>
          </a:xfrm>
          <a:prstGeom prst="rect">
            <a:avLst/>
          </a:prstGeom>
          <a:noFill/>
          <a:ln/>
        </p:spPr>
        <p:txBody>
          <a:bodyPr wrap="square" lIns="0" tIns="0" rIns="0" bIns="0" rtlCol="0" anchor="t"/>
          <a:lstStyle/>
          <a:p>
            <a:pPr algn="l" indent="0" marL="0">
              <a:buNone/>
            </a:pPr>
            <a:r>
              <a:rPr lang="en-US" sz="850" dirty="0">
                <a:solidFill>
                  <a:srgbClr val="9DB2BA"/>
                </a:solidFill>
                <a:latin typeface="Arial" pitchFamily="34" charset="0"/>
                <a:ea typeface="Arial" pitchFamily="34" charset="-122"/>
                <a:cs typeface="Arial" pitchFamily="34" charset="-120"/>
              </a:rPr>
              <a:t>coach voice</a:t>
            </a:r>
            <a:endParaRPr lang="en-US" sz="850" dirty="0"/>
          </a:p>
        </p:txBody>
      </p:sp>
      <p:sp>
        <p:nvSpPr>
          <p:cNvPr id="18" name="Shape 16"/>
          <p:cNvSpPr/>
          <p:nvPr/>
        </p:nvSpPr>
        <p:spPr>
          <a:xfrm>
            <a:off x="640080" y="2459736"/>
            <a:ext cx="2606040" cy="493776"/>
          </a:xfrm>
          <a:prstGeom prst="roundRect">
            <a:avLst>
              <a:gd name="adj" fmla="val 11111"/>
            </a:avLst>
          </a:prstGeom>
          <a:solidFill>
            <a:srgbClr val="16232A"/>
          </a:solidFill>
          <a:ln w="6350">
            <a:solidFill>
              <a:srgbClr val="263841"/>
            </a:solidFill>
            <a:prstDash val="solid"/>
          </a:ln>
        </p:spPr>
      </p:sp>
      <p:sp>
        <p:nvSpPr>
          <p:cNvPr id="19" name="Text 17"/>
          <p:cNvSpPr txBox="1"/>
          <p:nvPr/>
        </p:nvSpPr>
        <p:spPr>
          <a:xfrm>
            <a:off x="749808" y="2505456"/>
            <a:ext cx="242316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FOREGROUND_SERVICE_HEALTH</a:t>
            </a:r>
            <a:endParaRPr lang="en-US" sz="950" dirty="0"/>
          </a:p>
        </p:txBody>
      </p:sp>
      <p:sp>
        <p:nvSpPr>
          <p:cNvPr id="20" name="Text 18"/>
          <p:cNvSpPr txBox="1"/>
          <p:nvPr/>
        </p:nvSpPr>
        <p:spPr>
          <a:xfrm>
            <a:off x="749808" y="2715768"/>
            <a:ext cx="2423160" cy="228600"/>
          </a:xfrm>
          <a:prstGeom prst="rect">
            <a:avLst/>
          </a:prstGeom>
          <a:noFill/>
          <a:ln/>
        </p:spPr>
        <p:txBody>
          <a:bodyPr wrap="square" lIns="0" tIns="0" rIns="0" bIns="0" rtlCol="0" anchor="t"/>
          <a:lstStyle/>
          <a:p>
            <a:pPr algn="l" indent="0" marL="0">
              <a:buNone/>
            </a:pPr>
            <a:r>
              <a:rPr lang="en-US" sz="850" dirty="0">
                <a:solidFill>
                  <a:srgbClr val="9DB2BA"/>
                </a:solidFill>
                <a:latin typeface="Arial" pitchFamily="34" charset="0"/>
                <a:ea typeface="Arial" pitchFamily="34" charset="-122"/>
                <a:cs typeface="Arial" pitchFamily="34" charset="-120"/>
              </a:rPr>
              <a:t>live workout timer</a:t>
            </a:r>
            <a:endParaRPr lang="en-US" sz="850" dirty="0"/>
          </a:p>
        </p:txBody>
      </p:sp>
      <p:sp>
        <p:nvSpPr>
          <p:cNvPr id="21" name="Shape 19"/>
          <p:cNvSpPr/>
          <p:nvPr/>
        </p:nvSpPr>
        <p:spPr>
          <a:xfrm>
            <a:off x="3383280" y="2459736"/>
            <a:ext cx="2606040" cy="493776"/>
          </a:xfrm>
          <a:prstGeom prst="roundRect">
            <a:avLst>
              <a:gd name="adj" fmla="val 11111"/>
            </a:avLst>
          </a:prstGeom>
          <a:solidFill>
            <a:srgbClr val="16232A"/>
          </a:solidFill>
          <a:ln w="6350">
            <a:solidFill>
              <a:srgbClr val="263841"/>
            </a:solidFill>
            <a:prstDash val="solid"/>
          </a:ln>
        </p:spPr>
      </p:sp>
      <p:sp>
        <p:nvSpPr>
          <p:cNvPr id="22" name="Text 20"/>
          <p:cNvSpPr txBox="1"/>
          <p:nvPr/>
        </p:nvSpPr>
        <p:spPr>
          <a:xfrm>
            <a:off x="3493008" y="2505456"/>
            <a:ext cx="242316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ACTIVITY_RECOGNITION</a:t>
            </a:r>
            <a:endParaRPr lang="en-US" sz="950" dirty="0"/>
          </a:p>
        </p:txBody>
      </p:sp>
      <p:sp>
        <p:nvSpPr>
          <p:cNvPr id="23" name="Text 21"/>
          <p:cNvSpPr txBox="1"/>
          <p:nvPr/>
        </p:nvSpPr>
        <p:spPr>
          <a:xfrm>
            <a:off x="3493008" y="2715768"/>
            <a:ext cx="2423160" cy="228600"/>
          </a:xfrm>
          <a:prstGeom prst="rect">
            <a:avLst/>
          </a:prstGeom>
          <a:noFill/>
          <a:ln/>
        </p:spPr>
        <p:txBody>
          <a:bodyPr wrap="square" lIns="0" tIns="0" rIns="0" bIns="0" rtlCol="0" anchor="t"/>
          <a:lstStyle/>
          <a:p>
            <a:pPr algn="l" indent="0" marL="0">
              <a:buNone/>
            </a:pPr>
            <a:r>
              <a:rPr lang="en-US" sz="850" dirty="0">
                <a:solidFill>
                  <a:srgbClr val="9DB2BA"/>
                </a:solidFill>
                <a:latin typeface="Arial" pitchFamily="34" charset="0"/>
                <a:ea typeface="Arial" pitchFamily="34" charset="-122"/>
                <a:cs typeface="Arial" pitchFamily="34" charset="-120"/>
              </a:rPr>
              <a:t>prerequisite for the health service</a:t>
            </a:r>
            <a:endParaRPr lang="en-US" sz="850" dirty="0"/>
          </a:p>
        </p:txBody>
      </p:sp>
      <p:sp>
        <p:nvSpPr>
          <p:cNvPr id="24" name="Shape 22"/>
          <p:cNvSpPr/>
          <p:nvPr/>
        </p:nvSpPr>
        <p:spPr>
          <a:xfrm>
            <a:off x="640080" y="3026664"/>
            <a:ext cx="2606040" cy="493776"/>
          </a:xfrm>
          <a:prstGeom prst="roundRect">
            <a:avLst>
              <a:gd name="adj" fmla="val 11111"/>
            </a:avLst>
          </a:prstGeom>
          <a:solidFill>
            <a:srgbClr val="16232A"/>
          </a:solidFill>
          <a:ln w="6350">
            <a:solidFill>
              <a:srgbClr val="263841"/>
            </a:solidFill>
            <a:prstDash val="solid"/>
          </a:ln>
        </p:spPr>
      </p:sp>
      <p:sp>
        <p:nvSpPr>
          <p:cNvPr id="25" name="Text 23"/>
          <p:cNvSpPr txBox="1"/>
          <p:nvPr/>
        </p:nvSpPr>
        <p:spPr>
          <a:xfrm>
            <a:off x="749808" y="3072384"/>
            <a:ext cx="242316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health.READ_* (4)</a:t>
            </a:r>
            <a:endParaRPr lang="en-US" sz="950" dirty="0"/>
          </a:p>
        </p:txBody>
      </p:sp>
      <p:sp>
        <p:nvSpPr>
          <p:cNvPr id="26" name="Text 24"/>
          <p:cNvSpPr txBox="1"/>
          <p:nvPr/>
        </p:nvSpPr>
        <p:spPr>
          <a:xfrm>
            <a:off x="749808" y="3282696"/>
            <a:ext cx="2423160" cy="228600"/>
          </a:xfrm>
          <a:prstGeom prst="rect">
            <a:avLst/>
          </a:prstGeom>
          <a:noFill/>
          <a:ln/>
        </p:spPr>
        <p:txBody>
          <a:bodyPr wrap="square" lIns="0" tIns="0" rIns="0" bIns="0" rtlCol="0" anchor="t"/>
          <a:lstStyle/>
          <a:p>
            <a:pPr algn="l" indent="0" marL="0">
              <a:buNone/>
            </a:pPr>
            <a:r>
              <a:rPr lang="en-US" sz="850" dirty="0">
                <a:solidFill>
                  <a:srgbClr val="9DB2BA"/>
                </a:solidFill>
                <a:latin typeface="Arial" pitchFamily="34" charset="0"/>
                <a:ea typeface="Arial" pitchFamily="34" charset="-122"/>
                <a:cs typeface="Arial" pitchFamily="34" charset="-120"/>
              </a:rPr>
              <a:t>steps, heart rate, sleep, calories</a:t>
            </a:r>
            <a:endParaRPr lang="en-US" sz="850" dirty="0"/>
          </a:p>
        </p:txBody>
      </p:sp>
      <p:sp>
        <p:nvSpPr>
          <p:cNvPr id="27" name="Shape 25"/>
          <p:cNvSpPr/>
          <p:nvPr/>
        </p:nvSpPr>
        <p:spPr>
          <a:xfrm>
            <a:off x="3383280" y="3026664"/>
            <a:ext cx="2606040" cy="493776"/>
          </a:xfrm>
          <a:prstGeom prst="roundRect">
            <a:avLst>
              <a:gd name="adj" fmla="val 11111"/>
            </a:avLst>
          </a:prstGeom>
          <a:solidFill>
            <a:srgbClr val="16232A"/>
          </a:solidFill>
          <a:ln w="6350">
            <a:solidFill>
              <a:srgbClr val="263841"/>
            </a:solidFill>
            <a:prstDash val="solid"/>
          </a:ln>
        </p:spPr>
      </p:sp>
      <p:sp>
        <p:nvSpPr>
          <p:cNvPr id="28" name="Text 26"/>
          <p:cNvSpPr txBox="1"/>
          <p:nvPr/>
        </p:nvSpPr>
        <p:spPr>
          <a:xfrm>
            <a:off x="3493008" y="3072384"/>
            <a:ext cx="2423160" cy="228600"/>
          </a:xfrm>
          <a:prstGeom prst="rect">
            <a:avLst/>
          </a:prstGeom>
          <a:noFill/>
          <a:ln/>
        </p:spPr>
        <p:txBody>
          <a:bodyPr wrap="square" lIns="0" tIns="0" rIns="0" bIns="0" rtlCol="0" anchor="t"/>
          <a:lstStyle/>
          <a:p>
            <a:pPr algn="l" indent="0" marL="0">
              <a:buNone/>
            </a:pPr>
            <a:r>
              <a:rPr lang="en-US" sz="950" b="1" dirty="0">
                <a:solidFill>
                  <a:srgbClr val="2FD9F4"/>
                </a:solidFill>
                <a:latin typeface="Arial" pitchFamily="34" charset="0"/>
                <a:ea typeface="Arial" pitchFamily="34" charset="-122"/>
                <a:cs typeface="Arial" pitchFamily="34" charset="-120"/>
              </a:rPr>
              <a:t>health.WRITE_WEIGHT</a:t>
            </a:r>
            <a:endParaRPr lang="en-US" sz="950" dirty="0"/>
          </a:p>
        </p:txBody>
      </p:sp>
      <p:sp>
        <p:nvSpPr>
          <p:cNvPr id="29" name="Text 27"/>
          <p:cNvSpPr txBox="1"/>
          <p:nvPr/>
        </p:nvSpPr>
        <p:spPr>
          <a:xfrm>
            <a:off x="3493008" y="3282696"/>
            <a:ext cx="2423160" cy="228600"/>
          </a:xfrm>
          <a:prstGeom prst="rect">
            <a:avLst/>
          </a:prstGeom>
          <a:noFill/>
          <a:ln/>
        </p:spPr>
        <p:txBody>
          <a:bodyPr wrap="square" lIns="0" tIns="0" rIns="0" bIns="0" rtlCol="0" anchor="t"/>
          <a:lstStyle/>
          <a:p>
            <a:pPr algn="l" indent="0" marL="0">
              <a:buNone/>
            </a:pPr>
            <a:r>
              <a:rPr lang="en-US" sz="850" dirty="0">
                <a:solidFill>
                  <a:srgbClr val="9DB2BA"/>
                </a:solidFill>
                <a:latin typeface="Arial" pitchFamily="34" charset="0"/>
                <a:ea typeface="Arial" pitchFamily="34" charset="-122"/>
                <a:cs typeface="Arial" pitchFamily="34" charset="-120"/>
              </a:rPr>
              <a:t>weigh-ins back to Health Connect</a:t>
            </a:r>
            <a:endParaRPr lang="en-US" sz="850" dirty="0"/>
          </a:p>
        </p:txBody>
      </p:sp>
      <p:sp>
        <p:nvSpPr>
          <p:cNvPr id="30" name="Shape 28"/>
          <p:cNvSpPr/>
          <p:nvPr/>
        </p:nvSpPr>
        <p:spPr>
          <a:xfrm>
            <a:off x="640080" y="3703320"/>
            <a:ext cx="5349240" cy="2331720"/>
          </a:xfrm>
          <a:prstGeom prst="roundRect">
            <a:avLst>
              <a:gd name="adj" fmla="val 4706"/>
            </a:avLst>
          </a:prstGeom>
          <a:solidFill>
            <a:srgbClr val="16232A"/>
          </a:solidFill>
          <a:ln w="9525">
            <a:solidFill>
              <a:srgbClr val="263841"/>
            </a:solidFill>
            <a:prstDash val="solid"/>
          </a:ln>
        </p:spPr>
      </p:sp>
      <p:sp>
        <p:nvSpPr>
          <p:cNvPr id="31" name="Shape 29"/>
          <p:cNvSpPr/>
          <p:nvPr/>
        </p:nvSpPr>
        <p:spPr>
          <a:xfrm>
            <a:off x="822960" y="3886200"/>
            <a:ext cx="457200" cy="457200"/>
          </a:xfrm>
          <a:prstGeom prst="ellipse">
            <a:avLst/>
          </a:prstGeom>
          <a:solidFill>
            <a:srgbClr val="0A1013"/>
          </a:solidFill>
          <a:ln w="6350">
            <a:solidFill>
              <a:srgbClr val="263841"/>
            </a:solidFill>
            <a:prstDash val="solid"/>
          </a:ln>
        </p:spPr>
      </p:sp>
      <p:pic>
        <p:nvPicPr>
          <p:cNvPr id="32" name="Image 0" descr="preencoded.png">    </p:cNvPr>
          <p:cNvPicPr>
            <a:picLocks noChangeAspect="1"/>
          </p:cNvPicPr>
          <p:nvPr/>
        </p:nvPicPr>
        <p:blipFill>
          <a:blip r:embed="rId1"/>
          <a:stretch>
            <a:fillRect/>
          </a:stretch>
        </p:blipFill>
        <p:spPr>
          <a:xfrm>
            <a:off x="914400" y="3977640"/>
            <a:ext cx="274320" cy="274320"/>
          </a:xfrm>
          <a:prstGeom prst="rect">
            <a:avLst/>
          </a:prstGeom>
        </p:spPr>
      </p:pic>
      <p:sp>
        <p:nvSpPr>
          <p:cNvPr id="33" name="Text 30"/>
          <p:cNvSpPr txBox="1"/>
          <p:nvPr/>
        </p:nvSpPr>
        <p:spPr>
          <a:xfrm>
            <a:off x="1417320" y="3867912"/>
            <a:ext cx="438912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Not requested, on purpose</a:t>
            </a:r>
            <a:endParaRPr lang="en-US" sz="1300" dirty="0"/>
          </a:p>
        </p:txBody>
      </p:sp>
      <p:sp>
        <p:nvSpPr>
          <p:cNvPr id="34" name="Text 31"/>
          <p:cNvSpPr txBox="1"/>
          <p:nvPr/>
        </p:nvSpPr>
        <p:spPr>
          <a:xfrm>
            <a:off x="822960" y="4361688"/>
            <a:ext cx="4983480" cy="155448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No READ_MEDIA_*: gallery import uses the system Photo Picker.</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No location, no storage, no exact alarms, no QUERY_ALL_PACKAGES, and the advertising id permission is stripped from the merged manifest and verified in the release report.</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Every permission is a Play review surface, so each one has to earn its place [23].</a:t>
            </a:r>
            <a:endParaRPr lang="en-US" sz="1000" dirty="0"/>
          </a:p>
        </p:txBody>
      </p:sp>
      <p:sp>
        <p:nvSpPr>
          <p:cNvPr id="35" name="Shape 32"/>
          <p:cNvSpPr/>
          <p:nvPr/>
        </p:nvSpPr>
        <p:spPr>
          <a:xfrm>
            <a:off x="6217920" y="1325880"/>
            <a:ext cx="5486400" cy="2240280"/>
          </a:xfrm>
          <a:prstGeom prst="roundRect">
            <a:avLst>
              <a:gd name="adj" fmla="val 4898"/>
            </a:avLst>
          </a:prstGeom>
          <a:solidFill>
            <a:srgbClr val="16232A"/>
          </a:solidFill>
          <a:ln w="9525">
            <a:solidFill>
              <a:srgbClr val="263841"/>
            </a:solidFill>
            <a:prstDash val="solid"/>
          </a:ln>
        </p:spPr>
      </p:sp>
      <p:sp>
        <p:nvSpPr>
          <p:cNvPr id="36" name="Shape 33"/>
          <p:cNvSpPr/>
          <p:nvPr/>
        </p:nvSpPr>
        <p:spPr>
          <a:xfrm>
            <a:off x="6400800" y="1508760"/>
            <a:ext cx="457200" cy="457200"/>
          </a:xfrm>
          <a:prstGeom prst="ellipse">
            <a:avLst/>
          </a:prstGeom>
          <a:solidFill>
            <a:srgbClr val="0A1013"/>
          </a:solidFill>
          <a:ln w="6350">
            <a:solidFill>
              <a:srgbClr val="263841"/>
            </a:solidFill>
            <a:prstDash val="solid"/>
          </a:ln>
        </p:spPr>
      </p:sp>
      <p:pic>
        <p:nvPicPr>
          <p:cNvPr id="37" name="Image 1" descr="preencoded.png">    </p:cNvPr>
          <p:cNvPicPr>
            <a:picLocks noChangeAspect="1"/>
          </p:cNvPicPr>
          <p:nvPr/>
        </p:nvPicPr>
        <p:blipFill>
          <a:blip r:embed="rId2"/>
          <a:stretch>
            <a:fillRect/>
          </a:stretch>
        </p:blipFill>
        <p:spPr>
          <a:xfrm>
            <a:off x="6492240" y="1600200"/>
            <a:ext cx="274320" cy="274320"/>
          </a:xfrm>
          <a:prstGeom prst="rect">
            <a:avLst/>
          </a:prstGeom>
        </p:spPr>
      </p:pic>
      <p:sp>
        <p:nvSpPr>
          <p:cNvPr id="38" name="Text 34"/>
          <p:cNvSpPr txBox="1"/>
          <p:nvPr/>
        </p:nvSpPr>
        <p:spPr>
          <a:xfrm>
            <a:off x="6995160" y="1490472"/>
            <a:ext cx="45262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Data handling</a:t>
            </a:r>
            <a:endParaRPr lang="en-US" sz="1300" dirty="0"/>
          </a:p>
        </p:txBody>
      </p:sp>
      <p:sp>
        <p:nvSpPr>
          <p:cNvPr id="39" name="Text 35"/>
          <p:cNvSpPr txBox="1"/>
          <p:nvPr/>
        </p:nvSpPr>
        <p:spPr>
          <a:xfrm>
            <a:off x="6400800" y="1984248"/>
            <a:ext cx="5120640" cy="146304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Meal photos: size-capped, MIME allow-listed, EXIF and location stripped, unguessable names, streamed only to the owner, deleted on confirm and swept after 24 hours.</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Export my data as JSON and a 30-day account deletion grace period are in Settings, matching the Australian Privacy Principles on access and correction [26].</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Consents are granular and revocable: wellness processing, AI personalisation, anonymised analytics, reminders.</a:t>
            </a:r>
            <a:endParaRPr lang="en-US" sz="1000" dirty="0"/>
          </a:p>
        </p:txBody>
      </p:sp>
      <p:sp>
        <p:nvSpPr>
          <p:cNvPr id="40" name="Shape 36"/>
          <p:cNvSpPr/>
          <p:nvPr/>
        </p:nvSpPr>
        <p:spPr>
          <a:xfrm>
            <a:off x="6217920" y="3703320"/>
            <a:ext cx="5486400" cy="2331720"/>
          </a:xfrm>
          <a:prstGeom prst="roundRect">
            <a:avLst>
              <a:gd name="adj" fmla="val 4706"/>
            </a:avLst>
          </a:prstGeom>
          <a:solidFill>
            <a:srgbClr val="16232A"/>
          </a:solidFill>
          <a:ln w="9525">
            <a:solidFill>
              <a:srgbClr val="263841"/>
            </a:solidFill>
            <a:prstDash val="solid"/>
          </a:ln>
        </p:spPr>
      </p:sp>
      <p:sp>
        <p:nvSpPr>
          <p:cNvPr id="41" name="Shape 37"/>
          <p:cNvSpPr/>
          <p:nvPr/>
        </p:nvSpPr>
        <p:spPr>
          <a:xfrm>
            <a:off x="6400800" y="3886200"/>
            <a:ext cx="457200" cy="457200"/>
          </a:xfrm>
          <a:prstGeom prst="ellipse">
            <a:avLst/>
          </a:prstGeom>
          <a:solidFill>
            <a:srgbClr val="0A1013"/>
          </a:solidFill>
          <a:ln w="6350">
            <a:solidFill>
              <a:srgbClr val="263841"/>
            </a:solidFill>
            <a:prstDash val="solid"/>
          </a:ln>
        </p:spPr>
      </p:sp>
      <p:pic>
        <p:nvPicPr>
          <p:cNvPr id="42" name="Image 2" descr="preencoded.png">    </p:cNvPr>
          <p:cNvPicPr>
            <a:picLocks noChangeAspect="1"/>
          </p:cNvPicPr>
          <p:nvPr/>
        </p:nvPicPr>
        <p:blipFill>
          <a:blip r:embed="rId3"/>
          <a:stretch>
            <a:fillRect/>
          </a:stretch>
        </p:blipFill>
        <p:spPr>
          <a:xfrm>
            <a:off x="6492240" y="3977640"/>
            <a:ext cx="274320" cy="274320"/>
          </a:xfrm>
          <a:prstGeom prst="rect">
            <a:avLst/>
          </a:prstGeom>
        </p:spPr>
      </p:pic>
      <p:sp>
        <p:nvSpPr>
          <p:cNvPr id="43" name="Text 38"/>
          <p:cNvSpPr txBox="1"/>
          <p:nvPr/>
        </p:nvSpPr>
        <p:spPr>
          <a:xfrm>
            <a:off x="6995160" y="3867912"/>
            <a:ext cx="45262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Defence in depth</a:t>
            </a:r>
            <a:endParaRPr lang="en-US" sz="1300" dirty="0"/>
          </a:p>
        </p:txBody>
      </p:sp>
      <p:sp>
        <p:nvSpPr>
          <p:cNvPr id="44" name="Text 39"/>
          <p:cNvSpPr txBox="1"/>
          <p:nvPr/>
        </p:nvSpPr>
        <p:spPr>
          <a:xfrm>
            <a:off x="6400800" y="4361688"/>
            <a:ext cx="5120640" cy="155448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Rate limiting per IP with a separate authentication lane; bcrypt password hashing; HS256 JWTs with short life; rotating refresh tokens with family revocation.</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Client secrets sealed in the Android Keystore; the FileProvider for export is not exported and grants a read-only URI for one file.</a:t>
            </a:r>
            <a:endParaRPr lang="en-US" sz="1000" dirty="0"/>
          </a:p>
          <a:p>
            <a:pPr marL="152400" indent="-152400">
              <a:spcAft>
                <a:spcPts val="400"/>
              </a:spcAft>
              <a:buSzPct val="100000"/>
              <a:buChar char="•"/>
            </a:pPr>
            <a:r>
              <a:rPr lang="en-US" sz="1000" dirty="0">
                <a:solidFill>
                  <a:srgbClr val="E8F0F2"/>
                </a:solidFill>
                <a:latin typeface="Arial" pitchFamily="34" charset="0"/>
                <a:ea typeface="Arial" pitchFamily="34" charset="-122"/>
                <a:cs typeface="Arial" pitchFamily="34" charset="-120"/>
              </a:rPr>
              <a:t>R8 minification on release; the release build refuses to package unsigned [4][17].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27</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24  VERIFICATION</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Quality: 1,343 automated tests, four gates on every push</a:t>
            </a:r>
            <a:endParaRPr lang="en-US" sz="2800" dirty="0"/>
          </a:p>
        </p:txBody>
      </p:sp>
      <p:graphicFrame>
        <p:nvGraphicFramePr>
          <p:cNvPr id="6" name="Chart 0" descr=""/>
          <p:cNvGraphicFramePr/>
          <p:nvPr/>
        </p:nvGraphicFramePr>
        <p:xfrm>
          <a:off x="548640" y="1280160"/>
          <a:ext cx="585216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166360"/>
            <a:ext cx="5852160" cy="822960"/>
          </a:xfrm>
          <a:prstGeom prst="rect">
            <a:avLst/>
          </a:prstGeom>
          <a:noFill/>
          <a:ln/>
        </p:spPr>
        <p:txBody>
          <a:bodyPr wrap="square" lIns="0" tIns="0" rIns="0" bIns="0" rtlCol="0" anchor="t"/>
          <a:lstStyle/>
          <a:p>
            <a:pPr algn="l" indent="0" marL="0">
              <a:buNone/>
            </a:pPr>
            <a:r>
              <a:rPr lang="en-US" sz="950" i="1" dirty="0">
                <a:solidFill>
                  <a:srgbClr val="9DB2BA"/>
                </a:solidFill>
                <a:latin typeface="Arial" pitchFamily="34" charset="0"/>
                <a:ea typeface="Arial" pitchFamily="34" charset="-122"/>
                <a:cs typeface="Arial" pitchFamily="34" charset="-120"/>
              </a:rPr>
              <a:t>Android counts from the README at the cited commit; platform counts from the presentation guide [4][5]. These are test counts, not a coverage percentage; line coverage has not been measured.</a:t>
            </a:r>
            <a:endParaRPr lang="en-US" sz="950" dirty="0"/>
          </a:p>
        </p:txBody>
      </p:sp>
      <p:sp>
        <p:nvSpPr>
          <p:cNvPr id="8" name="Shape 5"/>
          <p:cNvSpPr/>
          <p:nvPr/>
        </p:nvSpPr>
        <p:spPr>
          <a:xfrm>
            <a:off x="6675120" y="1325880"/>
            <a:ext cx="5029200" cy="621792"/>
          </a:xfrm>
          <a:prstGeom prst="roundRect">
            <a:avLst>
              <a:gd name="adj" fmla="val 8824"/>
            </a:avLst>
          </a:prstGeom>
          <a:solidFill>
            <a:srgbClr val="16232A"/>
          </a:solidFill>
          <a:ln w="6350">
            <a:solidFill>
              <a:srgbClr val="263841"/>
            </a:solidFill>
            <a:prstDash val="solid"/>
          </a:ln>
        </p:spPr>
      </p:sp>
      <p:pic>
        <p:nvPicPr>
          <p:cNvPr id="9" name="Image 0" descr="preencoded.png">    </p:cNvPr>
          <p:cNvPicPr>
            <a:picLocks noChangeAspect="1"/>
          </p:cNvPicPr>
          <p:nvPr/>
        </p:nvPicPr>
        <p:blipFill>
          <a:blip r:embed="rId2"/>
          <a:stretch>
            <a:fillRect/>
          </a:stretch>
        </p:blipFill>
        <p:spPr>
          <a:xfrm>
            <a:off x="6784848" y="1499616"/>
            <a:ext cx="274320" cy="274320"/>
          </a:xfrm>
          <a:prstGeom prst="rect">
            <a:avLst/>
          </a:prstGeom>
        </p:spPr>
      </p:pic>
      <p:sp>
        <p:nvSpPr>
          <p:cNvPr id="10" name="Text 6"/>
          <p:cNvSpPr txBox="1"/>
          <p:nvPr/>
        </p:nvSpPr>
        <p:spPr>
          <a:xfrm>
            <a:off x="7178040" y="1380744"/>
            <a:ext cx="4480560" cy="256032"/>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ktlintCheck</a:t>
            </a:r>
            <a:endParaRPr lang="en-US" sz="1100" dirty="0"/>
          </a:p>
        </p:txBody>
      </p:sp>
      <p:sp>
        <p:nvSpPr>
          <p:cNvPr id="11" name="Text 7"/>
          <p:cNvSpPr txBox="1"/>
          <p:nvPr/>
        </p:nvSpPr>
        <p:spPr>
          <a:xfrm>
            <a:off x="7178040" y="1636776"/>
            <a:ext cx="4480560" cy="274320"/>
          </a:xfrm>
          <a:prstGeom prst="rect">
            <a:avLst/>
          </a:prstGeom>
          <a:noFill/>
          <a:ln/>
        </p:spPr>
        <p:txBody>
          <a:bodyPr wrap="square" lIns="0" tIns="0" rIns="0" bIns="0" rtlCol="0" anchor="t"/>
          <a:lstStyle/>
          <a:p>
            <a:pPr algn="l" indent="0" marL="0">
              <a:buNone/>
            </a:pPr>
            <a:r>
              <a:rPr lang="en-US" sz="950" dirty="0">
                <a:solidFill>
                  <a:srgbClr val="9DB2BA"/>
                </a:solidFill>
                <a:latin typeface="Arial" pitchFamily="34" charset="0"/>
                <a:ea typeface="Arial" pitchFamily="34" charset="-122"/>
                <a:cs typeface="Arial" pitchFamily="34" charset="-120"/>
              </a:rPr>
              <a:t>formatting and import order</a:t>
            </a:r>
            <a:endParaRPr lang="en-US" sz="950" dirty="0"/>
          </a:p>
        </p:txBody>
      </p:sp>
      <p:sp>
        <p:nvSpPr>
          <p:cNvPr id="12" name="Shape 8"/>
          <p:cNvSpPr/>
          <p:nvPr/>
        </p:nvSpPr>
        <p:spPr>
          <a:xfrm>
            <a:off x="6675120" y="2039112"/>
            <a:ext cx="5029200" cy="621792"/>
          </a:xfrm>
          <a:prstGeom prst="roundRect">
            <a:avLst>
              <a:gd name="adj" fmla="val 8824"/>
            </a:avLst>
          </a:prstGeom>
          <a:solidFill>
            <a:srgbClr val="16232A"/>
          </a:solidFill>
          <a:ln w="6350">
            <a:solidFill>
              <a:srgbClr val="263841"/>
            </a:solidFill>
            <a:prstDash val="solid"/>
          </a:ln>
        </p:spPr>
      </p:sp>
      <p:pic>
        <p:nvPicPr>
          <p:cNvPr id="13" name="Image 1" descr="preencoded.png">    </p:cNvPr>
          <p:cNvPicPr>
            <a:picLocks noChangeAspect="1"/>
          </p:cNvPicPr>
          <p:nvPr/>
        </p:nvPicPr>
        <p:blipFill>
          <a:blip r:embed="rId3"/>
          <a:stretch>
            <a:fillRect/>
          </a:stretch>
        </p:blipFill>
        <p:spPr>
          <a:xfrm>
            <a:off x="6784848" y="2212848"/>
            <a:ext cx="274320" cy="274320"/>
          </a:xfrm>
          <a:prstGeom prst="rect">
            <a:avLst/>
          </a:prstGeom>
        </p:spPr>
      </p:pic>
      <p:sp>
        <p:nvSpPr>
          <p:cNvPr id="14" name="Text 9"/>
          <p:cNvSpPr txBox="1"/>
          <p:nvPr/>
        </p:nvSpPr>
        <p:spPr>
          <a:xfrm>
            <a:off x="7178040" y="2093976"/>
            <a:ext cx="4480560" cy="256032"/>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detekt</a:t>
            </a:r>
            <a:endParaRPr lang="en-US" sz="1100" dirty="0"/>
          </a:p>
        </p:txBody>
      </p:sp>
      <p:sp>
        <p:nvSpPr>
          <p:cNvPr id="15" name="Text 10"/>
          <p:cNvSpPr txBox="1"/>
          <p:nvPr/>
        </p:nvSpPr>
        <p:spPr>
          <a:xfrm>
            <a:off x="7178040" y="2350008"/>
            <a:ext cx="4480560" cy="274320"/>
          </a:xfrm>
          <a:prstGeom prst="rect">
            <a:avLst/>
          </a:prstGeom>
          <a:noFill/>
          <a:ln/>
        </p:spPr>
        <p:txBody>
          <a:bodyPr wrap="square" lIns="0" tIns="0" rIns="0" bIns="0" rtlCol="0" anchor="t"/>
          <a:lstStyle/>
          <a:p>
            <a:pPr algn="l" indent="0" marL="0">
              <a:buNone/>
            </a:pPr>
            <a:r>
              <a:rPr lang="en-US" sz="950" dirty="0">
                <a:solidFill>
                  <a:srgbClr val="9DB2BA"/>
                </a:solidFill>
                <a:latin typeface="Arial" pitchFamily="34" charset="0"/>
                <a:ea typeface="Arial" pitchFamily="34" charset="-122"/>
                <a:cs typeface="Arial" pitchFamily="34" charset="-120"/>
              </a:rPr>
              <a:t>complexity and smells, every raised threshold has a recorded reason</a:t>
            </a:r>
            <a:endParaRPr lang="en-US" sz="950" dirty="0"/>
          </a:p>
        </p:txBody>
      </p:sp>
      <p:sp>
        <p:nvSpPr>
          <p:cNvPr id="16" name="Shape 11"/>
          <p:cNvSpPr/>
          <p:nvPr/>
        </p:nvSpPr>
        <p:spPr>
          <a:xfrm>
            <a:off x="6675120" y="2752344"/>
            <a:ext cx="5029200" cy="621792"/>
          </a:xfrm>
          <a:prstGeom prst="roundRect">
            <a:avLst>
              <a:gd name="adj" fmla="val 8824"/>
            </a:avLst>
          </a:prstGeom>
          <a:solidFill>
            <a:srgbClr val="16232A"/>
          </a:solidFill>
          <a:ln w="6350">
            <a:solidFill>
              <a:srgbClr val="263841"/>
            </a:solidFill>
            <a:prstDash val="solid"/>
          </a:ln>
        </p:spPr>
      </p:sp>
      <p:pic>
        <p:nvPicPr>
          <p:cNvPr id="17" name="Image 2" descr="preencoded.png">    </p:cNvPr>
          <p:cNvPicPr>
            <a:picLocks noChangeAspect="1"/>
          </p:cNvPicPr>
          <p:nvPr/>
        </p:nvPicPr>
        <p:blipFill>
          <a:blip r:embed="rId4"/>
          <a:stretch>
            <a:fillRect/>
          </a:stretch>
        </p:blipFill>
        <p:spPr>
          <a:xfrm>
            <a:off x="6784848" y="2926080"/>
            <a:ext cx="274320" cy="274320"/>
          </a:xfrm>
          <a:prstGeom prst="rect">
            <a:avLst/>
          </a:prstGeom>
        </p:spPr>
      </p:pic>
      <p:sp>
        <p:nvSpPr>
          <p:cNvPr id="18" name="Text 12"/>
          <p:cNvSpPr txBox="1"/>
          <p:nvPr/>
        </p:nvSpPr>
        <p:spPr>
          <a:xfrm>
            <a:off x="7178040" y="2807208"/>
            <a:ext cx="4480560" cy="256032"/>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lintDebug</a:t>
            </a:r>
            <a:endParaRPr lang="en-US" sz="1100" dirty="0"/>
          </a:p>
        </p:txBody>
      </p:sp>
      <p:sp>
        <p:nvSpPr>
          <p:cNvPr id="19" name="Text 13"/>
          <p:cNvSpPr txBox="1"/>
          <p:nvPr/>
        </p:nvSpPr>
        <p:spPr>
          <a:xfrm>
            <a:off x="7178040" y="3063240"/>
            <a:ext cx="4480560" cy="274320"/>
          </a:xfrm>
          <a:prstGeom prst="rect">
            <a:avLst/>
          </a:prstGeom>
          <a:noFill/>
          <a:ln/>
        </p:spPr>
        <p:txBody>
          <a:bodyPr wrap="square" lIns="0" tIns="0" rIns="0" bIns="0" rtlCol="0" anchor="t"/>
          <a:lstStyle/>
          <a:p>
            <a:pPr algn="l" indent="0" marL="0">
              <a:buNone/>
            </a:pPr>
            <a:r>
              <a:rPr lang="en-US" sz="950" dirty="0">
                <a:solidFill>
                  <a:srgbClr val="9DB2BA"/>
                </a:solidFill>
                <a:latin typeface="Arial" pitchFamily="34" charset="0"/>
                <a:ea typeface="Arial" pitchFamily="34" charset="-122"/>
                <a:cs typeface="Arial" pitchFamily="34" charset="-120"/>
              </a:rPr>
              <a:t>Android Lint: 0 errors, 156 warnings each classified in the README</a:t>
            </a:r>
            <a:endParaRPr lang="en-US" sz="950" dirty="0"/>
          </a:p>
        </p:txBody>
      </p:sp>
      <p:sp>
        <p:nvSpPr>
          <p:cNvPr id="20" name="Shape 14"/>
          <p:cNvSpPr/>
          <p:nvPr/>
        </p:nvSpPr>
        <p:spPr>
          <a:xfrm>
            <a:off x="6675120" y="3465576"/>
            <a:ext cx="5029200" cy="621792"/>
          </a:xfrm>
          <a:prstGeom prst="roundRect">
            <a:avLst>
              <a:gd name="adj" fmla="val 8824"/>
            </a:avLst>
          </a:prstGeom>
          <a:solidFill>
            <a:srgbClr val="16232A"/>
          </a:solidFill>
          <a:ln w="6350">
            <a:solidFill>
              <a:srgbClr val="263841"/>
            </a:solidFill>
            <a:prstDash val="solid"/>
          </a:ln>
        </p:spPr>
      </p:sp>
      <p:pic>
        <p:nvPicPr>
          <p:cNvPr id="21" name="Image 3" descr="preencoded.png">    </p:cNvPr>
          <p:cNvPicPr>
            <a:picLocks noChangeAspect="1"/>
          </p:cNvPicPr>
          <p:nvPr/>
        </p:nvPicPr>
        <p:blipFill>
          <a:blip r:embed="rId5"/>
          <a:stretch>
            <a:fillRect/>
          </a:stretch>
        </p:blipFill>
        <p:spPr>
          <a:xfrm>
            <a:off x="6784848" y="3639312"/>
            <a:ext cx="274320" cy="274320"/>
          </a:xfrm>
          <a:prstGeom prst="rect">
            <a:avLst/>
          </a:prstGeom>
        </p:spPr>
      </p:pic>
      <p:sp>
        <p:nvSpPr>
          <p:cNvPr id="22" name="Text 15"/>
          <p:cNvSpPr txBox="1"/>
          <p:nvPr/>
        </p:nvSpPr>
        <p:spPr>
          <a:xfrm>
            <a:off x="7178040" y="3520440"/>
            <a:ext cx="4480560" cy="256032"/>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testDebugUnitTest</a:t>
            </a:r>
            <a:endParaRPr lang="en-US" sz="1100" dirty="0"/>
          </a:p>
        </p:txBody>
      </p:sp>
      <p:sp>
        <p:nvSpPr>
          <p:cNvPr id="23" name="Text 16"/>
          <p:cNvSpPr txBox="1"/>
          <p:nvPr/>
        </p:nvSpPr>
        <p:spPr>
          <a:xfrm>
            <a:off x="7178040" y="3776472"/>
            <a:ext cx="4480560" cy="274320"/>
          </a:xfrm>
          <a:prstGeom prst="rect">
            <a:avLst/>
          </a:prstGeom>
          <a:noFill/>
          <a:ln/>
        </p:spPr>
        <p:txBody>
          <a:bodyPr wrap="square" lIns="0" tIns="0" rIns="0" bIns="0" rtlCol="0" anchor="t"/>
          <a:lstStyle/>
          <a:p>
            <a:pPr algn="l" indent="0" marL="0">
              <a:buNone/>
            </a:pPr>
            <a:r>
              <a:rPr lang="en-US" sz="950" dirty="0">
                <a:solidFill>
                  <a:srgbClr val="9DB2BA"/>
                </a:solidFill>
                <a:latin typeface="Arial" pitchFamily="34" charset="0"/>
                <a:ea typeface="Arial" pitchFamily="34" charset="-122"/>
                <a:cs typeface="Arial" pitchFamily="34" charset="-120"/>
              </a:rPr>
              <a:t>518 JVM tests in 63 classes</a:t>
            </a:r>
            <a:endParaRPr lang="en-US" sz="950" dirty="0"/>
          </a:p>
        </p:txBody>
      </p:sp>
      <p:sp>
        <p:nvSpPr>
          <p:cNvPr id="24" name="Shape 17"/>
          <p:cNvSpPr/>
          <p:nvPr/>
        </p:nvSpPr>
        <p:spPr>
          <a:xfrm>
            <a:off x="6675120" y="4251960"/>
            <a:ext cx="5029200" cy="1783080"/>
          </a:xfrm>
          <a:prstGeom prst="roundRect">
            <a:avLst>
              <a:gd name="adj" fmla="val 6154"/>
            </a:avLst>
          </a:prstGeom>
          <a:solidFill>
            <a:srgbClr val="16232A"/>
          </a:solidFill>
          <a:ln w="9525">
            <a:solidFill>
              <a:srgbClr val="263841"/>
            </a:solidFill>
            <a:prstDash val="solid"/>
          </a:ln>
        </p:spPr>
      </p:sp>
      <p:sp>
        <p:nvSpPr>
          <p:cNvPr id="25" name="Shape 18"/>
          <p:cNvSpPr/>
          <p:nvPr/>
        </p:nvSpPr>
        <p:spPr>
          <a:xfrm>
            <a:off x="6858000" y="4434840"/>
            <a:ext cx="457200" cy="457200"/>
          </a:xfrm>
          <a:prstGeom prst="ellipse">
            <a:avLst/>
          </a:prstGeom>
          <a:solidFill>
            <a:srgbClr val="0A1013"/>
          </a:solidFill>
          <a:ln w="6350">
            <a:solidFill>
              <a:srgbClr val="263841"/>
            </a:solidFill>
            <a:prstDash val="solid"/>
          </a:ln>
        </p:spPr>
      </p:sp>
      <p:pic>
        <p:nvPicPr>
          <p:cNvPr id="26" name="Image 4" descr="preencoded.png">    </p:cNvPr>
          <p:cNvPicPr>
            <a:picLocks noChangeAspect="1"/>
          </p:cNvPicPr>
          <p:nvPr/>
        </p:nvPicPr>
        <p:blipFill>
          <a:blip r:embed="rId6"/>
          <a:stretch>
            <a:fillRect/>
          </a:stretch>
        </p:blipFill>
        <p:spPr>
          <a:xfrm>
            <a:off x="6949440" y="4526280"/>
            <a:ext cx="274320" cy="274320"/>
          </a:xfrm>
          <a:prstGeom prst="rect">
            <a:avLst/>
          </a:prstGeom>
        </p:spPr>
      </p:pic>
      <p:sp>
        <p:nvSpPr>
          <p:cNvPr id="27" name="Text 19"/>
          <p:cNvSpPr txBox="1"/>
          <p:nvPr/>
        </p:nvSpPr>
        <p:spPr>
          <a:xfrm>
            <a:off x="7452360" y="4416552"/>
            <a:ext cx="40690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What the device tests cover</a:t>
            </a:r>
            <a:endParaRPr lang="en-US" sz="1300" dirty="0"/>
          </a:p>
        </p:txBody>
      </p:sp>
      <p:sp>
        <p:nvSpPr>
          <p:cNvPr id="28" name="Text 20"/>
          <p:cNvSpPr txBox="1"/>
          <p:nvPr/>
        </p:nvSpPr>
        <p:spPr>
          <a:xfrm>
            <a:off x="6858000" y="4910328"/>
            <a:ext cx="4663440" cy="1005840"/>
          </a:xfrm>
          <a:prstGeom prst="rect">
            <a:avLst/>
          </a:prstGeom>
          <a:noFill/>
          <a:ln/>
        </p:spPr>
        <p:txBody>
          <a:bodyPr wrap="square" lIns="0" tIns="0" rIns="0" bIns="0" rtlCol="0" anchor="t"/>
          <a:lstStyle/>
          <a:p>
            <a:pPr indent="0" marL="0">
              <a:spcAft>
                <a:spcPts val="400"/>
              </a:spcAft>
              <a:buNone/>
            </a:pPr>
            <a:r>
              <a:rPr lang="en-US" sz="1000" dirty="0">
                <a:solidFill>
                  <a:srgbClr val="E8F0F2"/>
                </a:solidFill>
                <a:latin typeface="Arial" pitchFamily="34" charset="0"/>
                <a:ea typeface="Arial" pitchFamily="34" charset="-122"/>
                <a:cs typeface="Arial" pitchFamily="34" charset="-120"/>
              </a:rPr>
              <a:t>Room DAOs and the outbox state machine, schema-migration readiness against the exported schema, navigation through the signed-in and pre-auth shells, the workout library screen, and purge-on-user-switch. The README warns to trust the test count over the green banner, because a poisoned build cache once ran a truncated suite [4].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28</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25  FROM TAG TO SIGNED BUNDLE</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Release engineering: a build that refuses to ship wrong</a:t>
            </a:r>
            <a:endParaRPr lang="en-US" sz="2800" dirty="0"/>
          </a:p>
        </p:txBody>
      </p:sp>
      <p:graphicFrame>
        <p:nvGraphicFramePr>
          <p:cNvPr id="6" name="Chart 0" descr=""/>
          <p:cNvGraphicFramePr/>
          <p:nvPr/>
        </p:nvGraphicFramePr>
        <p:xfrm>
          <a:off x="548640" y="1280160"/>
          <a:ext cx="4206240" cy="3108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4434840"/>
            <a:ext cx="4206240" cy="640080"/>
          </a:xfrm>
          <a:prstGeom prst="rect">
            <a:avLst/>
          </a:prstGeom>
          <a:noFill/>
          <a:ln/>
        </p:spPr>
        <p:txBody>
          <a:bodyPr wrap="square" lIns="0" tIns="0" rIns="0" bIns="0" rtlCol="0" anchor="t"/>
          <a:lstStyle/>
          <a:p>
            <a:pPr algn="l" indent="0" marL="0">
              <a:buNone/>
            </a:pPr>
            <a:r>
              <a:rPr lang="en-US" sz="950" i="1" dirty="0">
                <a:solidFill>
                  <a:srgbClr val="9DB2BA"/>
                </a:solidFill>
                <a:latin typeface="Arial" pitchFamily="34" charset="0"/>
                <a:ea typeface="Arial" pitchFamily="34" charset="-122"/>
                <a:cs typeface="Arial" pitchFamily="34" charset="-120"/>
              </a:rPr>
              <a:t>Measured locally on 29 August 2026; the minified build launched clean with Hilt, Room and serialization intact [17].</a:t>
            </a:r>
            <a:endParaRPr lang="en-US" sz="950" dirty="0"/>
          </a:p>
        </p:txBody>
      </p:sp>
      <p:sp>
        <p:nvSpPr>
          <p:cNvPr id="8" name="Shape 5"/>
          <p:cNvSpPr/>
          <p:nvPr/>
        </p:nvSpPr>
        <p:spPr>
          <a:xfrm>
            <a:off x="5029200" y="1280160"/>
            <a:ext cx="3246120" cy="2240280"/>
          </a:xfrm>
          <a:prstGeom prst="roundRect">
            <a:avLst>
              <a:gd name="adj" fmla="val 4898"/>
            </a:avLst>
          </a:prstGeom>
          <a:solidFill>
            <a:srgbClr val="16232A"/>
          </a:solidFill>
          <a:ln w="9525">
            <a:solidFill>
              <a:srgbClr val="263841"/>
            </a:solidFill>
            <a:prstDash val="solid"/>
          </a:ln>
        </p:spPr>
      </p:sp>
      <p:sp>
        <p:nvSpPr>
          <p:cNvPr id="9" name="Shape 6"/>
          <p:cNvSpPr/>
          <p:nvPr/>
        </p:nvSpPr>
        <p:spPr>
          <a:xfrm>
            <a:off x="5212080" y="1463040"/>
            <a:ext cx="457200" cy="457200"/>
          </a:xfrm>
          <a:prstGeom prst="ellipse">
            <a:avLst/>
          </a:prstGeom>
          <a:solidFill>
            <a:srgbClr val="0A1013"/>
          </a:solidFill>
          <a:ln w="6350">
            <a:solidFill>
              <a:srgbClr val="263841"/>
            </a:solidFill>
            <a:prstDash val="solid"/>
          </a:ln>
        </p:spPr>
      </p:sp>
      <p:pic>
        <p:nvPicPr>
          <p:cNvPr id="10" name="Image 0" descr="preencoded.png">    </p:cNvPr>
          <p:cNvPicPr>
            <a:picLocks noChangeAspect="1"/>
          </p:cNvPicPr>
          <p:nvPr/>
        </p:nvPicPr>
        <p:blipFill>
          <a:blip r:embed="rId2"/>
          <a:stretch>
            <a:fillRect/>
          </a:stretch>
        </p:blipFill>
        <p:spPr>
          <a:xfrm>
            <a:off x="5303520" y="1554480"/>
            <a:ext cx="274320" cy="274320"/>
          </a:xfrm>
          <a:prstGeom prst="rect">
            <a:avLst/>
          </a:prstGeom>
        </p:spPr>
      </p:pic>
      <p:sp>
        <p:nvSpPr>
          <p:cNvPr id="11" name="Text 7"/>
          <p:cNvSpPr txBox="1"/>
          <p:nvPr/>
        </p:nvSpPr>
        <p:spPr>
          <a:xfrm>
            <a:off x="5806440" y="1444752"/>
            <a:ext cx="228600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Signing guard</a:t>
            </a:r>
            <a:endParaRPr lang="en-US" sz="1150" dirty="0"/>
          </a:p>
        </p:txBody>
      </p:sp>
      <p:sp>
        <p:nvSpPr>
          <p:cNvPr id="12" name="Text 8"/>
          <p:cNvSpPr txBox="1"/>
          <p:nvPr/>
        </p:nvSpPr>
        <p:spPr>
          <a:xfrm>
            <a:off x="5212080" y="1938528"/>
            <a:ext cx="2880360" cy="146304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A missing keystore used to degrade silently to an unsigned APK with a green build. It is now a hard failure at packaging time; the only escape hatch is an explicit local flag CI never passes.</a:t>
            </a:r>
            <a:endParaRPr lang="en-US" sz="950" dirty="0"/>
          </a:p>
        </p:txBody>
      </p:sp>
      <p:sp>
        <p:nvSpPr>
          <p:cNvPr id="13" name="Shape 9"/>
          <p:cNvSpPr/>
          <p:nvPr/>
        </p:nvSpPr>
        <p:spPr>
          <a:xfrm>
            <a:off x="8412480" y="1280160"/>
            <a:ext cx="3246120" cy="2240280"/>
          </a:xfrm>
          <a:prstGeom prst="roundRect">
            <a:avLst>
              <a:gd name="adj" fmla="val 4898"/>
            </a:avLst>
          </a:prstGeom>
          <a:solidFill>
            <a:srgbClr val="16232A"/>
          </a:solidFill>
          <a:ln w="9525">
            <a:solidFill>
              <a:srgbClr val="263841"/>
            </a:solidFill>
            <a:prstDash val="solid"/>
          </a:ln>
        </p:spPr>
      </p:sp>
      <p:sp>
        <p:nvSpPr>
          <p:cNvPr id="14" name="Shape 10"/>
          <p:cNvSpPr/>
          <p:nvPr/>
        </p:nvSpPr>
        <p:spPr>
          <a:xfrm>
            <a:off x="8595360" y="1463040"/>
            <a:ext cx="457200" cy="457200"/>
          </a:xfrm>
          <a:prstGeom prst="ellipse">
            <a:avLst/>
          </a:prstGeom>
          <a:solidFill>
            <a:srgbClr val="0A1013"/>
          </a:solidFill>
          <a:ln w="6350">
            <a:solidFill>
              <a:srgbClr val="263841"/>
            </a:solidFill>
            <a:prstDash val="solid"/>
          </a:ln>
        </p:spPr>
      </p:sp>
      <p:pic>
        <p:nvPicPr>
          <p:cNvPr id="15" name="Image 1" descr="preencoded.png">    </p:cNvPr>
          <p:cNvPicPr>
            <a:picLocks noChangeAspect="1"/>
          </p:cNvPicPr>
          <p:nvPr/>
        </p:nvPicPr>
        <p:blipFill>
          <a:blip r:embed="rId3"/>
          <a:stretch>
            <a:fillRect/>
          </a:stretch>
        </p:blipFill>
        <p:spPr>
          <a:xfrm>
            <a:off x="8686800" y="1554480"/>
            <a:ext cx="274320" cy="274320"/>
          </a:xfrm>
          <a:prstGeom prst="rect">
            <a:avLst/>
          </a:prstGeom>
        </p:spPr>
      </p:pic>
      <p:sp>
        <p:nvSpPr>
          <p:cNvPr id="16" name="Text 11"/>
          <p:cNvSpPr txBox="1"/>
          <p:nvPr/>
        </p:nvSpPr>
        <p:spPr>
          <a:xfrm>
            <a:off x="9189720" y="1444752"/>
            <a:ext cx="228600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Version from the tag</a:t>
            </a:r>
            <a:endParaRPr lang="en-US" sz="1150" dirty="0"/>
          </a:p>
        </p:txBody>
      </p:sp>
      <p:sp>
        <p:nvSpPr>
          <p:cNvPr id="17" name="Text 12"/>
          <p:cNvSpPr txBox="1"/>
          <p:nvPr/>
        </p:nvSpPr>
        <p:spPr>
          <a:xfrm>
            <a:off x="8595360" y="1938528"/>
            <a:ext cx="2880360" cy="146304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versionCode and versionName come from the release tag. Play rejects a re-used versionCode, so a constant would have failed every upload after the first.</a:t>
            </a:r>
            <a:endParaRPr lang="en-US" sz="950" dirty="0"/>
          </a:p>
        </p:txBody>
      </p:sp>
      <p:sp>
        <p:nvSpPr>
          <p:cNvPr id="18" name="Shape 13"/>
          <p:cNvSpPr/>
          <p:nvPr/>
        </p:nvSpPr>
        <p:spPr>
          <a:xfrm>
            <a:off x="5029200" y="3657600"/>
            <a:ext cx="3246120" cy="2240280"/>
          </a:xfrm>
          <a:prstGeom prst="roundRect">
            <a:avLst>
              <a:gd name="adj" fmla="val 4898"/>
            </a:avLst>
          </a:prstGeom>
          <a:solidFill>
            <a:srgbClr val="16232A"/>
          </a:solidFill>
          <a:ln w="9525">
            <a:solidFill>
              <a:srgbClr val="263841"/>
            </a:solidFill>
            <a:prstDash val="solid"/>
          </a:ln>
        </p:spPr>
      </p:sp>
      <p:sp>
        <p:nvSpPr>
          <p:cNvPr id="19" name="Shape 14"/>
          <p:cNvSpPr/>
          <p:nvPr/>
        </p:nvSpPr>
        <p:spPr>
          <a:xfrm>
            <a:off x="5212080" y="3840480"/>
            <a:ext cx="457200" cy="457200"/>
          </a:xfrm>
          <a:prstGeom prst="ellipse">
            <a:avLst/>
          </a:prstGeom>
          <a:solidFill>
            <a:srgbClr val="0A1013"/>
          </a:solidFill>
          <a:ln w="6350">
            <a:solidFill>
              <a:srgbClr val="263841"/>
            </a:solidFill>
            <a:prstDash val="solid"/>
          </a:ln>
        </p:spPr>
      </p:sp>
      <p:pic>
        <p:nvPicPr>
          <p:cNvPr id="20" name="Image 2" descr="preencoded.png">    </p:cNvPr>
          <p:cNvPicPr>
            <a:picLocks noChangeAspect="1"/>
          </p:cNvPicPr>
          <p:nvPr/>
        </p:nvPicPr>
        <p:blipFill>
          <a:blip r:embed="rId4"/>
          <a:stretch>
            <a:fillRect/>
          </a:stretch>
        </p:blipFill>
        <p:spPr>
          <a:xfrm>
            <a:off x="5303520" y="3931920"/>
            <a:ext cx="274320" cy="274320"/>
          </a:xfrm>
          <a:prstGeom prst="rect">
            <a:avLst/>
          </a:prstGeom>
        </p:spPr>
      </p:pic>
      <p:sp>
        <p:nvSpPr>
          <p:cNvPr id="21" name="Text 15"/>
          <p:cNvSpPr txBox="1"/>
          <p:nvPr/>
        </p:nvSpPr>
        <p:spPr>
          <a:xfrm>
            <a:off x="5806440" y="3822192"/>
            <a:ext cx="228600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Two workflows</a:t>
            </a:r>
            <a:endParaRPr lang="en-US" sz="1150" dirty="0"/>
          </a:p>
        </p:txBody>
      </p:sp>
      <p:sp>
        <p:nvSpPr>
          <p:cNvPr id="22" name="Text 16"/>
          <p:cNvSpPr txBox="1"/>
          <p:nvPr/>
        </p:nvSpPr>
        <p:spPr>
          <a:xfrm>
            <a:off x="5212080" y="4315968"/>
            <a:ext cx="2880360" cy="146304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android-verify runs the four gates on every push touching apps/android and references no secrets. android-release runs on a tag: gates, signed APK and AAB, then apksigner verification.</a:t>
            </a:r>
            <a:endParaRPr lang="en-US" sz="950" dirty="0"/>
          </a:p>
        </p:txBody>
      </p:sp>
      <p:sp>
        <p:nvSpPr>
          <p:cNvPr id="23" name="Shape 17"/>
          <p:cNvSpPr/>
          <p:nvPr/>
        </p:nvSpPr>
        <p:spPr>
          <a:xfrm>
            <a:off x="8412480" y="3657600"/>
            <a:ext cx="3246120" cy="2240280"/>
          </a:xfrm>
          <a:prstGeom prst="roundRect">
            <a:avLst>
              <a:gd name="adj" fmla="val 4898"/>
            </a:avLst>
          </a:prstGeom>
          <a:solidFill>
            <a:srgbClr val="16232A"/>
          </a:solidFill>
          <a:ln w="9525">
            <a:solidFill>
              <a:srgbClr val="263841"/>
            </a:solidFill>
            <a:prstDash val="solid"/>
          </a:ln>
        </p:spPr>
      </p:sp>
      <p:sp>
        <p:nvSpPr>
          <p:cNvPr id="24" name="Shape 18"/>
          <p:cNvSpPr/>
          <p:nvPr/>
        </p:nvSpPr>
        <p:spPr>
          <a:xfrm>
            <a:off x="8595360" y="3840480"/>
            <a:ext cx="457200" cy="457200"/>
          </a:xfrm>
          <a:prstGeom prst="ellipse">
            <a:avLst/>
          </a:prstGeom>
          <a:solidFill>
            <a:srgbClr val="0A1013"/>
          </a:solidFill>
          <a:ln w="6350">
            <a:solidFill>
              <a:srgbClr val="263841"/>
            </a:solidFill>
            <a:prstDash val="solid"/>
          </a:ln>
        </p:spPr>
      </p:sp>
      <p:pic>
        <p:nvPicPr>
          <p:cNvPr id="25" name="Image 3" descr="preencoded.png">    </p:cNvPr>
          <p:cNvPicPr>
            <a:picLocks noChangeAspect="1"/>
          </p:cNvPicPr>
          <p:nvPr/>
        </p:nvPicPr>
        <p:blipFill>
          <a:blip r:embed="rId5"/>
          <a:stretch>
            <a:fillRect/>
          </a:stretch>
        </p:blipFill>
        <p:spPr>
          <a:xfrm>
            <a:off x="8686800" y="3931920"/>
            <a:ext cx="274320" cy="274320"/>
          </a:xfrm>
          <a:prstGeom prst="rect">
            <a:avLst/>
          </a:prstGeom>
        </p:spPr>
      </p:pic>
      <p:sp>
        <p:nvSpPr>
          <p:cNvPr id="26" name="Text 19"/>
          <p:cNvSpPr txBox="1"/>
          <p:nvPr/>
        </p:nvSpPr>
        <p:spPr>
          <a:xfrm>
            <a:off x="9189720" y="3822192"/>
            <a:ext cx="228600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Static analysis</a:t>
            </a:r>
            <a:endParaRPr lang="en-US" sz="1150" dirty="0"/>
          </a:p>
        </p:txBody>
      </p:sp>
      <p:sp>
        <p:nvSpPr>
          <p:cNvPr id="27" name="Text 20"/>
          <p:cNvSpPr txBox="1"/>
          <p:nvPr/>
        </p:nvSpPr>
        <p:spPr>
          <a:xfrm>
            <a:off x="8595360" y="4315968"/>
            <a:ext cx="2880360" cy="146304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detekt pinned to a 2.0 pre-release because the last 1.x cannot run on the JDK 25 shipped with Android Studio; the reason is recorded beside the pin.</a:t>
            </a:r>
            <a:endParaRPr lang="en-US" sz="950" dirty="0"/>
          </a:p>
        </p:txBody>
      </p:sp>
      <p:sp>
        <p:nvSpPr>
          <p:cNvPr id="28" name="Text 21"/>
          <p:cNvSpPr txBox="1"/>
          <p:nvPr/>
        </p:nvSpPr>
        <p:spPr>
          <a:xfrm>
            <a:off x="548640" y="5212080"/>
            <a:ext cx="4206240" cy="822960"/>
          </a:xfrm>
          <a:prstGeom prst="rect">
            <a:avLst/>
          </a:prstGeom>
          <a:noFill/>
          <a:ln/>
        </p:spPr>
        <p:txBody>
          <a:bodyPr wrap="square" lIns="0" tIns="0" rIns="0" bIns="0" rtlCol="0" anchor="t"/>
          <a:lstStyle/>
          <a:p>
            <a:pPr algn="l" indent="0" marL="0">
              <a:buNone/>
            </a:pPr>
            <a:r>
              <a:rPr lang="en-US" sz="950" dirty="0">
                <a:solidFill>
                  <a:srgbClr val="9DB2BA"/>
                </a:solidFill>
                <a:latin typeface="Arial" pitchFamily="34" charset="0"/>
                <a:ea typeface="Arial" pitchFamily="34" charset="-122"/>
                <a:cs typeface="Arial" pitchFamily="34" charset="-120"/>
              </a:rPr>
              <a:t>Release builds point at https://app.aquazero.fit; debug builds point at the developer machine. The full procedure is in docs/PLAY_STORE_RELEASE_GUIDE.md [3].</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29</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26  STORE LISTING, DECLARATIONS AND THE PATH TO PRODUCTION</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Google Play readiness</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7498080" cy="914400"/>
        </p:xfrm>
        <a:graphic>
          <a:graphicData uri="http://schemas.openxmlformats.org/drawingml/2006/table">
            <a:tbl>
              <a:tblPr/>
              <a:tblGrid>
                <a:gridCol w="1554480"/>
                <a:gridCol w="3017520"/>
                <a:gridCol w="2926080"/>
              </a:tblGrid>
              <a:tr h="457200">
                <a:tc>
                  <a:txBody>
                    <a:bodyPr/>
                    <a:lstStyle/>
                    <a:p>
                      <a:pPr indent="0" marL="0">
                        <a:buNone/>
                      </a:pPr>
                      <a:r>
                        <a:rPr lang="en-US" sz="1050" b="1" dirty="0">
                          <a:solidFill>
                            <a:srgbClr val="2FD9F4"/>
                          </a:solidFill>
                          <a:latin typeface="Arial" pitchFamily="34" charset="0"/>
                          <a:ea typeface="Arial" pitchFamily="34" charset="-122"/>
                          <a:cs typeface="Arial" pitchFamily="34" charset="-120"/>
                        </a:rPr>
                        <a:t>Console task</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indent="0" marL="0">
                        <a:buNone/>
                      </a:pPr>
                      <a:r>
                        <a:rPr lang="en-US" sz="1050" b="1" dirty="0">
                          <a:solidFill>
                            <a:srgbClr val="2FD9F4"/>
                          </a:solidFill>
                          <a:latin typeface="Arial" pitchFamily="34" charset="0"/>
                          <a:ea typeface="Arial" pitchFamily="34" charset="-122"/>
                          <a:cs typeface="Arial" pitchFamily="34" charset="-120"/>
                        </a:rPr>
                        <a:t>Status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indent="0" marL="0">
                        <a:buNone/>
                      </a:pPr>
                      <a:r>
                        <a:rPr lang="en-US" sz="1050" b="1" dirty="0">
                          <a:solidFill>
                            <a:srgbClr val="2FD9F4"/>
                          </a:solidFill>
                          <a:latin typeface="Arial" pitchFamily="34" charset="0"/>
                          <a:ea typeface="Arial" pitchFamily="34" charset="-122"/>
                          <a:cs typeface="Arial" pitchFamily="34" charset="-120"/>
                        </a:rPr>
                        <a:t>Basis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r>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App identity</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fit.aquazero.app, Luminara Digital Pty Ltd</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Matches applicationId and launcher label</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Category and health</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Health and fitness; activity and nutrition declared</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Chosen over Medical; the app disclaims medical advice in 11 places</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Data safety</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Submitted, 14 data types</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Encrypted in transit; deletion via the support page</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Content rating</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Rated 3+, in-app purchases declared</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IARC questionnaire; AI content answered as online content</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Target audience</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16 to 17 and 18 and over</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Matches the Terms and the minimum age constant</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Advertising id</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Not used, verified in the signed binary</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Stripped in the manifest merge report</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Store listing</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Name, 76-character short description, 3,687-character full description, icon, feature graphic, 7 screenshots</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Every number traceable to the shared constants</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457200">
                <a:tc>
                  <a:txBody>
                    <a:bodyPr/>
                    <a:lstStyle/>
                    <a:p>
                      <a:pPr indent="0" marL="0">
                        <a:buNone/>
                      </a:pPr>
                      <a:r>
                        <a:rPr lang="en-US" sz="950" b="1" dirty="0">
                          <a:solidFill>
                            <a:srgbClr val="FFFFFF"/>
                          </a:solidFill>
                          <a:latin typeface="Arial" pitchFamily="34" charset="0"/>
                          <a:ea typeface="Arial" pitchFamily="34" charset="-122"/>
                          <a:cs typeface="Arial" pitchFamily="34" charset="-120"/>
                        </a:rPr>
                        <a:t>Remaining</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Upload AAB, closed testing with 20 testers for 14 days, Health Connect declaration if in scope</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950" dirty="0">
                          <a:solidFill>
                            <a:srgbClr val="E8F0F2"/>
                          </a:solidFill>
                          <a:latin typeface="Arial" pitchFamily="34" charset="0"/>
                          <a:ea typeface="Arial" pitchFamily="34" charset="-122"/>
                          <a:cs typeface="Arial" pitchFamily="34" charset="-120"/>
                        </a:rPr>
                        <a:t>Play policy for new developer accounts [23]</a:t>
                      </a:r>
                      <a:endParaRPr lang="en-US" sz="9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bl>
          </a:graphicData>
        </a:graphic>
      </p:graphicFrame>
      <p:sp>
        <p:nvSpPr>
          <p:cNvPr id="7" name="Shape 4"/>
          <p:cNvSpPr/>
          <p:nvPr/>
        </p:nvSpPr>
        <p:spPr>
          <a:xfrm>
            <a:off x="8439912" y="1216152"/>
            <a:ext cx="2623500" cy="4562856"/>
          </a:xfrm>
          <a:prstGeom prst="roundRect">
            <a:avLst>
              <a:gd name="adj" fmla="val 6274"/>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8" name="Image 0" descr="C:\Users\lumin\AppData\Local\Temp\azf-deck\img\01-dashboard.png">    </p:cNvPr>
          <p:cNvPicPr>
            <a:picLocks noChangeAspect="1"/>
          </p:cNvPicPr>
          <p:nvPr/>
        </p:nvPicPr>
        <p:blipFill>
          <a:blip r:embed="rId1"/>
          <a:stretch>
            <a:fillRect/>
          </a:stretch>
        </p:blipFill>
        <p:spPr>
          <a:xfrm>
            <a:off x="8503920" y="1280160"/>
            <a:ext cx="2495484" cy="4434840"/>
          </a:xfrm>
          <a:prstGeom prst="rect">
            <a:avLst/>
          </a:prstGeom>
        </p:spPr>
      </p:pic>
      <p:sp>
        <p:nvSpPr>
          <p:cNvPr id="9" name="Text 5"/>
          <p:cNvSpPr txBox="1"/>
          <p:nvPr/>
        </p:nvSpPr>
        <p:spPr>
          <a:xfrm>
            <a:off x="8394192" y="5824728"/>
            <a:ext cx="2714940" cy="457200"/>
          </a:xfrm>
          <a:prstGeom prst="rect">
            <a:avLst/>
          </a:prstGeom>
          <a:noFill/>
          <a:ln/>
        </p:spPr>
        <p:txBody>
          <a:bodyPr wrap="square" lIns="0" tIns="0" rIns="0" bIns="0" rtlCol="0" anchor="ctr"/>
          <a:lstStyle/>
          <a:p>
            <a:pPr algn="ctr" indent="0" marL="0">
              <a:buNone/>
            </a:pPr>
            <a:r>
              <a:rPr lang="en-US" sz="900" dirty="0">
                <a:solidFill>
                  <a:srgbClr val="9DB2BA"/>
                </a:solidFill>
                <a:latin typeface="Arial" pitchFamily="34" charset="0"/>
                <a:ea typeface="Arial" pitchFamily="34" charset="-122"/>
                <a:cs typeface="Arial" pitchFamily="34" charset="-120"/>
              </a:rPr>
              <a:t>Play listing screenshot 1 of 7, padded to 9:16 in the app's own surface colour</a:t>
            </a:r>
            <a:endParaRPr lang="en-US" sz="900" dirty="0"/>
          </a:p>
        </p:txBody>
      </p:sp>
      <p:sp>
        <p:nvSpPr>
          <p:cNvPr id="10" name="Text 6"/>
          <p:cNvSpPr txBox="1"/>
          <p:nvPr/>
        </p:nvSpPr>
        <p:spPr>
          <a:xfrm>
            <a:off x="502920" y="5623560"/>
            <a:ext cx="7498080" cy="457200"/>
          </a:xfrm>
          <a:prstGeom prst="rect">
            <a:avLst/>
          </a:prstGeom>
          <a:noFill/>
          <a:ln/>
        </p:spPr>
        <p:txBody>
          <a:bodyPr wrap="square" lIns="0" tIns="0" rIns="0" bIns="0" rtlCol="0" anchor="t"/>
          <a:lstStyle/>
          <a:p>
            <a:pPr algn="l" indent="0" marL="0">
              <a:buNone/>
            </a:pPr>
            <a:r>
              <a:rPr lang="en-US" sz="950" i="1" dirty="0">
                <a:solidFill>
                  <a:srgbClr val="9DB2BA"/>
                </a:solidFill>
                <a:latin typeface="Arial" pitchFamily="34" charset="0"/>
                <a:ea typeface="Arial" pitchFamily="34" charset="-122"/>
                <a:cs typeface="Arial" pitchFamily="34" charset="-120"/>
              </a:rPr>
              <a:t>Screenshot order is deliberate: the first answers what the app is; the scan and the confirm step sit side by side; the fourth is the trust close [3].</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30</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27  PROCESS</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How it was built: Android Studio, Gradle and agent tooling</a:t>
            </a:r>
            <a:endParaRPr lang="en-US" sz="2800" dirty="0"/>
          </a:p>
        </p:txBody>
      </p:sp>
      <p:sp>
        <p:nvSpPr>
          <p:cNvPr id="6" name="Shape 4"/>
          <p:cNvSpPr/>
          <p:nvPr/>
        </p:nvSpPr>
        <p:spPr>
          <a:xfrm>
            <a:off x="502920" y="1280160"/>
            <a:ext cx="3611880" cy="2240280"/>
          </a:xfrm>
          <a:prstGeom prst="roundRect">
            <a:avLst>
              <a:gd name="adj" fmla="val 4898"/>
            </a:avLst>
          </a:prstGeom>
          <a:solidFill>
            <a:srgbClr val="16232A"/>
          </a:solidFill>
          <a:ln w="9525">
            <a:solidFill>
              <a:srgbClr val="263841"/>
            </a:solidFill>
            <a:prstDash val="solid"/>
          </a:ln>
        </p:spPr>
      </p:sp>
      <p:sp>
        <p:nvSpPr>
          <p:cNvPr id="7" name="Shape 5"/>
          <p:cNvSpPr/>
          <p:nvPr/>
        </p:nvSpPr>
        <p:spPr>
          <a:xfrm>
            <a:off x="685800" y="1463040"/>
            <a:ext cx="457200" cy="457200"/>
          </a:xfrm>
          <a:prstGeom prst="ellipse">
            <a:avLst/>
          </a:prstGeom>
          <a:solidFill>
            <a:srgbClr val="0A1013"/>
          </a:solidFill>
          <a:ln w="6350">
            <a:solidFill>
              <a:srgbClr val="263841"/>
            </a:solidFill>
            <a:prstDash val="solid"/>
          </a:ln>
        </p:spPr>
      </p:sp>
      <p:pic>
        <p:nvPicPr>
          <p:cNvPr id="8"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9" name="Text 6"/>
          <p:cNvSpPr txBox="1"/>
          <p:nvPr/>
        </p:nvSpPr>
        <p:spPr>
          <a:xfrm>
            <a:off x="1280160" y="1444752"/>
            <a:ext cx="26517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Specify first</a:t>
            </a:r>
            <a:endParaRPr lang="en-US" sz="1300" dirty="0"/>
          </a:p>
        </p:txBody>
      </p:sp>
      <p:sp>
        <p:nvSpPr>
          <p:cNvPr id="10" name="Text 7"/>
          <p:cNvSpPr txBox="1"/>
          <p:nvPr/>
        </p:nvSpPr>
        <p:spPr>
          <a:xfrm>
            <a:off x="685800" y="1938528"/>
            <a:ext cx="3246120" cy="1463040"/>
          </a:xfrm>
          <a:prstGeom prst="rect">
            <a:avLst/>
          </a:prstGeom>
          <a:noFill/>
          <a:ln/>
        </p:spPr>
        <p:txBody>
          <a:bodyPr wrap="square" lIns="0" tIns="0" rIns="0" bIns="0" rtlCol="0" anchor="t"/>
          <a:lstStyle/>
          <a:p>
            <a:pPr indent="0" marL="0">
              <a:spcAft>
                <a:spcPts val="400"/>
              </a:spcAft>
              <a:buNone/>
            </a:pPr>
            <a:r>
              <a:rPr lang="en-US" sz="1000" dirty="0">
                <a:solidFill>
                  <a:srgbClr val="E8F0F2"/>
                </a:solidFill>
                <a:latin typeface="Arial" pitchFamily="34" charset="0"/>
                <a:ea typeface="Arial" pitchFamily="34" charset="-122"/>
                <a:cs typeface="Arial" pitchFamily="34" charset="-120"/>
              </a:rPr>
              <a:t>A document set from charter to test plan (AQF-01 to AQF-29) fixed the API contract, the data model and the safety invariants before the first Kotlin file.</a:t>
            </a:r>
            <a:endParaRPr lang="en-US" sz="1000" dirty="0"/>
          </a:p>
        </p:txBody>
      </p:sp>
      <p:sp>
        <p:nvSpPr>
          <p:cNvPr id="11" name="Shape 8"/>
          <p:cNvSpPr/>
          <p:nvPr/>
        </p:nvSpPr>
        <p:spPr>
          <a:xfrm>
            <a:off x="4251960" y="1280160"/>
            <a:ext cx="3611880" cy="2240280"/>
          </a:xfrm>
          <a:prstGeom prst="roundRect">
            <a:avLst>
              <a:gd name="adj" fmla="val 4898"/>
            </a:avLst>
          </a:prstGeom>
          <a:solidFill>
            <a:srgbClr val="16232A"/>
          </a:solidFill>
          <a:ln w="9525">
            <a:solidFill>
              <a:srgbClr val="263841"/>
            </a:solidFill>
            <a:prstDash val="solid"/>
          </a:ln>
        </p:spPr>
      </p:sp>
      <p:sp>
        <p:nvSpPr>
          <p:cNvPr id="12" name="Shape 9"/>
          <p:cNvSpPr/>
          <p:nvPr/>
        </p:nvSpPr>
        <p:spPr>
          <a:xfrm>
            <a:off x="4434840" y="1463040"/>
            <a:ext cx="457200" cy="457200"/>
          </a:xfrm>
          <a:prstGeom prst="ellipse">
            <a:avLst/>
          </a:prstGeom>
          <a:solidFill>
            <a:srgbClr val="0A1013"/>
          </a:solidFill>
          <a:ln w="6350">
            <a:solidFill>
              <a:srgbClr val="263841"/>
            </a:solidFill>
            <a:prstDash val="solid"/>
          </a:ln>
        </p:spPr>
      </p:sp>
      <p:pic>
        <p:nvPicPr>
          <p:cNvPr id="13" name="Image 1" descr="preencoded.png">    </p:cNvPr>
          <p:cNvPicPr>
            <a:picLocks noChangeAspect="1"/>
          </p:cNvPicPr>
          <p:nvPr/>
        </p:nvPicPr>
        <p:blipFill>
          <a:blip r:embed="rId2"/>
          <a:stretch>
            <a:fillRect/>
          </a:stretch>
        </p:blipFill>
        <p:spPr>
          <a:xfrm>
            <a:off x="4526280" y="1554480"/>
            <a:ext cx="274320" cy="274320"/>
          </a:xfrm>
          <a:prstGeom prst="rect">
            <a:avLst/>
          </a:prstGeom>
        </p:spPr>
      </p:pic>
      <p:sp>
        <p:nvSpPr>
          <p:cNvPr id="14" name="Text 10"/>
          <p:cNvSpPr txBox="1"/>
          <p:nvPr/>
        </p:nvSpPr>
        <p:spPr>
          <a:xfrm>
            <a:off x="5029200" y="1444752"/>
            <a:ext cx="26517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Build in Android Studio</a:t>
            </a:r>
            <a:endParaRPr lang="en-US" sz="1300" dirty="0"/>
          </a:p>
        </p:txBody>
      </p:sp>
      <p:sp>
        <p:nvSpPr>
          <p:cNvPr id="15" name="Text 11"/>
          <p:cNvSpPr txBox="1"/>
          <p:nvPr/>
        </p:nvSpPr>
        <p:spPr>
          <a:xfrm>
            <a:off x="4434840" y="1938528"/>
            <a:ext cx="3246120" cy="1463040"/>
          </a:xfrm>
          <a:prstGeom prst="rect">
            <a:avLst/>
          </a:prstGeom>
          <a:noFill/>
          <a:ln/>
        </p:spPr>
        <p:txBody>
          <a:bodyPr wrap="square" lIns="0" tIns="0" rIns="0" bIns="0" rtlCol="0" anchor="t"/>
          <a:lstStyle/>
          <a:p>
            <a:pPr indent="0" marL="0">
              <a:spcAft>
                <a:spcPts val="400"/>
              </a:spcAft>
              <a:buNone/>
            </a:pPr>
            <a:r>
              <a:rPr lang="en-US" sz="1000" dirty="0">
                <a:solidFill>
                  <a:srgbClr val="E8F0F2"/>
                </a:solidFill>
                <a:latin typeface="Arial" pitchFamily="34" charset="0"/>
                <a:ea typeface="Arial" pitchFamily="34" charset="-122"/>
                <a:cs typeface="Arial" pitchFamily="34" charset="-120"/>
              </a:rPr>
              <a:t>Kotlin 2.3 with the Compose compiler plugin, KSP for Room and Hilt, a version catalogue, and the bundled JBR as the JDK on Windows.</a:t>
            </a:r>
            <a:endParaRPr lang="en-US" sz="1000" dirty="0"/>
          </a:p>
        </p:txBody>
      </p:sp>
      <p:sp>
        <p:nvSpPr>
          <p:cNvPr id="16" name="Shape 12"/>
          <p:cNvSpPr/>
          <p:nvPr/>
        </p:nvSpPr>
        <p:spPr>
          <a:xfrm>
            <a:off x="8001000" y="1280160"/>
            <a:ext cx="3611880" cy="2240280"/>
          </a:xfrm>
          <a:prstGeom prst="roundRect">
            <a:avLst>
              <a:gd name="adj" fmla="val 4898"/>
            </a:avLst>
          </a:prstGeom>
          <a:solidFill>
            <a:srgbClr val="16232A"/>
          </a:solidFill>
          <a:ln w="9525">
            <a:solidFill>
              <a:srgbClr val="263841"/>
            </a:solidFill>
            <a:prstDash val="solid"/>
          </a:ln>
        </p:spPr>
      </p:sp>
      <p:sp>
        <p:nvSpPr>
          <p:cNvPr id="17" name="Shape 13"/>
          <p:cNvSpPr/>
          <p:nvPr/>
        </p:nvSpPr>
        <p:spPr>
          <a:xfrm>
            <a:off x="8183880" y="1463040"/>
            <a:ext cx="457200" cy="457200"/>
          </a:xfrm>
          <a:prstGeom prst="ellipse">
            <a:avLst/>
          </a:prstGeom>
          <a:solidFill>
            <a:srgbClr val="0A1013"/>
          </a:solidFill>
          <a:ln w="6350">
            <a:solidFill>
              <a:srgbClr val="263841"/>
            </a:solidFill>
            <a:prstDash val="solid"/>
          </a:ln>
        </p:spPr>
      </p:sp>
      <p:pic>
        <p:nvPicPr>
          <p:cNvPr id="18" name="Image 2" descr="preencoded.png">    </p:cNvPr>
          <p:cNvPicPr>
            <a:picLocks noChangeAspect="1"/>
          </p:cNvPicPr>
          <p:nvPr/>
        </p:nvPicPr>
        <p:blipFill>
          <a:blip r:embed="rId3"/>
          <a:stretch>
            <a:fillRect/>
          </a:stretch>
        </p:blipFill>
        <p:spPr>
          <a:xfrm>
            <a:off x="8275320" y="1554480"/>
            <a:ext cx="274320" cy="274320"/>
          </a:xfrm>
          <a:prstGeom prst="rect">
            <a:avLst/>
          </a:prstGeom>
        </p:spPr>
      </p:pic>
      <p:sp>
        <p:nvSpPr>
          <p:cNvPr id="19" name="Text 14"/>
          <p:cNvSpPr txBox="1"/>
          <p:nvPr/>
        </p:nvSpPr>
        <p:spPr>
          <a:xfrm>
            <a:off x="8778240" y="1444752"/>
            <a:ext cx="26517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Run on the emulator</a:t>
            </a:r>
            <a:endParaRPr lang="en-US" sz="1300" dirty="0"/>
          </a:p>
        </p:txBody>
      </p:sp>
      <p:sp>
        <p:nvSpPr>
          <p:cNvPr id="20" name="Text 15"/>
          <p:cNvSpPr txBox="1"/>
          <p:nvPr/>
        </p:nvSpPr>
        <p:spPr>
          <a:xfrm>
            <a:off x="8183880" y="1938528"/>
            <a:ext cx="3246120" cy="1463040"/>
          </a:xfrm>
          <a:prstGeom prst="rect">
            <a:avLst/>
          </a:prstGeom>
          <a:noFill/>
          <a:ln/>
        </p:spPr>
        <p:txBody>
          <a:bodyPr wrap="square" lIns="0" tIns="0" rIns="0" bIns="0" rtlCol="0" anchor="t"/>
          <a:lstStyle/>
          <a:p>
            <a:pPr indent="0" marL="0">
              <a:spcAft>
                <a:spcPts val="400"/>
              </a:spcAft>
              <a:buNone/>
            </a:pPr>
            <a:r>
              <a:rPr lang="en-US" sz="1000" dirty="0">
                <a:solidFill>
                  <a:srgbClr val="E8F0F2"/>
                </a:solidFill>
                <a:latin typeface="Arial" pitchFamily="34" charset="0"/>
                <a:ea typeface="Arial" pitchFamily="34" charset="-122"/>
                <a:cs typeface="Arial" pitchFamily="34" charset="-120"/>
              </a:rPr>
              <a:t>A Pixel virtual device against the local API on 10.0.2.2; the debug build is installed with installDebug or the Android CLI [18].</a:t>
            </a:r>
            <a:endParaRPr lang="en-US" sz="1000" dirty="0"/>
          </a:p>
        </p:txBody>
      </p:sp>
      <p:sp>
        <p:nvSpPr>
          <p:cNvPr id="21" name="Shape 16"/>
          <p:cNvSpPr/>
          <p:nvPr/>
        </p:nvSpPr>
        <p:spPr>
          <a:xfrm>
            <a:off x="502920" y="3657600"/>
            <a:ext cx="3611880" cy="2240280"/>
          </a:xfrm>
          <a:prstGeom prst="roundRect">
            <a:avLst>
              <a:gd name="adj" fmla="val 4898"/>
            </a:avLst>
          </a:prstGeom>
          <a:solidFill>
            <a:srgbClr val="16232A"/>
          </a:solidFill>
          <a:ln w="9525">
            <a:solidFill>
              <a:srgbClr val="263841"/>
            </a:solidFill>
            <a:prstDash val="solid"/>
          </a:ln>
        </p:spPr>
      </p:sp>
      <p:sp>
        <p:nvSpPr>
          <p:cNvPr id="22" name="Shape 17"/>
          <p:cNvSpPr/>
          <p:nvPr/>
        </p:nvSpPr>
        <p:spPr>
          <a:xfrm>
            <a:off x="685800" y="3840480"/>
            <a:ext cx="457200" cy="457200"/>
          </a:xfrm>
          <a:prstGeom prst="ellipse">
            <a:avLst/>
          </a:prstGeom>
          <a:solidFill>
            <a:srgbClr val="0A1013"/>
          </a:solidFill>
          <a:ln w="6350">
            <a:solidFill>
              <a:srgbClr val="263841"/>
            </a:solidFill>
            <a:prstDash val="solid"/>
          </a:ln>
        </p:spPr>
      </p:sp>
      <p:pic>
        <p:nvPicPr>
          <p:cNvPr id="23" name="Image 3" descr="preencoded.png">    </p:cNvPr>
          <p:cNvPicPr>
            <a:picLocks noChangeAspect="1"/>
          </p:cNvPicPr>
          <p:nvPr/>
        </p:nvPicPr>
        <p:blipFill>
          <a:blip r:embed="rId4"/>
          <a:stretch>
            <a:fillRect/>
          </a:stretch>
        </p:blipFill>
        <p:spPr>
          <a:xfrm>
            <a:off x="777240" y="3931920"/>
            <a:ext cx="274320" cy="274320"/>
          </a:xfrm>
          <a:prstGeom prst="rect">
            <a:avLst/>
          </a:prstGeom>
        </p:spPr>
      </p:pic>
      <p:sp>
        <p:nvSpPr>
          <p:cNvPr id="24" name="Text 18"/>
          <p:cNvSpPr txBox="1"/>
          <p:nvPr/>
        </p:nvSpPr>
        <p:spPr>
          <a:xfrm>
            <a:off x="1280160" y="3822192"/>
            <a:ext cx="26517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Verify the same way CI does</a:t>
            </a:r>
            <a:endParaRPr lang="en-US" sz="1300" dirty="0"/>
          </a:p>
        </p:txBody>
      </p:sp>
      <p:sp>
        <p:nvSpPr>
          <p:cNvPr id="25" name="Text 19"/>
          <p:cNvSpPr txBox="1"/>
          <p:nvPr/>
        </p:nvSpPr>
        <p:spPr>
          <a:xfrm>
            <a:off x="685800" y="4315968"/>
            <a:ext cx="3246120" cy="1463040"/>
          </a:xfrm>
          <a:prstGeom prst="rect">
            <a:avLst/>
          </a:prstGeom>
          <a:noFill/>
          <a:ln/>
        </p:spPr>
        <p:txBody>
          <a:bodyPr wrap="square" lIns="0" tIns="0" rIns="0" bIns="0" rtlCol="0" anchor="t"/>
          <a:lstStyle/>
          <a:p>
            <a:pPr indent="0" marL="0">
              <a:spcAft>
                <a:spcPts val="400"/>
              </a:spcAft>
              <a:buNone/>
            </a:pPr>
            <a:r>
              <a:rPr lang="en-US" sz="1000" dirty="0">
                <a:solidFill>
                  <a:srgbClr val="E8F0F2"/>
                </a:solidFill>
                <a:latin typeface="Arial" pitchFamily="34" charset="0"/>
                <a:ea typeface="Arial" pitchFamily="34" charset="-122"/>
                <a:cs typeface="Arial" pitchFamily="34" charset="-120"/>
              </a:rPr>
              <a:t>ktlint, detekt, lint and the JVM suite locally, then instrumented tests on the device, then a minified release smoke test.</a:t>
            </a:r>
            <a:endParaRPr lang="en-US" sz="1000" dirty="0"/>
          </a:p>
        </p:txBody>
      </p:sp>
      <p:sp>
        <p:nvSpPr>
          <p:cNvPr id="26" name="Shape 20"/>
          <p:cNvSpPr/>
          <p:nvPr/>
        </p:nvSpPr>
        <p:spPr>
          <a:xfrm>
            <a:off x="4251960" y="3657600"/>
            <a:ext cx="3611880" cy="2240280"/>
          </a:xfrm>
          <a:prstGeom prst="roundRect">
            <a:avLst>
              <a:gd name="adj" fmla="val 4898"/>
            </a:avLst>
          </a:prstGeom>
          <a:solidFill>
            <a:srgbClr val="16232A"/>
          </a:solidFill>
          <a:ln w="9525">
            <a:solidFill>
              <a:srgbClr val="263841"/>
            </a:solidFill>
            <a:prstDash val="solid"/>
          </a:ln>
        </p:spPr>
      </p:sp>
      <p:sp>
        <p:nvSpPr>
          <p:cNvPr id="27" name="Shape 21"/>
          <p:cNvSpPr/>
          <p:nvPr/>
        </p:nvSpPr>
        <p:spPr>
          <a:xfrm>
            <a:off x="4434840" y="3840480"/>
            <a:ext cx="457200" cy="457200"/>
          </a:xfrm>
          <a:prstGeom prst="ellipse">
            <a:avLst/>
          </a:prstGeom>
          <a:solidFill>
            <a:srgbClr val="0A1013"/>
          </a:solidFill>
          <a:ln w="6350">
            <a:solidFill>
              <a:srgbClr val="263841"/>
            </a:solidFill>
            <a:prstDash val="solid"/>
          </a:ln>
        </p:spPr>
      </p:sp>
      <p:pic>
        <p:nvPicPr>
          <p:cNvPr id="28" name="Image 4" descr="preencoded.png">    </p:cNvPr>
          <p:cNvPicPr>
            <a:picLocks noChangeAspect="1"/>
          </p:cNvPicPr>
          <p:nvPr/>
        </p:nvPicPr>
        <p:blipFill>
          <a:blip r:embed="rId5"/>
          <a:stretch>
            <a:fillRect/>
          </a:stretch>
        </p:blipFill>
        <p:spPr>
          <a:xfrm>
            <a:off x="4526280" y="3931920"/>
            <a:ext cx="274320" cy="274320"/>
          </a:xfrm>
          <a:prstGeom prst="rect">
            <a:avLst/>
          </a:prstGeom>
        </p:spPr>
      </p:pic>
      <p:sp>
        <p:nvSpPr>
          <p:cNvPr id="29" name="Text 22"/>
          <p:cNvSpPr txBox="1"/>
          <p:nvPr/>
        </p:nvSpPr>
        <p:spPr>
          <a:xfrm>
            <a:off x="5029200" y="3822192"/>
            <a:ext cx="26517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Agent tooling</a:t>
            </a:r>
            <a:endParaRPr lang="en-US" sz="1300" dirty="0"/>
          </a:p>
        </p:txBody>
      </p:sp>
      <p:sp>
        <p:nvSpPr>
          <p:cNvPr id="30" name="Text 23"/>
          <p:cNvSpPr txBox="1"/>
          <p:nvPr/>
        </p:nvSpPr>
        <p:spPr>
          <a:xfrm>
            <a:off x="4434840" y="4315968"/>
            <a:ext cx="3246120" cy="1463040"/>
          </a:xfrm>
          <a:prstGeom prst="rect">
            <a:avLst/>
          </a:prstGeom>
          <a:noFill/>
          <a:ln/>
        </p:spPr>
        <p:txBody>
          <a:bodyPr wrap="square" lIns="0" tIns="0" rIns="0" bIns="0" rtlCol="0" anchor="t"/>
          <a:lstStyle/>
          <a:p>
            <a:pPr indent="0" marL="0">
              <a:spcAft>
                <a:spcPts val="400"/>
              </a:spcAft>
              <a:buNone/>
            </a:pPr>
            <a:r>
              <a:rPr lang="en-US" sz="1000" dirty="0">
                <a:solidFill>
                  <a:srgbClr val="E8F0F2"/>
                </a:solidFill>
                <a:latin typeface="Arial" pitchFamily="34" charset="0"/>
                <a:ea typeface="Arial" pitchFamily="34" charset="-122"/>
                <a:cs typeface="Arial" pitchFamily="34" charset="-120"/>
              </a:rPr>
              <a:t>The Android CLI for agents was used to describe the project, drive the emulator and capture the screens in this deck, alongside code review by an AI assistant with a human in charge of every decision [18].</a:t>
            </a:r>
            <a:endParaRPr lang="en-US" sz="1000" dirty="0"/>
          </a:p>
        </p:txBody>
      </p:sp>
      <p:sp>
        <p:nvSpPr>
          <p:cNvPr id="31" name="Shape 24"/>
          <p:cNvSpPr/>
          <p:nvPr/>
        </p:nvSpPr>
        <p:spPr>
          <a:xfrm>
            <a:off x="8001000" y="3657600"/>
            <a:ext cx="3611880" cy="2240280"/>
          </a:xfrm>
          <a:prstGeom prst="roundRect">
            <a:avLst>
              <a:gd name="adj" fmla="val 4898"/>
            </a:avLst>
          </a:prstGeom>
          <a:solidFill>
            <a:srgbClr val="16232A"/>
          </a:solidFill>
          <a:ln w="9525">
            <a:solidFill>
              <a:srgbClr val="263841"/>
            </a:solidFill>
            <a:prstDash val="solid"/>
          </a:ln>
        </p:spPr>
      </p:sp>
      <p:sp>
        <p:nvSpPr>
          <p:cNvPr id="32" name="Shape 25"/>
          <p:cNvSpPr/>
          <p:nvPr/>
        </p:nvSpPr>
        <p:spPr>
          <a:xfrm>
            <a:off x="8183880" y="3840480"/>
            <a:ext cx="457200" cy="457200"/>
          </a:xfrm>
          <a:prstGeom prst="ellipse">
            <a:avLst/>
          </a:prstGeom>
          <a:solidFill>
            <a:srgbClr val="0A1013"/>
          </a:solidFill>
          <a:ln w="6350">
            <a:solidFill>
              <a:srgbClr val="263841"/>
            </a:solidFill>
            <a:prstDash val="solid"/>
          </a:ln>
        </p:spPr>
      </p:sp>
      <p:pic>
        <p:nvPicPr>
          <p:cNvPr id="33" name="Image 5" descr="preencoded.png">    </p:cNvPr>
          <p:cNvPicPr>
            <a:picLocks noChangeAspect="1"/>
          </p:cNvPicPr>
          <p:nvPr/>
        </p:nvPicPr>
        <p:blipFill>
          <a:blip r:embed="rId6"/>
          <a:stretch>
            <a:fillRect/>
          </a:stretch>
        </p:blipFill>
        <p:spPr>
          <a:xfrm>
            <a:off x="8275320" y="3931920"/>
            <a:ext cx="274320" cy="274320"/>
          </a:xfrm>
          <a:prstGeom prst="rect">
            <a:avLst/>
          </a:prstGeom>
        </p:spPr>
      </p:pic>
      <p:sp>
        <p:nvSpPr>
          <p:cNvPr id="34" name="Text 26"/>
          <p:cNvSpPr txBox="1"/>
          <p:nvPr/>
        </p:nvSpPr>
        <p:spPr>
          <a:xfrm>
            <a:off x="8778240" y="3822192"/>
            <a:ext cx="265176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Write it down</a:t>
            </a:r>
            <a:endParaRPr lang="en-US" sz="1300" dirty="0"/>
          </a:p>
        </p:txBody>
      </p:sp>
      <p:sp>
        <p:nvSpPr>
          <p:cNvPr id="35" name="Text 27"/>
          <p:cNvSpPr txBox="1"/>
          <p:nvPr/>
        </p:nvSpPr>
        <p:spPr>
          <a:xfrm>
            <a:off x="8183880" y="4315968"/>
            <a:ext cx="3246120" cy="1463040"/>
          </a:xfrm>
          <a:prstGeom prst="rect">
            <a:avLst/>
          </a:prstGeom>
          <a:noFill/>
          <a:ln/>
        </p:spPr>
        <p:txBody>
          <a:bodyPr wrap="square" lIns="0" tIns="0" rIns="0" bIns="0" rtlCol="0" anchor="t"/>
          <a:lstStyle/>
          <a:p>
            <a:pPr indent="0" marL="0">
              <a:spcAft>
                <a:spcPts val="400"/>
              </a:spcAft>
              <a:buNone/>
            </a:pPr>
            <a:r>
              <a:rPr lang="en-US" sz="1000" dirty="0">
                <a:solidFill>
                  <a:srgbClr val="E8F0F2"/>
                </a:solidFill>
                <a:latin typeface="Arial" pitchFamily="34" charset="0"/>
                <a:ea typeface="Arial" pitchFamily="34" charset="-122"/>
                <a:cs typeface="Arial" pitchFamily="34" charset="-120"/>
              </a:rPr>
              <a:t>Every non-obvious decision is a comment in the code or a line in a README, so the next engineer inherits the reason, not just the rule.</a:t>
            </a:r>
            <a:endParaRPr lang="en-US" sz="1000" dirty="0"/>
          </a:p>
        </p:txBody>
      </p:sp>
      <p:sp>
        <p:nvSpPr>
          <p:cNvPr id="36" name="Text 28"/>
          <p:cNvSpPr txBox="1"/>
          <p:nvPr/>
        </p:nvSpPr>
        <p:spPr>
          <a:xfrm>
            <a:off x="502920" y="5943600"/>
            <a:ext cx="11155680" cy="365760"/>
          </a:xfrm>
          <a:prstGeom prst="rect">
            <a:avLst/>
          </a:prstGeom>
          <a:noFill/>
          <a:ln/>
        </p:spPr>
        <p:txBody>
          <a:bodyPr wrap="square" lIns="0" tIns="0" rIns="0" bIns="0" rtlCol="0" anchor="t"/>
          <a:lstStyle/>
          <a:p>
            <a:pPr algn="l" indent="0" marL="0">
              <a:buNone/>
            </a:pPr>
            <a:r>
              <a:rPr lang="en-US" sz="950" i="1" dirty="0">
                <a:solidFill>
                  <a:srgbClr val="9DB2BA"/>
                </a:solidFill>
                <a:latin typeface="Arial" pitchFamily="34" charset="0"/>
                <a:ea typeface="Arial" pitchFamily="34" charset="-122"/>
                <a:cs typeface="Arial" pitchFamily="34" charset="-120"/>
              </a:rPr>
              <a:t>Development diary, progress report and final report are in docs/specs; the Android implementation plan and modularisation plan are in docs [3].</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31</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28  COURSE ALIGNMENT [1]</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Evidence against the NIT3213 learning outcomes</a:t>
            </a:r>
            <a:endParaRPr lang="en-US" sz="2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657600"/>
                <a:gridCol w="7498080"/>
              </a:tblGrid>
              <a:tr h="868680">
                <a:tc>
                  <a:txBody>
                    <a:bodyPr/>
                    <a:lstStyle/>
                    <a:p>
                      <a:pPr indent="0" marL="0">
                        <a:buNone/>
                      </a:pPr>
                      <a:r>
                        <a:rPr lang="en-US" sz="1050" b="1" dirty="0">
                          <a:solidFill>
                            <a:srgbClr val="2FD9F4"/>
                          </a:solidFill>
                          <a:latin typeface="Arial" pitchFamily="34" charset="0"/>
                          <a:ea typeface="Arial" pitchFamily="34" charset="-122"/>
                          <a:cs typeface="Arial" pitchFamily="34" charset="-120"/>
                        </a:rPr>
                        <a:t>Learning outcome</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indent="0" marL="0">
                        <a:buNone/>
                      </a:pPr>
                      <a:r>
                        <a:rPr lang="en-US" sz="1050" b="1" dirty="0">
                          <a:solidFill>
                            <a:srgbClr val="2FD9F4"/>
                          </a:solidFill>
                          <a:latin typeface="Arial" pitchFamily="34" charset="0"/>
                          <a:ea typeface="Arial" pitchFamily="34" charset="-122"/>
                          <a:cs typeface="Arial" pitchFamily="34" charset="-120"/>
                        </a:rPr>
                        <a:t>Where this project demonstrates it</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r>
              <a:tr h="868680">
                <a:tc>
                  <a:txBody>
                    <a:bodyPr/>
                    <a:lstStyle/>
                    <a:p>
                      <a:pPr indent="0" marL="0">
                        <a:buNone/>
                      </a:pPr>
                      <a:r>
                        <a:rPr lang="en-US" sz="1050" b="1" dirty="0">
                          <a:solidFill>
                            <a:srgbClr val="FFFFFF"/>
                          </a:solidFill>
                          <a:latin typeface="Arial" pitchFamily="34" charset="0"/>
                          <a:ea typeface="Arial" pitchFamily="34" charset="-122"/>
                          <a:cs typeface="Arial" pitchFamily="34" charset="-120"/>
                        </a:rPr>
                        <a:t>1. Design and develop mobile applications using current software technologies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50" dirty="0">
                          <a:solidFill>
                            <a:srgbClr val="E8F0F2"/>
                          </a:solidFill>
                          <a:latin typeface="Arial" pitchFamily="34" charset="0"/>
                          <a:ea typeface="Arial" pitchFamily="34" charset="-122"/>
                          <a:cs typeface="Arial" pitchFamily="34" charset="-120"/>
                        </a:rPr>
                        <a:t>A complete native Android application in Kotlin 2.3 and Jetpack Compose with Room, Hilt, WorkManager, CameraX, ML Kit, Health Connect and Play Billing, built, tested and packaged for Google Play (slides 17 to 28).</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868680">
                <a:tc>
                  <a:txBody>
                    <a:bodyPr/>
                    <a:lstStyle/>
                    <a:p>
                      <a:pPr indent="0" marL="0">
                        <a:buNone/>
                      </a:pPr>
                      <a:r>
                        <a:rPr lang="en-US" sz="1050" b="1" dirty="0">
                          <a:solidFill>
                            <a:srgbClr val="FFFFFF"/>
                          </a:solidFill>
                          <a:latin typeface="Arial" pitchFamily="34" charset="0"/>
                          <a:ea typeface="Arial" pitchFamily="34" charset="-122"/>
                          <a:cs typeface="Arial" pitchFamily="34" charset="-120"/>
                        </a:rPr>
                        <a:t>2. Create graphical user interfaces that follow design principles and guidelines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50" dirty="0">
                          <a:solidFill>
                            <a:srgbClr val="E8F0F2"/>
                          </a:solidFill>
                          <a:latin typeface="Arial" pitchFamily="34" charset="0"/>
                          <a:ea typeface="Arial" pitchFamily="34" charset="-122"/>
                          <a:cs typeface="Arial" pitchFamily="34" charset="-120"/>
                        </a:rPr>
                        <a:t>Material 3 components, a documented design system (Modern Aquatic Wellness), consistent card tiers and motion, dark-surface contrast, unidirectional state, and Compose screens captured live on a Pixel emulator (slides 5 to 13).</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868680">
                <a:tc>
                  <a:txBody>
                    <a:bodyPr/>
                    <a:lstStyle/>
                    <a:p>
                      <a:pPr indent="0" marL="0">
                        <a:buNone/>
                      </a:pPr>
                      <a:r>
                        <a:rPr lang="en-US" sz="1050" b="1" dirty="0">
                          <a:solidFill>
                            <a:srgbClr val="FFFFFF"/>
                          </a:solidFill>
                          <a:latin typeface="Arial" pitchFamily="34" charset="0"/>
                          <a:ea typeface="Arial" pitchFamily="34" charset="-122"/>
                          <a:cs typeface="Arial" pitchFamily="34" charset="-120"/>
                        </a:rPr>
                        <a:t>3. Explain core concepts underlying contemporary mobile platforms</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50" dirty="0">
                          <a:solidFill>
                            <a:srgbClr val="E8F0F2"/>
                          </a:solidFill>
                          <a:latin typeface="Arial" pitchFamily="34" charset="0"/>
                          <a:ea typeface="Arial" pitchFamily="34" charset="-122"/>
                          <a:cs typeface="Arial" pitchFamily="34" charset="-120"/>
                        </a:rPr>
                        <a:t>Activity lifecycle and process death handled through ViewModel state, foreground services and their permission gates, background work with WorkManager constraints, the Keystore, permissions as review surfaces, and R8 shrinking (slides 18 to 26).</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868680">
                <a:tc>
                  <a:txBody>
                    <a:bodyPr/>
                    <a:lstStyle/>
                    <a:p>
                      <a:pPr indent="0" marL="0">
                        <a:buNone/>
                      </a:pPr>
                      <a:r>
                        <a:rPr lang="en-US" sz="1050" b="1" dirty="0">
                          <a:solidFill>
                            <a:srgbClr val="FFFFFF"/>
                          </a:solidFill>
                          <a:latin typeface="Arial" pitchFamily="34" charset="0"/>
                          <a:ea typeface="Arial" pitchFamily="34" charset="-122"/>
                          <a:cs typeface="Arial" pitchFamily="34" charset="-120"/>
                        </a:rPr>
                        <a:t>4. Apply ethical considerations relevant to mobile application development</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50" dirty="0">
                          <a:solidFill>
                            <a:srgbClr val="E8F0F2"/>
                          </a:solidFill>
                          <a:latin typeface="Arial" pitchFamily="34" charset="0"/>
                          <a:ea typeface="Arial" pitchFamily="34" charset="-122"/>
                          <a:cs typeface="Arial" pitchFamily="34" charset="-120"/>
                        </a:rPr>
                        <a:t>Confirm-first logging, calorie floors enforced in code, crisis signposting, consent-gated personalisation, metadata stripping, a lean permission set, per-record data attribution and an AGPL licence that returns to the commons (slides 4, 11, 25, 26).</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bl>
          </a:graphicData>
        </a:graphic>
      </p:graphicFrame>
      <p:sp>
        <p:nvSpPr>
          <p:cNvPr id="7" name="Text 4"/>
          <p:cNvSpPr txBox="1"/>
          <p:nvPr/>
        </p:nvSpPr>
        <p:spPr>
          <a:xfrm>
            <a:off x="502920" y="5806440"/>
            <a:ext cx="11155680" cy="457200"/>
          </a:xfrm>
          <a:prstGeom prst="rect">
            <a:avLst/>
          </a:prstGeom>
          <a:noFill/>
          <a:ln/>
        </p:spPr>
        <p:txBody>
          <a:bodyPr wrap="square" lIns="0" tIns="0" rIns="0" bIns="0" rtlCol="0" anchor="t"/>
          <a:lstStyle/>
          <a:p>
            <a:pPr algn="l" indent="0" marL="0">
              <a:buNone/>
            </a:pPr>
            <a:r>
              <a:rPr lang="en-US" sz="950" i="1" dirty="0">
                <a:solidFill>
                  <a:srgbClr val="9DB2BA"/>
                </a:solidFill>
                <a:latin typeface="Arial" pitchFamily="34" charset="0"/>
                <a:ea typeface="Arial" pitchFamily="34" charset="-122"/>
                <a:cs typeface="Arial" pitchFamily="34" charset="-120"/>
              </a:rPr>
              <a:t>The unit description on the Victoria University site lists these four outcomes for NIT3213 Mobile Application Development [1].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32</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29  LIMITATIONS AND ROADMAP</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Known limits, stated plainly, and what comes next</a:t>
            </a:r>
            <a:endParaRPr lang="en-US" sz="2800" dirty="0"/>
          </a:p>
        </p:txBody>
      </p:sp>
      <p:sp>
        <p:nvSpPr>
          <p:cNvPr id="6" name="Shape 4"/>
          <p:cNvSpPr/>
          <p:nvPr/>
        </p:nvSpPr>
        <p:spPr>
          <a:xfrm>
            <a:off x="502920" y="1280160"/>
            <a:ext cx="5486400" cy="4754880"/>
          </a:xfrm>
          <a:prstGeom prst="roundRect">
            <a:avLst>
              <a:gd name="adj" fmla="val 2308"/>
            </a:avLst>
          </a:prstGeom>
          <a:solidFill>
            <a:srgbClr val="16232A"/>
          </a:solidFill>
          <a:ln w="9525">
            <a:solidFill>
              <a:srgbClr val="263841"/>
            </a:solidFill>
            <a:prstDash val="solid"/>
          </a:ln>
        </p:spPr>
      </p:sp>
      <p:sp>
        <p:nvSpPr>
          <p:cNvPr id="7" name="Shape 5"/>
          <p:cNvSpPr/>
          <p:nvPr/>
        </p:nvSpPr>
        <p:spPr>
          <a:xfrm>
            <a:off x="685800" y="1463040"/>
            <a:ext cx="457200" cy="457200"/>
          </a:xfrm>
          <a:prstGeom prst="ellipse">
            <a:avLst/>
          </a:prstGeom>
          <a:solidFill>
            <a:srgbClr val="0A1013"/>
          </a:solidFill>
          <a:ln w="6350">
            <a:solidFill>
              <a:srgbClr val="263841"/>
            </a:solidFill>
            <a:prstDash val="solid"/>
          </a:ln>
        </p:spPr>
      </p:sp>
      <p:pic>
        <p:nvPicPr>
          <p:cNvPr id="8"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9" name="Text 6"/>
          <p:cNvSpPr txBox="1"/>
          <p:nvPr/>
        </p:nvSpPr>
        <p:spPr>
          <a:xfrm>
            <a:off x="1280160" y="1444752"/>
            <a:ext cx="45262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Limits we record rather than hide</a:t>
            </a:r>
            <a:endParaRPr lang="en-US" sz="1300" dirty="0"/>
          </a:p>
        </p:txBody>
      </p:sp>
      <p:sp>
        <p:nvSpPr>
          <p:cNvPr id="10" name="Text 7"/>
          <p:cNvSpPr txBox="1"/>
          <p:nvPr/>
        </p:nvSpPr>
        <p:spPr>
          <a:xfrm>
            <a:off x="685800" y="1938528"/>
            <a:ext cx="5120640" cy="39776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Single Gradle module: layering is enforced by convention and a grep until the planned module split lands.</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The API scales as a single instance because each instance serves reads from its own in-memory working set; scale-out needs reads moved off the local copy [5].</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Lint reports 156 warnings; 36 are plural-string candidates that must be fixed before any locale beyond English.</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Test counts are not coverage; line coverage has not been measured.</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Health Connect ships behind a Play declaration that may be deferred from version 1.</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Closed testing with 20 testers for 14 days has not started; the store is prepared, not live.</a:t>
            </a:r>
            <a:endParaRPr lang="en-US" sz="1050" dirty="0"/>
          </a:p>
        </p:txBody>
      </p:sp>
      <p:sp>
        <p:nvSpPr>
          <p:cNvPr id="11" name="Shape 8"/>
          <p:cNvSpPr/>
          <p:nvPr/>
        </p:nvSpPr>
        <p:spPr>
          <a:xfrm>
            <a:off x="6217920" y="1280160"/>
            <a:ext cx="5486400" cy="4754880"/>
          </a:xfrm>
          <a:prstGeom prst="roundRect">
            <a:avLst>
              <a:gd name="adj" fmla="val 2308"/>
            </a:avLst>
          </a:prstGeom>
          <a:solidFill>
            <a:srgbClr val="16232A"/>
          </a:solidFill>
          <a:ln w="9525">
            <a:solidFill>
              <a:srgbClr val="263841"/>
            </a:solidFill>
            <a:prstDash val="solid"/>
          </a:ln>
        </p:spPr>
      </p:sp>
      <p:sp>
        <p:nvSpPr>
          <p:cNvPr id="12" name="Shape 9"/>
          <p:cNvSpPr/>
          <p:nvPr/>
        </p:nvSpPr>
        <p:spPr>
          <a:xfrm>
            <a:off x="6400800" y="1463040"/>
            <a:ext cx="457200" cy="457200"/>
          </a:xfrm>
          <a:prstGeom prst="ellipse">
            <a:avLst/>
          </a:prstGeom>
          <a:solidFill>
            <a:srgbClr val="0A1013"/>
          </a:solidFill>
          <a:ln w="6350">
            <a:solidFill>
              <a:srgbClr val="263841"/>
            </a:solidFill>
            <a:prstDash val="solid"/>
          </a:ln>
        </p:spPr>
      </p:sp>
      <p:pic>
        <p:nvPicPr>
          <p:cNvPr id="13" name="Image 1" descr="preencoded.png">    </p:cNvPr>
          <p:cNvPicPr>
            <a:picLocks noChangeAspect="1"/>
          </p:cNvPicPr>
          <p:nvPr/>
        </p:nvPicPr>
        <p:blipFill>
          <a:blip r:embed="rId2"/>
          <a:stretch>
            <a:fillRect/>
          </a:stretch>
        </p:blipFill>
        <p:spPr>
          <a:xfrm>
            <a:off x="6492240" y="1554480"/>
            <a:ext cx="274320" cy="274320"/>
          </a:xfrm>
          <a:prstGeom prst="rect">
            <a:avLst/>
          </a:prstGeom>
        </p:spPr>
      </p:pic>
      <p:sp>
        <p:nvSpPr>
          <p:cNvPr id="14" name="Text 10"/>
          <p:cNvSpPr txBox="1"/>
          <p:nvPr/>
        </p:nvSpPr>
        <p:spPr>
          <a:xfrm>
            <a:off x="6995160" y="1444752"/>
            <a:ext cx="4526280" cy="457200"/>
          </a:xfrm>
          <a:prstGeom prst="rect">
            <a:avLst/>
          </a:prstGeom>
          <a:noFill/>
          <a:ln/>
        </p:spPr>
        <p:txBody>
          <a:bodyPr wrap="square" lIns="0" tIns="0" rIns="0" bIns="0" rtlCol="0" anchor="ctr"/>
          <a:lstStyle/>
          <a:p>
            <a:pPr indent="0" marL="0">
              <a:buNone/>
            </a:pPr>
            <a:r>
              <a:rPr lang="en-US" sz="1300" b="1" dirty="0">
                <a:solidFill>
                  <a:srgbClr val="2FD9F4"/>
                </a:solidFill>
                <a:latin typeface="Arial" pitchFamily="34" charset="0"/>
                <a:ea typeface="Arial" pitchFamily="34" charset="-122"/>
                <a:cs typeface="Arial" pitchFamily="34" charset="-120"/>
              </a:rPr>
              <a:t>Roadmap</a:t>
            </a:r>
            <a:endParaRPr lang="en-US" sz="1300" dirty="0"/>
          </a:p>
        </p:txBody>
      </p:sp>
      <p:sp>
        <p:nvSpPr>
          <p:cNvPr id="15" name="Text 11"/>
          <p:cNvSpPr txBox="1"/>
          <p:nvPr/>
        </p:nvSpPr>
        <p:spPr>
          <a:xfrm>
            <a:off x="6400800" y="1938528"/>
            <a:ext cx="5120640" cy="397764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Phase 2 and 3 of modularisation: per-layer Gradle modules with the compiler enforcing the graph.</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Closed testing track, staged rollout from 10 to 100 percent.</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Portion memory: remember a user's corrections to portion sizes.</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Squat form check from the on-device pose engine, squat only at first.</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Health Connect signals feeding readiness, and a protein-floor mode for users on appetite-suppressing medication, with clinician sign-off on the copy.</a:t>
            </a:r>
            <a:endParaRPr lang="en-US" sz="1050" dirty="0"/>
          </a:p>
          <a:p>
            <a:pPr marL="152400" indent="-152400">
              <a:spcAft>
                <a:spcPts val="400"/>
              </a:spcAft>
              <a:buSzPct val="100000"/>
              <a:buChar char="•"/>
            </a:pPr>
            <a:r>
              <a:rPr lang="en-US" sz="1050" dirty="0">
                <a:solidFill>
                  <a:srgbClr val="E8F0F2"/>
                </a:solidFill>
                <a:latin typeface="Arial" pitchFamily="34" charset="0"/>
                <a:ea typeface="Arial" pitchFamily="34" charset="-122"/>
                <a:cs typeface="Arial" pitchFamily="34" charset="-120"/>
              </a:rPr>
              <a:t>Localisation once the plural-string work is done.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013"/>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33</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30  IN ONE BREATH</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Conclusion</a:t>
            </a:r>
            <a:endParaRPr lang="en-US" sz="2800" dirty="0"/>
          </a:p>
        </p:txBody>
      </p:sp>
      <p:sp>
        <p:nvSpPr>
          <p:cNvPr id="6" name="Text 4"/>
          <p:cNvSpPr txBox="1"/>
          <p:nvPr/>
        </p:nvSpPr>
        <p:spPr>
          <a:xfrm>
            <a:off x="640080" y="1325880"/>
            <a:ext cx="6766560" cy="1920240"/>
          </a:xfrm>
          <a:prstGeom prst="rect">
            <a:avLst/>
          </a:prstGeom>
          <a:noFill/>
          <a:ln/>
        </p:spPr>
        <p:txBody>
          <a:bodyPr wrap="square" lIns="0" tIns="0" rIns="0" bIns="0" rtlCol="0" anchor="t"/>
          <a:lstStyle/>
          <a:p>
            <a:pPr algn="l" indent="0" marL="0">
              <a:buNone/>
            </a:pPr>
            <a:r>
              <a:rPr lang="en-US" sz="1400" dirty="0">
                <a:solidFill>
                  <a:srgbClr val="E8F0F2"/>
                </a:solidFill>
                <a:latin typeface="Arial" pitchFamily="34" charset="0"/>
                <a:ea typeface="Arial" pitchFamily="34" charset="-122"/>
                <a:cs typeface="Arial" pitchFamily="34" charset="-120"/>
              </a:rPr>
              <a:t>AquaZeroFit for Android is a native, offline-first Kotlin client that lets a language model do only what it is good at, identifying and explaining, while deterministic code owns every number, every floor and every safety decision. It is built on the current Android toolchain, verified by 573 Android tests and four CI gates, packaged as a signed 5.9 MB release, and prepared for Google Play with a lean permission set and an honest data-safety declaration.</a:t>
            </a:r>
            <a:endParaRPr lang="en-US" sz="1400" dirty="0"/>
          </a:p>
        </p:txBody>
      </p:sp>
      <p:sp>
        <p:nvSpPr>
          <p:cNvPr id="7" name="Shape 5"/>
          <p:cNvSpPr/>
          <p:nvPr/>
        </p:nvSpPr>
        <p:spPr>
          <a:xfrm>
            <a:off x="640080" y="3429000"/>
            <a:ext cx="3291840" cy="1188720"/>
          </a:xfrm>
          <a:prstGeom prst="roundRect">
            <a:avLst>
              <a:gd name="adj" fmla="val 9231"/>
            </a:avLst>
          </a:prstGeom>
          <a:solidFill>
            <a:srgbClr val="16232A"/>
          </a:solidFill>
          <a:ln w="9525">
            <a:solidFill>
              <a:srgbClr val="263841"/>
            </a:solidFill>
            <a:prstDash val="solid"/>
          </a:ln>
        </p:spPr>
      </p:sp>
      <p:sp>
        <p:nvSpPr>
          <p:cNvPr id="8" name="Shape 6"/>
          <p:cNvSpPr/>
          <p:nvPr/>
        </p:nvSpPr>
        <p:spPr>
          <a:xfrm>
            <a:off x="822960" y="3611880"/>
            <a:ext cx="457200" cy="457200"/>
          </a:xfrm>
          <a:prstGeom prst="ellipse">
            <a:avLst/>
          </a:prstGeom>
          <a:solidFill>
            <a:srgbClr val="0A1013"/>
          </a:solidFill>
          <a:ln w="6350">
            <a:solidFill>
              <a:srgbClr val="263841"/>
            </a:solidFill>
            <a:prstDash val="solid"/>
          </a:ln>
        </p:spPr>
      </p:sp>
      <p:pic>
        <p:nvPicPr>
          <p:cNvPr id="9" name="Image 0" descr="preencoded.png">    </p:cNvPr>
          <p:cNvPicPr>
            <a:picLocks noChangeAspect="1"/>
          </p:cNvPicPr>
          <p:nvPr/>
        </p:nvPicPr>
        <p:blipFill>
          <a:blip r:embed="rId1"/>
          <a:stretch>
            <a:fillRect/>
          </a:stretch>
        </p:blipFill>
        <p:spPr>
          <a:xfrm>
            <a:off x="914400" y="3703320"/>
            <a:ext cx="274320" cy="274320"/>
          </a:xfrm>
          <a:prstGeom prst="rect">
            <a:avLst/>
          </a:prstGeom>
        </p:spPr>
      </p:pic>
      <p:sp>
        <p:nvSpPr>
          <p:cNvPr id="10" name="Text 7"/>
          <p:cNvSpPr txBox="1"/>
          <p:nvPr/>
        </p:nvSpPr>
        <p:spPr>
          <a:xfrm>
            <a:off x="1417320" y="3593592"/>
            <a:ext cx="233172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Trustworthy</a:t>
            </a:r>
            <a:endParaRPr lang="en-US" sz="1150" dirty="0"/>
          </a:p>
        </p:txBody>
      </p:sp>
      <p:sp>
        <p:nvSpPr>
          <p:cNvPr id="11" name="Text 8"/>
          <p:cNvSpPr txBox="1"/>
          <p:nvPr/>
        </p:nvSpPr>
        <p:spPr>
          <a:xfrm>
            <a:off x="822960" y="4087368"/>
            <a:ext cx="2926080" cy="41148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Targets you can check, confirm-first logging, attribution on every record.</a:t>
            </a:r>
            <a:endParaRPr lang="en-US" sz="950" dirty="0"/>
          </a:p>
        </p:txBody>
      </p:sp>
      <p:sp>
        <p:nvSpPr>
          <p:cNvPr id="12" name="Shape 9"/>
          <p:cNvSpPr/>
          <p:nvPr/>
        </p:nvSpPr>
        <p:spPr>
          <a:xfrm>
            <a:off x="4069080" y="3429000"/>
            <a:ext cx="3291840" cy="1188720"/>
          </a:xfrm>
          <a:prstGeom prst="roundRect">
            <a:avLst>
              <a:gd name="adj" fmla="val 9231"/>
            </a:avLst>
          </a:prstGeom>
          <a:solidFill>
            <a:srgbClr val="16232A"/>
          </a:solidFill>
          <a:ln w="9525">
            <a:solidFill>
              <a:srgbClr val="263841"/>
            </a:solidFill>
            <a:prstDash val="solid"/>
          </a:ln>
        </p:spPr>
      </p:sp>
      <p:sp>
        <p:nvSpPr>
          <p:cNvPr id="13" name="Shape 10"/>
          <p:cNvSpPr/>
          <p:nvPr/>
        </p:nvSpPr>
        <p:spPr>
          <a:xfrm>
            <a:off x="4251960" y="3611880"/>
            <a:ext cx="457200" cy="457200"/>
          </a:xfrm>
          <a:prstGeom prst="ellipse">
            <a:avLst/>
          </a:prstGeom>
          <a:solidFill>
            <a:srgbClr val="0A1013"/>
          </a:solidFill>
          <a:ln w="6350">
            <a:solidFill>
              <a:srgbClr val="263841"/>
            </a:solidFill>
            <a:prstDash val="solid"/>
          </a:ln>
        </p:spPr>
      </p:sp>
      <p:pic>
        <p:nvPicPr>
          <p:cNvPr id="14" name="Image 1" descr="preencoded.png">    </p:cNvPr>
          <p:cNvPicPr>
            <a:picLocks noChangeAspect="1"/>
          </p:cNvPicPr>
          <p:nvPr/>
        </p:nvPicPr>
        <p:blipFill>
          <a:blip r:embed="rId2"/>
          <a:stretch>
            <a:fillRect/>
          </a:stretch>
        </p:blipFill>
        <p:spPr>
          <a:xfrm>
            <a:off x="4343400" y="3703320"/>
            <a:ext cx="274320" cy="274320"/>
          </a:xfrm>
          <a:prstGeom prst="rect">
            <a:avLst/>
          </a:prstGeom>
        </p:spPr>
      </p:pic>
      <p:sp>
        <p:nvSpPr>
          <p:cNvPr id="15" name="Text 11"/>
          <p:cNvSpPr txBox="1"/>
          <p:nvPr/>
        </p:nvSpPr>
        <p:spPr>
          <a:xfrm>
            <a:off x="4846320" y="3593592"/>
            <a:ext cx="233172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Resilient</a:t>
            </a:r>
            <a:endParaRPr lang="en-US" sz="1150" dirty="0"/>
          </a:p>
        </p:txBody>
      </p:sp>
      <p:sp>
        <p:nvSpPr>
          <p:cNvPr id="16" name="Text 12"/>
          <p:cNvSpPr txBox="1"/>
          <p:nvPr/>
        </p:nvSpPr>
        <p:spPr>
          <a:xfrm>
            <a:off x="4251960" y="4087368"/>
            <a:ext cx="2926080" cy="41148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Room as the source of truth, idempotent sync, AI that degrades honestly.</a:t>
            </a:r>
            <a:endParaRPr lang="en-US" sz="950" dirty="0"/>
          </a:p>
        </p:txBody>
      </p:sp>
      <p:sp>
        <p:nvSpPr>
          <p:cNvPr id="17" name="Shape 13"/>
          <p:cNvSpPr/>
          <p:nvPr/>
        </p:nvSpPr>
        <p:spPr>
          <a:xfrm>
            <a:off x="640080" y="4754880"/>
            <a:ext cx="3291840" cy="1188720"/>
          </a:xfrm>
          <a:prstGeom prst="roundRect">
            <a:avLst>
              <a:gd name="adj" fmla="val 9231"/>
            </a:avLst>
          </a:prstGeom>
          <a:solidFill>
            <a:srgbClr val="16232A"/>
          </a:solidFill>
          <a:ln w="9525">
            <a:solidFill>
              <a:srgbClr val="263841"/>
            </a:solidFill>
            <a:prstDash val="solid"/>
          </a:ln>
        </p:spPr>
      </p:sp>
      <p:sp>
        <p:nvSpPr>
          <p:cNvPr id="18" name="Shape 14"/>
          <p:cNvSpPr/>
          <p:nvPr/>
        </p:nvSpPr>
        <p:spPr>
          <a:xfrm>
            <a:off x="822960" y="4937760"/>
            <a:ext cx="457200" cy="457200"/>
          </a:xfrm>
          <a:prstGeom prst="ellipse">
            <a:avLst/>
          </a:prstGeom>
          <a:solidFill>
            <a:srgbClr val="0A1013"/>
          </a:solidFill>
          <a:ln w="6350">
            <a:solidFill>
              <a:srgbClr val="263841"/>
            </a:solidFill>
            <a:prstDash val="solid"/>
          </a:ln>
        </p:spPr>
      </p:sp>
      <p:pic>
        <p:nvPicPr>
          <p:cNvPr id="19" name="Image 2" descr="preencoded.png">    </p:cNvPr>
          <p:cNvPicPr>
            <a:picLocks noChangeAspect="1"/>
          </p:cNvPicPr>
          <p:nvPr/>
        </p:nvPicPr>
        <p:blipFill>
          <a:blip r:embed="rId3"/>
          <a:stretch>
            <a:fillRect/>
          </a:stretch>
        </p:blipFill>
        <p:spPr>
          <a:xfrm>
            <a:off x="914400" y="5029200"/>
            <a:ext cx="274320" cy="274320"/>
          </a:xfrm>
          <a:prstGeom prst="rect">
            <a:avLst/>
          </a:prstGeom>
        </p:spPr>
      </p:pic>
      <p:sp>
        <p:nvSpPr>
          <p:cNvPr id="20" name="Text 15"/>
          <p:cNvSpPr txBox="1"/>
          <p:nvPr/>
        </p:nvSpPr>
        <p:spPr>
          <a:xfrm>
            <a:off x="1417320" y="4919472"/>
            <a:ext cx="233172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Safe by construction</a:t>
            </a:r>
            <a:endParaRPr lang="en-US" sz="1150" dirty="0"/>
          </a:p>
        </p:txBody>
      </p:sp>
      <p:sp>
        <p:nvSpPr>
          <p:cNvPr id="21" name="Text 16"/>
          <p:cNvSpPr txBox="1"/>
          <p:nvPr/>
        </p:nvSpPr>
        <p:spPr>
          <a:xfrm>
            <a:off x="822960" y="5413248"/>
            <a:ext cx="2926080" cy="41148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Floors, allergens and crisis handling in code, consent before personalisation.</a:t>
            </a:r>
            <a:endParaRPr lang="en-US" sz="950" dirty="0"/>
          </a:p>
        </p:txBody>
      </p:sp>
      <p:sp>
        <p:nvSpPr>
          <p:cNvPr id="22" name="Shape 17"/>
          <p:cNvSpPr/>
          <p:nvPr/>
        </p:nvSpPr>
        <p:spPr>
          <a:xfrm>
            <a:off x="4069080" y="4754880"/>
            <a:ext cx="3291840" cy="1188720"/>
          </a:xfrm>
          <a:prstGeom prst="roundRect">
            <a:avLst>
              <a:gd name="adj" fmla="val 9231"/>
            </a:avLst>
          </a:prstGeom>
          <a:solidFill>
            <a:srgbClr val="16232A"/>
          </a:solidFill>
          <a:ln w="9525">
            <a:solidFill>
              <a:srgbClr val="263841"/>
            </a:solidFill>
            <a:prstDash val="solid"/>
          </a:ln>
        </p:spPr>
      </p:sp>
      <p:sp>
        <p:nvSpPr>
          <p:cNvPr id="23" name="Shape 18"/>
          <p:cNvSpPr/>
          <p:nvPr/>
        </p:nvSpPr>
        <p:spPr>
          <a:xfrm>
            <a:off x="4251960" y="4937760"/>
            <a:ext cx="457200" cy="457200"/>
          </a:xfrm>
          <a:prstGeom prst="ellipse">
            <a:avLst/>
          </a:prstGeom>
          <a:solidFill>
            <a:srgbClr val="0A1013"/>
          </a:solidFill>
          <a:ln w="6350">
            <a:solidFill>
              <a:srgbClr val="263841"/>
            </a:solidFill>
            <a:prstDash val="solid"/>
          </a:ln>
        </p:spPr>
      </p:sp>
      <p:pic>
        <p:nvPicPr>
          <p:cNvPr id="24" name="Image 3" descr="preencoded.png">    </p:cNvPr>
          <p:cNvPicPr>
            <a:picLocks noChangeAspect="1"/>
          </p:cNvPicPr>
          <p:nvPr/>
        </p:nvPicPr>
        <p:blipFill>
          <a:blip r:embed="rId4"/>
          <a:stretch>
            <a:fillRect/>
          </a:stretch>
        </p:blipFill>
        <p:spPr>
          <a:xfrm>
            <a:off x="4343400" y="5029200"/>
            <a:ext cx="274320" cy="274320"/>
          </a:xfrm>
          <a:prstGeom prst="rect">
            <a:avLst/>
          </a:prstGeom>
        </p:spPr>
      </p:pic>
      <p:sp>
        <p:nvSpPr>
          <p:cNvPr id="25" name="Text 19"/>
          <p:cNvSpPr txBox="1"/>
          <p:nvPr/>
        </p:nvSpPr>
        <p:spPr>
          <a:xfrm>
            <a:off x="4846320" y="4919472"/>
            <a:ext cx="2331720" cy="457200"/>
          </a:xfrm>
          <a:prstGeom prst="rect">
            <a:avLst/>
          </a:prstGeom>
          <a:noFill/>
          <a:ln/>
        </p:spPr>
        <p:txBody>
          <a:bodyPr wrap="square" lIns="0" tIns="0" rIns="0" bIns="0" rtlCol="0" anchor="ctr"/>
          <a:lstStyle/>
          <a:p>
            <a:pPr indent="0" marL="0">
              <a:buNone/>
            </a:pPr>
            <a:r>
              <a:rPr lang="en-US" sz="1150" b="1" dirty="0">
                <a:solidFill>
                  <a:srgbClr val="2FD9F4"/>
                </a:solidFill>
                <a:latin typeface="Arial" pitchFamily="34" charset="0"/>
                <a:ea typeface="Arial" pitchFamily="34" charset="-122"/>
                <a:cs typeface="Arial" pitchFamily="34" charset="-120"/>
              </a:rPr>
              <a:t>Open</a:t>
            </a:r>
            <a:endParaRPr lang="en-US" sz="1150" dirty="0"/>
          </a:p>
        </p:txBody>
      </p:sp>
      <p:sp>
        <p:nvSpPr>
          <p:cNvPr id="26" name="Text 20"/>
          <p:cNvSpPr txBox="1"/>
          <p:nvPr/>
        </p:nvSpPr>
        <p:spPr>
          <a:xfrm>
            <a:off x="4251960" y="5413248"/>
            <a:ext cx="2926080" cy="411480"/>
          </a:xfrm>
          <a:prstGeom prst="rect">
            <a:avLst/>
          </a:prstGeom>
          <a:noFill/>
          <a:ln/>
        </p:spPr>
        <p:txBody>
          <a:bodyPr wrap="square" lIns="0" tIns="0" rIns="0" bIns="0" rtlCol="0" anchor="t"/>
          <a:lstStyle/>
          <a:p>
            <a:pPr indent="0" marL="0">
              <a:spcAft>
                <a:spcPts val="400"/>
              </a:spcAft>
              <a:buNone/>
            </a:pPr>
            <a:r>
              <a:rPr lang="en-US" sz="950" dirty="0">
                <a:solidFill>
                  <a:srgbClr val="E8F0F2"/>
                </a:solidFill>
                <a:latin typeface="Arial" pitchFamily="34" charset="0"/>
                <a:ea typeface="Arial" pitchFamily="34" charset="-122"/>
                <a:cs typeface="Arial" pitchFamily="34" charset="-120"/>
              </a:rPr>
              <a:t>AGPL-3.0-or-later, open data credited, decisions written down.</a:t>
            </a:r>
            <a:endParaRPr lang="en-US" sz="950" dirty="0"/>
          </a:p>
        </p:txBody>
      </p:sp>
      <p:sp>
        <p:nvSpPr>
          <p:cNvPr id="27" name="Shape 21"/>
          <p:cNvSpPr/>
          <p:nvPr/>
        </p:nvSpPr>
        <p:spPr>
          <a:xfrm>
            <a:off x="7891272" y="121615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28" name="Image 4" descr="C:\Users\lumin\AppData\Local\Temp\azf-shots\h_home.png">    </p:cNvPr>
          <p:cNvPicPr>
            <a:picLocks noChangeAspect="1"/>
          </p:cNvPicPr>
          <p:nvPr/>
        </p:nvPicPr>
        <p:blipFill>
          <a:blip r:embed="rId5"/>
          <a:stretch>
            <a:fillRect/>
          </a:stretch>
        </p:blipFill>
        <p:spPr>
          <a:xfrm>
            <a:off x="7955280" y="1280160"/>
            <a:ext cx="1996089" cy="4480560"/>
          </a:xfrm>
          <a:prstGeom prst="rect">
            <a:avLst/>
          </a:prstGeom>
        </p:spPr>
      </p:pic>
      <p:sp>
        <p:nvSpPr>
          <p:cNvPr id="29" name="Shape 22"/>
          <p:cNvSpPr/>
          <p:nvPr/>
        </p:nvSpPr>
        <p:spPr>
          <a:xfrm>
            <a:off x="9948672" y="1216152"/>
            <a:ext cx="2124105" cy="4608576"/>
          </a:xfrm>
          <a:prstGeom prst="roundRect">
            <a:avLst>
              <a:gd name="adj" fmla="val 7749"/>
            </a:avLst>
          </a:prstGeom>
          <a:solidFill>
            <a:srgbClr val="0A1013"/>
          </a:solidFill>
          <a:ln w="15875">
            <a:solidFill>
              <a:srgbClr val="2FD9F4"/>
            </a:solidFill>
            <a:prstDash val="solid"/>
          </a:ln>
          <a:effectLst>
            <a:outerShdw sx="100000" sy="100000" kx="0" ky="0" algn="bl" rotWithShape="0" blurRad="101600" dist="50800" dir="16200000">
              <a:srgbClr val="2FD9F4">
                <a:alpha val="35000"/>
              </a:srgbClr>
            </a:outerShdw>
          </a:effectLst>
        </p:spPr>
      </p:sp>
      <p:pic>
        <p:nvPicPr>
          <p:cNvPr id="30" name="Image 5" descr="C:\Users\lumin\AppData\Local\Temp\azf-shots\c_coach.png">    </p:cNvPr>
          <p:cNvPicPr>
            <a:picLocks noChangeAspect="1"/>
          </p:cNvPicPr>
          <p:nvPr/>
        </p:nvPicPr>
        <p:blipFill>
          <a:blip r:embed="rId6"/>
          <a:stretch>
            <a:fillRect/>
          </a:stretch>
        </p:blipFill>
        <p:spPr>
          <a:xfrm>
            <a:off x="10012680" y="1280160"/>
            <a:ext cx="1996089" cy="4480560"/>
          </a:xfrm>
          <a:prstGeom prst="rect">
            <a:avLst/>
          </a:prstGeom>
        </p:spPr>
      </p:pic>
      <p:sp>
        <p:nvSpPr>
          <p:cNvPr id="31" name="Text 23"/>
          <p:cNvSpPr txBox="1"/>
          <p:nvPr/>
        </p:nvSpPr>
        <p:spPr>
          <a:xfrm>
            <a:off x="640080" y="6172200"/>
            <a:ext cx="6858000" cy="320040"/>
          </a:xfrm>
          <a:prstGeom prst="rect">
            <a:avLst/>
          </a:prstGeom>
          <a:noFill/>
          <a:ln/>
        </p:spPr>
        <p:txBody>
          <a:bodyPr wrap="square" lIns="0" tIns="0" rIns="0" bIns="0" rtlCol="0" anchor="t"/>
          <a:lstStyle/>
          <a:p>
            <a:pPr algn="l" indent="0" marL="0">
              <a:buNone/>
            </a:pPr>
            <a:r>
              <a:rPr lang="en-US" sz="1200" b="1" dirty="0">
                <a:solidFill>
                  <a:srgbClr val="2FD9F4"/>
                </a:solidFill>
                <a:latin typeface="Arial" pitchFamily="34" charset="0"/>
                <a:ea typeface="Arial" pitchFamily="34" charset="-122"/>
                <a:cs typeface="Arial" pitchFamily="34" charset="-120"/>
              </a:rPr>
              <a:t>Thank you. Questions are welcome; the code is public [3].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34</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REFERENCES</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References (1 of 2)</a:t>
            </a:r>
            <a:endParaRPr lang="en-US" sz="2800" dirty="0"/>
          </a:p>
        </p:txBody>
      </p:sp>
      <p:sp>
        <p:nvSpPr>
          <p:cNvPr id="6" name="Text 4"/>
          <p:cNvSpPr txBox="1"/>
          <p:nvPr/>
        </p:nvSpPr>
        <p:spPr>
          <a:xfrm>
            <a:off x="548640" y="1234440"/>
            <a:ext cx="11064240" cy="5074920"/>
          </a:xfrm>
          <a:prstGeom prst="rect">
            <a:avLst/>
          </a:prstGeom>
          <a:noFill/>
          <a:ln/>
        </p:spPr>
        <p:txBody>
          <a:bodyPr wrap="square" lIns="0" tIns="0" rIns="0" bIns="0" rtlCol="0" anchor="t"/>
          <a:lstStyle/>
          <a:p>
            <a:pPr indent="0" marL="0">
              <a:spcAft>
                <a:spcPts val="500"/>
              </a:spcAft>
              <a:buNone/>
            </a:pPr>
            <a:r>
              <a:rPr lang="en-US" sz="950" dirty="0">
                <a:solidFill>
                  <a:srgbClr val="E8F0F2"/>
                </a:solidFill>
                <a:latin typeface="Arial" pitchFamily="34" charset="0"/>
                <a:ea typeface="Arial" pitchFamily="34" charset="-122"/>
                <a:cs typeface="Arial" pitchFamily="34" charset="-120"/>
              </a:rPr>
              <a:t>[1] Victoria University. (2026). NIT3213 Mobile Application Development, unit description and learning outcomes. https://www.vu.edu.au/units/mobile-application-development-nit3213</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 AquaZero. (2026). AquaZeroFit official website. https://aquazerofit.com/</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[3] Luminara Digital. (2026). aquazerofit: source repository, documentation set AQF-01 to AQF-29, Play Store guides and plans. https://github.com/LuminaraDigital/aquazerofit</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[4] Williams-Fulwood, B. (2026). AquaZeroFit for Android, README and source (apps/android), repository commit 17faa2d, 8 September 2026.</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[5] Williams-Fulwood, B. (2026). AquaZeroFit Architecture and Presentation Guide, and Architectural and Technical Report (docs/plans, docs/ARCHITECTURE.md), Victoria University.</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[6] Android Developers. (2026). Guide to app architecture. https://developer.android.com/topic/architecture</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[7] Android Developers. (2026). Jetpack Compose. https://developer.android.com/compose</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[8] Android Developers. (2026). Save data in a local database using Room. https://developer.android.com/training/data-storage/room</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[9] Android Developers. (2026). Dependency injection with Hilt. https://developer.android.com/training/dependency-injection/hilt-android</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[10] Android Developers. (2026). Schedule tasks with WorkManager. https://developer.android.com/topic/libraries/architecture/workmanager</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[11] Android Developers. (2026). Health Connect. https://developer.android.com/health-and-fitness/guides/health-connect</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[12] Android Developers. (2026). Google Play Billing Library. https://developer.android.com/google/play/billing</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[13] Google. (2026). ML Kit: Scan barcodes. https://developers.google.com/ml-kit/vision/barcode-scanning</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[14] Android Developers. (2026). CameraX overview. https://developer.android.com/media/camera/camerax</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[15] Android Developers. (2026). Build app widgets with Glance. https://developer.android.com/develop/ui/compose/glance</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35</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REFERENCES</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References (2 of 2)</a:t>
            </a:r>
            <a:endParaRPr lang="en-US" sz="2800" dirty="0"/>
          </a:p>
        </p:txBody>
      </p:sp>
      <p:sp>
        <p:nvSpPr>
          <p:cNvPr id="6" name="Text 4"/>
          <p:cNvSpPr txBox="1"/>
          <p:nvPr/>
        </p:nvSpPr>
        <p:spPr>
          <a:xfrm>
            <a:off x="548640" y="1234440"/>
            <a:ext cx="11064240" cy="5074920"/>
          </a:xfrm>
          <a:prstGeom prst="rect">
            <a:avLst/>
          </a:prstGeom>
          <a:noFill/>
          <a:ln/>
        </p:spPr>
        <p:txBody>
          <a:bodyPr wrap="square" lIns="0" tIns="0" rIns="0" bIns="0" rtlCol="0" anchor="t"/>
          <a:lstStyle/>
          <a:p>
            <a:pPr indent="0" marL="0">
              <a:spcAft>
                <a:spcPts val="500"/>
              </a:spcAft>
              <a:buNone/>
            </a:pPr>
            <a:r>
              <a:rPr lang="en-US" sz="950" dirty="0">
                <a:solidFill>
                  <a:srgbClr val="E8F0F2"/>
                </a:solidFill>
                <a:latin typeface="Arial" pitchFamily="34" charset="0"/>
                <a:ea typeface="Arial" pitchFamily="34" charset="-122"/>
                <a:cs typeface="Arial" pitchFamily="34" charset="-120"/>
              </a:rPr>
              <a:t>[16] Android Developers. (2026). Foreground services and foreground service types. https://developer.android.com/develop/background-work/services/fgs</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[17] Android Developers. (2026). Shrink, obfuscate, and optimize your app (R8). https://developer.android.com/build/shrink-code</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[18] Android Developers. (2026). Android CLI for agents. https://developer.android.com/tools/agents/android-cli</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[19] Mifflin, M. D., St Jeor, S. T., Hill, L. A., Scott, B. J., Daugherty, S. A., and Koh, Y. O. (1990). A new predictive equation for resting energy expenditure in healthy individuals. American Journal of Clinical Nutrition, 51(2), 241 to 247. https://doi.org/10.1093/ajcn/51.2.241</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[20] wger Workout Manager. (2026). Open exercise database and REST API, licensed per record under Creative Commons. https://wger.de and https://github.com/wger-project/wger</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[21] Open Food Facts. (2026). Open food products database, Open Database License 1.0. https://world.openfoodfacts.org</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[22] Free Software Foundation. (2007). GNU Affero General Public License, version 3. https://www.gnu.org/licenses/agpl-3.0.html</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[23] Google Play Console Help. (2026). Health apps policy, data safety section, and app testing requirements for new developer accounts. https://support.google.com/googleplay/android-developer</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[24] MyFitnessPal (https://www.myfitnesspal.com), MacroFactor (https://macrofactorapp.com), Hevy (https://www.hevyapp.com), Strong (https://www.strong.app) and Noom (https://www.noom.com). Product feature pages and support documentation, accessed September 2026.</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[25] Jones, M., Bradley, J., and Sakimura, N. (2015). RFC 7519: JSON Web Token. IETF. Fielding, R., Nottingham, M., and Reschke, J. (2022). RFC 9111: HTTP Caching. IETF. https://www.rfc-editor.org</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[26] Office of the Australian Information Commissioner. (2026). Australian Privacy Principles. https://www.oaic.gov.au/privacy/australian-privacy-principles</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[27] Lifeline Australia. (2026). Crisis support, 13 11 14. https://www.lifeline.org.au</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[28] Android Developers. (2026). Android Keystore system. https://developer.android.com/privacy-and-security/keystore</a:t>
            </a:r>
            <a:endParaRPr lang="en-US" sz="950" dirty="0"/>
          </a:p>
          <a:p>
            <a:pPr indent="0" marL="0">
              <a:spcAft>
                <a:spcPts val="500"/>
              </a:spcAft>
              <a:buNone/>
            </a:pPr>
            <a:r>
              <a:rPr lang="en-US" sz="950" dirty="0">
                <a:solidFill>
                  <a:srgbClr val="E8F0F2"/>
                </a:solidFill>
                <a:latin typeface="Arial" pitchFamily="34" charset="0"/>
                <a:ea typeface="Arial" pitchFamily="34" charset="-122"/>
                <a:cs typeface="Arial" pitchFamily="34" charset="-120"/>
              </a:rPr>
              <a:t>[29] Kotlin Foundation. (2026). Kotlin programming language documentation. https://kotlinlang.org/docs/home.html</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61A"/>
        </a:solidFill>
      </p:bgPr>
    </p:bg>
    <p:spTree>
      <p:nvGrpSpPr>
        <p:cNvPr id="1" name=""/>
        <p:cNvGrpSpPr/>
        <p:nvPr/>
      </p:nvGrpSpPr>
      <p:grpSpPr>
        <a:xfrm>
          <a:off x="0" y="0"/>
          <a:ext cx="0" cy="0"/>
          <a:chOff x="0" y="0"/>
          <a:chExt cx="0" cy="0"/>
        </a:xfrm>
      </p:grpSpPr>
      <p:sp>
        <p:nvSpPr>
          <p:cNvPr id="2" name="Text 0"/>
          <p:cNvSpPr txBox="1"/>
          <p:nvPr/>
        </p:nvSpPr>
        <p:spPr>
          <a:xfrm>
            <a:off x="502920" y="6473952"/>
            <a:ext cx="8686800" cy="274320"/>
          </a:xfrm>
          <a:prstGeom prst="rect">
            <a:avLst/>
          </a:prstGeom>
          <a:noFill/>
          <a:ln/>
        </p:spPr>
        <p:txBody>
          <a:bodyPr wrap="square" lIns="0" tIns="0" rIns="0" bIns="0" rtlCol="0" anchor="ctr"/>
          <a:lstStyle/>
          <a:p>
            <a:pPr indent="0" marL="0">
              <a:buNone/>
            </a:pPr>
            <a:r>
              <a:rPr lang="en-US" sz="900" dirty="0">
                <a:solidFill>
                  <a:srgbClr val="6E8790"/>
                </a:solidFill>
                <a:latin typeface="Arial" pitchFamily="34" charset="0"/>
                <a:ea typeface="Arial" pitchFamily="34" charset="-122"/>
                <a:cs typeface="Arial" pitchFamily="34" charset="-120"/>
              </a:rPr>
              <a:t>AquaZeroFit for Android  |  NIT3213 Mobile Application Development  |  Babatundji Williams-Fulwood, s8138393</a:t>
            </a:r>
            <a:endParaRPr lang="en-US" sz="900" dirty="0"/>
          </a:p>
        </p:txBody>
      </p:sp>
      <p:sp>
        <p:nvSpPr>
          <p:cNvPr id="3" name="Text 1"/>
          <p:cNvSpPr txBox="1"/>
          <p:nvPr/>
        </p:nvSpPr>
        <p:spPr>
          <a:xfrm>
            <a:off x="11094415" y="6473952"/>
            <a:ext cx="594360" cy="274320"/>
          </a:xfrm>
          <a:prstGeom prst="rect">
            <a:avLst/>
          </a:prstGeom>
          <a:noFill/>
          <a:ln/>
        </p:spPr>
        <p:txBody>
          <a:bodyPr wrap="square" lIns="0" tIns="0" rIns="0" bIns="0" rtlCol="0" anchor="ctr"/>
          <a:lstStyle/>
          <a:p>
            <a:pPr algn="r" indent="0" marL="0">
              <a:buNone/>
            </a:pPr>
            <a:r>
              <a:rPr lang="en-US" sz="900" dirty="0">
                <a:solidFill>
                  <a:srgbClr val="6E8790"/>
                </a:solidFill>
                <a:latin typeface="Arial" pitchFamily="34" charset="0"/>
                <a:ea typeface="Arial" pitchFamily="34" charset="-122"/>
                <a:cs typeface="Arial" pitchFamily="34" charset="-120"/>
              </a:rPr>
              <a:t>36</a:t>
            </a:r>
            <a:endParaRPr lang="en-US" sz="900" dirty="0"/>
          </a:p>
        </p:txBody>
      </p:sp>
      <p:sp>
        <p:nvSpPr>
          <p:cNvPr id="4" name="Text 2"/>
          <p:cNvSpPr txBox="1"/>
          <p:nvPr/>
        </p:nvSpPr>
        <p:spPr>
          <a:xfrm>
            <a:off x="502920" y="292608"/>
            <a:ext cx="10058400" cy="256032"/>
          </a:xfrm>
          <a:prstGeom prst="rect">
            <a:avLst/>
          </a:prstGeom>
          <a:noFill/>
          <a:ln/>
        </p:spPr>
        <p:txBody>
          <a:bodyPr wrap="square" lIns="0" tIns="0" rIns="0" bIns="0" rtlCol="0" anchor="ctr"/>
          <a:lstStyle/>
          <a:p>
            <a:pPr indent="0" marL="0">
              <a:buNone/>
            </a:pPr>
            <a:r>
              <a:rPr lang="en-US" sz="1100" b="1" spc="200" kern="0" dirty="0">
                <a:solidFill>
                  <a:srgbClr val="2FD9F4"/>
                </a:solidFill>
                <a:latin typeface="Arial" pitchFamily="34" charset="0"/>
                <a:ea typeface="Arial" pitchFamily="34" charset="-122"/>
                <a:cs typeface="Arial" pitchFamily="34" charset="-120"/>
              </a:rPr>
              <a:t>APPENDIX</a:t>
            </a:r>
            <a:endParaRPr lang="en-US" sz="1100" dirty="0"/>
          </a:p>
        </p:txBody>
      </p:sp>
      <p:sp>
        <p:nvSpPr>
          <p:cNvPr id="5" name="Text 3"/>
          <p:cNvSpPr txBox="1"/>
          <p:nvPr/>
        </p:nvSpPr>
        <p:spPr>
          <a:xfrm>
            <a:off x="502920" y="530352"/>
            <a:ext cx="11155680" cy="6400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Glossary for non-technical readers</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377440"/>
                <a:gridCol w="8778240"/>
              </a:tblGrid>
              <a:tr h="393192">
                <a:tc>
                  <a:txBody>
                    <a:bodyPr/>
                    <a:lstStyle/>
                    <a:p>
                      <a:pPr indent="0" marL="0">
                        <a:buNone/>
                      </a:pPr>
                      <a:r>
                        <a:rPr lang="en-US" sz="1050" b="1" dirty="0">
                          <a:solidFill>
                            <a:srgbClr val="2FD9F4"/>
                          </a:solidFill>
                          <a:latin typeface="Arial" pitchFamily="34" charset="0"/>
                          <a:ea typeface="Arial" pitchFamily="34" charset="-122"/>
                          <a:cs typeface="Arial" pitchFamily="34" charset="-120"/>
                        </a:rPr>
                        <a:t>Term</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c>
                  <a:txBody>
                    <a:bodyPr/>
                    <a:lstStyle/>
                    <a:p>
                      <a:pPr indent="0" marL="0">
                        <a:buNone/>
                      </a:pPr>
                      <a:r>
                        <a:rPr lang="en-US" sz="1050" b="1" dirty="0">
                          <a:solidFill>
                            <a:srgbClr val="2FD9F4"/>
                          </a:solidFill>
                          <a:latin typeface="Arial" pitchFamily="34" charset="0"/>
                          <a:ea typeface="Arial" pitchFamily="34" charset="-122"/>
                          <a:cs typeface="Arial" pitchFamily="34" charset="-120"/>
                        </a:rPr>
                        <a:t>Plain meaning</a:t>
                      </a:r>
                      <a:endParaRPr lang="en-US" sz="105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0A1013"/>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Native app</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Software written for Android itself, in Kotlin, rather than a website shown inside an app shell.</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Jetpack Compose</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Google's current way of drawing Android screens from code, replacing XML layouts.</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Room</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The on-phone database. Here it is the source of truth, so the app works without a network.</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Outbox and idempotency key</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A queue of unsent changes, each tagged with a one-time code so a retry can never create a duplicate.</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Hilt</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The wiring that hands each part of the app the pieces it depends on, so parts can be swapped in tests.</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Foreground service</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A background task Android lets keep running with a visible notification, used for the live workout timer.</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Health Connect</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Android's shared health data store, used only after the user connects it and re-checked on every read.</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R8</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The build step that removes unused code and shrinks the app from 32 MB to 5.9 MB.</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Mifflin-St Jeor</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The published equation used to estimate resting energy needs from weight, height, age and sex.</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C2C34"/>
                    </a:solidFill>
                  </a:tcPr>
                </a:tc>
              </a:tr>
              <a:tr h="393192">
                <a:tc>
                  <a:txBody>
                    <a:bodyPr/>
                    <a:lstStyle/>
                    <a:p>
                      <a:pPr indent="0" marL="0">
                        <a:buNone/>
                      </a:pPr>
                      <a:r>
                        <a:rPr lang="en-US" sz="1000" b="1" dirty="0">
                          <a:solidFill>
                            <a:srgbClr val="FFFFFF"/>
                          </a:solidFill>
                          <a:latin typeface="Arial" pitchFamily="34" charset="0"/>
                          <a:ea typeface="Arial" pitchFamily="34" charset="-122"/>
                          <a:cs typeface="Arial" pitchFamily="34" charset="-120"/>
                        </a:rPr>
                        <a:t>AGPL-3.0-or-later</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c>
                  <a:txBody>
                    <a:bodyPr/>
                    <a:lstStyle/>
                    <a:p>
                      <a:pPr indent="0" marL="0">
                        <a:buNone/>
                      </a:pPr>
                      <a:r>
                        <a:rPr lang="en-US" sz="1000" dirty="0">
                          <a:solidFill>
                            <a:srgbClr val="E8F0F2"/>
                          </a:solidFill>
                          <a:latin typeface="Arial" pitchFamily="34" charset="0"/>
                          <a:ea typeface="Arial" pitchFamily="34" charset="-122"/>
                          <a:cs typeface="Arial" pitchFamily="34" charset="-120"/>
                        </a:rPr>
                        <a:t>An open-source licence: anyone who runs a modified version as a service must publish their changes.</a:t>
                      </a:r>
                      <a:endParaRPr lang="en-US" sz="1000" dirty="0">
                        <a:latin typeface="Arial" charset="0"/>
                        <a:ea typeface="Arial" charset="0"/>
                        <a:cs typeface="Arial" charset="0"/>
                      </a:endParaRPr>
                    </a:p>
                  </a:txBody>
                  <a:tcPr marL="54864" marR="54864" marT="54864" marB="54864" anchor="ctr">
                    <a:lnL w="6350" cap="flat" cmpd="sng" algn="ctr">
                      <a:solidFill>
                        <a:srgbClr val="263841"/>
                      </a:solidFill>
                      <a:prstDash val="solid"/>
                      <a:round/>
                      <a:headEnd type="none" w="med" len="med"/>
                      <a:tailEnd type="none" w="med" len="med"/>
                    </a:lnL>
                    <a:lnR w="6350" cap="flat" cmpd="sng" algn="ctr">
                      <a:solidFill>
                        <a:srgbClr val="263841"/>
                      </a:solidFill>
                      <a:prstDash val="solid"/>
                      <a:round/>
                      <a:headEnd type="none" w="med" len="med"/>
                      <a:tailEnd type="none" w="med" len="med"/>
                    </a:lnR>
                    <a:lnT w="6350" cap="flat" cmpd="sng" algn="ctr">
                      <a:solidFill>
                        <a:srgbClr val="263841"/>
                      </a:solidFill>
                      <a:prstDash val="solid"/>
                      <a:round/>
                      <a:headEnd type="none" w="med" len="med"/>
                      <a:tailEnd type="none" w="med" len="med"/>
                    </a:lnT>
                    <a:lnB w="6350" cap="flat" cmpd="sng" algn="ctr">
                      <a:solidFill>
                        <a:srgbClr val="263841"/>
                      </a:solidFill>
                      <a:prstDash val="solid"/>
                      <a:round/>
                      <a:headEnd type="none" w="med" len="med"/>
                      <a:tailEnd type="none" w="med" len="med"/>
                    </a:lnB>
                    <a:solidFill>
                      <a:srgbClr val="16232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AquaZeroFit for Android</dc:title>
  <dc:subject>NIT3213 Mobile Application Development demonstration</dc:subject>
  <dc:creator>Babatundji Williams-Fulwood (s8138393)</dc:creator>
  <cp:lastModifiedBy>Babatundji Williams-Fulwood (s8138393)</cp:lastModifiedBy>
  <cp:revision>1</cp:revision>
  <dcterms:created xsi:type="dcterms:W3CDTF">2026-09-08T12:10:43Z</dcterms:created>
  <dcterms:modified xsi:type="dcterms:W3CDTF">2026-09-08T12:10:43Z</dcterms:modified>
</cp:coreProperties>
</file>